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7C3AED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Connect &amp; Prepare</c:v>
                </c:pt>
                <c:pt idx="1">
                  <c:v>Explore &amp; Analyse</c:v>
                </c:pt>
                <c:pt idx="2">
                  <c:v>Share Insights</c:v>
                </c:pt>
                <c:pt idx="3">
                  <c:v>Concepts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37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Live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Small local</c:v>
                </c:pt>
                <c:pt idx="1">
                  <c:v>Network database</c:v>
                </c:pt>
                <c:pt idx="2">
                  <c:v>Repeated dashboard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4.8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Small local</c:v>
                </c:pt>
                <c:pt idx="1">
                  <c:v>Network database</c:v>
                </c:pt>
                <c:pt idx="2">
                  <c:v>Repeated dashboard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</c:v>
                </c:pt>
                <c:pt idx="1">
                  <c:v>1.1</c:v>
                </c:pt>
                <c:pt idx="2">
                  <c:v>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460</c:v>
                </c:pt>
                <c:pt idx="2">
                  <c:v>510</c:v>
                </c:pt>
                <c:pt idx="3">
                  <c:v>485</c:v>
                </c:pt>
                <c:pt idx="4">
                  <c:v>560</c:v>
                </c:pt>
                <c:pt idx="5">
                  <c:v>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</c:v>
                </c:pt>
                <c:pt idx="1">
                  <c:v>92</c:v>
                </c:pt>
                <c:pt idx="2">
                  <c:v>112</c:v>
                </c:pt>
                <c:pt idx="3">
                  <c:v>98</c:v>
                </c:pt>
                <c:pt idx="4">
                  <c:v>126</c:v>
                </c:pt>
                <c:pt idx="5">
                  <c:v>141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tickets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132</c:v>
                </c:pt>
                <c:pt idx="2">
                  <c:v>285</c:v>
                </c:pt>
                <c:pt idx="3">
                  <c:v>204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breaches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38</c:v>
                </c:pt>
                <c:pt idx="2">
                  <c:v>27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marks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Region</c:v>
                </c:pt>
                <c:pt idx="2">
                  <c:v>Region + Customer</c:v>
                </c:pt>
                <c:pt idx="3">
                  <c:v>Order 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420</c:v>
                </c:pt>
                <c:pt idx="3">
                  <c:v>2500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3175---Tableau-Certified-Desktop-Specialist-Training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exams.tertiaryinfotech.com/practice-exams/tableau/tableau-desktop-speciali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"/>
            <a:ext cx="7388352" cy="645566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600200"/>
            <a:ext cx="457200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434840" cy="1828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Tableau Certified Desktop Specialist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4480560" cy="960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Course Code: TGS-2025053175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96128"/>
            <a:ext cx="438912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Version v4 · 15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Two-day WSQ training · concept-led slides · detailed procedures in the Learner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AM, PM and Assessment digital attendance for each WSQ-funded day.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SSG/TRAQOM QR code shown by the trainer or administrator.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attendance from your own device and verify confirmation.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 least 75% attendance is required for assessment and funding eligibility.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24612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224028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240280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834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2834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47088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16352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816352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49624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849624"/>
            <a:ext cx="82296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13632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882896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882896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946904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24612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224028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240280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834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2834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47088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Principal trainer and curriculum developer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16352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816352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Data analytics, visualisation, AI and business technology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49624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849624"/>
            <a:ext cx="82296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13632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WSQ, certification and applied workplace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882896"/>
            <a:ext cx="708660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882896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946904"/>
            <a:ext cx="6537960" cy="7498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Concept clarity, realistic data and evidence-based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Name, organisation and role.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How you currently use spreadsheets, BI or Tableau.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recurring decision your data should make easier.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target outcome for the Tableau Desktop Specialist credential.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130149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168652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168652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— active practice builds recall.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130149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168652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168652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time; critique ideas, not 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285743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3"/>
            <a:ext cx="82296" cy="130149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36896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689604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377183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supplied mock data; do not expose workplace records.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3285743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3285743"/>
            <a:ext cx="82296" cy="130149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36896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3689604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3377183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punctual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4806695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06695"/>
            <a:ext cx="82296" cy="130149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5" y="5210555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5" y="5210555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898135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Tableau workbooks, screenshots and checklists.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492" y="4806695"/>
            <a:ext cx="5198364" cy="130149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2492" y="4806695"/>
            <a:ext cx="82296" cy="130149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1092" y="5210555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1092" y="5210555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8604" y="4898135"/>
            <a:ext cx="4119372" cy="11369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Procedures live in LG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teach concepts; the Learner Guide gives clicks and steps.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51937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83080"/>
            <a:ext cx="519379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1975104"/>
            <a:ext cx="47365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9:00 Welcome, attendance and exam orientation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36392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9:30 Topic 1: connect and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58184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10:30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79976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10:40 Topic 1 labs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001768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12:30 Lunch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783080"/>
            <a:ext cx="516636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783080"/>
            <a:ext cx="5166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975104"/>
            <a:ext cx="4709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14600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1:15 Topic 2: charts and organisation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36392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3:00 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58184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3:10 Topic 2 labs 4–7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379976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5:45 Recap and PM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001768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6:00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51937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83080"/>
            <a:ext cx="519379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1975104"/>
            <a:ext cx="47365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9:00 Attendance and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36392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9:15 Topic 3: format and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58184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10:30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79976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10:40 Labs 8–9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001768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12:30 Lunch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783080"/>
            <a:ext cx="516636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783080"/>
            <a:ext cx="5166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975104"/>
            <a:ext cx="4709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14600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1:15 Topic 4 and capstone lab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36392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3:30 Certification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58184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3:50 Assessment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379976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4:00 WA (1 hr) then PP (1 hr)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001768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6:00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·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5326380" cy="7239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5253228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783080"/>
            <a:ext cx="5326380" cy="7239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052" y="1801368"/>
            <a:ext cx="5253228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Course alignment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5069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52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25069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9340" y="25252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Data Analytics · ATP-PIN-2001-1.1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230880"/>
            <a:ext cx="5326380" cy="7239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91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3230880"/>
            <a:ext cx="5326380" cy="7239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32491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Identify trustworthy sources and prepare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9547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30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39547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9340" y="3973068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Organise fields into effective visual elements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4678680"/>
            <a:ext cx="5326380" cy="7239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96967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4678680"/>
            <a:ext cx="5326380" cy="7239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9340" y="4696967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Extract, combine, filter and calculate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4025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20867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6" y="5402580"/>
            <a:ext cx="532638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9340" y="5420867"/>
            <a:ext cx="5216652" cy="68732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Process and communicate meaningful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BY THE END OF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connect appropriate data sources, then prepare trustworthy Tableau data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Organise fields and create effective visual elements that answer business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Extract, combine and analyse data using relationships, joins, unions, filters and calculations.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Build, format and share interactive dashboards and workbooks that communicate meaningful insights.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BLUEPRINT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Tableau Desktop Specialist — Exam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64008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1874519"/>
            <a:ext cx="3749039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74519"/>
            <a:ext cx="82296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47672"/>
            <a:ext cx="3200400" cy="804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37%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Explore and analyse receives the most teaching and practice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108960"/>
            <a:ext cx="3749039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3108960"/>
            <a:ext cx="82296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182112"/>
            <a:ext cx="3200400" cy="804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23% + 25%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preparation and sharing each remain substantial.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4343400"/>
            <a:ext cx="3749039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34340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416552"/>
            <a:ext cx="3200400" cy="804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15%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Concepts are compact but foundational to every scenario.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EXAM-ALIGNED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 by Official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55092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477768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016" y="1783080"/>
            <a:ext cx="355092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5592" y="1801368"/>
            <a:ext cx="3477768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936" y="1783080"/>
            <a:ext cx="355092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6512" y="1801368"/>
            <a:ext cx="3477768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65176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1 · Connect and Prepare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016" y="265176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67004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9936" y="265176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99" y="267004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1–3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520439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872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2 · Explore and Analyse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016" y="3520439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3880" y="353872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9936" y="3520439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99" y="353872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4–7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438912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0740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3 · Share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9016" y="438912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3880" y="440740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9936" y="4389120"/>
            <a:ext cx="3550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799" y="4407407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8–9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5257800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7608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4 · Concepts and Preparation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9016" y="5257800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3880" y="527608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9936" y="5257800"/>
            <a:ext cx="355092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4799" y="5276088"/>
            <a:ext cx="3441192" cy="832103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LMS/TMS · VISUAL ACCESS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2184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542032"/>
            <a:ext cx="51206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78608"/>
            <a:ext cx="4754879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Tertiary Infotech LMS/TMS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My Courses · Attendance ·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383280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383280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13632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913632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43984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443984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Individual Lab Folders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974336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974336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Assessment Submission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82880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82880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88366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1. Sign in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the email registered for the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83464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83464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88950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2. Open course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 this TGS code under My Courses.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84048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840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89534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3. Download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slides, LG and labs together.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4632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4846320"/>
            <a:ext cx="82296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490118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4. Assess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Take attendance and submit on the LMS.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GITHUB · TWO ACCESS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83080"/>
            <a:ext cx="33832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Clone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git clone the course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Keeps folder structure intact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Pull future corrections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78308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GitHub Code →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Extract before opening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Use when Git is unavailable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9327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7" y="178308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Every lab folder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README with 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Mock Excel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starter.twb + checklist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61888"/>
            <a:ext cx="103327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https://github.com/tertiarycourses/TGS-2025053175---Tableau-Certified-Desktop-Specialist-Training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unauthorised materials under the table.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photos, recordings or discussion during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only slides, Learner Guide and approved open-book materials.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answers in your own words and submit on the LMS.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53128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25696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the assessor about process, not the answer content.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206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93207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Appeal and reassessment routes are stated in the candidate instructions.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51937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83080"/>
            <a:ext cx="519379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1975104"/>
            <a:ext cx="47365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Written Assessment (WA/SAQ) — 4 open-ended questions, 1 hour, open 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36392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Tests K1–K4 knowledge taught in the deck.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58184"/>
            <a:ext cx="4690872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Four open-ended SAQ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783080"/>
            <a:ext cx="516636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783080"/>
            <a:ext cx="5166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75104"/>
            <a:ext cx="4709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14600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Practical Performance (PP) — 4 Tableau tasks, 1 hour, open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136392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Tests A1–A4 through Tableau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758184"/>
            <a:ext cx="466344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</a:t>
            </a:r>
            <a:r>
              <a:rPr sz="1350" b="0">
                <a:solidFill>
                  <a:srgbClr val="161B26"/>
                </a:solidFill>
                <a:latin typeface="Arial"/>
              </a:rPr>
              <a:t>Four practical tasks aligned to labs.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/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WA — 1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PP — 1 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Question papers go to learners; answer keys remain trainer-only.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Connecting to and Preparing Data in Tableau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Official exam weighting 23% · Connections · extracts · metadata · relationships · joins · unions · field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01 — Core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Connection strategy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Live prioritises source freshness; extracts prioritise speed, portability and predictable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 at the right layer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Relationships preserve table grain; joins create one physical row set; unions append rows.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Metadata is 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Names, aliases, types, roles, formats and defaults determine how fields behave.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row counts, null keys, duplicated grain and unmatched records before trusting a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01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550920" cy="10858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016" y="1783080"/>
            <a:ext cx="3550920" cy="10858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559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936" y="1783080"/>
            <a:ext cx="3550920" cy="10858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651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Create live connections and extracts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01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1.1.1–1.1.5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993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99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Create and manage the data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01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388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1.2.1–1.2.3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993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99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Manage data properties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901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388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1.3.1–1.3.5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993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799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CONCEPT VISUAL · SYNTHETIC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Query Response: Live vs Extract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10332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Illustrative only: actual performance depends on source, network, filters, extract design and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live connections and extracts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Queries the source as the view runs; current but dependent on source performance and availability.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local .hyper snapshot optimised for analytics, portability and offline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.TDS metadata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Stores connection and field metadata; .TDSX can package local dependencies.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Multiple connections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Tableau data source can contain several connections and logical tables.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Reasoning Pattern — Create live connections and extracts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.TDS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Multiple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1.1.1 · Create a live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live connection sends queries to the source during 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source freshness and central governance matter.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or real-time scenarios usually point to live.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Live is not automatically faster; network and query design still govern response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1.1.2 · Live versus extract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choice balances freshness, performance, portability and supported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an extract for offline analysis, acceleration or a stable reporting snapshot.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mode that serves the scenario's priority.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extract becomes stale until refreshed; a live connection may still cache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1.1.3 · Create and refresh an extract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extract materialises selected data in Tableau's columnar .hyper format.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rows or columns when the complete source is unnecessary.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 refresh rebuilds; incremental refresh adds rows using a reliable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Incremental refresh does not update changed historical rows by itself.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1.1.4 · Save metadata in a .TDS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Tableau Data Source file stores connection details and field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it to standardise names, aliases, roles, folders and calculations.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TDS contains metadata; TDSX packages metadata with local files or extracts.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confuse a data source definition with a packaged workbook (.twbx).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1.1.5 · Use multiple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data source may combine file, database or published connections.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required tables do not reside in the same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is transport; data source is the analytical model exposed to sheets.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Cross-database joins can add query cost and connector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and manage the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Relationships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Logical links evaluated at query time; preserve each table's level of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Physical row combination using matching clauses and a fixed join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Append rows from similarly structured tables; align fields by name and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expected grain, row counts, unmatched keys and nulls before analysis.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Create and manage the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Joins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1.2.1 · Add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Relationships describe how logical tables correspond without flattening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multi-fact models or tables at different grains.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Tableau chooses context-aware joins and aggregation from fields in the 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Incorrect cardinality assumptions can produce unexpected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1.2.2a · Add joins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join combines physical tables using matching clauses.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row-level control and one flattened table are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Inner keeps matches; left preserves all left rows; right/full follow preservation logic.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Many-to-many joins can multiply rows and inflate measures.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1.2.2b · Add unions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union stacks records vertically from compatible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monthly or regional files with the same columns.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Wildcard unions can include similarly named tables or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Mismatched names create separate columns until they are merged.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1.2.3 · Choose join or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Relationships preserve independent grains; joins establish one physical grain.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 relationships for flexible analysis; use joins for deliberate shaping.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grains or duplicated measures usually favour relationships.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relationship line does not guarantee correct keys; validate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Manage data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Semantic clarity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Rename columns and apply aliases so consumers understand the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 type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Date, number, string and Boolean types determine available operations.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Geographic meaning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 such as Country and Postal Code enable generated coordinates.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Consistent defaults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aggregation, format, colour and date behaviour once for reuse.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Manage data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Semantic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Geographic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Consistent defaults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1.3.1 · Rename a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caption can be business-friendly without changing the source column.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codes or database naming conventions with clear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Renaming affects Tableau metadata, not the source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create ambiguous duplicate captions.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1.3.2 · Assign aliases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Aliases replace displayed member labels while retaining original values.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abbreviations or coded categories.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Aliases apply to discrete dimension members.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Aliases do not cleanse the source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1.3.3 · Assign geographic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geographic role tells Tableau how to geocode a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country, state, city, postal code or custom location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Generated Latitude and Longitude appear after a valid 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Ambiguous places need country or state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1.3.4 · Change a data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type defines valid operations, parsing and visual encodings.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imported IDs, dates, decimals and Boolean indicators.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calendar-looking string is not a date until parsed correctly.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Conversion can create nulls where values are invalid.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1.3.5 · Set default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Defaults control aggregation, number/date format, colour and sort.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a field should behave consistently on new sheets.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aggregation can still be changed in a 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Currency formatting does not convert currencies or units.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TOPIC 01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Audit a Retail Sales Connection and Extract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Northstar Retail needs a trustworthy weekly sales source before analysts build regional reporting.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Connect workbook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Audit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Set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Create extract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Validate refresh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A validated Tableau data source, field-role audit, live/extract decision and refreshed .hyper 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Excel · live connection · extract ·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01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source has the expected row count and date range, geographic fields are recognised, currency/percentage defaults are correct, and the extract refreshes without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TOPIC 01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Orders, Returns, Products and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GreenBasket Grocers wants sales, returns and monthly targets analysed without duplicating measures across different table grains.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Inspect grains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Relate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Validate keys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Compare join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Prove totals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A four-table logical model with validated cardinality, unmatched-key checks and a join-risk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relationships · joins · referential integrity · grain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02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Sales matches the control total, Return Count matches the Returns table, targets do not duplicate, and the learner can explain why relationships are safer for the mixed-grain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TOPIC 01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Union Monthly Files and Join Store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MetroMart receives separate monthly transaction tabs plus a store master and needs one analysis-ready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Union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Inspect mismatch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Merge 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Join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Save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A three-month union with provenance fields, merged columns, a validated store join and saved data-source 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unions · wildcard patterns · joins · aliases · .tds/.tdsx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03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three months appear, merged sales has no avoidable nulls, record counts match Control, the left join preserves transactions, and the saved source opens with metadata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01 — Exam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key ideas in connecting to and preparing data in tableau desktop.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right feature from a short business scenario.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about the result of shelf, model or formatting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lab workbook and acceptance evidence to validate the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Exploring and Analyzing Data in Tableau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Official exam weighting 37% · Charts · groups · sets · hierarchies · filters · analytics · calculations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EXAM WEIGHTING 37%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02 — Core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before chart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Bars compare, lines show time, scatterplots show relationships and maps show 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Structure narrows meaning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Groups, sets, hierarchies, sorts and filters determine the population compared.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Analytics adds 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Lines, totals, bins, calculations and parameters turn marks into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Order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Context, dimension, measure and table-calculation filters execute at different stages.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02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550920" cy="10858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016" y="1783080"/>
            <a:ext cx="3550920" cy="10858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559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936" y="1783080"/>
            <a:ext cx="3550920" cy="10858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651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Create basic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01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2.1.1–2.1.9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993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99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Organise data and apply filters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01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388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2.2.1–2.2.5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993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99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Apply analytics to a worksheet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901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388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2.3.1–2.3.7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993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799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EDITABLE POWERPOINT CHART · LAB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Synthetic Monthly Sales and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10332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SGD thousands — the chart demonstrates trend selection, not a real company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basic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Bars and crosstabs expose magnitude and exact values.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Lines show change across ordered time; continuous dates create axes.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Scatterplots reveal association, clusters and outliers.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Geography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Symbol, filled and density maps answer different spatial questions.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Create basic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Geography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2.1.1 · Create a bar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Bars encode magnitude by length along a common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ranking and comparing categories.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dimension plus one measure is the canonical pattern.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3-D effects, too many categories and unsorted ranking views.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2.1.2 · Create a line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Lines connect ordered points to emphasise change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trends, seasonality and rate of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Continuous dates form axes; discrete date parts form headers.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connect unrelated categories as a sequence.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2.1.3 · Create a scatterplot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quantitative axes show the relationship between measures.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assess correlation, clusters and outliers.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a dimension to Detail for one mark per 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Aggregation may collapse records into one mark.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2.1.4 · Create a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Geographic fields generate spatial marks using Tableau geocoding.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location contributes to the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Symbols compare points; fills compare areas; density shows concentration.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bar chart is more accurate when geography adds no meaning.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2.1.5 · Create a combined-axis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measures share one axis and Marks card.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compatible units should be compared directly.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 Values and Measure Names are common building blocks.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units on one axis mislead.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2.1.6 · Create a dual-axis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measures use independent axes with separate Marks cards.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layer related measures with different scales or mark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Synchronise axes when measures share units.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Unsynchronised axes can imply artificial relationships.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2.1.7 · Create a stacked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Segments divide each bar into contributions to a total.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composition plus total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 defines the stack.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Middle segments lack a common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2.1.8 · Create a density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Overlapping points become a smooth concentration surface.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where hotspots matter more than individual 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Intensity reflects local concentration and optional weighting.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Sparse data or smoothing can manufacture hotspots.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2.1.9 · Crosstab and highlight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Text tables show exact values; colour adds pattern detection.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lookup precision plus comparative scanning.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 Names and Measure Values can present several KPIs.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Too many cells overwhelm; filter and use meaningful scales.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Organise data and apply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members into a new categorical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an IN/OUT subset that can be dynamic or combined.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Hierarchies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a drill path from broad to detailed dimensions.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which records or aggregated marks remain.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Organise data and apply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Hierarchies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2.2.1 · Create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Groups combine members into higher-level categories.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correct labels, merge small categories or define business groupings.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from marks, headers or the Data pane.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manual group does not absorb new members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2.2.2 · Create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set divides members into IN and OUT using rules or selection.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Top N, threshold cohorts and set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Sets can be fixed, conditional, Top N or combined.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set is not just a filter; it can remain visible as a category.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2.2.3 · Create hierarchies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Hierarchies organise dimensions into a drill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Country &gt; Region &gt; City or Category &gt;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Plus/minus controls expand or collapse levels.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hierarchy does not define data-model integrity.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2.2.4 · Add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Filters restrict data or marks at specific order-of-operations stages.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focus scope or support interaction.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Dimension, measure, context and table-calculation filters differ.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Filtering after aggregation is not filtering source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2.2.5 · Add date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Dates can be filtered by part, range, relative period or starting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rolling windows and time scope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Relative date filters move with the current 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Discrete Month alone mixes the same month across years.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analytics to a worksheet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Sort and rank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comparisons intentional and surface priority.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Reference and totals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baselines, bands, subtotals and grand totals.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Calculations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row-level, aggregate and table logic at the right grain.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Parameters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one value steer calculations, filters or reference 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Apply analytics to a worksheet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Sort and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Reference and totals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2.3.1 · Manual and computed sorts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Sorting controls the order of headers and 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manual order for business logic and computed order for ranking.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Nested sorts order members within panes.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Manual order can become stale as data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2.3.2 · Add a reference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line or band provides a benchmark for a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targets, averages, medians and ranges.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Scope can be table, pane or cell.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table average can hide pane-level differences.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2.3.3 · Use quick table calculations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 calculations operate on marks already returned to the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running total, percent of total, difference, rank or moving average.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Compute Using defines addressing and partitioning.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Changing layout can change the calculation.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2.3.4 · Create bins and histograms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Bins partition a measure into equal-width intervals.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histogram for distribution shape and unusual ranges.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Bin size controls resolution.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Poor bin width can hide or invent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2.3.5 · Create calculated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Calculated fields derive row-level, aggregate or table values.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arithmetic, strings, dates and business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 and non-aggregate expressions cannot be mixed directly.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Nulls propagate unless handled.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2.3.6 · Use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parameter is a workbook value controlled by the user.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swap measures, set thresholds or run what-if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parameter acts only when referenced.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Parameters are not automatically row filters.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OFFICIAL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2.3.7 · Display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Subtotals and grand totals summarise selected levels.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when audiences need components and overall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 All Using can change aggregation.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Summed ratios and percentages often create invalid totals.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TOPIC 02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the Core Tableau Chart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consumer-electronics team needs views for ranking, trend, relationship, geography, composition and precise lookup.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Frame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Choose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Build marks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Format honestly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Explain insight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Nine named worksheets: bar, line, scatterplot, symbol map, combined axis, dual axis, stacked bar, density map and highlight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Show Me · Rows/Columns · Marks · Measure Names/Values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04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nine chart types are present, each matches its stated question, axes and units are honest, maps resolve locations, and each view has a concise evidence-based insight.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TOPIC 02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Groups, Sets, Hierarchies and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HarbourLife Insurance needs a reusable segmentation view for advisers and portfolio managers.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Group tiers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Define 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Build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Scope filters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Test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Customer tier groups, Top-N and threshold sets, drill hierarchy, context filter and relative date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groups · sets · hierarchy · context · date filters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05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two hierarchies drill correctly, sets produce expected membership, relative dates use the reporting date, and the learner can explain how context changes Top-N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TOPIC 02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Calculations, Table Calculations and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Crescent Hospitality wants profitability, occupancy and performance trends with user-controlled thresholds.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Define grain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Write calc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Set compute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Add parameter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Validate totals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Calculated KPIs, running totals, percent-of-total, moving average, reference line and parameter-driven measure swap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calculated fields · table calculations · parameters · reference lines · totals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06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Calculations match the Control sheet, table calculations keep intended addressing/partitioning, parameters affect the view, and totals use mathematically valid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TOPIC 02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Southeast Asia Logistics Geographically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Meridian Logistics wants to compare shipment volume, delay rates and port congestion across Southeast Asia.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Resolve 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Map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Encode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Show density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Challenge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Resolved geographic roles, three map types, tooltip context and a map-vs-bar decision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geographic roles · generated coordinates · density · tooltips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07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Locations resolve correctly, map types match the questions, tooltips carry operational context, colour scales are meaningful, and the learner can state when the bar chart is preferable.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02 — Exam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key ideas in exploring and analyzing data in tableau desktop.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right feature from a short business scenario.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about the result of shelf, model or formatting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lab workbook and acceptance evidence to validate the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Sharing Insights with Dashboards and Workbooks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Official exam weighting 25% · Formatting · dashboards · actions · device layouts · stories · export ·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EXAM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03 — Core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Format for meaning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type, shape, size and animation communicate data, not decoration.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interaction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Filters, highlighters, tooltips and actions answer predictable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Layout is a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Containers, hierarchy and device layouts govern alignment and reading order.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Share with 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Package, publish or export while protecting sensitive detail.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03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550920" cy="10858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016" y="1783080"/>
            <a:ext cx="3550920" cy="10858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559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936" y="1783080"/>
            <a:ext cx="3550920" cy="10858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651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Format views for 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01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3.1.1–3.1.6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993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99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Create and modify a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01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388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3.2.1–3.2.5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993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99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View and share workbook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901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388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3.3.1–3.3.3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993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799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Dashboard Attention Should Follow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10332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dashboard should prioritise decisions, not give equal visual weight to every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3 ·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 views for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Categorical hues show identity; ordered palettes show magnitude.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Typography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readable hierarchy and concise labels.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Shape and size encode defined variables and remain distinguishable.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Animation explains change but must not conceal the final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Format views for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Typography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3.1.1 · Use colour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 can encode category, magnitude or emphasis.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hues for categories and ordered palettes for measures.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Legend type reveals discrete or continuous encoding.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Rainbow palettes and low contrast impair interpretation.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3.1.2 · Configure fonts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Typography establishes hierarchy across titles, labels and tooltips.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consistent families and display-appropriate sizes.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Formatting applies at workbook, sheet, pane or element scope.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Tiny labels and excessive bolding reduce scanability.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3.1.3 · Format marks as 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Shape is a categorical channel for point 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a small number of distinguishable categories.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 shapes can be loaded and assigned.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Shape alone is weak for order and accessibility.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3.1.4 · Configure viz animations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Animations interpolate filter, sort and data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help audiences track moving 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Workbook formatting controls duration and style.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Motion should not be required for understanding.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3.1.5 · Change mark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Size can encode magnitude or improve legibility.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measure-driven size for proportional symbols.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Area, not radius, is perceived in circles.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 marks overlap and small marks disappear.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3.1.6 · Show and hide legends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Legends decode visual channels and can highlight 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when encoding is not self-evident; hide redundant cards.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card menu or Analysis &gt; Legends.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Removing a necessary legend makes marks ambiguous.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3 ·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and modify a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Worksheets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views that support one decision purpose.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tiled/floating containers and navigation deliberately.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Filter, highlight, parameter, set and URL actions define experience.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Devices and stories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Adapt layouts for screens; sequence a guided narrative.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Create and modify a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Devices and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3.2.1 · Add worksheets to a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dashboard composes sheets and objects into one canvas.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clear hierarchy with the key view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Tiled items join containers; floating items use absolute position.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Adding every sheet creates noise.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3.2.2 · Add consumer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Filters, highlighters, tooltips and navigation support exploration.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controls that match likely questions and correct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to Worksheets defines controlled sheets.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Too many controls create contradictory states.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3.2.3 · Add dashboard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Actions respond to select, hover or menu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filter, highlight, parameter, set and URL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source, target, event and clearing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clearing behaviour can leave blank dashboards.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3.2.4 · Configure layouts and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Containers and item hierarchy govern responsive alignment.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fixed/range/automatic sizes and device layouts.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Phone layouts can rearrange or omit objects.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Automatic sizing alone does not ensure mobile usability.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3.2.5 · Create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story sequences sheets or dashboards as annotated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guided explanation rather than open exploration.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point stores a view state and caption.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Stories do not replace a coherent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DOMAIN 3 ·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View and share workbook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.twb and .twbx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TWB stores XML metadata; TWBX packages local dependencies.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Publish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Server/Cloud adds permissions, refresh, governance and browser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PDF, image and PowerPoint are static communication formats.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Underlying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Summary/full-data export can expose detail; verify privacy.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View and share workbook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.twb and .twbx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Underlying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3.3.1 · Share a workbook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Workbooks can be saved, packaged, exported or published.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TWBX for portability and Server/Cloud for governed collaboration.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TWB may break if recipients cannot reach dependencies.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Publishing does not automatically make content public.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3.3.2 · View and export underlying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Data exposes summary and permitted underlying 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to audit marks or export support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Selected marks and permissions define available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Exports can leak sensitive detail.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OFFICIAL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3.3.3 · Export to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Tableau exports views as static PowerPoint images.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offline briefings without interactivity.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Appearance is preserved, not filters or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snapshots with a data-as-of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TOPIC 03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an Interactive Service 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ApexCare's service director needs a daily dashboard for backlog, SLA risk, channel demand and team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Frame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Compose 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Arrange layout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Add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Test consumers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A 1366×768 operational dashboard with KPIs, four views, scoped filters, highlight/filter actions and accessible tooltips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dashboards · layout containers · filters · actions · tooltips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08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dashboard loads in the target size, KPIs match Control, filters are scoped, actions clear correctly, no object overlaps, and a manager can answer the three stated operational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09 · TOPIC 03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Optimise, Package and Share an Executive Workbook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Sentinel Energy must brief executives while giving analysts a governed interactive workbook.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Format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Design devices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Build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Package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Govern sharing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Desktop and phone layouts, three story points, TWB/TWBX comparison, PDF/PNG/PPT exports and a publishing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Device Designer · stories · TWBX · PDF/PNG/PPT · Server/Cloud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09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Desktop and phone layouts are usable, the story has three coherent points, TWBX is portable, static exports are labelled with data-as-of context, and the publish plan protects underlying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03 — Exam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key ideas in sharing insights with dashboards and workbooks.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right feature from a short business scenario.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about the result of shelf, model or formatting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lab workbook and acceptance evidence to validate the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Understanding Tableau Concepts and Certification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Official exam weighting 15% · Dimensions · measures · discrete · continuous · aggregation · exam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EXAM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04 — Core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 and type differ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Dimension/measure is analytical role; discrete/continuous is display behaviour.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Blue and green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Blue discrete pills make headers; green continuous pills make axes.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Aggregation follows grain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Measures aggregate at the level defined by dimensions.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Reason from consequences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pill colour, shelf placement, grain and order of operations.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04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550920" cy="1085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016" y="1783080"/>
            <a:ext cx="3550920" cy="1085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559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9936" y="1783080"/>
            <a:ext cx="3550920" cy="1085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6512" y="1801368"/>
            <a:ext cx="3477768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Understand dimensions and measures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01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4.1.1–4.1.3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9936" y="28689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99" y="28872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Understand discrete and continuous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01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3880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4.2.1–4.2.3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9936" y="3954780"/>
            <a:ext cx="3550920" cy="10858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99" y="397306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Understand aggregations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901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3880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4.3.1–4.3.2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9936" y="5040630"/>
            <a:ext cx="3550920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799" y="5058918"/>
            <a:ext cx="3441192" cy="104927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EDITABLE POWERPOINT CHART · CONCEPT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Dimensions Change the Level of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10332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Adding dimensions partitions records into finer marks; it does not create new source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DOMAIN 4 · 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Understand dimensions and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Dimension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Qualitative field that slices, groups or labels 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Quantitative field usually aggregated across dimensions.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Convertible 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numeric ID may be a dimension; categories can be counted.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Level of detail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dimension changes the granularity of marks.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Understand dimensions and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Convertible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Level of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4.1.1 · What dimensions contain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Dimensions usually contain names, categories, dates and locations.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them to segment, label, filter and define detail.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They often create headers and partitions.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numeric code is not automatically a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4.1.2 · What measures contain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Measures usually contain quantitative values for aggregation.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totals, averages, counts, ratios and axes.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Green measures create axes; blue measures can create headers.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Percentages and prices are not always additive.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4.1.3 · Dimensions versus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Dimensions answer who/what/where/when; measures answer how much/how many.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both to define grain and numerical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Converting role changes partitioning and aggregation.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confuse role with data type.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DOMAIN 4 ·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Understand discrete and continuous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Discrete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Finite headers that partition the view; blue pills.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Continuous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Numeric or temporal range on an axis; green pills.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Independent of 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Dimensions and measures can each be discrete or continuous.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Dates reveal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Date parts are commonly discrete; date values commonly continuous.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Reasoning Pattern — Understand discrete and continuous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Continuous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Independent of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Dates reveal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4.2.1 · How discrete fields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Discrete fields create headers and partitions.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named groups, panes and exact date parts.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Blue pills mean discrete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Discrete does not mean 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4.2.2 · How continuous fields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Continuous fields create axes over an unbroken 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for quantitative scales and temporal trends.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Green pills mean continuous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Continuous does not mean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4.2.3 · Discrete date parts vs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Date parts classify recurring members; date values preserve chronology.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continuous dates for timelines and parts for seasonal grouping.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Blue MONTH shows Jan-Dec; green MONTH spans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Month-only can aggregate multiple years together.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DOMAIN 4 ·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Understand aggregations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 behaviour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Numeric measures usually aggregate as SUM.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Grain changes 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Adding a dimension partitions rows into more 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Aggregation is contextual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measure differs at table, pane and cell levels.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totals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Ratios and distinct counts require suitable total logic.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CONCEPTUAL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Reasoning Pattern — Understand aggregations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Default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Grain changes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Aggregation is contextual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totals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a reasoning map, not a click-by-click lab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4.3.1 · Default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Measures aggregate to the current grain, commonly using SUM.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to AVG, MIN, MAX, COUNT or another appropriate operation.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pill shows the active aggregation, such as SUM(Sales).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Number format and aggregation are separate.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OFFICIAL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4.3.2 · How dimensions change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means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dimension partitions data into a finer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it 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dimensions deliberately to answer the required breakdown.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SUM(Sales) by Region differs from Region and Customer.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pitfall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Unexpected totals may signal duplicated model rows or unintended dimensions.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TOPIC 04 · OVERVIEW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Northstar Retail Executive Workbook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10652760" cy="749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102412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Northstar Retail's COO needs an executive workbook that reconciles sales, returns, inventory and regional targets, then communicates actions across desktop and mobile.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1. Model trusted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071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0710" y="2788920"/>
            <a:ext cx="199887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 Analyse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4180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2788920"/>
            <a:ext cx="199887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5620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3. Build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765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7651" y="2788920"/>
            <a:ext cx="199887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909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4. Package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1121" y="2788920"/>
            <a:ext cx="1998878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1121" y="2788920"/>
            <a:ext cx="199887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561" y="2971800"/>
            <a:ext cx="1815998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5. Review domains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79392"/>
            <a:ext cx="10652760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1019556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OUTPUT  </a:t>
            </a:r>
            <a:r>
              <a:rPr sz="1300" b="0">
                <a:solidFill>
                  <a:srgbClr val="161B26"/>
                </a:solidFill>
                <a:latin typeface="Arial"/>
              </a:rPr>
              <a:t>A validated multi-table model, eight analytical worksheets, executive dashboard, phone layout, story, packaged workbook and exam-domain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Detailed click-by-click procedure: Learner Guide and this lab folder · Tools: </a:t>
            </a:r>
            <a:r>
              <a:rPr sz="1100" b="1">
                <a:solidFill>
                  <a:srgbClr val="5B6372"/>
                </a:solidFill>
                <a:latin typeface="Arial"/>
              </a:rPr>
              <a:t>Tableau Desktop · relationships · calculations · charts · dashboards · stories · TWBX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Acceptance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5276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27A3E"/>
                </a:solidFill>
                <a:latin typeface="Arial"/>
              </a:rPr>
              <a:t>✓  Evidence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98755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totals reconcile, the model avoids duplicated measures, all eight worksheets and required analytics exist, dashboard/actions work on desktop and phone, exports are current, and every official objective has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Tableau workbook, requested screenshots/exports and completed acceptance-checklist.md from the lab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04 — Exam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key ideas in understanding tableau concepts and certification preparation.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right feature from a short business scenario.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about the result of shelf, model or formatting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lab workbook and acceptance evidence to validate the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012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8755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Certification Preparation &amp;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9692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Review the official blueprint, practise with the ten workbooks, then demonstrate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594360"/>
            <a:ext cx="22860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64792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5" y="254889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 and 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trusted connections, extracts, models and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492" y="1764792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764792"/>
            <a:ext cx="82296" cy="20619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1092" y="254889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548890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856231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Explore and analyse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Created chart patterns, organisation structures and analytics.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46220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483031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Share insights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dashboards, actions, device layouts and sharing plans.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4046220"/>
            <a:ext cx="5198364" cy="20619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2" y="4046220"/>
            <a:ext cx="82296" cy="20619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483031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1092" y="483031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8604" y="4137659"/>
            <a:ext cx="4119372" cy="189737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Understand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Reasoned from field role, pill behaviour, grain and aggregation.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THREE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Certification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83080"/>
            <a:ext cx="33832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Explain every official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Distinguish similar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Recognise common pitfalls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78308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Complete all ten workbooks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Rebuild without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Validate totals and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9327" y="1783080"/>
            <a:ext cx="338328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7" y="178308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057400"/>
            <a:ext cx="29260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Perform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743200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Read the full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438144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Eliminate answers by consequence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4133087"/>
            <a:ext cx="292608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</a:t>
            </a:r>
            <a:r>
              <a:rPr sz="1250" b="0">
                <a:solidFill>
                  <a:srgbClr val="161B26"/>
                </a:solidFill>
                <a:latin typeface="Arial"/>
              </a:rPr>
              <a:t>Manage time across 40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60-MINUTE EXAM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Exam-Day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requested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 the Tableau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Predict the pill / grain / filter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Eliminate unsafe choices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Answer and move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6070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Official guide states 40 multiple-choice/multiple-select items and no outside materials.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CERTIFICATION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Official Preparation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the complete Salesforce Certified Tableau Desktop Foundations exam guide and objective list.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Tableau's free Desktop training videos for connection, workspace, concepts, dashboards, mapping and calculations.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Repeat each lab with a clean workbook until the objective is automatic.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Exam Domain Matrix in Lab 10 to locate weak areas.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53128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25696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Finish with the exact Tableau Desktop Specialist practice-exam link on the final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SALESFORCE CERTIFIED TABLEAU DESKTOP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Official Certification Exam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2514600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73152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20574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40 + up to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0574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 / MS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83080"/>
            <a:ext cx="2514600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783080"/>
            <a:ext cx="73152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901952"/>
            <a:ext cx="20574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70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331720"/>
            <a:ext cx="20574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Time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783080"/>
            <a:ext cx="2514600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783080"/>
            <a:ext cx="73152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1901952"/>
            <a:ext cx="20574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7C3AED"/>
                </a:solidFill>
                <a:latin typeface="Arial"/>
              </a:rPr>
              <a:t>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331720"/>
            <a:ext cx="20574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English pass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783080"/>
            <a:ext cx="2514600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1783080"/>
            <a:ext cx="73152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6" y="1901952"/>
            <a:ext cx="20574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USD 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2331720"/>
            <a:ext cx="20574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Registration fee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246120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47872"/>
            <a:ext cx="10789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2536" y="3310128"/>
            <a:ext cx="1234440" cy="9601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Connect &amp; prepare</a:t>
            </a:r>
          </a:p>
        </p:txBody>
      </p:sp>
      <p:sp>
        <p:nvSpPr>
          <p:cNvPr id="26" name="Oval 25"/>
          <p:cNvSpPr/>
          <p:nvPr/>
        </p:nvSpPr>
        <p:spPr>
          <a:xfrm>
            <a:off x="3593592" y="3246120"/>
            <a:ext cx="1078992" cy="10789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3547872"/>
            <a:ext cx="10789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3310128"/>
            <a:ext cx="1234440" cy="9601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Explore &amp; analyse</a:t>
            </a:r>
          </a:p>
        </p:txBody>
      </p:sp>
      <p:sp>
        <p:nvSpPr>
          <p:cNvPr id="29" name="Oval 28"/>
          <p:cNvSpPr/>
          <p:nvPr/>
        </p:nvSpPr>
        <p:spPr>
          <a:xfrm>
            <a:off x="6409944" y="3246120"/>
            <a:ext cx="1078992" cy="10789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3547872"/>
            <a:ext cx="10789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310128"/>
            <a:ext cx="1234440" cy="9601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 insights</a:t>
            </a:r>
          </a:p>
        </p:txBody>
      </p:sp>
      <p:sp>
        <p:nvSpPr>
          <p:cNvPr id="32" name="Oval 31"/>
          <p:cNvSpPr/>
          <p:nvPr/>
        </p:nvSpPr>
        <p:spPr>
          <a:xfrm>
            <a:off x="9226296" y="3246120"/>
            <a:ext cx="1078992" cy="10789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26296" y="3547872"/>
            <a:ext cx="10789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1592" y="3310128"/>
            <a:ext cx="1234440" cy="9601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Tableau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09160"/>
            <a:ext cx="10332720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prerequisite · Product version 2022.3 · No hard-copy or online references · Retake fee: 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596128"/>
            <a:ext cx="10332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Always confirm registration details on Salesforce before booking; fees and policies can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LMS/TMS · VISUAL ACCESS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2184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542032"/>
            <a:ext cx="51206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78608"/>
            <a:ext cx="4754879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Tertiary Infotech LMS/TMS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My Courses · Attendance ·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383280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383280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13632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913632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43984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443984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Individual Lab Folders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974336"/>
            <a:ext cx="512064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974336"/>
            <a:ext cx="4663440" cy="42062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Assessment Submission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82880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82880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88366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1. Sign in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the email registered for the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83464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83464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88950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2. Open course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 this TGS code under My Courses.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84048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840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89534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3. Download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slides, LG and labs together.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46320"/>
            <a:ext cx="470916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4846320"/>
            <a:ext cx="82296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4901184"/>
            <a:ext cx="41148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4. Assess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Take attendance and submit on the LMS.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(WA/SAQ) — 4 open-ended questions, 1 hour, open book.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Practical Performance (PP) — 4 Tableau tasks, 1 hour, open book.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Assessment digital attendance before starting.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question-paper answers on the LMS.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53128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25696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Answer keys are trainer-only and are never attached to learner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/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2444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2444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WA — 1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PP — 1 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24612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2057400"/>
            <a:ext cx="194767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3184" y="2057400"/>
            <a:ext cx="194767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1259" y="2423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1259" y="2423160"/>
            <a:ext cx="73152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429000"/>
            <a:ext cx="1728216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Assessment digital attendance before the papers begin.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05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QR code displayed by the trainer or administrator.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your submission and keep the device away during assessment.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85615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84048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9875520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Attendance and Competent outcome support funding eligibility.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TABLEAU DESKTOP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10241280" cy="1645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61B26"/>
                </a:solidFill>
                <a:latin typeface="Arial"/>
              </a:rPr>
              <a:t>Thank you — build the evidence, not just the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251960"/>
            <a:ext cx="1005840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 trusted Tableau insight connects the right data, uses the right grain, communicates clearly and survives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698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EXAMNOVA · ORIGINAL BLUEPRINT-ALIGNED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744200" cy="7315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Tableau Desktop Specialist 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au-practice-exam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242316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434840"/>
            <a:ext cx="242316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SCAN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7" y="1783080"/>
            <a:ext cx="2221992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75887" y="1783080"/>
            <a:ext cx="6400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18288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3 ×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86000"/>
            <a:ext cx="18288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83080"/>
            <a:ext cx="2221992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783080"/>
            <a:ext cx="64008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7"/>
            <a:ext cx="18288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60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18288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5088" y="1783080"/>
            <a:ext cx="2221992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05088" y="1783080"/>
            <a:ext cx="64008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892807"/>
            <a:ext cx="18288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286000"/>
            <a:ext cx="18288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practice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5887" y="2971800"/>
            <a:ext cx="2221992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5887" y="2971800"/>
            <a:ext cx="64008" cy="932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081528"/>
            <a:ext cx="18288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USD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474720"/>
            <a:ext cx="18288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practice 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2971800"/>
            <a:ext cx="2221992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2971800"/>
            <a:ext cx="6400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81528"/>
            <a:ext cx="182880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USD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18288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voucher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4315968"/>
            <a:ext cx="736092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Practice bundle domain mix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4700016"/>
            <a:ext cx="736092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25% Connect &amp; Prepare  ·  35% Explore &amp; Analyse  ·  20% Share Insights  ·  20% Concepts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50992"/>
            <a:ext cx="10744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  <a:hlinkClick r:id="rId3"/>
              </a:rPr>
              <a:t>https://exams.tertiaryinfotech.com/practice-exams/tableau/tableau-desktop-specialist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4160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Tableau Desktop Specialist · TGS-2025053175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1089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739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