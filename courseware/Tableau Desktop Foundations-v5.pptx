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415" r:id="rId166"/>
    <p:sldId id="416" r:id="rId167"/>
    <p:sldId id="417" r:id="rId168"/>
    <p:sldId id="418" r:id="rId169"/>
    <p:sldId id="419" r:id="rId170"/>
    <p:sldId id="420" r:id="rId17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doughnutChart>
        <c:varyColors val="1"/>
        <c:ser>
          <c:idx val="0"/>
          <c:order val="0"/>
          <c:tx>
            <c:strRef>
              <c:f>Sheet1!$B$1</c:f>
              <c:strCache>
                <c:ptCount val="1"/>
                <c:pt idx="0">
                  <c:v>Weight</c:v>
                </c:pt>
              </c:strCache>
            </c:strRef>
          </c:tx>
          <c:dPt>
            <c:idx val="0"/>
            <c:spPr>
              <a:solidFill>
                <a:srgbClr val="1F6FEB"/>
              </a:solidFill>
            </c:spPr>
          </c:dPt>
          <c:dPt>
            <c:idx val="1"/>
            <c:spPr>
              <a:solidFill>
                <a:srgbClr val="10B981"/>
              </a:solidFill>
            </c:spPr>
          </c:dPt>
          <c:dPt>
            <c:idx val="2"/>
            <c:spPr>
              <a:solidFill>
                <a:srgbClr val="7C3AED"/>
              </a:solidFill>
            </c:spPr>
          </c:dPt>
          <c:dPt>
            <c:idx val="3"/>
            <c:spPr>
              <a:solidFill>
                <a:srgbClr val="F59E0B"/>
              </a:solidFill>
            </c:spPr>
          </c:dPt>
          <c:cat>
            <c:strRef>
              <c:f>Sheet1!$A$2:$A$5</c:f>
              <c:strCache>
                <c:ptCount val="4"/>
                <c:pt idx="0">
                  <c:v>Connect &amp; Prepare</c:v>
                </c:pt>
                <c:pt idx="1">
                  <c:v>Explore &amp; Analyse</c:v>
                </c:pt>
                <c:pt idx="2">
                  <c:v>Share Insights</c:v>
                </c:pt>
                <c:pt idx="3">
                  <c:v>Concepts</c:v>
                </c:pt>
              </c:strCache>
            </c:strRef>
          </c:cat>
          <c:val>
            <c:numRef>
              <c:f>Sheet1!$B$2:$B$5</c:f>
              <c:numCache>
                <c:formatCode>General</c:formatCode>
                <c:ptCount val="4"/>
                <c:pt idx="0">
                  <c:v>23</c:v>
                </c:pt>
                <c:pt idx="1">
                  <c:v>37</c:v>
                </c:pt>
                <c:pt idx="2">
                  <c:v>25</c:v>
                </c:pt>
                <c:pt idx="3">
                  <c:v>15</c:v>
                </c:pt>
              </c:numCache>
            </c:numRef>
          </c:val>
        </c:ser>
        <c:dLbls>
          <c:txPr>
            <a:bodyPr/>
            <a:lstStyle/>
            <a:p>
              <a:pPr>
                <a:defRPr sz="1200">
                  <a:latin typeface="Arial"/>
                </a:defRPr>
              </a:pPr>
            </a:p>
          </c:txPr>
          <c:dLblPos val="bestFit"/>
          <c:showLegendKey val="0"/>
          <c:showVal val="0"/>
          <c:showCatName val="0"/>
          <c:showSerName val="0"/>
          <c:showPercent val="1"/>
          <c:showBubbleSize val="0"/>
          <c:showLeaderLines val="1"/>
        </c:dLbls>
        <c:firstSliceAng val="0"/>
        <c:holeSize val="50"/>
      </c:doughnutChart>
    </c:plotArea>
    <c:legend>
      <c:legendPos val="b"/>
      <c:layout/>
      <c:overlay val="0"/>
    </c:legend>
    <c:plotVisOnly val="1"/>
    <c:dispBlanksAs val="gap"/>
    <c:showDLblsOverMax val="0"/>
  </c:chart>
  <c:txPr>
    <a:bodyPr/>
    <a:lstStyle/>
    <a:p>
      <a:pPr>
        <a:defRPr sz="1800"/>
      </a:pPr>
      <a:endParaRPr/>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Live</c:v>
                </c:pt>
              </c:strCache>
            </c:strRef>
          </c:tx>
          <c:spPr>
            <a:solidFill>
              <a:srgbClr val="1F6FEB"/>
            </a:solidFill>
          </c:spPr>
          <c:cat>
            <c:strRef>
              <c:f>Sheet1!$A$2:$A$4</c:f>
              <c:strCache>
                <c:ptCount val="3"/>
                <c:pt idx="0">
                  <c:v>Small local</c:v>
                </c:pt>
                <c:pt idx="1">
                  <c:v>Network database</c:v>
                </c:pt>
                <c:pt idx="2">
                  <c:v>Repeated dashboard</c:v>
                </c:pt>
              </c:strCache>
            </c:strRef>
          </c:cat>
          <c:val>
            <c:numRef>
              <c:f>Sheet1!$B$2:$B$4</c:f>
              <c:numCache>
                <c:formatCode>General</c:formatCode>
                <c:ptCount val="3"/>
                <c:pt idx="0">
                  <c:v>1.2</c:v>
                </c:pt>
                <c:pt idx="1">
                  <c:v>4.8</c:v>
                </c:pt>
                <c:pt idx="2">
                  <c:v>3.6</c:v>
                </c:pt>
              </c:numCache>
            </c:numRef>
          </c:val>
        </c:ser>
        <c:ser>
          <c:idx val="1"/>
          <c:order val="1"/>
          <c:tx>
            <c:strRef>
              <c:f>Sheet1!$C$1</c:f>
              <c:strCache>
                <c:ptCount val="1"/>
                <c:pt idx="0">
                  <c:v>Extract</c:v>
                </c:pt>
              </c:strCache>
            </c:strRef>
          </c:tx>
          <c:spPr>
            <a:solidFill>
              <a:srgbClr val="10B981"/>
            </a:solidFill>
          </c:spPr>
          <c:cat>
            <c:strRef>
              <c:f>Sheet1!$A$2:$A$4</c:f>
              <c:strCache>
                <c:ptCount val="3"/>
                <c:pt idx="0">
                  <c:v>Small local</c:v>
                </c:pt>
                <c:pt idx="1">
                  <c:v>Network database</c:v>
                </c:pt>
                <c:pt idx="2">
                  <c:v>Repeated dashboard</c:v>
                </c:pt>
              </c:strCache>
            </c:strRef>
          </c:cat>
          <c:val>
            <c:numRef>
              <c:f>Sheet1!$C$2:$C$4</c:f>
              <c:numCache>
                <c:formatCode>General</c:formatCode>
                <c:ptCount val="3"/>
                <c:pt idx="0">
                  <c:v>0.9</c:v>
                </c:pt>
                <c:pt idx="1">
                  <c:v>1.1</c:v>
                </c:pt>
                <c:pt idx="2">
                  <c:v>0.8</c:v>
                </c:pt>
              </c:numCache>
            </c:numRef>
          </c:val>
        </c:ser>
        <c:axId val="-2068027336"/>
        <c:axId val="-2113994440"/>
      </c:barChart>
      <c:catAx>
        <c:axId val="-2068027336"/>
        <c:scaling>
          <c:orientation val="minMax"/>
        </c:scaling>
        <c:delete val="0"/>
        <c:axPos val="b"/>
        <c:majorTickMark val="out"/>
        <c:minorTickMark val="none"/>
        <c:tickLblPos val="nextTo"/>
        <c:txPr>
          <a:bodyPr/>
          <a:lstStyle/>
          <a:p>
            <a:pPr>
              <a:defRPr sz="1100">
                <a:latin typeface="Arial"/>
              </a:defRPr>
            </a:pPr>
          </a:p>
        </c:txPr>
        <c:crossAx val="-2113994440"/>
        <c:crosses val="autoZero"/>
        <c:auto val="1"/>
        <c:lblAlgn val="ctr"/>
        <c:lblOffset val="100"/>
        <c:noMultiLvlLbl val="0"/>
      </c:catAx>
      <c:valAx>
        <c:axId val="-2113994440"/>
        <c:scaling/>
        <c:delete val="0"/>
        <c:axPos val="l"/>
        <c:majorGridlines>
          <c:spPr>
            <a:ln>
              <a:solidFill>
                <a:srgbClr val="E2E8F0"/>
              </a:solidFill>
            </a:ln>
          </c:spPr>
        </c:majorGridlines>
        <c:majorTickMark val="out"/>
        <c:minorTickMark val="none"/>
        <c:tickLblPos val="nextTo"/>
        <c:txPr>
          <a:bodyPr/>
          <a:lstStyle/>
          <a:p>
            <a:pPr>
              <a:defRPr sz="1000">
                <a:latin typeface="Arial"/>
              </a:defRPr>
            </a:pPr>
          </a:p>
        </c:txPr>
        <c:crossAx val="-2068027336"/>
        <c:crosses val="autoZero"/>
      </c:valAx>
    </c:plotArea>
    <c:legend>
      <c:legendPos val="b"/>
      <c:overlay val="0"/>
    </c:legend>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Sales</c:v>
                </c:pt>
              </c:strCache>
            </c:strRef>
          </c:tx>
          <c:spPr>
            <a:solidFill>
              <a:srgbClr val="1F6FEB"/>
            </a:solidFill>
            <a:ln>
              <a:solidFill>
                <a:srgbClr val="1F6FEB"/>
              </a:solidFill>
            </a:ln>
          </c:spPr>
          <c:cat>
            <c:strRef>
              <c:f>Sheet1!$A$2:$A$7</c:f>
              <c:strCache>
                <c:ptCount val="6"/>
                <c:pt idx="0">
                  <c:v>Jan</c:v>
                </c:pt>
                <c:pt idx="1">
                  <c:v>Feb</c:v>
                </c:pt>
                <c:pt idx="2">
                  <c:v>Mar</c:v>
                </c:pt>
                <c:pt idx="3">
                  <c:v>Apr</c:v>
                </c:pt>
                <c:pt idx="4">
                  <c:v>May</c:v>
                </c:pt>
                <c:pt idx="5">
                  <c:v>Jun</c:v>
                </c:pt>
              </c:strCache>
            </c:strRef>
          </c:cat>
          <c:val>
            <c:numRef>
              <c:f>Sheet1!$B$2:$B$7</c:f>
              <c:numCache>
                <c:formatCode>General</c:formatCode>
                <c:ptCount val="6"/>
                <c:pt idx="0">
                  <c:v>420</c:v>
                </c:pt>
                <c:pt idx="1">
                  <c:v>460</c:v>
                </c:pt>
                <c:pt idx="2">
                  <c:v>510</c:v>
                </c:pt>
                <c:pt idx="3">
                  <c:v>485</c:v>
                </c:pt>
                <c:pt idx="4">
                  <c:v>560</c:v>
                </c:pt>
                <c:pt idx="5">
                  <c:v>610</c:v>
                </c:pt>
              </c:numCache>
            </c:numRef>
          </c:val>
          <c:smooth val="0"/>
        </c:ser>
        <c:ser>
          <c:idx val="1"/>
          <c:order val="1"/>
          <c:tx>
            <c:strRef>
              <c:f>Sheet1!$C$1</c:f>
              <c:strCache>
                <c:ptCount val="1"/>
                <c:pt idx="0">
                  <c:v>Profit</c:v>
                </c:pt>
              </c:strCache>
            </c:strRef>
          </c:tx>
          <c:spPr>
            <a:solidFill>
              <a:srgbClr val="10B981"/>
            </a:solidFill>
            <a:ln>
              <a:solidFill>
                <a:srgbClr val="10B981"/>
              </a:solidFill>
            </a:ln>
          </c:spPr>
          <c:cat>
            <c:strRef>
              <c:f>Sheet1!$A$2:$A$7</c:f>
              <c:strCache>
                <c:ptCount val="6"/>
                <c:pt idx="0">
                  <c:v>Jan</c:v>
                </c:pt>
                <c:pt idx="1">
                  <c:v>Feb</c:v>
                </c:pt>
                <c:pt idx="2">
                  <c:v>Mar</c:v>
                </c:pt>
                <c:pt idx="3">
                  <c:v>Apr</c:v>
                </c:pt>
                <c:pt idx="4">
                  <c:v>May</c:v>
                </c:pt>
                <c:pt idx="5">
                  <c:v>Jun</c:v>
                </c:pt>
              </c:strCache>
            </c:strRef>
          </c:cat>
          <c:val>
            <c:numRef>
              <c:f>Sheet1!$C$2:$C$7</c:f>
              <c:numCache>
                <c:formatCode>General</c:formatCode>
                <c:ptCount val="6"/>
                <c:pt idx="0">
                  <c:v>86</c:v>
                </c:pt>
                <c:pt idx="1">
                  <c:v>92</c:v>
                </c:pt>
                <c:pt idx="2">
                  <c:v>112</c:v>
                </c:pt>
                <c:pt idx="3">
                  <c:v>98</c:v>
                </c:pt>
                <c:pt idx="4">
                  <c:v>126</c:v>
                </c:pt>
                <c:pt idx="5">
                  <c:v>141</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txPr>
          <a:bodyPr/>
          <a:lstStyle/>
          <a:p>
            <a:pPr>
              <a:defRPr sz="1100">
                <a:latin typeface="Arial"/>
              </a:defRPr>
            </a:pPr>
          </a:p>
        </c:txPr>
        <c:crossAx val="2140495176"/>
        <c:crosses val="autoZero"/>
        <c:auto val="1"/>
        <c:lblAlgn val="ctr"/>
        <c:lblOffset val="100"/>
        <c:noMultiLvlLbl val="0"/>
      </c:catAx>
      <c:valAx>
        <c:axId val="2140495176"/>
        <c:scaling/>
        <c:delete val="0"/>
        <c:axPos val="l"/>
        <c:majorGridlines>
          <c:spPr>
            <a:ln>
              <a:solidFill>
                <a:srgbClr val="E2E8F0"/>
              </a:solidFill>
            </a:ln>
          </c:spPr>
        </c:majorGridlines>
        <c:majorTickMark val="out"/>
        <c:minorTickMark val="none"/>
        <c:tickLblPos val="nextTo"/>
        <c:txPr>
          <a:bodyPr/>
          <a:lstStyle/>
          <a:p>
            <a:pPr>
              <a:defRPr sz="1000">
                <a:latin typeface="Arial"/>
              </a:defRPr>
            </a:pPr>
          </a:p>
        </c:txPr>
        <c:crossAx val="2118791784"/>
        <c:crosses val="autoZero"/>
      </c:valAx>
    </c:plotArea>
    <c:legend>
      <c:legendPos val="b"/>
      <c:layout/>
      <c:overlay val="0"/>
    </c:legend>
    <c:plotVisOnly val="1"/>
    <c:dispBlanksAs val="gap"/>
    <c:showDLblsOverMax val="0"/>
  </c:chart>
  <c:txPr>
    <a:bodyPr/>
    <a:lstStyle/>
    <a:p>
      <a:pPr>
        <a:defRPr sz="18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Open tickets</c:v>
                </c:pt>
              </c:strCache>
            </c:strRef>
          </c:tx>
          <c:spPr>
            <a:solidFill>
              <a:srgbClr val="1F6FEB"/>
            </a:solidFill>
          </c:spPr>
          <c:cat>
            <c:strRef>
              <c:f>Sheet1!$A$2:$A$5</c:f>
              <c:strCache>
                <c:ptCount val="4"/>
                <c:pt idx="0">
                  <c:v>Critical</c:v>
                </c:pt>
                <c:pt idx="1">
                  <c:v>High</c:v>
                </c:pt>
                <c:pt idx="2">
                  <c:v>Medium</c:v>
                </c:pt>
                <c:pt idx="3">
                  <c:v>Low</c:v>
                </c:pt>
              </c:strCache>
            </c:strRef>
          </c:cat>
          <c:val>
            <c:numRef>
              <c:f>Sheet1!$B$2:$B$5</c:f>
              <c:numCache>
                <c:formatCode>General</c:formatCode>
                <c:ptCount val="4"/>
                <c:pt idx="0">
                  <c:v>46</c:v>
                </c:pt>
                <c:pt idx="1">
                  <c:v>132</c:v>
                </c:pt>
                <c:pt idx="2">
                  <c:v>285</c:v>
                </c:pt>
                <c:pt idx="3">
                  <c:v>204</c:v>
                </c:pt>
              </c:numCache>
            </c:numRef>
          </c:val>
        </c:ser>
        <c:ser>
          <c:idx val="1"/>
          <c:order val="1"/>
          <c:tx>
            <c:strRef>
              <c:f>Sheet1!$C$1</c:f>
              <c:strCache>
                <c:ptCount val="1"/>
                <c:pt idx="0">
                  <c:v>SLA breaches</c:v>
                </c:pt>
              </c:strCache>
            </c:strRef>
          </c:tx>
          <c:spPr>
            <a:solidFill>
              <a:srgbClr val="10B981"/>
            </a:solidFill>
          </c:spPr>
          <c:cat>
            <c:strRef>
              <c:f>Sheet1!$A$2:$A$5</c:f>
              <c:strCache>
                <c:ptCount val="4"/>
                <c:pt idx="0">
                  <c:v>Critical</c:v>
                </c:pt>
                <c:pt idx="1">
                  <c:v>High</c:v>
                </c:pt>
                <c:pt idx="2">
                  <c:v>Medium</c:v>
                </c:pt>
                <c:pt idx="3">
                  <c:v>Low</c:v>
                </c:pt>
              </c:strCache>
            </c:strRef>
          </c:cat>
          <c:val>
            <c:numRef>
              <c:f>Sheet1!$C$2:$C$5</c:f>
              <c:numCache>
                <c:formatCode>General</c:formatCode>
                <c:ptCount val="4"/>
                <c:pt idx="0">
                  <c:v>19</c:v>
                </c:pt>
                <c:pt idx="1">
                  <c:v>38</c:v>
                </c:pt>
                <c:pt idx="2">
                  <c:v>27</c:v>
                </c:pt>
                <c:pt idx="3">
                  <c:v>8</c:v>
                </c:pt>
              </c:numCache>
            </c:numRef>
          </c:val>
        </c:ser>
        <c:axId val="-2068027336"/>
        <c:axId val="-2113994440"/>
      </c:barChart>
      <c:catAx>
        <c:axId val="-2068027336"/>
        <c:scaling>
          <c:orientation val="minMax"/>
        </c:scaling>
        <c:delete val="0"/>
        <c:axPos val="b"/>
        <c:majorTickMark val="out"/>
        <c:minorTickMark val="none"/>
        <c:tickLblPos val="nextTo"/>
        <c:txPr>
          <a:bodyPr/>
          <a:lstStyle/>
          <a:p>
            <a:pPr>
              <a:defRPr sz="1100">
                <a:latin typeface="Arial"/>
              </a:defRPr>
            </a:pPr>
          </a:p>
        </c:txPr>
        <c:crossAx val="-2113994440"/>
        <c:crosses val="autoZero"/>
        <c:auto val="1"/>
        <c:lblAlgn val="ctr"/>
        <c:lblOffset val="100"/>
        <c:noMultiLvlLbl val="0"/>
      </c:catAx>
      <c:valAx>
        <c:axId val="-2113994440"/>
        <c:scaling/>
        <c:delete val="0"/>
        <c:axPos val="l"/>
        <c:majorGridlines>
          <c:spPr>
            <a:ln>
              <a:solidFill>
                <a:srgbClr val="E2E8F0"/>
              </a:solidFill>
            </a:ln>
          </c:spPr>
        </c:majorGridlines>
        <c:majorTickMark val="out"/>
        <c:minorTickMark val="none"/>
        <c:tickLblPos val="nextTo"/>
        <c:txPr>
          <a:bodyPr/>
          <a:lstStyle/>
          <a:p>
            <a:pPr>
              <a:defRPr sz="1000">
                <a:latin typeface="Arial"/>
              </a:defRPr>
            </a:pPr>
          </a:p>
        </c:txPr>
        <c:crossAx val="-2068027336"/>
        <c:crosses val="autoZero"/>
      </c:valAx>
    </c:plotArea>
    <c:legend>
      <c:legendPos val="b"/>
      <c:overlay val="0"/>
    </c:legend>
    <c:dispBlanksAs val="gap"/>
  </c:chart>
  <c:txPr>
    <a:bodyPr/>
    <a:lstStyle/>
    <a:p>
      <a:pPr>
        <a:defRPr sz="1800"/>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Number of marks</c:v>
                </c:pt>
              </c:strCache>
            </c:strRef>
          </c:tx>
          <c:spPr>
            <a:solidFill>
              <a:srgbClr val="1F6FEB"/>
            </a:solidFill>
          </c:spPr>
          <c:cat>
            <c:strRef>
              <c:f>Sheet1!$A$2:$A$5</c:f>
              <c:strCache>
                <c:ptCount val="4"/>
                <c:pt idx="0">
                  <c:v>Total</c:v>
                </c:pt>
                <c:pt idx="1">
                  <c:v>Region</c:v>
                </c:pt>
                <c:pt idx="2">
                  <c:v>Region + Customer</c:v>
                </c:pt>
                <c:pt idx="3">
                  <c:v>Order line</c:v>
                </c:pt>
              </c:strCache>
            </c:strRef>
          </c:cat>
          <c:val>
            <c:numRef>
              <c:f>Sheet1!$B$2:$B$5</c:f>
              <c:numCache>
                <c:formatCode>General</c:formatCode>
                <c:ptCount val="4"/>
                <c:pt idx="0">
                  <c:v>1</c:v>
                </c:pt>
                <c:pt idx="1">
                  <c:v>6</c:v>
                </c:pt>
                <c:pt idx="2">
                  <c:v>420</c:v>
                </c:pt>
                <c:pt idx="3">
                  <c:v>2500</c:v>
                </c:pt>
              </c:numCache>
            </c:numRef>
          </c:val>
        </c:ser>
        <c:axId val="-2068027336"/>
        <c:axId val="-2113994440"/>
      </c:barChart>
      <c:catAx>
        <c:axId val="-2068027336"/>
        <c:scaling>
          <c:orientation val="minMax"/>
        </c:scaling>
        <c:delete val="0"/>
        <c:axPos val="b"/>
        <c:majorTickMark val="out"/>
        <c:minorTickMark val="none"/>
        <c:tickLblPos val="nextTo"/>
        <c:txPr>
          <a:bodyPr/>
          <a:lstStyle/>
          <a:p>
            <a:pPr>
              <a:defRPr sz="1100">
                <a:latin typeface="Arial"/>
              </a:defRPr>
            </a:pPr>
          </a:p>
        </c:txPr>
        <c:crossAx val="-2113994440"/>
        <c:crosses val="autoZero"/>
        <c:auto val="1"/>
        <c:lblAlgn val="ctr"/>
        <c:lblOffset val="100"/>
        <c:noMultiLvlLbl val="0"/>
      </c:catAx>
      <c:valAx>
        <c:axId val="-2113994440"/>
        <c:scaling/>
        <c:delete val="0"/>
        <c:axPos val="l"/>
        <c:majorGridlines>
          <c:spPr>
            <a:ln>
              <a:solidFill>
                <a:srgbClr val="E2E8F0"/>
              </a:solidFill>
            </a:ln>
          </c:spPr>
        </c:majorGridlines>
        <c:majorTickMark val="out"/>
        <c:minorTickMark val="none"/>
        <c:tickLblPos val="nextTo"/>
        <c:txPr>
          <a:bodyPr/>
          <a:lstStyle/>
          <a:p>
            <a:pPr>
              <a:defRPr sz="1000">
                <a:latin typeface="Arial"/>
              </a:defRPr>
            </a:pPr>
          </a:p>
        </c:txPr>
        <c:crossAx val="-2068027336"/>
        <c:crosses val="autoZero"/>
      </c:valAx>
    </c:plotArea>
    <c:dispBlanksAs val="gap"/>
  </c:chart>
  <c:txPr>
    <a:bodyPr/>
    <a:lstStyle/>
    <a:p>
      <a:pPr>
        <a:defRPr sz="1800"/>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ms-tms.tertiaryinfotech.com/"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tertiarycourses/TGS-2025053175---Tableau-Certified-Desktop-Specialist-Training"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5.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ms-tms.tertiaryinfotech.com/" TargetMode="Externa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hyperlink" Target="https://exams.tertiaryinfotech.com/practice-exams/tableau/tableau-desktop-specialist"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cover-hero-v1.png"/>
          <p:cNvPicPr>
            <a:picLocks noChangeAspect="1"/>
          </p:cNvPicPr>
          <p:nvPr/>
        </p:nvPicPr>
        <p:blipFill>
          <a:blip r:embed="rId2"/>
          <a:stretch>
            <a:fillRect/>
          </a:stretch>
        </p:blipFill>
        <p:spPr>
          <a:xfrm>
            <a:off x="4800600" y="201168"/>
            <a:ext cx="7388352" cy="6455664"/>
          </a:xfrm>
          <a:prstGeom prst="rect">
            <a:avLst/>
          </a:prstGeom>
        </p:spPr>
      </p:pic>
      <p:sp>
        <p:nvSpPr>
          <p:cNvPr id="4" name="Rectangle 3"/>
          <p:cNvSpPr/>
          <p:nvPr/>
        </p:nvSpPr>
        <p:spPr>
          <a:xfrm>
            <a:off x="0" y="0"/>
            <a:ext cx="576072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191695" cy="182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75120"/>
            <a:ext cx="12191695" cy="182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ertiary-infotech-logo.png"/>
          <p:cNvPicPr>
            <a:picLocks noChangeAspect="1"/>
          </p:cNvPicPr>
          <p:nvPr/>
        </p:nvPicPr>
        <p:blipFill>
          <a:blip r:embed="rId3"/>
          <a:stretch>
            <a:fillRect/>
          </a:stretch>
        </p:blipFill>
        <p:spPr>
          <a:xfrm>
            <a:off x="713232" y="548640"/>
            <a:ext cx="685800" cy="685800"/>
          </a:xfrm>
          <a:prstGeom prst="rect">
            <a:avLst/>
          </a:prstGeom>
        </p:spPr>
      </p:pic>
      <p:sp>
        <p:nvSpPr>
          <p:cNvPr id="8" name="TextBox 7"/>
          <p:cNvSpPr txBox="1"/>
          <p:nvPr/>
        </p:nvSpPr>
        <p:spPr>
          <a:xfrm>
            <a:off x="777240" y="1600200"/>
            <a:ext cx="4572000" cy="411480"/>
          </a:xfrm>
          <a:prstGeom prst="rect">
            <a:avLst/>
          </a:prstGeom>
          <a:noFill/>
        </p:spPr>
        <p:txBody>
          <a:bodyPr wrap="square" anchor="t" lIns="54864" rIns="54864" tIns="54864" bIns="54864">
            <a:spAutoFit/>
          </a:bodyPr>
          <a:lstStyle/>
          <a:p>
            <a:pPr algn="l">
              <a:spcAft>
                <a:spcPts val="300"/>
              </a:spcAft>
            </a:pPr>
            <a:r>
              <a:rPr sz="1400" b="1">
                <a:solidFill>
                  <a:srgbClr val="1F6FEB"/>
                </a:solidFill>
                <a:latin typeface="Arial"/>
              </a:rPr>
              <a:t>COURSE SLIDES · WSQ</a:t>
            </a:r>
          </a:p>
        </p:txBody>
      </p:sp>
      <p:sp>
        <p:nvSpPr>
          <p:cNvPr id="9" name="TextBox 8"/>
          <p:cNvSpPr txBox="1"/>
          <p:nvPr/>
        </p:nvSpPr>
        <p:spPr>
          <a:xfrm>
            <a:off x="777240" y="2057400"/>
            <a:ext cx="4434840" cy="1828800"/>
          </a:xfrm>
          <a:prstGeom prst="rect">
            <a:avLst/>
          </a:prstGeom>
          <a:noFill/>
        </p:spPr>
        <p:txBody>
          <a:bodyPr wrap="square" anchor="ctr" lIns="54864" rIns="54864" tIns="54864" bIns="54864">
            <a:spAutoFit/>
          </a:bodyPr>
          <a:lstStyle/>
          <a:p>
            <a:pPr algn="l">
              <a:spcAft>
                <a:spcPts val="300"/>
              </a:spcAft>
            </a:pPr>
            <a:r>
              <a:rPr sz="3100" b="1">
                <a:solidFill>
                  <a:srgbClr val="161B26"/>
                </a:solidFill>
                <a:latin typeface="Arial"/>
              </a:rPr>
              <a:t>Tableau Desktop Foundations</a:t>
            </a:r>
          </a:p>
        </p:txBody>
      </p:sp>
      <p:sp>
        <p:nvSpPr>
          <p:cNvPr id="10" name="TextBox 9"/>
          <p:cNvSpPr txBox="1"/>
          <p:nvPr/>
        </p:nvSpPr>
        <p:spPr>
          <a:xfrm>
            <a:off x="777240" y="4160520"/>
            <a:ext cx="4480560" cy="960120"/>
          </a:xfrm>
          <a:prstGeom prst="rect">
            <a:avLst/>
          </a:prstGeom>
          <a:noFill/>
        </p:spPr>
        <p:txBody>
          <a:bodyPr wrap="square" anchor="t" lIns="54864" rIns="54864" tIns="54864" bIns="54864">
            <a:spAutoFit/>
          </a:bodyPr>
          <a:lstStyle/>
          <a:p>
            <a:pPr algn="l">
              <a:spcAft>
                <a:spcPts val="300"/>
              </a:spcAft>
            </a:pPr>
            <a:r>
              <a:rPr sz="1400" b="0">
                <a:solidFill>
                  <a:srgbClr val="5B6372"/>
                </a:solidFill>
                <a:latin typeface="Arial"/>
              </a:rPr>
              <a:t>Course Code: TGS-2025053175</a:t>
            </a:r>
          </a:p>
          <a:p>
            <a:pPr algn="l">
              <a:spcAft>
                <a:spcPts val="300"/>
              </a:spcAft>
            </a:pPr>
            <a:r>
              <a:rPr sz="1250" b="0">
                <a:solidFill>
                  <a:srgbClr val="5B6372"/>
                </a:solidFill>
                <a:latin typeface="Arial"/>
              </a:rPr>
              <a:t>Tertiary Infotech Academy Pte Ltd · UEN 201200696W</a:t>
            </a:r>
          </a:p>
        </p:txBody>
      </p:sp>
      <p:sp>
        <p:nvSpPr>
          <p:cNvPr id="11" name="TextBox 10"/>
          <p:cNvSpPr txBox="1"/>
          <p:nvPr/>
        </p:nvSpPr>
        <p:spPr>
          <a:xfrm>
            <a:off x="777240" y="5596128"/>
            <a:ext cx="4389120" cy="411480"/>
          </a:xfrm>
          <a:prstGeom prst="rect">
            <a:avLst/>
          </a:prstGeom>
          <a:noFill/>
        </p:spPr>
        <p:txBody>
          <a:bodyPr wrap="square" anchor="t" lIns="54864" rIns="54864" tIns="54864" bIns="54864">
            <a:spAutoFit/>
          </a:bodyPr>
          <a:lstStyle/>
          <a:p>
            <a:pPr algn="l">
              <a:spcAft>
                <a:spcPts val="300"/>
              </a:spcAft>
            </a:pPr>
            <a:r>
              <a:rPr sz="1150" b="0">
                <a:solidFill>
                  <a:srgbClr val="5B6372"/>
                </a:solidFill>
                <a:latin typeface="Arial"/>
              </a:rPr>
              <a:t>Version v5 · 5 September 2026</a:t>
            </a:r>
          </a:p>
        </p:txBody>
      </p:sp>
      <p:sp>
        <p:nvSpPr>
          <p:cNvPr id="12" name="TextBox 11"/>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13" name="TextBox 12"/>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14" name="TextBox 13"/>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1</a:t>
            </a:r>
          </a:p>
        </p:txBody>
      </p:sp>
    </p:spTree>
  </p:cSld>
  <p:clrMapOvr>
    <a:masterClrMapping/>
  </p:clrMapOvr>
  <p:transition spd="fast">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148840"/>
            <a:ext cx="109728" cy="19659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148840"/>
            <a:ext cx="9601200" cy="365760"/>
          </a:xfrm>
          <a:prstGeom prst="rect">
            <a:avLst/>
          </a:prstGeom>
          <a:noFill/>
        </p:spPr>
        <p:txBody>
          <a:bodyPr wrap="square" anchor="t" lIns="54864" rIns="54864" tIns="54864" bIns="54864">
            <a:spAutoFit/>
          </a:bodyPr>
          <a:lstStyle/>
          <a:p>
            <a:pPr algn="l">
              <a:spcAft>
                <a:spcPts val="300"/>
              </a:spcAft>
            </a:pPr>
            <a:r>
              <a:rPr sz="1600" b="1">
                <a:solidFill>
                  <a:srgbClr val="1F6FEB"/>
                </a:solidFill>
                <a:latin typeface="Arial"/>
              </a:rPr>
              <a:t>COURSE ADMINISTRATION</a:t>
            </a:r>
          </a:p>
        </p:txBody>
      </p:sp>
      <p:sp>
        <p:nvSpPr>
          <p:cNvPr id="6" name="TextBox 5"/>
          <p:cNvSpPr txBox="1"/>
          <p:nvPr/>
        </p:nvSpPr>
        <p:spPr>
          <a:xfrm>
            <a:off x="1143000" y="2560320"/>
            <a:ext cx="9875520" cy="1463040"/>
          </a:xfrm>
          <a:prstGeom prst="rect">
            <a:avLst/>
          </a:prstGeom>
          <a:noFill/>
        </p:spPr>
        <p:txBody>
          <a:bodyPr wrap="square" anchor="ctr" lIns="54864" rIns="54864" tIns="54864" bIns="54864">
            <a:spAutoFit/>
          </a:bodyPr>
          <a:lstStyle/>
          <a:p>
            <a:pPr algn="l">
              <a:spcAft>
                <a:spcPts val="300"/>
              </a:spcAft>
            </a:pPr>
            <a:r>
              <a:rPr sz="3500" b="1">
                <a:solidFill>
                  <a:srgbClr val="161B26"/>
                </a:solidFill>
                <a:latin typeface="Arial"/>
              </a:rPr>
              <a:t>Welcome &amp; Housekeeping</a:t>
            </a:r>
          </a:p>
        </p:txBody>
      </p:sp>
      <p:sp>
        <p:nvSpPr>
          <p:cNvPr id="7" name="TextBox 6"/>
          <p:cNvSpPr txBox="1"/>
          <p:nvPr/>
        </p:nvSpPr>
        <p:spPr>
          <a:xfrm>
            <a:off x="1161288" y="4160520"/>
            <a:ext cx="9692640" cy="640080"/>
          </a:xfrm>
          <a:prstGeom prst="rect">
            <a:avLst/>
          </a:prstGeom>
          <a:noFill/>
        </p:spPr>
        <p:txBody>
          <a:bodyPr wrap="square" anchor="t" lIns="54864" rIns="54864" tIns="54864" bIns="54864">
            <a:spAutoFit/>
          </a:bodyPr>
          <a:lstStyle/>
          <a:p>
            <a:pPr algn="l">
              <a:spcAft>
                <a:spcPts val="300"/>
              </a:spcAft>
            </a:pPr>
            <a:r>
              <a:rPr sz="1500" b="0">
                <a:solidFill>
                  <a:srgbClr val="5B6372"/>
                </a:solidFill>
                <a:latin typeface="Arial"/>
              </a:rPr>
              <a:t>Two-day WSQ training · concept-led slides · detailed procedures in the Learner Guide</a:t>
            </a:r>
          </a:p>
        </p:txBody>
      </p:sp>
      <p:sp>
        <p:nvSpPr>
          <p:cNvPr id="8" name="TextBox 7"/>
          <p:cNvSpPr txBox="1"/>
          <p:nvPr/>
        </p:nvSpPr>
        <p:spPr>
          <a:xfrm>
            <a:off x="9235440" y="594360"/>
            <a:ext cx="2286000" cy="1371600"/>
          </a:xfrm>
          <a:prstGeom prst="rect">
            <a:avLst/>
          </a:prstGeom>
          <a:noFill/>
        </p:spPr>
        <p:txBody>
          <a:bodyPr wrap="square" anchor="t" lIns="54864" rIns="54864" tIns="54864" bIns="54864">
            <a:spAutoFit/>
          </a:bodyPr>
          <a:lstStyle/>
          <a:p>
            <a:pPr algn="r">
              <a:spcAft>
                <a:spcPts val="300"/>
              </a:spcAft>
            </a:pPr>
            <a:r>
              <a:rPr sz="6400" b="1">
                <a:solidFill>
                  <a:srgbClr val="E2E8F0"/>
                </a:solidFill>
                <a:latin typeface="Arial"/>
              </a:rPr>
              <a:t>00</a:t>
            </a:r>
          </a:p>
        </p:txBody>
      </p:sp>
      <p:sp>
        <p:nvSpPr>
          <p:cNvPr id="9" name="TextBox 8"/>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10" name="TextBox 9"/>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11" name="TextBox 10"/>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2</a:t>
            </a:r>
          </a:p>
        </p:txBody>
      </p:sp>
    </p:spTree>
  </p:cSld>
  <p:clrMapOvr>
    <a:masterClrMapping/>
  </p:clrMapOvr>
  <p:transition spd="fast">
    <p:fade/>
  </p:transition>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37744"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47472"/>
            <a:ext cx="10698480" cy="292608"/>
          </a:xfrm>
          <a:prstGeom prst="rect">
            <a:avLst/>
          </a:prstGeom>
          <a:noFill/>
        </p:spPr>
        <p:txBody>
          <a:bodyPr wrap="square" anchor="t" lIns="54864" rIns="54864" tIns="54864" bIns="54864">
            <a:spAutoFit/>
          </a:bodyPr>
          <a:lstStyle/>
          <a:p>
            <a:pPr algn="l">
              <a:spcAft>
                <a:spcPts val="300"/>
              </a:spcAft>
            </a:pPr>
            <a:r>
              <a:rPr sz="1200" b="1">
                <a:solidFill>
                  <a:srgbClr val="10B981"/>
                </a:solidFill>
                <a:latin typeface="Arial"/>
              </a:rPr>
              <a:t>TRAQOM · SSG</a:t>
            </a:r>
          </a:p>
        </p:txBody>
      </p:sp>
      <p:sp>
        <p:nvSpPr>
          <p:cNvPr id="5" name="TextBox 4"/>
          <p:cNvSpPr txBox="1"/>
          <p:nvPr/>
        </p:nvSpPr>
        <p:spPr>
          <a:xfrm>
            <a:off x="749808" y="713232"/>
            <a:ext cx="10744200" cy="731520"/>
          </a:xfrm>
          <a:prstGeom prst="rect">
            <a:avLst/>
          </a:prstGeom>
          <a:noFill/>
        </p:spPr>
        <p:txBody>
          <a:bodyPr wrap="square" anchor="ctr" lIns="54864" rIns="54864" tIns="54864" bIns="54864">
            <a:spAutoFit/>
          </a:bodyPr>
          <a:lstStyle/>
          <a:p>
            <a:pPr algn="l">
              <a:spcAft>
                <a:spcPts val="300"/>
              </a:spcAft>
            </a:pPr>
            <a:r>
              <a:rPr sz="2700" b="1">
                <a:solidFill>
                  <a:srgbClr val="161B26"/>
                </a:solidFill>
                <a:latin typeface="Arial"/>
              </a:rPr>
              <a:t>Digital Attendance (Mandatory)</a:t>
            </a:r>
          </a:p>
        </p:txBody>
      </p:sp>
      <p:sp>
        <p:nvSpPr>
          <p:cNvPr id="6" name="Rectangle 5"/>
          <p:cNvSpPr/>
          <p:nvPr/>
        </p:nvSpPr>
        <p:spPr>
          <a:xfrm>
            <a:off x="749808" y="1536192"/>
            <a:ext cx="106984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22960" y="1783080"/>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783080"/>
            <a:ext cx="384048" cy="384048"/>
          </a:xfrm>
          <a:prstGeom prst="rect">
            <a:avLst/>
          </a:prstGeom>
          <a:noFill/>
        </p:spPr>
        <p:txBody>
          <a:bodyPr wrap="square" anchor="ctr" lIns="54864" rIns="54864" tIns="54864" bIns="54864">
            <a:spAutoFit/>
          </a:bodyPr>
          <a:lstStyle/>
          <a:p>
            <a:pPr algn="ctr">
              <a:spcAft>
                <a:spcPts val="300"/>
              </a:spcAft>
            </a:pPr>
            <a:r>
              <a:rPr sz="1300" b="1">
                <a:solidFill>
                  <a:srgbClr val="FFFFFF"/>
                </a:solidFill>
                <a:latin typeface="Arial"/>
              </a:rPr>
              <a:t>1</a:t>
            </a:r>
          </a:p>
        </p:txBody>
      </p:sp>
      <p:sp>
        <p:nvSpPr>
          <p:cNvPr id="9" name="TextBox 8"/>
          <p:cNvSpPr txBox="1"/>
          <p:nvPr/>
        </p:nvSpPr>
        <p:spPr>
          <a:xfrm>
            <a:off x="1417320" y="1755648"/>
            <a:ext cx="9875520" cy="530352"/>
          </a:xfrm>
          <a:prstGeom prst="rect">
            <a:avLst/>
          </a:prstGeom>
          <a:noFill/>
        </p:spPr>
        <p:txBody>
          <a:bodyPr wrap="square" anchor="ctr" lIns="54864" rIns="54864" tIns="54864" bIns="54864">
            <a:spAutoFit/>
          </a:bodyPr>
          <a:lstStyle/>
          <a:p>
            <a:pPr algn="l">
              <a:spcAft>
                <a:spcPts val="300"/>
              </a:spcAft>
            </a:pPr>
            <a:r>
              <a:rPr sz="1500" b="0">
                <a:solidFill>
                  <a:srgbClr val="161B26"/>
                </a:solidFill>
                <a:latin typeface="Arial"/>
              </a:rPr>
              <a:t>Take AM, PM and Assessment digital attendance for each WSQ-funded day.</a:t>
            </a:r>
          </a:p>
        </p:txBody>
      </p:sp>
      <p:sp>
        <p:nvSpPr>
          <p:cNvPr id="10" name="Oval 9"/>
          <p:cNvSpPr/>
          <p:nvPr/>
        </p:nvSpPr>
        <p:spPr>
          <a:xfrm>
            <a:off x="822960" y="2450591"/>
            <a:ext cx="384048" cy="38404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2450591"/>
            <a:ext cx="384048" cy="384048"/>
          </a:xfrm>
          <a:prstGeom prst="rect">
            <a:avLst/>
          </a:prstGeom>
          <a:noFill/>
        </p:spPr>
        <p:txBody>
          <a:bodyPr wrap="square" anchor="ctr" lIns="54864" rIns="54864" tIns="54864" bIns="54864">
            <a:spAutoFit/>
          </a:bodyPr>
          <a:lstStyle/>
          <a:p>
            <a:pPr algn="ctr">
              <a:spcAft>
                <a:spcPts val="300"/>
              </a:spcAft>
            </a:pPr>
            <a:r>
              <a:rPr sz="1300" b="1">
                <a:solidFill>
                  <a:srgbClr val="FFFFFF"/>
                </a:solidFill>
                <a:latin typeface="Arial"/>
              </a:rPr>
              <a:t>2</a:t>
            </a:r>
          </a:p>
        </p:txBody>
      </p:sp>
      <p:sp>
        <p:nvSpPr>
          <p:cNvPr id="12" name="TextBox 11"/>
          <p:cNvSpPr txBox="1"/>
          <p:nvPr/>
        </p:nvSpPr>
        <p:spPr>
          <a:xfrm>
            <a:off x="1417320" y="2423160"/>
            <a:ext cx="9875520" cy="530352"/>
          </a:xfrm>
          <a:prstGeom prst="rect">
            <a:avLst/>
          </a:prstGeom>
          <a:noFill/>
        </p:spPr>
        <p:txBody>
          <a:bodyPr wrap="square" anchor="ctr" lIns="54864" rIns="54864" tIns="54864" bIns="54864">
            <a:spAutoFit/>
          </a:bodyPr>
          <a:lstStyle/>
          <a:p>
            <a:pPr algn="l">
              <a:spcAft>
                <a:spcPts val="300"/>
              </a:spcAft>
            </a:pPr>
            <a:r>
              <a:rPr sz="1500" b="0">
                <a:solidFill>
                  <a:srgbClr val="161B26"/>
                </a:solidFill>
                <a:latin typeface="Arial"/>
              </a:rPr>
              <a:t>Scan the SSG/TRAQOM QR code shown by the trainer or administrator.</a:t>
            </a:r>
          </a:p>
        </p:txBody>
      </p:sp>
      <p:sp>
        <p:nvSpPr>
          <p:cNvPr id="13" name="Oval 12"/>
          <p:cNvSpPr/>
          <p:nvPr/>
        </p:nvSpPr>
        <p:spPr>
          <a:xfrm>
            <a:off x="822960" y="3118104"/>
            <a:ext cx="384048" cy="38404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 y="3118104"/>
            <a:ext cx="384048" cy="384048"/>
          </a:xfrm>
          <a:prstGeom prst="rect">
            <a:avLst/>
          </a:prstGeom>
          <a:noFill/>
        </p:spPr>
        <p:txBody>
          <a:bodyPr wrap="square" anchor="ctr" lIns="54864" rIns="54864" tIns="54864" bIns="54864">
            <a:spAutoFit/>
          </a:bodyPr>
          <a:lstStyle/>
          <a:p>
            <a:pPr algn="ctr">
              <a:spcAft>
                <a:spcPts val="300"/>
              </a:spcAft>
            </a:pPr>
            <a:r>
              <a:rPr sz="1300" b="1">
                <a:solidFill>
                  <a:srgbClr val="FFFFFF"/>
                </a:solidFill>
                <a:latin typeface="Arial"/>
              </a:rPr>
              <a:t>3</a:t>
            </a:r>
          </a:p>
        </p:txBody>
      </p:sp>
      <p:sp>
        <p:nvSpPr>
          <p:cNvPr id="15" name="TextBox 14"/>
          <p:cNvSpPr txBox="1"/>
          <p:nvPr/>
        </p:nvSpPr>
        <p:spPr>
          <a:xfrm>
            <a:off x="1417320" y="3090672"/>
            <a:ext cx="9875520" cy="530352"/>
          </a:xfrm>
          <a:prstGeom prst="rect">
            <a:avLst/>
          </a:prstGeom>
          <a:noFill/>
        </p:spPr>
        <p:txBody>
          <a:bodyPr wrap="square" anchor="ctr" lIns="54864" rIns="54864" tIns="54864" bIns="54864">
            <a:spAutoFit/>
          </a:bodyPr>
          <a:lstStyle/>
          <a:p>
            <a:pPr algn="l">
              <a:spcAft>
                <a:spcPts val="300"/>
              </a:spcAft>
            </a:pPr>
            <a:r>
              <a:rPr sz="1500" b="0">
                <a:solidFill>
                  <a:srgbClr val="161B26"/>
                </a:solidFill>
                <a:latin typeface="Arial"/>
              </a:rPr>
              <a:t>Submit attendance from your own device and verify confirmation.</a:t>
            </a:r>
          </a:p>
        </p:txBody>
      </p:sp>
      <p:sp>
        <p:nvSpPr>
          <p:cNvPr id="16" name="Oval 15"/>
          <p:cNvSpPr/>
          <p:nvPr/>
        </p:nvSpPr>
        <p:spPr>
          <a:xfrm>
            <a:off x="822960" y="3785615"/>
            <a:ext cx="384048" cy="38404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60" y="3785615"/>
            <a:ext cx="384048" cy="384048"/>
          </a:xfrm>
          <a:prstGeom prst="rect">
            <a:avLst/>
          </a:prstGeom>
          <a:noFill/>
        </p:spPr>
        <p:txBody>
          <a:bodyPr wrap="square" anchor="ctr" lIns="54864" rIns="54864" tIns="54864" bIns="54864">
            <a:spAutoFit/>
          </a:bodyPr>
          <a:lstStyle/>
          <a:p>
            <a:pPr algn="ctr">
              <a:spcAft>
                <a:spcPts val="300"/>
              </a:spcAft>
            </a:pPr>
            <a:r>
              <a:rPr sz="1300" b="1">
                <a:solidFill>
                  <a:srgbClr val="FFFFFF"/>
                </a:solidFill>
                <a:latin typeface="Arial"/>
              </a:rPr>
              <a:t>4</a:t>
            </a:r>
          </a:p>
        </p:txBody>
      </p:sp>
      <p:sp>
        <p:nvSpPr>
          <p:cNvPr id="18" name="TextBox 17"/>
          <p:cNvSpPr txBox="1"/>
          <p:nvPr/>
        </p:nvSpPr>
        <p:spPr>
          <a:xfrm>
            <a:off x="1417320" y="3758183"/>
            <a:ext cx="9875520" cy="530352"/>
          </a:xfrm>
          <a:prstGeom prst="rect">
            <a:avLst/>
          </a:prstGeom>
          <a:noFill/>
        </p:spPr>
        <p:txBody>
          <a:bodyPr wrap="square" anchor="ctr" lIns="54864" rIns="54864" tIns="54864" bIns="54864">
            <a:spAutoFit/>
          </a:bodyPr>
          <a:lstStyle/>
          <a:p>
            <a:pPr algn="l">
              <a:spcAft>
                <a:spcPts val="300"/>
              </a:spcAft>
            </a:pPr>
            <a:r>
              <a:rPr sz="1500" b="0">
                <a:solidFill>
                  <a:srgbClr val="161B26"/>
                </a:solidFill>
                <a:latin typeface="Arial"/>
              </a:rPr>
              <a:t>At least 75% attendance is required for assessment and funding eligibility.</a:t>
            </a:r>
          </a:p>
        </p:txBody>
      </p:sp>
      <p:sp>
        <p:nvSpPr>
          <p:cNvPr id="19" name="TextBox 18"/>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20" name="TextBox 19"/>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21" name="TextBox 20"/>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3</a:t>
            </a:r>
          </a:p>
        </p:txBody>
      </p:sp>
    </p:spTree>
  </p:cSld>
  <p:clrMapOvr>
    <a:masterClrMapping/>
  </p:clrMapOvr>
  <p:transition spd="fast">
    <p:fade/>
  </p:transition>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37744" cy="1417320"/>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47472"/>
            <a:ext cx="10698480" cy="292608"/>
          </a:xfrm>
          <a:prstGeom prst="rect">
            <a:avLst/>
          </a:prstGeom>
          <a:noFill/>
        </p:spPr>
        <p:txBody>
          <a:bodyPr wrap="square" anchor="t" lIns="54864" rIns="54864" tIns="54864" bIns="54864">
            <a:spAutoFit/>
          </a:bodyPr>
          <a:lstStyle/>
          <a:p>
            <a:pPr algn="l">
              <a:spcAft>
                <a:spcPts val="300"/>
              </a:spcAft>
            </a:pPr>
            <a:r>
              <a:rPr sz="1200" b="1">
                <a:solidFill>
                  <a:srgbClr val="5B6372"/>
                </a:solidFill>
                <a:latin typeface="Arial"/>
              </a:rPr>
              <a:t>GENERAL TRAINER TEMPLATE</a:t>
            </a:r>
          </a:p>
        </p:txBody>
      </p:sp>
      <p:sp>
        <p:nvSpPr>
          <p:cNvPr id="5" name="TextBox 4"/>
          <p:cNvSpPr txBox="1"/>
          <p:nvPr/>
        </p:nvSpPr>
        <p:spPr>
          <a:xfrm>
            <a:off x="749808" y="713232"/>
            <a:ext cx="10744200" cy="731520"/>
          </a:xfrm>
          <a:prstGeom prst="rect">
            <a:avLst/>
          </a:prstGeom>
          <a:noFill/>
        </p:spPr>
        <p:txBody>
          <a:bodyPr wrap="square" anchor="ctr" lIns="54864" rIns="54864" tIns="54864" bIns="54864">
            <a:spAutoFit/>
          </a:bodyPr>
          <a:lstStyle/>
          <a:p>
            <a:pPr algn="l">
              <a:spcAft>
                <a:spcPts val="300"/>
              </a:spcAft>
            </a:pPr>
            <a:r>
              <a:rPr sz="2700" b="1">
                <a:solidFill>
                  <a:srgbClr val="161B26"/>
                </a:solidFill>
                <a:latin typeface="Arial"/>
              </a:rPr>
              <a:t>About the Trainer</a:t>
            </a:r>
          </a:p>
        </p:txBody>
      </p:sp>
      <p:sp>
        <p:nvSpPr>
          <p:cNvPr id="6" name="Rectangle 5"/>
          <p:cNvSpPr/>
          <p:nvPr/>
        </p:nvSpPr>
        <p:spPr>
          <a:xfrm>
            <a:off x="749808" y="1536192"/>
            <a:ext cx="106984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8096" y="1783080"/>
            <a:ext cx="3246120" cy="4343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600200" y="2240280"/>
            <a:ext cx="1554480" cy="1554480"/>
          </a:xfrm>
          <a:prstGeom prst="ellipse">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600200" y="2240280"/>
            <a:ext cx="1554480" cy="1554480"/>
          </a:xfrm>
          <a:prstGeom prst="rect">
            <a:avLst/>
          </a:prstGeom>
          <a:noFill/>
        </p:spPr>
        <p:txBody>
          <a:bodyPr wrap="square" anchor="ctr" lIns="54864" rIns="54864" tIns="54864" bIns="54864">
            <a:spAutoFit/>
          </a:bodyPr>
          <a:lstStyle/>
          <a:p>
            <a:pPr algn="ctr">
              <a:spcAft>
                <a:spcPts val="300"/>
              </a:spcAft>
            </a:pPr>
            <a:r>
              <a:rPr sz="4000" b="1">
                <a:solidFill>
                  <a:srgbClr val="FFFFFF"/>
                </a:solidFill>
                <a:latin typeface="Arial"/>
              </a:rPr>
              <a:t>?</a:t>
            </a:r>
          </a:p>
        </p:txBody>
      </p:sp>
      <p:sp>
        <p:nvSpPr>
          <p:cNvPr id="10" name="TextBox 9"/>
          <p:cNvSpPr txBox="1"/>
          <p:nvPr/>
        </p:nvSpPr>
        <p:spPr>
          <a:xfrm>
            <a:off x="960120" y="4069080"/>
            <a:ext cx="2834640" cy="502920"/>
          </a:xfrm>
          <a:prstGeom prst="rect">
            <a:avLst/>
          </a:prstGeom>
          <a:noFill/>
        </p:spPr>
        <p:txBody>
          <a:bodyPr wrap="square" anchor="t" lIns="54864" rIns="54864" tIns="54864" bIns="54864">
            <a:spAutoFit/>
          </a:bodyPr>
          <a:lstStyle/>
          <a:p>
            <a:pPr algn="ctr">
              <a:spcAft>
                <a:spcPts val="300"/>
              </a:spcAft>
            </a:pPr>
            <a:r>
              <a:rPr sz="1900" b="1">
                <a:solidFill>
                  <a:srgbClr val="161B26"/>
                </a:solidFill>
                <a:latin typeface="Arial"/>
              </a:rPr>
              <a:t>Your Trainer</a:t>
            </a:r>
          </a:p>
        </p:txBody>
      </p:sp>
      <p:sp>
        <p:nvSpPr>
          <p:cNvPr id="11" name="TextBox 10"/>
          <p:cNvSpPr txBox="1"/>
          <p:nvPr/>
        </p:nvSpPr>
        <p:spPr>
          <a:xfrm>
            <a:off x="960120" y="4617720"/>
            <a:ext cx="2834640" cy="640080"/>
          </a:xfrm>
          <a:prstGeom prst="rect">
            <a:avLst/>
          </a:prstGeom>
          <a:noFill/>
        </p:spPr>
        <p:txBody>
          <a:bodyPr wrap="square" anchor="t" lIns="54864" rIns="54864" tIns="54864" bIns="54864">
            <a:spAutoFit/>
          </a:bodyPr>
          <a:lstStyle/>
          <a:p>
            <a:pPr algn="ctr">
              <a:spcAft>
                <a:spcPts val="300"/>
              </a:spcAft>
            </a:pPr>
            <a:r>
              <a:rPr sz="1250" b="0">
                <a:solidFill>
                  <a:srgbClr val="5B6372"/>
                </a:solidFill>
                <a:latin typeface="Arial"/>
              </a:rPr>
              <a:t>Complete before class</a:t>
            </a:r>
          </a:p>
        </p:txBody>
      </p:sp>
      <p:sp>
        <p:nvSpPr>
          <p:cNvPr id="12" name="Rectangle 11"/>
          <p:cNvSpPr/>
          <p:nvPr/>
        </p:nvSpPr>
        <p:spPr>
          <a:xfrm>
            <a:off x="4343400" y="1783080"/>
            <a:ext cx="7086600" cy="868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43400" y="1783080"/>
            <a:ext cx="82296" cy="8686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17720" y="1847088"/>
            <a:ext cx="6537960" cy="749808"/>
          </a:xfrm>
          <a:prstGeom prst="rect">
            <a:avLst/>
          </a:prstGeom>
          <a:noFill/>
        </p:spPr>
        <p:txBody>
          <a:bodyPr wrap="square" anchor="ctr" lIns="54864" rIns="54864" tIns="54864" bIns="54864">
            <a:spAutoFit/>
          </a:bodyPr>
          <a:lstStyle/>
          <a:p>
            <a:pPr algn="l">
              <a:spcAft>
                <a:spcPts val="300"/>
              </a:spcAft>
            </a:pPr>
            <a:r>
              <a:rPr sz="1050" b="1">
                <a:solidFill>
                  <a:srgbClr val="1F6FEB"/>
                </a:solidFill>
                <a:latin typeface="Arial"/>
              </a:rPr>
              <a:t>NAME</a:t>
            </a:r>
          </a:p>
          <a:p>
            <a:pPr algn="l">
              <a:spcAft>
                <a:spcPts val="300"/>
              </a:spcAft>
            </a:pPr>
            <a:r>
              <a:rPr sz="1250" b="0">
                <a:solidFill>
                  <a:srgbClr val="E2E8F0"/>
                </a:solidFill>
                <a:latin typeface="Arial"/>
              </a:rPr>
              <a:t>____________________________________________</a:t>
            </a:r>
          </a:p>
        </p:txBody>
      </p:sp>
      <p:sp>
        <p:nvSpPr>
          <p:cNvPr id="15" name="Rectangle 14"/>
          <p:cNvSpPr/>
          <p:nvPr/>
        </p:nvSpPr>
        <p:spPr>
          <a:xfrm>
            <a:off x="4343400" y="2816352"/>
            <a:ext cx="7086600" cy="868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43400" y="2816352"/>
            <a:ext cx="82296" cy="8686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2880360"/>
            <a:ext cx="6537960" cy="749808"/>
          </a:xfrm>
          <a:prstGeom prst="rect">
            <a:avLst/>
          </a:prstGeom>
          <a:noFill/>
        </p:spPr>
        <p:txBody>
          <a:bodyPr wrap="square" anchor="ctr" lIns="54864" rIns="54864" tIns="54864" bIns="54864">
            <a:spAutoFit/>
          </a:bodyPr>
          <a:lstStyle/>
          <a:p>
            <a:pPr algn="l">
              <a:spcAft>
                <a:spcPts val="300"/>
              </a:spcAft>
            </a:pPr>
            <a:r>
              <a:rPr sz="1050" b="1">
                <a:solidFill>
                  <a:srgbClr val="10B981"/>
                </a:solidFill>
                <a:latin typeface="Arial"/>
              </a:rPr>
              <a:t>TITLE / DESIGNATION</a:t>
            </a:r>
          </a:p>
          <a:p>
            <a:pPr algn="l">
              <a:spcAft>
                <a:spcPts val="300"/>
              </a:spcAft>
            </a:pPr>
            <a:r>
              <a:rPr sz="1250" b="0">
                <a:solidFill>
                  <a:srgbClr val="E2E8F0"/>
                </a:solidFill>
                <a:latin typeface="Arial"/>
              </a:rPr>
              <a:t>____________________________________________</a:t>
            </a:r>
          </a:p>
        </p:txBody>
      </p:sp>
      <p:sp>
        <p:nvSpPr>
          <p:cNvPr id="18" name="Rectangle 17"/>
          <p:cNvSpPr/>
          <p:nvPr/>
        </p:nvSpPr>
        <p:spPr>
          <a:xfrm>
            <a:off x="4343400" y="3849624"/>
            <a:ext cx="7086600" cy="868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343400" y="3849624"/>
            <a:ext cx="82296" cy="8686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617720" y="3913632"/>
            <a:ext cx="6537960" cy="749808"/>
          </a:xfrm>
          <a:prstGeom prst="rect">
            <a:avLst/>
          </a:prstGeom>
          <a:noFill/>
        </p:spPr>
        <p:txBody>
          <a:bodyPr wrap="square" anchor="ctr" lIns="54864" rIns="54864" tIns="54864" bIns="54864">
            <a:spAutoFit/>
          </a:bodyPr>
          <a:lstStyle/>
          <a:p>
            <a:pPr algn="l">
              <a:spcAft>
                <a:spcPts val="300"/>
              </a:spcAft>
            </a:pPr>
            <a:r>
              <a:rPr sz="1050" b="1">
                <a:solidFill>
                  <a:srgbClr val="7C3AED"/>
                </a:solidFill>
                <a:latin typeface="Arial"/>
              </a:rPr>
              <a:t>QUALIFICATIONS</a:t>
            </a:r>
          </a:p>
          <a:p>
            <a:pPr algn="l">
              <a:spcAft>
                <a:spcPts val="300"/>
              </a:spcAft>
            </a:pPr>
            <a:r>
              <a:rPr sz="1250" b="0">
                <a:solidFill>
                  <a:srgbClr val="E2E8F0"/>
                </a:solidFill>
                <a:latin typeface="Arial"/>
              </a:rPr>
              <a:t>____________________________________________</a:t>
            </a:r>
          </a:p>
        </p:txBody>
      </p:sp>
      <p:sp>
        <p:nvSpPr>
          <p:cNvPr id="21" name="Rectangle 20"/>
          <p:cNvSpPr/>
          <p:nvPr/>
        </p:nvSpPr>
        <p:spPr>
          <a:xfrm>
            <a:off x="4343400" y="4882896"/>
            <a:ext cx="7086600" cy="868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343400" y="4882896"/>
            <a:ext cx="82296" cy="8686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17720" y="4946904"/>
            <a:ext cx="6537960" cy="749808"/>
          </a:xfrm>
          <a:prstGeom prst="rect">
            <a:avLst/>
          </a:prstGeom>
          <a:noFill/>
        </p:spPr>
        <p:txBody>
          <a:bodyPr wrap="square" anchor="ctr" lIns="54864" rIns="54864" tIns="54864" bIns="54864">
            <a:spAutoFit/>
          </a:bodyPr>
          <a:lstStyle/>
          <a:p>
            <a:pPr algn="l">
              <a:spcAft>
                <a:spcPts val="300"/>
              </a:spcAft>
            </a:pPr>
            <a:r>
              <a:rPr sz="1050" b="1">
                <a:solidFill>
                  <a:srgbClr val="F59E0B"/>
                </a:solidFill>
                <a:latin typeface="Arial"/>
              </a:rPr>
              <a:t>AREAS OF EXPERTISE</a:t>
            </a:r>
          </a:p>
          <a:p>
            <a:pPr algn="l">
              <a:spcAft>
                <a:spcPts val="300"/>
              </a:spcAft>
            </a:pPr>
            <a:r>
              <a:rPr sz="1250" b="0">
                <a:solidFill>
                  <a:srgbClr val="E2E8F0"/>
                </a:solidFill>
                <a:latin typeface="Arial"/>
              </a:rPr>
              <a:t>____________________________________________</a:t>
            </a:r>
          </a:p>
        </p:txBody>
      </p:sp>
      <p:sp>
        <p:nvSpPr>
          <p:cNvPr id="24" name="TextBox 23"/>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25" name="TextBox 24"/>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26" name="TextBox 25"/>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4</a:t>
            </a:r>
          </a:p>
        </p:txBody>
      </p:sp>
    </p:spTree>
  </p:cSld>
  <p:clrMapOvr>
    <a:masterClrMapping/>
  </p:clrMapOvr>
  <p:transition spd="fast">
    <p:fade/>
  </p:transition>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37744"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47472"/>
            <a:ext cx="10698480" cy="292608"/>
          </a:xfrm>
          <a:prstGeom prst="rect">
            <a:avLst/>
          </a:prstGeom>
          <a:noFill/>
        </p:spPr>
        <p:txBody>
          <a:bodyPr wrap="square" anchor="t" lIns="54864" rIns="54864" tIns="54864" bIns="54864">
            <a:spAutoFit/>
          </a:bodyPr>
          <a:lstStyle/>
          <a:p>
            <a:pPr algn="l">
              <a:spcAft>
                <a:spcPts val="300"/>
              </a:spcAft>
            </a:pPr>
            <a:r>
              <a:rPr sz="1200" b="1">
                <a:solidFill>
                  <a:srgbClr val="1F6FEB"/>
                </a:solidFill>
                <a:latin typeface="Arial"/>
              </a:rPr>
              <a:t>NAMED TRAINER</a:t>
            </a:r>
          </a:p>
        </p:txBody>
      </p:sp>
      <p:sp>
        <p:nvSpPr>
          <p:cNvPr id="5" name="TextBox 4"/>
          <p:cNvSpPr txBox="1"/>
          <p:nvPr/>
        </p:nvSpPr>
        <p:spPr>
          <a:xfrm>
            <a:off x="749808" y="713232"/>
            <a:ext cx="10744200" cy="731520"/>
          </a:xfrm>
          <a:prstGeom prst="rect">
            <a:avLst/>
          </a:prstGeom>
          <a:noFill/>
        </p:spPr>
        <p:txBody>
          <a:bodyPr wrap="square" anchor="ctr" lIns="54864" rIns="54864" tIns="54864" bIns="54864">
            <a:spAutoFit/>
          </a:bodyPr>
          <a:lstStyle/>
          <a:p>
            <a:pPr algn="l">
              <a:spcAft>
                <a:spcPts val="300"/>
              </a:spcAft>
            </a:pPr>
            <a:r>
              <a:rPr sz="2700" b="1">
                <a:solidFill>
                  <a:srgbClr val="161B26"/>
                </a:solidFill>
                <a:latin typeface="Arial"/>
              </a:rPr>
              <a:t>About the Trainer</a:t>
            </a:r>
          </a:p>
        </p:txBody>
      </p:sp>
      <p:sp>
        <p:nvSpPr>
          <p:cNvPr id="6" name="Rectangle 5"/>
          <p:cNvSpPr/>
          <p:nvPr/>
        </p:nvSpPr>
        <p:spPr>
          <a:xfrm>
            <a:off x="749808" y="1536192"/>
            <a:ext cx="106984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8096" y="1783080"/>
            <a:ext cx="3246120" cy="4343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600200" y="2240280"/>
            <a:ext cx="1554480" cy="155448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600200" y="2240280"/>
            <a:ext cx="1554480" cy="1554480"/>
          </a:xfrm>
          <a:prstGeom prst="rect">
            <a:avLst/>
          </a:prstGeom>
          <a:noFill/>
        </p:spPr>
        <p:txBody>
          <a:bodyPr wrap="square" anchor="ctr" lIns="54864" rIns="54864" tIns="54864" bIns="54864">
            <a:spAutoFit/>
          </a:bodyPr>
          <a:lstStyle/>
          <a:p>
            <a:pPr algn="ctr">
              <a:spcAft>
                <a:spcPts val="300"/>
              </a:spcAft>
            </a:pPr>
            <a:r>
              <a:rPr sz="4000" b="1">
                <a:solidFill>
                  <a:srgbClr val="FFFFFF"/>
                </a:solidFill>
                <a:latin typeface="Arial"/>
              </a:rPr>
              <a:t>AA</a:t>
            </a:r>
          </a:p>
        </p:txBody>
      </p:sp>
      <p:sp>
        <p:nvSpPr>
          <p:cNvPr id="10" name="TextBox 9"/>
          <p:cNvSpPr txBox="1"/>
          <p:nvPr/>
        </p:nvSpPr>
        <p:spPr>
          <a:xfrm>
            <a:off x="960120" y="4069080"/>
            <a:ext cx="2834640" cy="502920"/>
          </a:xfrm>
          <a:prstGeom prst="rect">
            <a:avLst/>
          </a:prstGeom>
          <a:noFill/>
        </p:spPr>
        <p:txBody>
          <a:bodyPr wrap="square" anchor="t" lIns="54864" rIns="54864" tIns="54864" bIns="54864">
            <a:spAutoFit/>
          </a:bodyPr>
          <a:lstStyle/>
          <a:p>
            <a:pPr algn="ctr">
              <a:spcAft>
                <a:spcPts val="300"/>
              </a:spcAft>
            </a:pPr>
            <a:r>
              <a:rPr sz="1900" b="1">
                <a:solidFill>
                  <a:srgbClr val="161B26"/>
                </a:solidFill>
                <a:latin typeface="Arial"/>
              </a:rPr>
              <a:t>Dr. Alfred Ang</a:t>
            </a:r>
          </a:p>
        </p:txBody>
      </p:sp>
      <p:sp>
        <p:nvSpPr>
          <p:cNvPr id="11" name="TextBox 10"/>
          <p:cNvSpPr txBox="1"/>
          <p:nvPr/>
        </p:nvSpPr>
        <p:spPr>
          <a:xfrm>
            <a:off x="960120" y="4617720"/>
            <a:ext cx="2834640" cy="640080"/>
          </a:xfrm>
          <a:prstGeom prst="rect">
            <a:avLst/>
          </a:prstGeom>
          <a:noFill/>
        </p:spPr>
        <p:txBody>
          <a:bodyPr wrap="square" anchor="t" lIns="54864" rIns="54864" tIns="54864" bIns="54864">
            <a:spAutoFit/>
          </a:bodyPr>
          <a:lstStyle/>
          <a:p>
            <a:pPr algn="ctr">
              <a:spcAft>
                <a:spcPts val="300"/>
              </a:spcAft>
            </a:pPr>
            <a:r>
              <a:rPr sz="1250" b="0">
                <a:solidFill>
                  <a:srgbClr val="5B6372"/>
                </a:solidFill>
                <a:latin typeface="Arial"/>
              </a:rPr>
              <a:t>Principal Trainer · Tertiary Infotech Academy</a:t>
            </a:r>
          </a:p>
        </p:txBody>
      </p:sp>
      <p:sp>
        <p:nvSpPr>
          <p:cNvPr id="12" name="Rectangle 11"/>
          <p:cNvSpPr/>
          <p:nvPr/>
        </p:nvSpPr>
        <p:spPr>
          <a:xfrm>
            <a:off x="4343400" y="1783080"/>
            <a:ext cx="7086600" cy="868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43400" y="1783080"/>
            <a:ext cx="82296" cy="8686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17720" y="1847088"/>
            <a:ext cx="6537960" cy="749808"/>
          </a:xfrm>
          <a:prstGeom prst="rect">
            <a:avLst/>
          </a:prstGeom>
          <a:noFill/>
        </p:spPr>
        <p:txBody>
          <a:bodyPr wrap="square" anchor="ctr" lIns="54864" rIns="54864" tIns="54864" bIns="54864">
            <a:spAutoFit/>
          </a:bodyPr>
          <a:lstStyle/>
          <a:p>
            <a:pPr algn="l">
              <a:spcAft>
                <a:spcPts val="300"/>
              </a:spcAft>
            </a:pPr>
            <a:r>
              <a:rPr sz="1050" b="1">
                <a:solidFill>
                  <a:srgbClr val="1F6FEB"/>
                </a:solidFill>
                <a:latin typeface="Arial"/>
              </a:rPr>
              <a:t>ROLE</a:t>
            </a:r>
          </a:p>
          <a:p>
            <a:pPr algn="l">
              <a:spcAft>
                <a:spcPts val="300"/>
              </a:spcAft>
            </a:pPr>
            <a:r>
              <a:rPr sz="1250" b="0">
                <a:solidFill>
                  <a:srgbClr val="161B26"/>
                </a:solidFill>
                <a:latin typeface="Arial"/>
              </a:rPr>
              <a:t>Principal trainer and curriculum developer</a:t>
            </a:r>
          </a:p>
        </p:txBody>
      </p:sp>
      <p:sp>
        <p:nvSpPr>
          <p:cNvPr id="15" name="Rectangle 14"/>
          <p:cNvSpPr/>
          <p:nvPr/>
        </p:nvSpPr>
        <p:spPr>
          <a:xfrm>
            <a:off x="4343400" y="2816352"/>
            <a:ext cx="7086600" cy="868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43400" y="2816352"/>
            <a:ext cx="82296" cy="8686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2880360"/>
            <a:ext cx="6537960" cy="749808"/>
          </a:xfrm>
          <a:prstGeom prst="rect">
            <a:avLst/>
          </a:prstGeom>
          <a:noFill/>
        </p:spPr>
        <p:txBody>
          <a:bodyPr wrap="square" anchor="ctr" lIns="54864" rIns="54864" tIns="54864" bIns="54864">
            <a:spAutoFit/>
          </a:bodyPr>
          <a:lstStyle/>
          <a:p>
            <a:pPr algn="l">
              <a:spcAft>
                <a:spcPts val="300"/>
              </a:spcAft>
            </a:pPr>
            <a:r>
              <a:rPr sz="1050" b="1">
                <a:solidFill>
                  <a:srgbClr val="10B981"/>
                </a:solidFill>
                <a:latin typeface="Arial"/>
              </a:rPr>
              <a:t>EXPERTISE</a:t>
            </a:r>
          </a:p>
          <a:p>
            <a:pPr algn="l">
              <a:spcAft>
                <a:spcPts val="300"/>
              </a:spcAft>
            </a:pPr>
            <a:r>
              <a:rPr sz="1250" b="0">
                <a:solidFill>
                  <a:srgbClr val="161B26"/>
                </a:solidFill>
                <a:latin typeface="Arial"/>
              </a:rPr>
              <a:t>Data analytics, visualisation, AI and business technology</a:t>
            </a:r>
          </a:p>
        </p:txBody>
      </p:sp>
      <p:sp>
        <p:nvSpPr>
          <p:cNvPr id="18" name="Rectangle 17"/>
          <p:cNvSpPr/>
          <p:nvPr/>
        </p:nvSpPr>
        <p:spPr>
          <a:xfrm>
            <a:off x="4343400" y="3849624"/>
            <a:ext cx="7086600" cy="868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343400" y="3849624"/>
            <a:ext cx="82296" cy="8686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617720" y="3913632"/>
            <a:ext cx="6537960" cy="749808"/>
          </a:xfrm>
          <a:prstGeom prst="rect">
            <a:avLst/>
          </a:prstGeom>
          <a:noFill/>
        </p:spPr>
        <p:txBody>
          <a:bodyPr wrap="square" anchor="ctr" lIns="54864" rIns="54864" tIns="54864" bIns="54864">
            <a:spAutoFit/>
          </a:bodyPr>
          <a:lstStyle/>
          <a:p>
            <a:pPr algn="l">
              <a:spcAft>
                <a:spcPts val="300"/>
              </a:spcAft>
            </a:pPr>
            <a:r>
              <a:rPr sz="1050" b="1">
                <a:solidFill>
                  <a:srgbClr val="7C3AED"/>
                </a:solidFill>
                <a:latin typeface="Arial"/>
              </a:rPr>
              <a:t>DELIVERY</a:t>
            </a:r>
          </a:p>
          <a:p>
            <a:pPr algn="l">
              <a:spcAft>
                <a:spcPts val="300"/>
              </a:spcAft>
            </a:pPr>
            <a:r>
              <a:rPr sz="1250" b="0">
                <a:solidFill>
                  <a:srgbClr val="161B26"/>
                </a:solidFill>
                <a:latin typeface="Arial"/>
              </a:rPr>
              <a:t>WSQ, certification and applied workplace training</a:t>
            </a:r>
          </a:p>
        </p:txBody>
      </p:sp>
      <p:sp>
        <p:nvSpPr>
          <p:cNvPr id="21" name="Rectangle 20"/>
          <p:cNvSpPr/>
          <p:nvPr/>
        </p:nvSpPr>
        <p:spPr>
          <a:xfrm>
            <a:off x="4343400" y="4882896"/>
            <a:ext cx="7086600" cy="868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343400" y="4882896"/>
            <a:ext cx="82296" cy="8686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17720" y="4946904"/>
            <a:ext cx="6537960" cy="749808"/>
          </a:xfrm>
          <a:prstGeom prst="rect">
            <a:avLst/>
          </a:prstGeom>
          <a:noFill/>
        </p:spPr>
        <p:txBody>
          <a:bodyPr wrap="square" anchor="ctr" lIns="54864" rIns="54864" tIns="54864" bIns="54864">
            <a:spAutoFit/>
          </a:bodyPr>
          <a:lstStyle/>
          <a:p>
            <a:pPr algn="l">
              <a:spcAft>
                <a:spcPts val="300"/>
              </a:spcAft>
            </a:pPr>
            <a:r>
              <a:rPr sz="1050" b="1">
                <a:solidFill>
                  <a:srgbClr val="F59E0B"/>
                </a:solidFill>
                <a:latin typeface="Arial"/>
              </a:rPr>
              <a:t>APPROACH</a:t>
            </a:r>
          </a:p>
          <a:p>
            <a:pPr algn="l">
              <a:spcAft>
                <a:spcPts val="300"/>
              </a:spcAft>
            </a:pPr>
            <a:r>
              <a:rPr sz="1250" b="0">
                <a:solidFill>
                  <a:srgbClr val="161B26"/>
                </a:solidFill>
                <a:latin typeface="Arial"/>
              </a:rPr>
              <a:t>Concept clarity, realistic data and evidence-based practice</a:t>
            </a:r>
          </a:p>
        </p:txBody>
      </p:sp>
      <p:sp>
        <p:nvSpPr>
          <p:cNvPr id="24" name="TextBox 23"/>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25" name="TextBox 24"/>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26" name="TextBox 25"/>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5</a:t>
            </a:r>
          </a:p>
        </p:txBody>
      </p:sp>
    </p:spTree>
  </p:cSld>
  <p:clrMapOvr>
    <a:masterClrMapping/>
  </p:clrMapOvr>
  <p:transition spd="fast">
    <p:fade/>
  </p:transition>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37744"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47472"/>
            <a:ext cx="10698480" cy="292608"/>
          </a:xfrm>
          <a:prstGeom prst="rect">
            <a:avLst/>
          </a:prstGeom>
          <a:noFill/>
        </p:spPr>
        <p:txBody>
          <a:bodyPr wrap="square" anchor="t" lIns="54864" rIns="54864" tIns="54864" bIns="54864">
            <a:spAutoFit/>
          </a:bodyPr>
          <a:lstStyle/>
          <a:p>
            <a:pPr algn="l">
              <a:spcAft>
                <a:spcPts val="300"/>
              </a:spcAft>
            </a:pPr>
            <a:r>
              <a:rPr sz="1200" b="1">
                <a:solidFill>
                  <a:srgbClr val="1F6FEB"/>
                </a:solidFill>
                <a:latin typeface="Arial"/>
              </a:rPr>
              <a:t>LEARNER INTRODUCTION</a:t>
            </a:r>
          </a:p>
        </p:txBody>
      </p:sp>
      <p:sp>
        <p:nvSpPr>
          <p:cNvPr id="5" name="TextBox 4"/>
          <p:cNvSpPr txBox="1"/>
          <p:nvPr/>
        </p:nvSpPr>
        <p:spPr>
          <a:xfrm>
            <a:off x="749808" y="713232"/>
            <a:ext cx="10744200" cy="731520"/>
          </a:xfrm>
          <a:prstGeom prst="rect">
            <a:avLst/>
          </a:prstGeom>
          <a:noFill/>
        </p:spPr>
        <p:txBody>
          <a:bodyPr wrap="square" anchor="ctr" lIns="54864" rIns="54864" tIns="54864" bIns="54864">
            <a:spAutoFit/>
          </a:bodyPr>
          <a:lstStyle/>
          <a:p>
            <a:pPr algn="l">
              <a:spcAft>
                <a:spcPts val="300"/>
              </a:spcAft>
            </a:pPr>
            <a:r>
              <a:rPr sz="2700" b="1">
                <a:solidFill>
                  <a:srgbClr val="161B26"/>
                </a:solidFill>
                <a:latin typeface="Arial"/>
              </a:rPr>
              <a:t>Let's Know Each Other</a:t>
            </a:r>
          </a:p>
        </p:txBody>
      </p:sp>
      <p:sp>
        <p:nvSpPr>
          <p:cNvPr id="6" name="Rectangle 5"/>
          <p:cNvSpPr/>
          <p:nvPr/>
        </p:nvSpPr>
        <p:spPr>
          <a:xfrm>
            <a:off x="749808" y="1536192"/>
            <a:ext cx="106984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22960" y="1783080"/>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783080"/>
            <a:ext cx="384048" cy="384048"/>
          </a:xfrm>
          <a:prstGeom prst="rect">
            <a:avLst/>
          </a:prstGeom>
          <a:noFill/>
        </p:spPr>
        <p:txBody>
          <a:bodyPr wrap="square" anchor="ctr" lIns="54864" rIns="54864" tIns="54864" bIns="54864">
            <a:spAutoFit/>
          </a:bodyPr>
          <a:lstStyle/>
          <a:p>
            <a:pPr algn="ctr">
              <a:spcAft>
                <a:spcPts val="300"/>
              </a:spcAft>
            </a:pPr>
            <a:r>
              <a:rPr sz="1300" b="1">
                <a:solidFill>
                  <a:srgbClr val="FFFFFF"/>
                </a:solidFill>
                <a:latin typeface="Arial"/>
              </a:rPr>
              <a:t>1</a:t>
            </a:r>
          </a:p>
        </p:txBody>
      </p:sp>
      <p:sp>
        <p:nvSpPr>
          <p:cNvPr id="9" name="TextBox 8"/>
          <p:cNvSpPr txBox="1"/>
          <p:nvPr/>
        </p:nvSpPr>
        <p:spPr>
          <a:xfrm>
            <a:off x="1417320" y="1755648"/>
            <a:ext cx="9875520" cy="530352"/>
          </a:xfrm>
          <a:prstGeom prst="rect">
            <a:avLst/>
          </a:prstGeom>
          <a:noFill/>
        </p:spPr>
        <p:txBody>
          <a:bodyPr wrap="square" anchor="ctr" lIns="54864" rIns="54864" tIns="54864" bIns="54864">
            <a:spAutoFit/>
          </a:bodyPr>
          <a:lstStyle/>
          <a:p>
            <a:pPr algn="l">
              <a:spcAft>
                <a:spcPts val="300"/>
              </a:spcAft>
            </a:pPr>
            <a:r>
              <a:rPr sz="1500" b="0">
                <a:solidFill>
                  <a:srgbClr val="161B26"/>
                </a:solidFill>
                <a:latin typeface="Arial"/>
              </a:rPr>
              <a:t>Name, organisation and role.</a:t>
            </a:r>
          </a:p>
        </p:txBody>
      </p:sp>
      <p:sp>
        <p:nvSpPr>
          <p:cNvPr id="10" name="Oval 9"/>
          <p:cNvSpPr/>
          <p:nvPr/>
        </p:nvSpPr>
        <p:spPr>
          <a:xfrm>
            <a:off x="822960" y="2450591"/>
            <a:ext cx="384048" cy="38404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2450591"/>
            <a:ext cx="384048" cy="384048"/>
          </a:xfrm>
          <a:prstGeom prst="rect">
            <a:avLst/>
          </a:prstGeom>
          <a:noFill/>
        </p:spPr>
        <p:txBody>
          <a:bodyPr wrap="square" anchor="ctr" lIns="54864" rIns="54864" tIns="54864" bIns="54864">
            <a:spAutoFit/>
          </a:bodyPr>
          <a:lstStyle/>
          <a:p>
            <a:pPr algn="ctr">
              <a:spcAft>
                <a:spcPts val="300"/>
              </a:spcAft>
            </a:pPr>
            <a:r>
              <a:rPr sz="1300" b="1">
                <a:solidFill>
                  <a:srgbClr val="FFFFFF"/>
                </a:solidFill>
                <a:latin typeface="Arial"/>
              </a:rPr>
              <a:t>2</a:t>
            </a:r>
          </a:p>
        </p:txBody>
      </p:sp>
      <p:sp>
        <p:nvSpPr>
          <p:cNvPr id="12" name="TextBox 11"/>
          <p:cNvSpPr txBox="1"/>
          <p:nvPr/>
        </p:nvSpPr>
        <p:spPr>
          <a:xfrm>
            <a:off x="1417320" y="2423160"/>
            <a:ext cx="9875520" cy="530352"/>
          </a:xfrm>
          <a:prstGeom prst="rect">
            <a:avLst/>
          </a:prstGeom>
          <a:noFill/>
        </p:spPr>
        <p:txBody>
          <a:bodyPr wrap="square" anchor="ctr" lIns="54864" rIns="54864" tIns="54864" bIns="54864">
            <a:spAutoFit/>
          </a:bodyPr>
          <a:lstStyle/>
          <a:p>
            <a:pPr algn="l">
              <a:spcAft>
                <a:spcPts val="300"/>
              </a:spcAft>
            </a:pPr>
            <a:r>
              <a:rPr sz="1500" b="0">
                <a:solidFill>
                  <a:srgbClr val="161B26"/>
                </a:solidFill>
                <a:latin typeface="Arial"/>
              </a:rPr>
              <a:t>How you currently use spreadsheets, BI or Tableau.</a:t>
            </a:r>
          </a:p>
        </p:txBody>
      </p:sp>
      <p:sp>
        <p:nvSpPr>
          <p:cNvPr id="13" name="Oval 12"/>
          <p:cNvSpPr/>
          <p:nvPr/>
        </p:nvSpPr>
        <p:spPr>
          <a:xfrm>
            <a:off x="822960" y="3118104"/>
            <a:ext cx="384048" cy="38404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 y="3118104"/>
            <a:ext cx="384048" cy="384048"/>
          </a:xfrm>
          <a:prstGeom prst="rect">
            <a:avLst/>
          </a:prstGeom>
          <a:noFill/>
        </p:spPr>
        <p:txBody>
          <a:bodyPr wrap="square" anchor="ctr" lIns="54864" rIns="54864" tIns="54864" bIns="54864">
            <a:spAutoFit/>
          </a:bodyPr>
          <a:lstStyle/>
          <a:p>
            <a:pPr algn="ctr">
              <a:spcAft>
                <a:spcPts val="300"/>
              </a:spcAft>
            </a:pPr>
            <a:r>
              <a:rPr sz="1300" b="1">
                <a:solidFill>
                  <a:srgbClr val="FFFFFF"/>
                </a:solidFill>
                <a:latin typeface="Arial"/>
              </a:rPr>
              <a:t>3</a:t>
            </a:r>
          </a:p>
        </p:txBody>
      </p:sp>
      <p:sp>
        <p:nvSpPr>
          <p:cNvPr id="15" name="TextBox 14"/>
          <p:cNvSpPr txBox="1"/>
          <p:nvPr/>
        </p:nvSpPr>
        <p:spPr>
          <a:xfrm>
            <a:off x="1417320" y="3090672"/>
            <a:ext cx="9875520" cy="530352"/>
          </a:xfrm>
          <a:prstGeom prst="rect">
            <a:avLst/>
          </a:prstGeom>
          <a:noFill/>
        </p:spPr>
        <p:txBody>
          <a:bodyPr wrap="square" anchor="ctr" lIns="54864" rIns="54864" tIns="54864" bIns="54864">
            <a:spAutoFit/>
          </a:bodyPr>
          <a:lstStyle/>
          <a:p>
            <a:pPr algn="l">
              <a:spcAft>
                <a:spcPts val="300"/>
              </a:spcAft>
            </a:pPr>
            <a:r>
              <a:rPr sz="1500" b="0">
                <a:solidFill>
                  <a:srgbClr val="161B26"/>
                </a:solidFill>
                <a:latin typeface="Arial"/>
              </a:rPr>
              <a:t>One recurring decision your data should make easier.</a:t>
            </a:r>
          </a:p>
        </p:txBody>
      </p:sp>
      <p:sp>
        <p:nvSpPr>
          <p:cNvPr id="16" name="Oval 15"/>
          <p:cNvSpPr/>
          <p:nvPr/>
        </p:nvSpPr>
        <p:spPr>
          <a:xfrm>
            <a:off x="822960" y="3785615"/>
            <a:ext cx="384048" cy="38404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60" y="3785615"/>
            <a:ext cx="384048" cy="384048"/>
          </a:xfrm>
          <a:prstGeom prst="rect">
            <a:avLst/>
          </a:prstGeom>
          <a:noFill/>
        </p:spPr>
        <p:txBody>
          <a:bodyPr wrap="square" anchor="ctr" lIns="54864" rIns="54864" tIns="54864" bIns="54864">
            <a:spAutoFit/>
          </a:bodyPr>
          <a:lstStyle/>
          <a:p>
            <a:pPr algn="ctr">
              <a:spcAft>
                <a:spcPts val="300"/>
              </a:spcAft>
            </a:pPr>
            <a:r>
              <a:rPr sz="1300" b="1">
                <a:solidFill>
                  <a:srgbClr val="FFFFFF"/>
                </a:solidFill>
                <a:latin typeface="Arial"/>
              </a:rPr>
              <a:t>4</a:t>
            </a:r>
          </a:p>
        </p:txBody>
      </p:sp>
      <p:sp>
        <p:nvSpPr>
          <p:cNvPr id="18" name="TextBox 17"/>
          <p:cNvSpPr txBox="1"/>
          <p:nvPr/>
        </p:nvSpPr>
        <p:spPr>
          <a:xfrm>
            <a:off x="1417320" y="3758183"/>
            <a:ext cx="9875520" cy="530352"/>
          </a:xfrm>
          <a:prstGeom prst="rect">
            <a:avLst/>
          </a:prstGeom>
          <a:noFill/>
        </p:spPr>
        <p:txBody>
          <a:bodyPr wrap="square" anchor="ctr" lIns="54864" rIns="54864" tIns="54864" bIns="54864">
            <a:spAutoFit/>
          </a:bodyPr>
          <a:lstStyle/>
          <a:p>
            <a:pPr algn="l">
              <a:spcAft>
                <a:spcPts val="300"/>
              </a:spcAft>
            </a:pPr>
            <a:r>
              <a:rPr sz="1500" b="0">
                <a:solidFill>
                  <a:srgbClr val="161B26"/>
                </a:solidFill>
                <a:latin typeface="Arial"/>
              </a:rPr>
              <a:t>Your target outcome for the Tableau Desktop Specialist credential.</a:t>
            </a:r>
          </a:p>
        </p:txBody>
      </p:sp>
      <p:sp>
        <p:nvSpPr>
          <p:cNvPr id="19" name="TextBox 18"/>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20" name="TextBox 19"/>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21" name="TextBox 20"/>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6</a:t>
            </a:r>
          </a:p>
        </p:txBody>
      </p:sp>
    </p:spTree>
  </p:cSld>
  <p:clrMapOvr>
    <a:masterClrMapping/>
  </p:clrMapOvr>
  <p:transition spd="fast">
    <p:fade/>
  </p:transition>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37744"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47472"/>
            <a:ext cx="10698480" cy="292608"/>
          </a:xfrm>
          <a:prstGeom prst="rect">
            <a:avLst/>
          </a:prstGeom>
          <a:noFill/>
        </p:spPr>
        <p:txBody>
          <a:bodyPr wrap="square" anchor="t" lIns="54864" rIns="54864" tIns="54864" bIns="54864">
            <a:spAutoFit/>
          </a:bodyPr>
          <a:lstStyle/>
          <a:p>
            <a:pPr algn="l">
              <a:spcAft>
                <a:spcPts val="300"/>
              </a:spcAft>
            </a:pPr>
            <a:r>
              <a:rPr sz="1200" b="1">
                <a:solidFill>
                  <a:srgbClr val="1F6FEB"/>
                </a:solidFill>
                <a:latin typeface="Arial"/>
              </a:rPr>
              <a:t>HOUSEKEEPING</a:t>
            </a:r>
          </a:p>
        </p:txBody>
      </p:sp>
      <p:sp>
        <p:nvSpPr>
          <p:cNvPr id="5" name="TextBox 4"/>
          <p:cNvSpPr txBox="1"/>
          <p:nvPr/>
        </p:nvSpPr>
        <p:spPr>
          <a:xfrm>
            <a:off x="749808" y="713232"/>
            <a:ext cx="10744200" cy="731520"/>
          </a:xfrm>
          <a:prstGeom prst="rect">
            <a:avLst/>
          </a:prstGeom>
          <a:noFill/>
        </p:spPr>
        <p:txBody>
          <a:bodyPr wrap="square" anchor="ctr" lIns="54864" rIns="54864" tIns="54864" bIns="54864">
            <a:spAutoFit/>
          </a:bodyPr>
          <a:lstStyle/>
          <a:p>
            <a:pPr algn="l">
              <a:spcAft>
                <a:spcPts val="300"/>
              </a:spcAft>
            </a:pPr>
            <a:r>
              <a:rPr sz="2700" b="1">
                <a:solidFill>
                  <a:srgbClr val="161B26"/>
                </a:solidFill>
                <a:latin typeface="Arial"/>
              </a:rPr>
              <a:t>Ground Rules</a:t>
            </a:r>
          </a:p>
        </p:txBody>
      </p:sp>
      <p:sp>
        <p:nvSpPr>
          <p:cNvPr id="6" name="Rectangle 5"/>
          <p:cNvSpPr/>
          <p:nvPr/>
        </p:nvSpPr>
        <p:spPr>
          <a:xfrm>
            <a:off x="749808" y="1536192"/>
            <a:ext cx="106984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8096" y="1764792"/>
            <a:ext cx="5198364" cy="130149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68096" y="1764792"/>
            <a:ext cx="82296" cy="1301495"/>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96695" y="2168652"/>
            <a:ext cx="493776" cy="49377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5" y="2168652"/>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1</a:t>
            </a:r>
          </a:p>
        </p:txBody>
      </p:sp>
      <p:sp>
        <p:nvSpPr>
          <p:cNvPr id="11" name="TextBox 10"/>
          <p:cNvSpPr txBox="1"/>
          <p:nvPr/>
        </p:nvSpPr>
        <p:spPr>
          <a:xfrm>
            <a:off x="1664207" y="1856231"/>
            <a:ext cx="4119372" cy="1136903"/>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Participate</a:t>
            </a:r>
          </a:p>
          <a:p>
            <a:pPr algn="l">
              <a:spcAft>
                <a:spcPts val="300"/>
              </a:spcAft>
            </a:pPr>
            <a:r>
              <a:rPr sz="1200" b="0">
                <a:solidFill>
                  <a:srgbClr val="5B6372"/>
                </a:solidFill>
                <a:latin typeface="Arial"/>
              </a:rPr>
              <a:t>Ask, test and explain — active practice builds recall.</a:t>
            </a:r>
          </a:p>
        </p:txBody>
      </p:sp>
      <p:sp>
        <p:nvSpPr>
          <p:cNvPr id="12" name="Rectangle 11"/>
          <p:cNvSpPr/>
          <p:nvPr/>
        </p:nvSpPr>
        <p:spPr>
          <a:xfrm>
            <a:off x="6222492" y="1764792"/>
            <a:ext cx="5198364" cy="130149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22492" y="1764792"/>
            <a:ext cx="82296" cy="130149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51092" y="2168652"/>
            <a:ext cx="493776" cy="49377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51092" y="2168652"/>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2</a:t>
            </a:r>
          </a:p>
        </p:txBody>
      </p:sp>
      <p:sp>
        <p:nvSpPr>
          <p:cNvPr id="16" name="TextBox 15"/>
          <p:cNvSpPr txBox="1"/>
          <p:nvPr/>
        </p:nvSpPr>
        <p:spPr>
          <a:xfrm>
            <a:off x="7118604" y="1856231"/>
            <a:ext cx="4119372" cy="1136903"/>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Respect</a:t>
            </a:r>
          </a:p>
          <a:p>
            <a:pPr algn="l">
              <a:spcAft>
                <a:spcPts val="300"/>
              </a:spcAft>
            </a:pPr>
            <a:r>
              <a:rPr sz="1200" b="0">
                <a:solidFill>
                  <a:srgbClr val="5B6372"/>
                </a:solidFill>
                <a:latin typeface="Arial"/>
              </a:rPr>
              <a:t>One conversation at a time; critique ideas, not people.</a:t>
            </a:r>
          </a:p>
        </p:txBody>
      </p:sp>
      <p:sp>
        <p:nvSpPr>
          <p:cNvPr id="17" name="Rectangle 16"/>
          <p:cNvSpPr/>
          <p:nvPr/>
        </p:nvSpPr>
        <p:spPr>
          <a:xfrm>
            <a:off x="768096" y="3285743"/>
            <a:ext cx="5198364" cy="130149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68096" y="3285743"/>
            <a:ext cx="82296" cy="1301495"/>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96695" y="3689604"/>
            <a:ext cx="493776" cy="49377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96695" y="3689604"/>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3</a:t>
            </a:r>
          </a:p>
        </p:txBody>
      </p:sp>
      <p:sp>
        <p:nvSpPr>
          <p:cNvPr id="21" name="TextBox 20"/>
          <p:cNvSpPr txBox="1"/>
          <p:nvPr/>
        </p:nvSpPr>
        <p:spPr>
          <a:xfrm>
            <a:off x="1664207" y="3377183"/>
            <a:ext cx="4119372" cy="1136903"/>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Protect data</a:t>
            </a:r>
          </a:p>
          <a:p>
            <a:pPr algn="l">
              <a:spcAft>
                <a:spcPts val="300"/>
              </a:spcAft>
            </a:pPr>
            <a:r>
              <a:rPr sz="1200" b="0">
                <a:solidFill>
                  <a:srgbClr val="5B6372"/>
                </a:solidFill>
                <a:latin typeface="Arial"/>
              </a:rPr>
              <a:t>Use supplied mock data; do not expose workplace records.</a:t>
            </a:r>
          </a:p>
        </p:txBody>
      </p:sp>
      <p:sp>
        <p:nvSpPr>
          <p:cNvPr id="22" name="Rectangle 21"/>
          <p:cNvSpPr/>
          <p:nvPr/>
        </p:nvSpPr>
        <p:spPr>
          <a:xfrm>
            <a:off x="6222492" y="3285743"/>
            <a:ext cx="5198364" cy="130149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22492" y="3285743"/>
            <a:ext cx="82296" cy="1301495"/>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51092" y="3689604"/>
            <a:ext cx="493776" cy="49377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51092" y="3689604"/>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4</a:t>
            </a:r>
          </a:p>
        </p:txBody>
      </p:sp>
      <p:sp>
        <p:nvSpPr>
          <p:cNvPr id="26" name="TextBox 25"/>
          <p:cNvSpPr txBox="1"/>
          <p:nvPr/>
        </p:nvSpPr>
        <p:spPr>
          <a:xfrm>
            <a:off x="7118604" y="3377183"/>
            <a:ext cx="4119372" cy="1136903"/>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Stay punctual</a:t>
            </a:r>
          </a:p>
          <a:p>
            <a:pPr algn="l">
              <a:spcAft>
                <a:spcPts val="300"/>
              </a:spcAft>
            </a:pPr>
            <a:r>
              <a:rPr sz="1200" b="0">
                <a:solidFill>
                  <a:srgbClr val="5B6372"/>
                </a:solidFill>
                <a:latin typeface="Arial"/>
              </a:rPr>
              <a:t>Return from breaks on time and complete attendance.</a:t>
            </a:r>
          </a:p>
        </p:txBody>
      </p:sp>
      <p:sp>
        <p:nvSpPr>
          <p:cNvPr id="27" name="Rectangle 26"/>
          <p:cNvSpPr/>
          <p:nvPr/>
        </p:nvSpPr>
        <p:spPr>
          <a:xfrm>
            <a:off x="768096" y="4806695"/>
            <a:ext cx="5198364" cy="130149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68096" y="4806695"/>
            <a:ext cx="82296" cy="1301495"/>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996695" y="5210555"/>
            <a:ext cx="493776" cy="49377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96695" y="5210555"/>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5</a:t>
            </a:r>
          </a:p>
        </p:txBody>
      </p:sp>
      <p:sp>
        <p:nvSpPr>
          <p:cNvPr id="31" name="TextBox 30"/>
          <p:cNvSpPr txBox="1"/>
          <p:nvPr/>
        </p:nvSpPr>
        <p:spPr>
          <a:xfrm>
            <a:off x="1664207" y="4898135"/>
            <a:ext cx="4119372" cy="1136903"/>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Save evidence</a:t>
            </a:r>
          </a:p>
          <a:p>
            <a:pPr algn="l">
              <a:spcAft>
                <a:spcPts val="300"/>
              </a:spcAft>
            </a:pPr>
            <a:r>
              <a:rPr sz="1200" b="0">
                <a:solidFill>
                  <a:srgbClr val="5B6372"/>
                </a:solidFill>
                <a:latin typeface="Arial"/>
              </a:rPr>
              <a:t>Keep Tableau workbooks, screenshots and checklists.</a:t>
            </a:r>
          </a:p>
        </p:txBody>
      </p:sp>
      <p:sp>
        <p:nvSpPr>
          <p:cNvPr id="32" name="Rectangle 31"/>
          <p:cNvSpPr/>
          <p:nvPr/>
        </p:nvSpPr>
        <p:spPr>
          <a:xfrm>
            <a:off x="6222492" y="4806695"/>
            <a:ext cx="5198364" cy="130149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22492" y="4806695"/>
            <a:ext cx="82296" cy="130149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51092" y="5210555"/>
            <a:ext cx="493776" cy="49377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51092" y="5210555"/>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6</a:t>
            </a:r>
          </a:p>
        </p:txBody>
      </p:sp>
      <p:sp>
        <p:nvSpPr>
          <p:cNvPr id="36" name="TextBox 35"/>
          <p:cNvSpPr txBox="1"/>
          <p:nvPr/>
        </p:nvSpPr>
        <p:spPr>
          <a:xfrm>
            <a:off x="7118604" y="4898135"/>
            <a:ext cx="4119372" cy="1136903"/>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Procedures live in LG</a:t>
            </a:r>
          </a:p>
          <a:p>
            <a:pPr algn="l">
              <a:spcAft>
                <a:spcPts val="300"/>
              </a:spcAft>
            </a:pPr>
            <a:r>
              <a:rPr sz="1200" b="0">
                <a:solidFill>
                  <a:srgbClr val="5B6372"/>
                </a:solidFill>
                <a:latin typeface="Arial"/>
              </a:rPr>
              <a:t>Slides teach concepts; the Learner Guide gives clicks and steps.</a:t>
            </a:r>
          </a:p>
        </p:txBody>
      </p:sp>
      <p:sp>
        <p:nvSpPr>
          <p:cNvPr id="37" name="TextBox 36"/>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38" name="TextBox 37"/>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39" name="TextBox 38"/>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7</a:t>
            </a:r>
          </a:p>
        </p:txBody>
      </p:sp>
    </p:spTree>
  </p:cSld>
  <p:clrMapOvr>
    <a:masterClrMapping/>
  </p:clrMapOvr>
  <p:transition spd="fast">
    <p:fade/>
  </p:transition>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37744"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47472"/>
            <a:ext cx="10698480" cy="292608"/>
          </a:xfrm>
          <a:prstGeom prst="rect">
            <a:avLst/>
          </a:prstGeom>
          <a:noFill/>
        </p:spPr>
        <p:txBody>
          <a:bodyPr wrap="square" anchor="t" lIns="54864" rIns="54864" tIns="54864" bIns="54864">
            <a:spAutoFit/>
          </a:bodyPr>
          <a:lstStyle/>
          <a:p>
            <a:pPr algn="l">
              <a:spcAft>
                <a:spcPts val="300"/>
              </a:spcAft>
            </a:pPr>
            <a:r>
              <a:rPr sz="1200" b="1">
                <a:solidFill>
                  <a:srgbClr val="1F6FEB"/>
                </a:solidFill>
                <a:latin typeface="Arial"/>
              </a:rPr>
              <a:t>SCHEDULE</a:t>
            </a:r>
          </a:p>
        </p:txBody>
      </p:sp>
      <p:sp>
        <p:nvSpPr>
          <p:cNvPr id="5" name="TextBox 4"/>
          <p:cNvSpPr txBox="1"/>
          <p:nvPr/>
        </p:nvSpPr>
        <p:spPr>
          <a:xfrm>
            <a:off x="749808" y="713232"/>
            <a:ext cx="10744200" cy="731520"/>
          </a:xfrm>
          <a:prstGeom prst="rect">
            <a:avLst/>
          </a:prstGeom>
          <a:noFill/>
        </p:spPr>
        <p:txBody>
          <a:bodyPr wrap="square" anchor="ctr" lIns="54864" rIns="54864" tIns="54864" bIns="54864">
            <a:spAutoFit/>
          </a:bodyPr>
          <a:lstStyle/>
          <a:p>
            <a:pPr algn="l">
              <a:spcAft>
                <a:spcPts val="300"/>
              </a:spcAft>
            </a:pPr>
            <a:r>
              <a:rPr sz="2700" b="1">
                <a:solidFill>
                  <a:srgbClr val="161B26"/>
                </a:solidFill>
                <a:latin typeface="Arial"/>
              </a:rPr>
              <a:t>Lesson Plan — Day 1</a:t>
            </a:r>
          </a:p>
        </p:txBody>
      </p:sp>
      <p:sp>
        <p:nvSpPr>
          <p:cNvPr id="6" name="Rectangle 5"/>
          <p:cNvSpPr/>
          <p:nvPr/>
        </p:nvSpPr>
        <p:spPr>
          <a:xfrm>
            <a:off x="749808" y="1536192"/>
            <a:ext cx="106984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8096" y="1783080"/>
            <a:ext cx="5193792" cy="4343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68096" y="1783080"/>
            <a:ext cx="519379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96695" y="1975104"/>
            <a:ext cx="4736592" cy="384048"/>
          </a:xfrm>
          <a:prstGeom prst="rect">
            <a:avLst/>
          </a:prstGeom>
          <a:noFill/>
        </p:spPr>
        <p:txBody>
          <a:bodyPr wrap="square" anchor="t" lIns="54864" rIns="54864" tIns="54864" bIns="54864">
            <a:spAutoFit/>
          </a:bodyPr>
          <a:lstStyle/>
          <a:p>
            <a:pPr algn="l">
              <a:spcAft>
                <a:spcPts val="300"/>
              </a:spcAft>
            </a:pPr>
            <a:r>
              <a:rPr sz="1600" b="1">
                <a:solidFill>
                  <a:srgbClr val="1F6FEB"/>
                </a:solidFill>
                <a:latin typeface="Arial"/>
              </a:rPr>
              <a:t>Morning</a:t>
            </a:r>
          </a:p>
        </p:txBody>
      </p:sp>
      <p:sp>
        <p:nvSpPr>
          <p:cNvPr id="10" name="TextBox 9"/>
          <p:cNvSpPr txBox="1"/>
          <p:nvPr/>
        </p:nvSpPr>
        <p:spPr>
          <a:xfrm>
            <a:off x="1024128" y="2514600"/>
            <a:ext cx="4690872" cy="502920"/>
          </a:xfrm>
          <a:prstGeom prst="rect">
            <a:avLst/>
          </a:prstGeom>
          <a:noFill/>
        </p:spPr>
        <p:txBody>
          <a:bodyPr wrap="square" anchor="ctr" lIns="54864" rIns="54864" tIns="54864" bIns="54864">
            <a:spAutoFit/>
          </a:bodyPr>
          <a:lstStyle/>
          <a:p>
            <a:pPr algn="l">
              <a:spcAft>
                <a:spcPts val="300"/>
              </a:spcAft>
            </a:pPr>
            <a:r>
              <a:rPr sz="1500" b="1">
                <a:solidFill>
                  <a:srgbClr val="1F6FEB"/>
                </a:solidFill>
                <a:latin typeface="Arial"/>
              </a:rPr>
              <a:t>• </a:t>
            </a:r>
            <a:r>
              <a:rPr sz="1350" b="0">
                <a:solidFill>
                  <a:srgbClr val="161B26"/>
                </a:solidFill>
                <a:latin typeface="Arial"/>
              </a:rPr>
              <a:t>9:00 Welcome, attendance and exam orientation</a:t>
            </a:r>
          </a:p>
        </p:txBody>
      </p:sp>
      <p:sp>
        <p:nvSpPr>
          <p:cNvPr id="11" name="TextBox 10"/>
          <p:cNvSpPr txBox="1"/>
          <p:nvPr/>
        </p:nvSpPr>
        <p:spPr>
          <a:xfrm>
            <a:off x="1024128" y="3136392"/>
            <a:ext cx="4690872" cy="502920"/>
          </a:xfrm>
          <a:prstGeom prst="rect">
            <a:avLst/>
          </a:prstGeom>
          <a:noFill/>
        </p:spPr>
        <p:txBody>
          <a:bodyPr wrap="square" anchor="ctr" lIns="54864" rIns="54864" tIns="54864" bIns="54864">
            <a:spAutoFit/>
          </a:bodyPr>
          <a:lstStyle/>
          <a:p>
            <a:pPr algn="l">
              <a:spcAft>
                <a:spcPts val="300"/>
              </a:spcAft>
            </a:pPr>
            <a:r>
              <a:rPr sz="1500" b="1">
                <a:solidFill>
                  <a:srgbClr val="1F6FEB"/>
                </a:solidFill>
                <a:latin typeface="Arial"/>
              </a:rPr>
              <a:t>• </a:t>
            </a:r>
            <a:r>
              <a:rPr sz="1350" b="0">
                <a:solidFill>
                  <a:srgbClr val="161B26"/>
                </a:solidFill>
                <a:latin typeface="Arial"/>
              </a:rPr>
              <a:t>9:30 Topic 1: connect, prepare and cleanse</a:t>
            </a:r>
          </a:p>
        </p:txBody>
      </p:sp>
      <p:sp>
        <p:nvSpPr>
          <p:cNvPr id="12" name="TextBox 11"/>
          <p:cNvSpPr txBox="1"/>
          <p:nvPr/>
        </p:nvSpPr>
        <p:spPr>
          <a:xfrm>
            <a:off x="1024128" y="3758184"/>
            <a:ext cx="4690872" cy="502920"/>
          </a:xfrm>
          <a:prstGeom prst="rect">
            <a:avLst/>
          </a:prstGeom>
          <a:noFill/>
        </p:spPr>
        <p:txBody>
          <a:bodyPr wrap="square" anchor="ctr" lIns="54864" rIns="54864" tIns="54864" bIns="54864">
            <a:spAutoFit/>
          </a:bodyPr>
          <a:lstStyle/>
          <a:p>
            <a:pPr algn="l">
              <a:spcAft>
                <a:spcPts val="300"/>
              </a:spcAft>
            </a:pPr>
            <a:r>
              <a:rPr sz="1500" b="1">
                <a:solidFill>
                  <a:srgbClr val="1F6FEB"/>
                </a:solidFill>
                <a:latin typeface="Arial"/>
              </a:rPr>
              <a:t>• </a:t>
            </a:r>
            <a:r>
              <a:rPr sz="1350" b="0">
                <a:solidFill>
                  <a:srgbClr val="161B26"/>
                </a:solidFill>
                <a:latin typeface="Arial"/>
              </a:rPr>
              <a:t>10:40 Topic 1 labs 1–3 (tea break 10:30)</a:t>
            </a:r>
          </a:p>
        </p:txBody>
      </p:sp>
      <p:sp>
        <p:nvSpPr>
          <p:cNvPr id="13" name="TextBox 12"/>
          <p:cNvSpPr txBox="1"/>
          <p:nvPr/>
        </p:nvSpPr>
        <p:spPr>
          <a:xfrm>
            <a:off x="1024128" y="4379976"/>
            <a:ext cx="4690872" cy="502920"/>
          </a:xfrm>
          <a:prstGeom prst="rect">
            <a:avLst/>
          </a:prstGeom>
          <a:noFill/>
        </p:spPr>
        <p:txBody>
          <a:bodyPr wrap="square" anchor="ctr" lIns="54864" rIns="54864" tIns="54864" bIns="54864">
            <a:spAutoFit/>
          </a:bodyPr>
          <a:lstStyle/>
          <a:p>
            <a:pPr algn="l">
              <a:spcAft>
                <a:spcPts val="300"/>
              </a:spcAft>
            </a:pPr>
            <a:r>
              <a:rPr sz="1500" b="1">
                <a:solidFill>
                  <a:srgbClr val="1F6FEB"/>
                </a:solidFill>
                <a:latin typeface="Arial"/>
              </a:rPr>
              <a:t>• </a:t>
            </a:r>
            <a:r>
              <a:rPr sz="1350" b="0">
                <a:solidFill>
                  <a:srgbClr val="161B26"/>
                </a:solidFill>
                <a:latin typeface="Arial"/>
              </a:rPr>
              <a:t>12:40 Lab 11: Tableau Prep cleansing</a:t>
            </a:r>
          </a:p>
        </p:txBody>
      </p:sp>
      <p:sp>
        <p:nvSpPr>
          <p:cNvPr id="14" name="TextBox 13"/>
          <p:cNvSpPr txBox="1"/>
          <p:nvPr/>
        </p:nvSpPr>
        <p:spPr>
          <a:xfrm>
            <a:off x="1024128" y="5001768"/>
            <a:ext cx="4690872" cy="502920"/>
          </a:xfrm>
          <a:prstGeom prst="rect">
            <a:avLst/>
          </a:prstGeom>
          <a:noFill/>
        </p:spPr>
        <p:txBody>
          <a:bodyPr wrap="square" anchor="ctr" lIns="54864" rIns="54864" tIns="54864" bIns="54864">
            <a:spAutoFit/>
          </a:bodyPr>
          <a:lstStyle/>
          <a:p>
            <a:pPr algn="l">
              <a:spcAft>
                <a:spcPts val="300"/>
              </a:spcAft>
            </a:pPr>
            <a:r>
              <a:rPr sz="1500" b="1">
                <a:solidFill>
                  <a:srgbClr val="1F6FEB"/>
                </a:solidFill>
                <a:latin typeface="Arial"/>
              </a:rPr>
              <a:t>• </a:t>
            </a:r>
            <a:r>
              <a:rPr sz="1350" b="0">
                <a:solidFill>
                  <a:srgbClr val="161B26"/>
                </a:solidFill>
                <a:latin typeface="Arial"/>
              </a:rPr>
              <a:t>1:00 Lunch</a:t>
            </a:r>
          </a:p>
        </p:txBody>
      </p:sp>
      <p:sp>
        <p:nvSpPr>
          <p:cNvPr id="15" name="Rectangle 14"/>
          <p:cNvSpPr/>
          <p:nvPr/>
        </p:nvSpPr>
        <p:spPr>
          <a:xfrm>
            <a:off x="6254496" y="1783080"/>
            <a:ext cx="5166360" cy="4343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54496" y="1783080"/>
            <a:ext cx="516636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83096" y="1975104"/>
            <a:ext cx="4709160" cy="384048"/>
          </a:xfrm>
          <a:prstGeom prst="rect">
            <a:avLst/>
          </a:prstGeom>
          <a:noFill/>
        </p:spPr>
        <p:txBody>
          <a:bodyPr wrap="square" anchor="t" lIns="54864" rIns="54864" tIns="54864" bIns="54864">
            <a:spAutoFit/>
          </a:bodyPr>
          <a:lstStyle/>
          <a:p>
            <a:pPr algn="l">
              <a:spcAft>
                <a:spcPts val="300"/>
              </a:spcAft>
            </a:pPr>
            <a:r>
              <a:rPr sz="1600" b="1">
                <a:solidFill>
                  <a:srgbClr val="10B981"/>
                </a:solidFill>
                <a:latin typeface="Arial"/>
              </a:rPr>
              <a:t>Afternoon</a:t>
            </a:r>
          </a:p>
        </p:txBody>
      </p:sp>
      <p:sp>
        <p:nvSpPr>
          <p:cNvPr id="18" name="TextBox 17"/>
          <p:cNvSpPr txBox="1"/>
          <p:nvPr/>
        </p:nvSpPr>
        <p:spPr>
          <a:xfrm>
            <a:off x="6510528" y="2514600"/>
            <a:ext cx="4663440" cy="502920"/>
          </a:xfrm>
          <a:prstGeom prst="rect">
            <a:avLst/>
          </a:prstGeom>
          <a:noFill/>
        </p:spPr>
        <p:txBody>
          <a:bodyPr wrap="square" anchor="ctr" lIns="54864" rIns="54864" tIns="54864" bIns="54864">
            <a:spAutoFit/>
          </a:bodyPr>
          <a:lstStyle/>
          <a:p>
            <a:pPr algn="l">
              <a:spcAft>
                <a:spcPts val="300"/>
              </a:spcAft>
            </a:pPr>
            <a:r>
              <a:rPr sz="1500" b="1">
                <a:solidFill>
                  <a:srgbClr val="10B981"/>
                </a:solidFill>
                <a:latin typeface="Arial"/>
              </a:rPr>
              <a:t>• </a:t>
            </a:r>
            <a:r>
              <a:rPr sz="1350" b="0">
                <a:solidFill>
                  <a:srgbClr val="161B26"/>
                </a:solidFill>
                <a:latin typeface="Arial"/>
              </a:rPr>
              <a:t>2:00 Lab 11 continued: pivot, join, output</a:t>
            </a:r>
          </a:p>
        </p:txBody>
      </p:sp>
      <p:sp>
        <p:nvSpPr>
          <p:cNvPr id="19" name="TextBox 18"/>
          <p:cNvSpPr txBox="1"/>
          <p:nvPr/>
        </p:nvSpPr>
        <p:spPr>
          <a:xfrm>
            <a:off x="6510528" y="3136392"/>
            <a:ext cx="4663440" cy="502920"/>
          </a:xfrm>
          <a:prstGeom prst="rect">
            <a:avLst/>
          </a:prstGeom>
          <a:noFill/>
        </p:spPr>
        <p:txBody>
          <a:bodyPr wrap="square" anchor="ctr" lIns="54864" rIns="54864" tIns="54864" bIns="54864">
            <a:spAutoFit/>
          </a:bodyPr>
          <a:lstStyle/>
          <a:p>
            <a:pPr algn="l">
              <a:spcAft>
                <a:spcPts val="300"/>
              </a:spcAft>
            </a:pPr>
            <a:r>
              <a:rPr sz="1500" b="1">
                <a:solidFill>
                  <a:srgbClr val="10B981"/>
                </a:solidFill>
                <a:latin typeface="Arial"/>
              </a:rPr>
              <a:t>• </a:t>
            </a:r>
            <a:r>
              <a:rPr sz="1350" b="0">
                <a:solidFill>
                  <a:srgbClr val="161B26"/>
                </a:solidFill>
                <a:latin typeface="Arial"/>
              </a:rPr>
              <a:t>2:55 Topic 2: charts and organisation</a:t>
            </a:r>
          </a:p>
        </p:txBody>
      </p:sp>
      <p:sp>
        <p:nvSpPr>
          <p:cNvPr id="20" name="TextBox 19"/>
          <p:cNvSpPr txBox="1"/>
          <p:nvPr/>
        </p:nvSpPr>
        <p:spPr>
          <a:xfrm>
            <a:off x="6510528" y="3758184"/>
            <a:ext cx="4663440" cy="502920"/>
          </a:xfrm>
          <a:prstGeom prst="rect">
            <a:avLst/>
          </a:prstGeom>
          <a:noFill/>
        </p:spPr>
        <p:txBody>
          <a:bodyPr wrap="square" anchor="ctr" lIns="54864" rIns="54864" tIns="54864" bIns="54864">
            <a:spAutoFit/>
          </a:bodyPr>
          <a:lstStyle/>
          <a:p>
            <a:pPr algn="l">
              <a:spcAft>
                <a:spcPts val="300"/>
              </a:spcAft>
            </a:pPr>
            <a:r>
              <a:rPr sz="1500" b="1">
                <a:solidFill>
                  <a:srgbClr val="10B981"/>
                </a:solidFill>
                <a:latin typeface="Arial"/>
              </a:rPr>
              <a:t>• </a:t>
            </a:r>
            <a:r>
              <a:rPr sz="1350" b="0">
                <a:solidFill>
                  <a:srgbClr val="161B26"/>
                </a:solidFill>
                <a:latin typeface="Arial"/>
              </a:rPr>
              <a:t>3:55 Topic 2 labs 4–7 (tea break 3:45)</a:t>
            </a:r>
          </a:p>
        </p:txBody>
      </p:sp>
      <p:sp>
        <p:nvSpPr>
          <p:cNvPr id="21" name="TextBox 20"/>
          <p:cNvSpPr txBox="1"/>
          <p:nvPr/>
        </p:nvSpPr>
        <p:spPr>
          <a:xfrm>
            <a:off x="6510528" y="4379976"/>
            <a:ext cx="4663440" cy="502920"/>
          </a:xfrm>
          <a:prstGeom prst="rect">
            <a:avLst/>
          </a:prstGeom>
          <a:noFill/>
        </p:spPr>
        <p:txBody>
          <a:bodyPr wrap="square" anchor="ctr" lIns="54864" rIns="54864" tIns="54864" bIns="54864">
            <a:spAutoFit/>
          </a:bodyPr>
          <a:lstStyle/>
          <a:p>
            <a:pPr algn="l">
              <a:spcAft>
                <a:spcPts val="300"/>
              </a:spcAft>
            </a:pPr>
            <a:r>
              <a:rPr sz="1500" b="1">
                <a:solidFill>
                  <a:srgbClr val="10B981"/>
                </a:solidFill>
                <a:latin typeface="Arial"/>
              </a:rPr>
              <a:t>• </a:t>
            </a:r>
            <a:r>
              <a:rPr sz="1350" b="0">
                <a:solidFill>
                  <a:srgbClr val="161B26"/>
                </a:solidFill>
                <a:latin typeface="Arial"/>
              </a:rPr>
              <a:t>5:40 Recap and PM attendance</a:t>
            </a:r>
          </a:p>
        </p:txBody>
      </p:sp>
      <p:sp>
        <p:nvSpPr>
          <p:cNvPr id="22" name="TextBox 21"/>
          <p:cNvSpPr txBox="1"/>
          <p:nvPr/>
        </p:nvSpPr>
        <p:spPr>
          <a:xfrm>
            <a:off x="6510528" y="5001768"/>
            <a:ext cx="4663440" cy="502920"/>
          </a:xfrm>
          <a:prstGeom prst="rect">
            <a:avLst/>
          </a:prstGeom>
          <a:noFill/>
        </p:spPr>
        <p:txBody>
          <a:bodyPr wrap="square" anchor="ctr" lIns="54864" rIns="54864" tIns="54864" bIns="54864">
            <a:spAutoFit/>
          </a:bodyPr>
          <a:lstStyle/>
          <a:p>
            <a:pPr algn="l">
              <a:spcAft>
                <a:spcPts val="300"/>
              </a:spcAft>
            </a:pPr>
            <a:r>
              <a:rPr sz="1500" b="1">
                <a:solidFill>
                  <a:srgbClr val="10B981"/>
                </a:solidFill>
                <a:latin typeface="Arial"/>
              </a:rPr>
              <a:t>• </a:t>
            </a:r>
            <a:r>
              <a:rPr sz="1350" b="0">
                <a:solidFill>
                  <a:srgbClr val="161B26"/>
                </a:solidFill>
                <a:latin typeface="Arial"/>
              </a:rPr>
              <a:t>6:00 End</a:t>
            </a:r>
          </a:p>
        </p:txBody>
      </p:sp>
      <p:sp>
        <p:nvSpPr>
          <p:cNvPr id="23" name="TextBox 22"/>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24" name="TextBox 23"/>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25" name="TextBox 24"/>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8</a:t>
            </a:r>
          </a:p>
        </p:txBody>
      </p:sp>
    </p:spTree>
  </p:cSld>
  <p:clrMapOvr>
    <a:masterClrMapping/>
  </p:clrMapOvr>
  <p:transition spd="fast">
    <p:fade/>
  </p:transition>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37744"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47472"/>
            <a:ext cx="10698480" cy="292608"/>
          </a:xfrm>
          <a:prstGeom prst="rect">
            <a:avLst/>
          </a:prstGeom>
          <a:noFill/>
        </p:spPr>
        <p:txBody>
          <a:bodyPr wrap="square" anchor="t" lIns="54864" rIns="54864" tIns="54864" bIns="54864">
            <a:spAutoFit/>
          </a:bodyPr>
          <a:lstStyle/>
          <a:p>
            <a:pPr algn="l">
              <a:spcAft>
                <a:spcPts val="300"/>
              </a:spcAft>
            </a:pPr>
            <a:r>
              <a:rPr sz="1200" b="1">
                <a:solidFill>
                  <a:srgbClr val="10B981"/>
                </a:solidFill>
                <a:latin typeface="Arial"/>
              </a:rPr>
              <a:t>SCHEDULE</a:t>
            </a:r>
          </a:p>
        </p:txBody>
      </p:sp>
      <p:sp>
        <p:nvSpPr>
          <p:cNvPr id="5" name="TextBox 4"/>
          <p:cNvSpPr txBox="1"/>
          <p:nvPr/>
        </p:nvSpPr>
        <p:spPr>
          <a:xfrm>
            <a:off x="749808" y="713232"/>
            <a:ext cx="10744200" cy="731520"/>
          </a:xfrm>
          <a:prstGeom prst="rect">
            <a:avLst/>
          </a:prstGeom>
          <a:noFill/>
        </p:spPr>
        <p:txBody>
          <a:bodyPr wrap="square" anchor="ctr" lIns="54864" rIns="54864" tIns="54864" bIns="54864">
            <a:spAutoFit/>
          </a:bodyPr>
          <a:lstStyle/>
          <a:p>
            <a:pPr algn="l">
              <a:spcAft>
                <a:spcPts val="300"/>
              </a:spcAft>
            </a:pPr>
            <a:r>
              <a:rPr sz="2700" b="1">
                <a:solidFill>
                  <a:srgbClr val="161B26"/>
                </a:solidFill>
                <a:latin typeface="Arial"/>
              </a:rPr>
              <a:t>Lesson Plan — Day 2</a:t>
            </a:r>
          </a:p>
        </p:txBody>
      </p:sp>
      <p:sp>
        <p:nvSpPr>
          <p:cNvPr id="6" name="Rectangle 5"/>
          <p:cNvSpPr/>
          <p:nvPr/>
        </p:nvSpPr>
        <p:spPr>
          <a:xfrm>
            <a:off x="749808" y="1536192"/>
            <a:ext cx="106984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8096" y="1783080"/>
            <a:ext cx="5193792" cy="4343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68096" y="1783080"/>
            <a:ext cx="519379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96695" y="1975104"/>
            <a:ext cx="4736592" cy="384048"/>
          </a:xfrm>
          <a:prstGeom prst="rect">
            <a:avLst/>
          </a:prstGeom>
          <a:noFill/>
        </p:spPr>
        <p:txBody>
          <a:bodyPr wrap="square" anchor="t" lIns="54864" rIns="54864" tIns="54864" bIns="54864">
            <a:spAutoFit/>
          </a:bodyPr>
          <a:lstStyle/>
          <a:p>
            <a:pPr algn="l">
              <a:spcAft>
                <a:spcPts val="300"/>
              </a:spcAft>
            </a:pPr>
            <a:r>
              <a:rPr sz="1600" b="1">
                <a:solidFill>
                  <a:srgbClr val="1F6FEB"/>
                </a:solidFill>
                <a:latin typeface="Arial"/>
              </a:rPr>
              <a:t>Morning</a:t>
            </a:r>
          </a:p>
        </p:txBody>
      </p:sp>
      <p:sp>
        <p:nvSpPr>
          <p:cNvPr id="10" name="TextBox 9"/>
          <p:cNvSpPr txBox="1"/>
          <p:nvPr/>
        </p:nvSpPr>
        <p:spPr>
          <a:xfrm>
            <a:off x="1024128" y="2514600"/>
            <a:ext cx="4690872" cy="502920"/>
          </a:xfrm>
          <a:prstGeom prst="rect">
            <a:avLst/>
          </a:prstGeom>
          <a:noFill/>
        </p:spPr>
        <p:txBody>
          <a:bodyPr wrap="square" anchor="ctr" lIns="54864" rIns="54864" tIns="54864" bIns="54864">
            <a:spAutoFit/>
          </a:bodyPr>
          <a:lstStyle/>
          <a:p>
            <a:pPr algn="l">
              <a:spcAft>
                <a:spcPts val="300"/>
              </a:spcAft>
            </a:pPr>
            <a:r>
              <a:rPr sz="1500" b="1">
                <a:solidFill>
                  <a:srgbClr val="1F6FEB"/>
                </a:solidFill>
                <a:latin typeface="Arial"/>
              </a:rPr>
              <a:t>• </a:t>
            </a:r>
            <a:r>
              <a:rPr sz="1350" b="0">
                <a:solidFill>
                  <a:srgbClr val="161B26"/>
                </a:solidFill>
                <a:latin typeface="Arial"/>
              </a:rPr>
              <a:t>9:00 Attendance and recap</a:t>
            </a:r>
          </a:p>
        </p:txBody>
      </p:sp>
      <p:sp>
        <p:nvSpPr>
          <p:cNvPr id="11" name="TextBox 10"/>
          <p:cNvSpPr txBox="1"/>
          <p:nvPr/>
        </p:nvSpPr>
        <p:spPr>
          <a:xfrm>
            <a:off x="1024128" y="3136392"/>
            <a:ext cx="4690872" cy="502920"/>
          </a:xfrm>
          <a:prstGeom prst="rect">
            <a:avLst/>
          </a:prstGeom>
          <a:noFill/>
        </p:spPr>
        <p:txBody>
          <a:bodyPr wrap="square" anchor="ctr" lIns="54864" rIns="54864" tIns="54864" bIns="54864">
            <a:spAutoFit/>
          </a:bodyPr>
          <a:lstStyle/>
          <a:p>
            <a:pPr algn="l">
              <a:spcAft>
                <a:spcPts val="300"/>
              </a:spcAft>
            </a:pPr>
            <a:r>
              <a:rPr sz="1500" b="1">
                <a:solidFill>
                  <a:srgbClr val="1F6FEB"/>
                </a:solidFill>
                <a:latin typeface="Arial"/>
              </a:rPr>
              <a:t>• </a:t>
            </a:r>
            <a:r>
              <a:rPr sz="1350" b="0">
                <a:solidFill>
                  <a:srgbClr val="161B26"/>
                </a:solidFill>
                <a:latin typeface="Arial"/>
              </a:rPr>
              <a:t>9:15 Topic 3: format and dashboards</a:t>
            </a:r>
          </a:p>
        </p:txBody>
      </p:sp>
      <p:sp>
        <p:nvSpPr>
          <p:cNvPr id="12" name="TextBox 11"/>
          <p:cNvSpPr txBox="1"/>
          <p:nvPr/>
        </p:nvSpPr>
        <p:spPr>
          <a:xfrm>
            <a:off x="1024128" y="3758184"/>
            <a:ext cx="4690872" cy="502920"/>
          </a:xfrm>
          <a:prstGeom prst="rect">
            <a:avLst/>
          </a:prstGeom>
          <a:noFill/>
        </p:spPr>
        <p:txBody>
          <a:bodyPr wrap="square" anchor="ctr" lIns="54864" rIns="54864" tIns="54864" bIns="54864">
            <a:spAutoFit/>
          </a:bodyPr>
          <a:lstStyle/>
          <a:p>
            <a:pPr algn="l">
              <a:spcAft>
                <a:spcPts val="300"/>
              </a:spcAft>
            </a:pPr>
            <a:r>
              <a:rPr sz="1500" b="1">
                <a:solidFill>
                  <a:srgbClr val="1F6FEB"/>
                </a:solidFill>
                <a:latin typeface="Arial"/>
              </a:rPr>
              <a:t>• </a:t>
            </a:r>
            <a:r>
              <a:rPr sz="1350" b="0">
                <a:solidFill>
                  <a:srgbClr val="161B26"/>
                </a:solidFill>
                <a:latin typeface="Arial"/>
              </a:rPr>
              <a:t>10:40 Labs 8–9 (tea break 10:30)</a:t>
            </a:r>
          </a:p>
        </p:txBody>
      </p:sp>
      <p:sp>
        <p:nvSpPr>
          <p:cNvPr id="13" name="TextBox 12"/>
          <p:cNvSpPr txBox="1"/>
          <p:nvPr/>
        </p:nvSpPr>
        <p:spPr>
          <a:xfrm>
            <a:off x="1024128" y="4379976"/>
            <a:ext cx="4690872" cy="502920"/>
          </a:xfrm>
          <a:prstGeom prst="rect">
            <a:avLst/>
          </a:prstGeom>
          <a:noFill/>
        </p:spPr>
        <p:txBody>
          <a:bodyPr wrap="square" anchor="ctr" lIns="54864" rIns="54864" tIns="54864" bIns="54864">
            <a:spAutoFit/>
          </a:bodyPr>
          <a:lstStyle/>
          <a:p>
            <a:pPr algn="l">
              <a:spcAft>
                <a:spcPts val="300"/>
              </a:spcAft>
            </a:pPr>
            <a:r>
              <a:rPr sz="1500" b="1">
                <a:solidFill>
                  <a:srgbClr val="1F6FEB"/>
                </a:solidFill>
                <a:latin typeface="Arial"/>
              </a:rPr>
              <a:t>• </a:t>
            </a:r>
            <a:r>
              <a:rPr sz="1350" b="0">
                <a:solidFill>
                  <a:srgbClr val="161B26"/>
                </a:solidFill>
                <a:latin typeface="Arial"/>
              </a:rPr>
              <a:t>12:30 Topic 4 concepts</a:t>
            </a:r>
          </a:p>
        </p:txBody>
      </p:sp>
      <p:sp>
        <p:nvSpPr>
          <p:cNvPr id="14" name="TextBox 13"/>
          <p:cNvSpPr txBox="1"/>
          <p:nvPr/>
        </p:nvSpPr>
        <p:spPr>
          <a:xfrm>
            <a:off x="1024128" y="5001768"/>
            <a:ext cx="4690872" cy="502920"/>
          </a:xfrm>
          <a:prstGeom prst="rect">
            <a:avLst/>
          </a:prstGeom>
          <a:noFill/>
        </p:spPr>
        <p:txBody>
          <a:bodyPr wrap="square" anchor="ctr" lIns="54864" rIns="54864" tIns="54864" bIns="54864">
            <a:spAutoFit/>
          </a:bodyPr>
          <a:lstStyle/>
          <a:p>
            <a:pPr algn="l">
              <a:spcAft>
                <a:spcPts val="300"/>
              </a:spcAft>
            </a:pPr>
            <a:r>
              <a:rPr sz="1500" b="1">
                <a:solidFill>
                  <a:srgbClr val="1F6FEB"/>
                </a:solidFill>
                <a:latin typeface="Arial"/>
              </a:rPr>
              <a:t>• </a:t>
            </a:r>
            <a:r>
              <a:rPr sz="1350" b="0">
                <a:solidFill>
                  <a:srgbClr val="161B26"/>
                </a:solidFill>
                <a:latin typeface="Arial"/>
              </a:rPr>
              <a:t>1:00 Lunch</a:t>
            </a:r>
          </a:p>
        </p:txBody>
      </p:sp>
      <p:sp>
        <p:nvSpPr>
          <p:cNvPr id="15" name="Rectangle 14"/>
          <p:cNvSpPr/>
          <p:nvPr/>
        </p:nvSpPr>
        <p:spPr>
          <a:xfrm>
            <a:off x="6254496" y="1783080"/>
            <a:ext cx="5166360" cy="4343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54496" y="1783080"/>
            <a:ext cx="516636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83096" y="1975104"/>
            <a:ext cx="4709160" cy="384048"/>
          </a:xfrm>
          <a:prstGeom prst="rect">
            <a:avLst/>
          </a:prstGeom>
          <a:noFill/>
        </p:spPr>
        <p:txBody>
          <a:bodyPr wrap="square" anchor="t" lIns="54864" rIns="54864" tIns="54864" bIns="54864">
            <a:spAutoFit/>
          </a:bodyPr>
          <a:lstStyle/>
          <a:p>
            <a:pPr algn="l">
              <a:spcAft>
                <a:spcPts val="300"/>
              </a:spcAft>
            </a:pPr>
            <a:r>
              <a:rPr sz="1600" b="1">
                <a:solidFill>
                  <a:srgbClr val="10B981"/>
                </a:solidFill>
                <a:latin typeface="Arial"/>
              </a:rPr>
              <a:t>Afternoon</a:t>
            </a:r>
          </a:p>
        </p:txBody>
      </p:sp>
      <p:sp>
        <p:nvSpPr>
          <p:cNvPr id="18" name="TextBox 17"/>
          <p:cNvSpPr txBox="1"/>
          <p:nvPr/>
        </p:nvSpPr>
        <p:spPr>
          <a:xfrm>
            <a:off x="6510528" y="2514600"/>
            <a:ext cx="4663440" cy="502920"/>
          </a:xfrm>
          <a:prstGeom prst="rect">
            <a:avLst/>
          </a:prstGeom>
          <a:noFill/>
        </p:spPr>
        <p:txBody>
          <a:bodyPr wrap="square" anchor="ctr" lIns="54864" rIns="54864" tIns="54864" bIns="54864">
            <a:spAutoFit/>
          </a:bodyPr>
          <a:lstStyle/>
          <a:p>
            <a:pPr algn="l">
              <a:spcAft>
                <a:spcPts val="300"/>
              </a:spcAft>
            </a:pPr>
            <a:r>
              <a:rPr sz="1500" b="1">
                <a:solidFill>
                  <a:srgbClr val="10B981"/>
                </a:solidFill>
                <a:latin typeface="Arial"/>
              </a:rPr>
              <a:t>• </a:t>
            </a:r>
            <a:r>
              <a:rPr sz="1350" b="0">
                <a:solidFill>
                  <a:srgbClr val="161B26"/>
                </a:solidFill>
                <a:latin typeface="Arial"/>
              </a:rPr>
              <a:t>2:00 Capstone lab 10 (tea break 3:40)</a:t>
            </a:r>
          </a:p>
        </p:txBody>
      </p:sp>
      <p:sp>
        <p:nvSpPr>
          <p:cNvPr id="19" name="TextBox 18"/>
          <p:cNvSpPr txBox="1"/>
          <p:nvPr/>
        </p:nvSpPr>
        <p:spPr>
          <a:xfrm>
            <a:off x="6510528" y="3136392"/>
            <a:ext cx="4663440" cy="502920"/>
          </a:xfrm>
          <a:prstGeom prst="rect">
            <a:avLst/>
          </a:prstGeom>
          <a:noFill/>
        </p:spPr>
        <p:txBody>
          <a:bodyPr wrap="square" anchor="ctr" lIns="54864" rIns="54864" tIns="54864" bIns="54864">
            <a:spAutoFit/>
          </a:bodyPr>
          <a:lstStyle/>
          <a:p>
            <a:pPr algn="l">
              <a:spcAft>
                <a:spcPts val="300"/>
              </a:spcAft>
            </a:pPr>
            <a:r>
              <a:rPr sz="1500" b="1">
                <a:solidFill>
                  <a:srgbClr val="10B981"/>
                </a:solidFill>
                <a:latin typeface="Arial"/>
              </a:rPr>
              <a:t>• </a:t>
            </a:r>
            <a:r>
              <a:rPr sz="1350" b="0">
                <a:solidFill>
                  <a:srgbClr val="161B26"/>
                </a:solidFill>
                <a:latin typeface="Arial"/>
              </a:rPr>
              <a:t>3:50 Assessment briefing</a:t>
            </a:r>
          </a:p>
        </p:txBody>
      </p:sp>
      <p:sp>
        <p:nvSpPr>
          <p:cNvPr id="20" name="TextBox 19"/>
          <p:cNvSpPr txBox="1"/>
          <p:nvPr/>
        </p:nvSpPr>
        <p:spPr>
          <a:xfrm>
            <a:off x="6510528" y="3758184"/>
            <a:ext cx="4663440" cy="502920"/>
          </a:xfrm>
          <a:prstGeom prst="rect">
            <a:avLst/>
          </a:prstGeom>
          <a:noFill/>
        </p:spPr>
        <p:txBody>
          <a:bodyPr wrap="square" anchor="ctr" lIns="54864" rIns="54864" tIns="54864" bIns="54864">
            <a:spAutoFit/>
          </a:bodyPr>
          <a:lstStyle/>
          <a:p>
            <a:pPr algn="l">
              <a:spcAft>
                <a:spcPts val="300"/>
              </a:spcAft>
            </a:pPr>
            <a:r>
              <a:rPr sz="1500" b="1">
                <a:solidFill>
                  <a:srgbClr val="10B981"/>
                </a:solidFill>
                <a:latin typeface="Arial"/>
              </a:rPr>
              <a:t>• </a:t>
            </a:r>
            <a:r>
              <a:rPr sz="1350" b="0">
                <a:solidFill>
                  <a:srgbClr val="161B26"/>
                </a:solidFill>
                <a:latin typeface="Arial"/>
              </a:rPr>
              <a:t>4:00 WA (1 hr)</a:t>
            </a:r>
          </a:p>
        </p:txBody>
      </p:sp>
      <p:sp>
        <p:nvSpPr>
          <p:cNvPr id="21" name="TextBox 20"/>
          <p:cNvSpPr txBox="1"/>
          <p:nvPr/>
        </p:nvSpPr>
        <p:spPr>
          <a:xfrm>
            <a:off x="6510528" y="4379976"/>
            <a:ext cx="4663440" cy="502920"/>
          </a:xfrm>
          <a:prstGeom prst="rect">
            <a:avLst/>
          </a:prstGeom>
          <a:noFill/>
        </p:spPr>
        <p:txBody>
          <a:bodyPr wrap="square" anchor="ctr" lIns="54864" rIns="54864" tIns="54864" bIns="54864">
            <a:spAutoFit/>
          </a:bodyPr>
          <a:lstStyle/>
          <a:p>
            <a:pPr algn="l">
              <a:spcAft>
                <a:spcPts val="300"/>
              </a:spcAft>
            </a:pPr>
            <a:r>
              <a:rPr sz="1500" b="1">
                <a:solidFill>
                  <a:srgbClr val="10B981"/>
                </a:solidFill>
                <a:latin typeface="Arial"/>
              </a:rPr>
              <a:t>• </a:t>
            </a:r>
            <a:r>
              <a:rPr sz="1350" b="0">
                <a:solidFill>
                  <a:srgbClr val="161B26"/>
                </a:solidFill>
                <a:latin typeface="Arial"/>
              </a:rPr>
              <a:t>5:00 PP (1 hr)</a:t>
            </a:r>
          </a:p>
        </p:txBody>
      </p:sp>
      <p:sp>
        <p:nvSpPr>
          <p:cNvPr id="22" name="TextBox 21"/>
          <p:cNvSpPr txBox="1"/>
          <p:nvPr/>
        </p:nvSpPr>
        <p:spPr>
          <a:xfrm>
            <a:off x="6510528" y="5001768"/>
            <a:ext cx="4663440" cy="502920"/>
          </a:xfrm>
          <a:prstGeom prst="rect">
            <a:avLst/>
          </a:prstGeom>
          <a:noFill/>
        </p:spPr>
        <p:txBody>
          <a:bodyPr wrap="square" anchor="ctr" lIns="54864" rIns="54864" tIns="54864" bIns="54864">
            <a:spAutoFit/>
          </a:bodyPr>
          <a:lstStyle/>
          <a:p>
            <a:pPr algn="l">
              <a:spcAft>
                <a:spcPts val="300"/>
              </a:spcAft>
            </a:pPr>
            <a:r>
              <a:rPr sz="1500" b="1">
                <a:solidFill>
                  <a:srgbClr val="10B981"/>
                </a:solidFill>
                <a:latin typeface="Arial"/>
              </a:rPr>
              <a:t>• </a:t>
            </a:r>
            <a:r>
              <a:rPr sz="1350" b="0">
                <a:solidFill>
                  <a:srgbClr val="161B26"/>
                </a:solidFill>
                <a:latin typeface="Arial"/>
              </a:rPr>
              <a:t>6:00 End</a:t>
            </a:r>
          </a:p>
        </p:txBody>
      </p:sp>
      <p:sp>
        <p:nvSpPr>
          <p:cNvPr id="23" name="TextBox 22"/>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24" name="TextBox 23"/>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25" name="TextBox 24"/>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9</a:t>
            </a:r>
          </a:p>
        </p:txBody>
      </p:sp>
    </p:spTree>
  </p:cSld>
  <p:clrMapOvr>
    <a:masterClrMapping/>
  </p:clrMapOvr>
  <p:transition spd="fast">
    <p:fade/>
  </p:transition>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37744"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47472"/>
            <a:ext cx="10698480" cy="292608"/>
          </a:xfrm>
          <a:prstGeom prst="rect">
            <a:avLst/>
          </a:prstGeom>
          <a:noFill/>
        </p:spPr>
        <p:txBody>
          <a:bodyPr wrap="square" anchor="t" lIns="54864" rIns="54864" tIns="54864" bIns="54864">
            <a:spAutoFit/>
          </a:bodyPr>
          <a:lstStyle/>
          <a:p>
            <a:pPr algn="l">
              <a:spcAft>
                <a:spcPts val="300"/>
              </a:spcAft>
            </a:pPr>
            <a:r>
              <a:rPr sz="1200" b="1">
                <a:solidFill>
                  <a:srgbClr val="1F6FEB"/>
                </a:solidFill>
                <a:latin typeface="Arial"/>
              </a:rPr>
              <a:t>WSQ · DATA ANALYTICS</a:t>
            </a:r>
          </a:p>
        </p:txBody>
      </p:sp>
      <p:sp>
        <p:nvSpPr>
          <p:cNvPr id="5" name="TextBox 4"/>
          <p:cNvSpPr txBox="1"/>
          <p:nvPr/>
        </p:nvSpPr>
        <p:spPr>
          <a:xfrm>
            <a:off x="749808" y="713232"/>
            <a:ext cx="10744200" cy="731520"/>
          </a:xfrm>
          <a:prstGeom prst="rect">
            <a:avLst/>
          </a:prstGeom>
          <a:noFill/>
        </p:spPr>
        <p:txBody>
          <a:bodyPr wrap="square" anchor="ctr" lIns="54864" rIns="54864" tIns="54864" bIns="54864">
            <a:spAutoFit/>
          </a:bodyPr>
          <a:lstStyle/>
          <a:p>
            <a:pPr algn="l">
              <a:spcAft>
                <a:spcPts val="300"/>
              </a:spcAft>
            </a:pPr>
            <a:r>
              <a:rPr sz="2700" b="1">
                <a:solidFill>
                  <a:srgbClr val="161B26"/>
                </a:solidFill>
                <a:latin typeface="Arial"/>
              </a:rPr>
              <a:t>Skills Framework Alignment</a:t>
            </a:r>
          </a:p>
        </p:txBody>
      </p:sp>
      <p:sp>
        <p:nvSpPr>
          <p:cNvPr id="6" name="Rectangle 5"/>
          <p:cNvSpPr/>
          <p:nvPr/>
        </p:nvSpPr>
        <p:spPr>
          <a:xfrm>
            <a:off x="749808" y="1536192"/>
            <a:ext cx="106984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8096" y="1783080"/>
            <a:ext cx="5326380" cy="7239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1801368"/>
            <a:ext cx="5253228" cy="687323"/>
          </a:xfrm>
          <a:prstGeom prst="rect">
            <a:avLst/>
          </a:prstGeom>
          <a:noFill/>
        </p:spPr>
        <p:txBody>
          <a:bodyPr wrap="square" anchor="ctr" lIns="54864" rIns="54864" tIns="54864" bIns="54864">
            <a:spAutoFit/>
          </a:bodyPr>
          <a:lstStyle/>
          <a:p>
            <a:pPr algn="ctr">
              <a:spcAft>
                <a:spcPts val="300"/>
              </a:spcAft>
            </a:pPr>
            <a:r>
              <a:rPr sz="1150" b="1">
                <a:solidFill>
                  <a:srgbClr val="FFFFFF"/>
                </a:solidFill>
                <a:latin typeface="Arial"/>
              </a:rPr>
              <a:t>Element</a:t>
            </a:r>
          </a:p>
        </p:txBody>
      </p:sp>
      <p:sp>
        <p:nvSpPr>
          <p:cNvPr id="9" name="Rectangle 8"/>
          <p:cNvSpPr/>
          <p:nvPr/>
        </p:nvSpPr>
        <p:spPr>
          <a:xfrm>
            <a:off x="6094476" y="1783080"/>
            <a:ext cx="5326380" cy="7239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31052" y="1801368"/>
            <a:ext cx="5253228" cy="687323"/>
          </a:xfrm>
          <a:prstGeom prst="rect">
            <a:avLst/>
          </a:prstGeom>
          <a:noFill/>
        </p:spPr>
        <p:txBody>
          <a:bodyPr wrap="square" anchor="ctr" lIns="54864" rIns="54864" tIns="54864" bIns="54864">
            <a:spAutoFit/>
          </a:bodyPr>
          <a:lstStyle/>
          <a:p>
            <a:pPr algn="ctr">
              <a:spcAft>
                <a:spcPts val="300"/>
              </a:spcAft>
            </a:pPr>
            <a:r>
              <a:rPr sz="1150" b="1">
                <a:solidFill>
                  <a:srgbClr val="FFFFFF"/>
                </a:solidFill>
                <a:latin typeface="Arial"/>
              </a:rPr>
              <a:t>Course alignment</a:t>
            </a:r>
          </a:p>
        </p:txBody>
      </p:sp>
      <p:sp>
        <p:nvSpPr>
          <p:cNvPr id="11" name="Rectangle 10"/>
          <p:cNvSpPr/>
          <p:nvPr/>
        </p:nvSpPr>
        <p:spPr>
          <a:xfrm>
            <a:off x="768096" y="2506980"/>
            <a:ext cx="5326380" cy="72390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2525268"/>
            <a:ext cx="5216652" cy="687323"/>
          </a:xfrm>
          <a:prstGeom prst="rect">
            <a:avLst/>
          </a:prstGeom>
          <a:noFill/>
        </p:spPr>
        <p:txBody>
          <a:bodyPr wrap="square" anchor="ctr" lIns="54864" rIns="54864" tIns="54864" bIns="54864">
            <a:spAutoFit/>
          </a:bodyPr>
          <a:lstStyle/>
          <a:p>
            <a:pPr algn="l">
              <a:spcAft>
                <a:spcPts val="300"/>
              </a:spcAft>
            </a:pPr>
            <a:r>
              <a:rPr sz="1050" b="1">
                <a:solidFill>
                  <a:srgbClr val="161B26"/>
                </a:solidFill>
                <a:latin typeface="Arial"/>
              </a:rPr>
              <a:t>TSC</a:t>
            </a:r>
          </a:p>
        </p:txBody>
      </p:sp>
      <p:sp>
        <p:nvSpPr>
          <p:cNvPr id="13" name="Rectangle 12"/>
          <p:cNvSpPr/>
          <p:nvPr/>
        </p:nvSpPr>
        <p:spPr>
          <a:xfrm>
            <a:off x="6094476" y="2506980"/>
            <a:ext cx="5326380" cy="72390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49340" y="2525268"/>
            <a:ext cx="5216652" cy="687323"/>
          </a:xfrm>
          <a:prstGeom prst="rect">
            <a:avLst/>
          </a:prstGeom>
          <a:noFill/>
        </p:spPr>
        <p:txBody>
          <a:bodyPr wrap="square" anchor="ctr" lIns="54864" rIns="54864" tIns="54864" bIns="54864">
            <a:spAutoFit/>
          </a:bodyPr>
          <a:lstStyle/>
          <a:p>
            <a:pPr algn="l">
              <a:spcAft>
                <a:spcPts val="300"/>
              </a:spcAft>
            </a:pPr>
            <a:r>
              <a:rPr sz="1050" b="0">
                <a:solidFill>
                  <a:srgbClr val="161B26"/>
                </a:solidFill>
                <a:latin typeface="Arial"/>
              </a:rPr>
              <a:t>Data Analytics · ATP-PIN-2001-1.1</a:t>
            </a:r>
          </a:p>
        </p:txBody>
      </p:sp>
      <p:sp>
        <p:nvSpPr>
          <p:cNvPr id="15" name="Rectangle 14"/>
          <p:cNvSpPr/>
          <p:nvPr/>
        </p:nvSpPr>
        <p:spPr>
          <a:xfrm>
            <a:off x="768096" y="3230880"/>
            <a:ext cx="5326380" cy="72390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3249168"/>
            <a:ext cx="5216652" cy="687323"/>
          </a:xfrm>
          <a:prstGeom prst="rect">
            <a:avLst/>
          </a:prstGeom>
          <a:noFill/>
        </p:spPr>
        <p:txBody>
          <a:bodyPr wrap="square" anchor="ctr" lIns="54864" rIns="54864" tIns="54864" bIns="54864">
            <a:spAutoFit/>
          </a:bodyPr>
          <a:lstStyle/>
          <a:p>
            <a:pPr algn="l">
              <a:spcAft>
                <a:spcPts val="300"/>
              </a:spcAft>
            </a:pPr>
            <a:r>
              <a:rPr sz="1050" b="1">
                <a:solidFill>
                  <a:srgbClr val="161B26"/>
                </a:solidFill>
                <a:latin typeface="Arial"/>
              </a:rPr>
              <a:t>LO1</a:t>
            </a:r>
          </a:p>
        </p:txBody>
      </p:sp>
      <p:sp>
        <p:nvSpPr>
          <p:cNvPr id="17" name="Rectangle 16"/>
          <p:cNvSpPr/>
          <p:nvPr/>
        </p:nvSpPr>
        <p:spPr>
          <a:xfrm>
            <a:off x="6094476" y="3230880"/>
            <a:ext cx="5326380" cy="72390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49340" y="3249168"/>
            <a:ext cx="5216652" cy="687323"/>
          </a:xfrm>
          <a:prstGeom prst="rect">
            <a:avLst/>
          </a:prstGeom>
          <a:noFill/>
        </p:spPr>
        <p:txBody>
          <a:bodyPr wrap="square" anchor="ctr" lIns="54864" rIns="54864" tIns="54864" bIns="54864">
            <a:spAutoFit/>
          </a:bodyPr>
          <a:lstStyle/>
          <a:p>
            <a:pPr algn="l">
              <a:spcAft>
                <a:spcPts val="300"/>
              </a:spcAft>
            </a:pPr>
            <a:r>
              <a:rPr sz="1050" b="0">
                <a:solidFill>
                  <a:srgbClr val="161B26"/>
                </a:solidFill>
                <a:latin typeface="Arial"/>
              </a:rPr>
              <a:t>Identify trustworthy sources and prepare models</a:t>
            </a:r>
          </a:p>
        </p:txBody>
      </p:sp>
      <p:sp>
        <p:nvSpPr>
          <p:cNvPr id="19" name="Rectangle 18"/>
          <p:cNvSpPr/>
          <p:nvPr/>
        </p:nvSpPr>
        <p:spPr>
          <a:xfrm>
            <a:off x="768096" y="3954780"/>
            <a:ext cx="5326380" cy="72390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60" y="3973068"/>
            <a:ext cx="5216652" cy="687323"/>
          </a:xfrm>
          <a:prstGeom prst="rect">
            <a:avLst/>
          </a:prstGeom>
          <a:noFill/>
        </p:spPr>
        <p:txBody>
          <a:bodyPr wrap="square" anchor="ctr" lIns="54864" rIns="54864" tIns="54864" bIns="54864">
            <a:spAutoFit/>
          </a:bodyPr>
          <a:lstStyle/>
          <a:p>
            <a:pPr algn="l">
              <a:spcAft>
                <a:spcPts val="300"/>
              </a:spcAft>
            </a:pPr>
            <a:r>
              <a:rPr sz="1050" b="1">
                <a:solidFill>
                  <a:srgbClr val="161B26"/>
                </a:solidFill>
                <a:latin typeface="Arial"/>
              </a:rPr>
              <a:t>LO2</a:t>
            </a:r>
          </a:p>
        </p:txBody>
      </p:sp>
      <p:sp>
        <p:nvSpPr>
          <p:cNvPr id="21" name="Rectangle 20"/>
          <p:cNvSpPr/>
          <p:nvPr/>
        </p:nvSpPr>
        <p:spPr>
          <a:xfrm>
            <a:off x="6094476" y="3954780"/>
            <a:ext cx="5326380" cy="72390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49340" y="3973068"/>
            <a:ext cx="5216652" cy="687323"/>
          </a:xfrm>
          <a:prstGeom prst="rect">
            <a:avLst/>
          </a:prstGeom>
          <a:noFill/>
        </p:spPr>
        <p:txBody>
          <a:bodyPr wrap="square" anchor="ctr" lIns="54864" rIns="54864" tIns="54864" bIns="54864">
            <a:spAutoFit/>
          </a:bodyPr>
          <a:lstStyle/>
          <a:p>
            <a:pPr algn="l">
              <a:spcAft>
                <a:spcPts val="300"/>
              </a:spcAft>
            </a:pPr>
            <a:r>
              <a:rPr sz="1050" b="0">
                <a:solidFill>
                  <a:srgbClr val="161B26"/>
                </a:solidFill>
                <a:latin typeface="Arial"/>
              </a:rPr>
              <a:t>Organise fields into effective visual elements</a:t>
            </a:r>
          </a:p>
        </p:txBody>
      </p:sp>
      <p:sp>
        <p:nvSpPr>
          <p:cNvPr id="23" name="Rectangle 22"/>
          <p:cNvSpPr/>
          <p:nvPr/>
        </p:nvSpPr>
        <p:spPr>
          <a:xfrm>
            <a:off x="768096" y="4678680"/>
            <a:ext cx="5326380" cy="72390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 y="4696967"/>
            <a:ext cx="5216652" cy="687323"/>
          </a:xfrm>
          <a:prstGeom prst="rect">
            <a:avLst/>
          </a:prstGeom>
          <a:noFill/>
        </p:spPr>
        <p:txBody>
          <a:bodyPr wrap="square" anchor="ctr" lIns="54864" rIns="54864" tIns="54864" bIns="54864">
            <a:spAutoFit/>
          </a:bodyPr>
          <a:lstStyle/>
          <a:p>
            <a:pPr algn="l">
              <a:spcAft>
                <a:spcPts val="300"/>
              </a:spcAft>
            </a:pPr>
            <a:r>
              <a:rPr sz="1050" b="1">
                <a:solidFill>
                  <a:srgbClr val="161B26"/>
                </a:solidFill>
                <a:latin typeface="Arial"/>
              </a:rPr>
              <a:t>LO3</a:t>
            </a:r>
          </a:p>
        </p:txBody>
      </p:sp>
      <p:sp>
        <p:nvSpPr>
          <p:cNvPr id="25" name="Rectangle 24"/>
          <p:cNvSpPr/>
          <p:nvPr/>
        </p:nvSpPr>
        <p:spPr>
          <a:xfrm>
            <a:off x="6094476" y="4678680"/>
            <a:ext cx="5326380" cy="72390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149340" y="4696967"/>
            <a:ext cx="5216652" cy="687323"/>
          </a:xfrm>
          <a:prstGeom prst="rect">
            <a:avLst/>
          </a:prstGeom>
          <a:noFill/>
        </p:spPr>
        <p:txBody>
          <a:bodyPr wrap="square" anchor="ctr" lIns="54864" rIns="54864" tIns="54864" bIns="54864">
            <a:spAutoFit/>
          </a:bodyPr>
          <a:lstStyle/>
          <a:p>
            <a:pPr algn="l">
              <a:spcAft>
                <a:spcPts val="300"/>
              </a:spcAft>
            </a:pPr>
            <a:r>
              <a:rPr sz="1050" b="0">
                <a:solidFill>
                  <a:srgbClr val="161B26"/>
                </a:solidFill>
                <a:latin typeface="Arial"/>
              </a:rPr>
              <a:t>Extract, combine, filter and calculate data</a:t>
            </a:r>
          </a:p>
        </p:txBody>
      </p:sp>
      <p:sp>
        <p:nvSpPr>
          <p:cNvPr id="27" name="Rectangle 26"/>
          <p:cNvSpPr/>
          <p:nvPr/>
        </p:nvSpPr>
        <p:spPr>
          <a:xfrm>
            <a:off x="768096" y="5402580"/>
            <a:ext cx="5326380" cy="72390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2960" y="5420867"/>
            <a:ext cx="5216652" cy="687323"/>
          </a:xfrm>
          <a:prstGeom prst="rect">
            <a:avLst/>
          </a:prstGeom>
          <a:noFill/>
        </p:spPr>
        <p:txBody>
          <a:bodyPr wrap="square" anchor="ctr" lIns="54864" rIns="54864" tIns="54864" bIns="54864">
            <a:spAutoFit/>
          </a:bodyPr>
          <a:lstStyle/>
          <a:p>
            <a:pPr algn="l">
              <a:spcAft>
                <a:spcPts val="300"/>
              </a:spcAft>
            </a:pPr>
            <a:r>
              <a:rPr sz="1050" b="1">
                <a:solidFill>
                  <a:srgbClr val="161B26"/>
                </a:solidFill>
                <a:latin typeface="Arial"/>
              </a:rPr>
              <a:t>LO4</a:t>
            </a:r>
          </a:p>
        </p:txBody>
      </p:sp>
      <p:sp>
        <p:nvSpPr>
          <p:cNvPr id="29" name="Rectangle 28"/>
          <p:cNvSpPr/>
          <p:nvPr/>
        </p:nvSpPr>
        <p:spPr>
          <a:xfrm>
            <a:off x="6094476" y="5402580"/>
            <a:ext cx="5326380" cy="72390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149340" y="5420867"/>
            <a:ext cx="5216652" cy="687323"/>
          </a:xfrm>
          <a:prstGeom prst="rect">
            <a:avLst/>
          </a:prstGeom>
          <a:noFill/>
        </p:spPr>
        <p:txBody>
          <a:bodyPr wrap="square" anchor="ctr" lIns="54864" rIns="54864" tIns="54864" bIns="54864">
            <a:spAutoFit/>
          </a:bodyPr>
          <a:lstStyle/>
          <a:p>
            <a:pPr algn="l">
              <a:spcAft>
                <a:spcPts val="300"/>
              </a:spcAft>
            </a:pPr>
            <a:r>
              <a:rPr sz="1050" b="0">
                <a:solidFill>
                  <a:srgbClr val="161B26"/>
                </a:solidFill>
                <a:latin typeface="Arial"/>
              </a:rPr>
              <a:t>Process and communicate meaningful insights</a:t>
            </a:r>
          </a:p>
        </p:txBody>
      </p:sp>
      <p:sp>
        <p:nvSpPr>
          <p:cNvPr id="31" name="TextBox 30"/>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32" name="TextBox 31"/>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33" name="TextBox 32"/>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10</a:t>
            </a:r>
          </a:p>
        </p:txBody>
      </p:sp>
    </p:spTree>
  </p:cSld>
  <p:clrMapOvr>
    <a:masterClrMapping/>
  </p:clrMapOvr>
  <p:transition spd="fast">
    <p:fade/>
  </p:transition>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37744"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47472"/>
            <a:ext cx="10698480" cy="292608"/>
          </a:xfrm>
          <a:prstGeom prst="rect">
            <a:avLst/>
          </a:prstGeom>
          <a:noFill/>
        </p:spPr>
        <p:txBody>
          <a:bodyPr wrap="square" anchor="t" lIns="54864" rIns="54864" tIns="54864" bIns="54864">
            <a:spAutoFit/>
          </a:bodyPr>
          <a:lstStyle/>
          <a:p>
            <a:pPr algn="l">
              <a:spcAft>
                <a:spcPts val="300"/>
              </a:spcAft>
            </a:pPr>
            <a:r>
              <a:rPr sz="1200" b="1">
                <a:solidFill>
                  <a:srgbClr val="10B981"/>
                </a:solidFill>
                <a:latin typeface="Arial"/>
              </a:rPr>
              <a:t>BY THE END OF THIS COURSE</a:t>
            </a:r>
          </a:p>
        </p:txBody>
      </p:sp>
      <p:sp>
        <p:nvSpPr>
          <p:cNvPr id="5" name="TextBox 4"/>
          <p:cNvSpPr txBox="1"/>
          <p:nvPr/>
        </p:nvSpPr>
        <p:spPr>
          <a:xfrm>
            <a:off x="749808" y="713232"/>
            <a:ext cx="10744200" cy="731520"/>
          </a:xfrm>
          <a:prstGeom prst="rect">
            <a:avLst/>
          </a:prstGeom>
          <a:noFill/>
        </p:spPr>
        <p:txBody>
          <a:bodyPr wrap="square" anchor="ctr" lIns="54864" rIns="54864" tIns="54864" bIns="54864">
            <a:spAutoFit/>
          </a:bodyPr>
          <a:lstStyle/>
          <a:p>
            <a:pPr algn="l">
              <a:spcAft>
                <a:spcPts val="300"/>
              </a:spcAft>
            </a:pPr>
            <a:r>
              <a:rPr sz="2700" b="1">
                <a:solidFill>
                  <a:srgbClr val="161B26"/>
                </a:solidFill>
                <a:latin typeface="Arial"/>
              </a:rPr>
              <a:t>Learning Outcomes</a:t>
            </a:r>
          </a:p>
        </p:txBody>
      </p:sp>
      <p:sp>
        <p:nvSpPr>
          <p:cNvPr id="6" name="Rectangle 5"/>
          <p:cNvSpPr/>
          <p:nvPr/>
        </p:nvSpPr>
        <p:spPr>
          <a:xfrm>
            <a:off x="749808" y="1536192"/>
            <a:ext cx="106984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8096"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68096" y="1764792"/>
            <a:ext cx="82296" cy="206197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96695" y="2548890"/>
            <a:ext cx="493776" cy="49377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5"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1</a:t>
            </a:r>
          </a:p>
        </p:txBody>
      </p:sp>
      <p:sp>
        <p:nvSpPr>
          <p:cNvPr id="11" name="TextBox 10"/>
          <p:cNvSpPr txBox="1"/>
          <p:nvPr/>
        </p:nvSpPr>
        <p:spPr>
          <a:xfrm>
            <a:off x="1664207"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LO1</a:t>
            </a:r>
          </a:p>
          <a:p>
            <a:pPr algn="l">
              <a:spcAft>
                <a:spcPts val="300"/>
              </a:spcAft>
            </a:pPr>
            <a:r>
              <a:rPr sz="1200" b="0">
                <a:solidFill>
                  <a:srgbClr val="5B6372"/>
                </a:solidFill>
                <a:latin typeface="Arial"/>
              </a:rPr>
              <a:t>Identify and connect appropriate data sources, then prepare trustworthy Tableau data models.</a:t>
            </a:r>
          </a:p>
        </p:txBody>
      </p:sp>
      <p:sp>
        <p:nvSpPr>
          <p:cNvPr id="12" name="Rectangle 11"/>
          <p:cNvSpPr/>
          <p:nvPr/>
        </p:nvSpPr>
        <p:spPr>
          <a:xfrm>
            <a:off x="6222492"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22492" y="1764792"/>
            <a:ext cx="82296" cy="206197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51092" y="2548890"/>
            <a:ext cx="493776" cy="49377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51092"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2</a:t>
            </a:r>
          </a:p>
        </p:txBody>
      </p:sp>
      <p:sp>
        <p:nvSpPr>
          <p:cNvPr id="16" name="TextBox 15"/>
          <p:cNvSpPr txBox="1"/>
          <p:nvPr/>
        </p:nvSpPr>
        <p:spPr>
          <a:xfrm>
            <a:off x="7118604"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LO2</a:t>
            </a:r>
          </a:p>
          <a:p>
            <a:pPr algn="l">
              <a:spcAft>
                <a:spcPts val="300"/>
              </a:spcAft>
            </a:pPr>
            <a:r>
              <a:rPr sz="1200" b="0">
                <a:solidFill>
                  <a:srgbClr val="5B6372"/>
                </a:solidFill>
                <a:latin typeface="Arial"/>
              </a:rPr>
              <a:t>Organise fields and create effective visual elements that answer business questions.</a:t>
            </a:r>
          </a:p>
        </p:txBody>
      </p:sp>
      <p:sp>
        <p:nvSpPr>
          <p:cNvPr id="17" name="Rectangle 16"/>
          <p:cNvSpPr/>
          <p:nvPr/>
        </p:nvSpPr>
        <p:spPr>
          <a:xfrm>
            <a:off x="768096"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68096" y="4046220"/>
            <a:ext cx="82296" cy="206197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96695" y="4830318"/>
            <a:ext cx="493776" cy="49377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96695"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3</a:t>
            </a:r>
          </a:p>
        </p:txBody>
      </p:sp>
      <p:sp>
        <p:nvSpPr>
          <p:cNvPr id="21" name="TextBox 20"/>
          <p:cNvSpPr txBox="1"/>
          <p:nvPr/>
        </p:nvSpPr>
        <p:spPr>
          <a:xfrm>
            <a:off x="1664207"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LO3</a:t>
            </a:r>
          </a:p>
          <a:p>
            <a:pPr algn="l">
              <a:spcAft>
                <a:spcPts val="300"/>
              </a:spcAft>
            </a:pPr>
            <a:r>
              <a:rPr sz="1200" b="0">
                <a:solidFill>
                  <a:srgbClr val="5B6372"/>
                </a:solidFill>
                <a:latin typeface="Arial"/>
              </a:rPr>
              <a:t>Extract, combine and analyse data using relationships, joins, unions, filters and calculations.</a:t>
            </a:r>
          </a:p>
        </p:txBody>
      </p:sp>
      <p:sp>
        <p:nvSpPr>
          <p:cNvPr id="22" name="Rectangle 21"/>
          <p:cNvSpPr/>
          <p:nvPr/>
        </p:nvSpPr>
        <p:spPr>
          <a:xfrm>
            <a:off x="6222492"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22492" y="4046220"/>
            <a:ext cx="82296" cy="206197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51092" y="4830318"/>
            <a:ext cx="493776" cy="49377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51092"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4</a:t>
            </a:r>
          </a:p>
        </p:txBody>
      </p:sp>
      <p:sp>
        <p:nvSpPr>
          <p:cNvPr id="26" name="TextBox 25"/>
          <p:cNvSpPr txBox="1"/>
          <p:nvPr/>
        </p:nvSpPr>
        <p:spPr>
          <a:xfrm>
            <a:off x="7118604"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LO4</a:t>
            </a:r>
          </a:p>
          <a:p>
            <a:pPr algn="l">
              <a:spcAft>
                <a:spcPts val="300"/>
              </a:spcAft>
            </a:pPr>
            <a:r>
              <a:rPr sz="1200" b="0">
                <a:solidFill>
                  <a:srgbClr val="5B6372"/>
                </a:solidFill>
                <a:latin typeface="Arial"/>
              </a:rPr>
              <a:t>Build, format and share interactive dashboards and workbooks that communicate meaningful insights.</a:t>
            </a:r>
          </a:p>
        </p:txBody>
      </p:sp>
      <p:sp>
        <p:nvSpPr>
          <p:cNvPr id="27" name="TextBox 26"/>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28" name="TextBox 27"/>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29" name="TextBox 28"/>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11</a:t>
            </a:r>
          </a:p>
        </p:txBody>
      </p:sp>
    </p:spTree>
  </p:cSld>
  <p:clrMapOvr>
    <a:masterClrMapping/>
  </p:clrMapOvr>
  <p:transition spd="fast">
    <p:fade/>
  </p:transition>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37744"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47472"/>
            <a:ext cx="10698480" cy="292608"/>
          </a:xfrm>
          <a:prstGeom prst="rect">
            <a:avLst/>
          </a:prstGeom>
          <a:noFill/>
        </p:spPr>
        <p:txBody>
          <a:bodyPr wrap="square" anchor="t" lIns="54864" rIns="54864" tIns="54864" bIns="54864">
            <a:spAutoFit/>
          </a:bodyPr>
          <a:lstStyle/>
          <a:p>
            <a:pPr algn="l">
              <a:spcAft>
                <a:spcPts val="300"/>
              </a:spcAft>
            </a:pPr>
            <a:r>
              <a:rPr sz="1200" b="1">
                <a:solidFill>
                  <a:srgbClr val="1F6FEB"/>
                </a:solidFill>
                <a:latin typeface="Arial"/>
              </a:rPr>
              <a:t>OFFICIAL BLUEPRINT · EDITABLE POWERPOINT CHART</a:t>
            </a:r>
          </a:p>
        </p:txBody>
      </p:sp>
      <p:sp>
        <p:nvSpPr>
          <p:cNvPr id="5" name="TextBox 4"/>
          <p:cNvSpPr txBox="1"/>
          <p:nvPr/>
        </p:nvSpPr>
        <p:spPr>
          <a:xfrm>
            <a:off x="749808" y="713232"/>
            <a:ext cx="10744200" cy="731520"/>
          </a:xfrm>
          <a:prstGeom prst="rect">
            <a:avLst/>
          </a:prstGeom>
          <a:noFill/>
        </p:spPr>
        <p:txBody>
          <a:bodyPr wrap="square" anchor="ctr" lIns="54864" rIns="54864" tIns="54864" bIns="54864">
            <a:spAutoFit/>
          </a:bodyPr>
          <a:lstStyle/>
          <a:p>
            <a:pPr algn="l">
              <a:spcAft>
                <a:spcPts val="300"/>
              </a:spcAft>
            </a:pPr>
            <a:r>
              <a:rPr sz="2700" b="1">
                <a:solidFill>
                  <a:srgbClr val="161B26"/>
                </a:solidFill>
                <a:latin typeface="Arial"/>
              </a:rPr>
              <a:t>Tableau Desktop Specialist — Exam Weighting</a:t>
            </a:r>
          </a:p>
        </p:txBody>
      </p:sp>
      <p:sp>
        <p:nvSpPr>
          <p:cNvPr id="6" name="Rectangle 5"/>
          <p:cNvSpPr/>
          <p:nvPr/>
        </p:nvSpPr>
        <p:spPr>
          <a:xfrm>
            <a:off x="749808" y="1536192"/>
            <a:ext cx="106984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Chart 6"/>
          <p:cNvGraphicFramePr>
            <a:graphicFrameLocks noGrp="1"/>
          </p:cNvGraphicFramePr>
          <p:nvPr/>
        </p:nvGraphicFramePr>
        <p:xfrm>
          <a:off x="822960" y="1783080"/>
          <a:ext cx="6400800" cy="4343400"/>
        </p:xfrm>
        <a:graphic>
          <a:graphicData uri="http://schemas.openxmlformats.org/drawingml/2006/chart">
            <c:chart xmlns:c="http://schemas.openxmlformats.org/drawingml/2006/chart" r:id="rId2"/>
          </a:graphicData>
        </a:graphic>
      </p:graphicFrame>
      <p:sp>
        <p:nvSpPr>
          <p:cNvPr id="8" name="Rectangle 7"/>
          <p:cNvSpPr/>
          <p:nvPr/>
        </p:nvSpPr>
        <p:spPr>
          <a:xfrm>
            <a:off x="7543800" y="1874519"/>
            <a:ext cx="3749039"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543800" y="1874519"/>
            <a:ext cx="82296" cy="9601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18120" y="1947672"/>
            <a:ext cx="3200400" cy="804672"/>
          </a:xfrm>
          <a:prstGeom prst="rect">
            <a:avLst/>
          </a:prstGeom>
          <a:noFill/>
        </p:spPr>
        <p:txBody>
          <a:bodyPr wrap="square" anchor="ctr" lIns="54864" rIns="54864" tIns="54864" bIns="54864">
            <a:spAutoFit/>
          </a:bodyPr>
          <a:lstStyle/>
          <a:p>
            <a:pPr algn="l">
              <a:spcAft>
                <a:spcPts val="300"/>
              </a:spcAft>
            </a:pPr>
            <a:r>
              <a:rPr sz="1800" b="1">
                <a:solidFill>
                  <a:srgbClr val="1F6FEB"/>
                </a:solidFill>
                <a:latin typeface="Arial"/>
              </a:rPr>
              <a:t>37%</a:t>
            </a:r>
          </a:p>
          <a:p>
            <a:pPr algn="l">
              <a:spcAft>
                <a:spcPts val="300"/>
              </a:spcAft>
            </a:pPr>
            <a:r>
              <a:rPr sz="1150" b="0">
                <a:solidFill>
                  <a:srgbClr val="161B26"/>
                </a:solidFill>
                <a:latin typeface="Arial"/>
              </a:rPr>
              <a:t>Explore and analyse receives the most teaching and practice time.</a:t>
            </a:r>
          </a:p>
        </p:txBody>
      </p:sp>
      <p:sp>
        <p:nvSpPr>
          <p:cNvPr id="11" name="Rectangle 10"/>
          <p:cNvSpPr/>
          <p:nvPr/>
        </p:nvSpPr>
        <p:spPr>
          <a:xfrm>
            <a:off x="7543800" y="3108960"/>
            <a:ext cx="3749039"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543800" y="3108960"/>
            <a:ext cx="82296" cy="9601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18120" y="3182112"/>
            <a:ext cx="3200400" cy="804672"/>
          </a:xfrm>
          <a:prstGeom prst="rect">
            <a:avLst/>
          </a:prstGeom>
          <a:noFill/>
        </p:spPr>
        <p:txBody>
          <a:bodyPr wrap="square" anchor="ctr" lIns="54864" rIns="54864" tIns="54864" bIns="54864">
            <a:spAutoFit/>
          </a:bodyPr>
          <a:lstStyle/>
          <a:p>
            <a:pPr algn="l">
              <a:spcAft>
                <a:spcPts val="300"/>
              </a:spcAft>
            </a:pPr>
            <a:r>
              <a:rPr sz="1800" b="1">
                <a:solidFill>
                  <a:srgbClr val="10B981"/>
                </a:solidFill>
                <a:latin typeface="Arial"/>
              </a:rPr>
              <a:t>23% + 25%</a:t>
            </a:r>
          </a:p>
          <a:p>
            <a:pPr algn="l">
              <a:spcAft>
                <a:spcPts val="300"/>
              </a:spcAft>
            </a:pPr>
            <a:r>
              <a:rPr sz="1150" b="0">
                <a:solidFill>
                  <a:srgbClr val="161B26"/>
                </a:solidFill>
                <a:latin typeface="Arial"/>
              </a:rPr>
              <a:t>Data preparation and sharing each remain substantial.</a:t>
            </a:r>
          </a:p>
        </p:txBody>
      </p:sp>
      <p:sp>
        <p:nvSpPr>
          <p:cNvPr id="14" name="Rectangle 13"/>
          <p:cNvSpPr/>
          <p:nvPr/>
        </p:nvSpPr>
        <p:spPr>
          <a:xfrm>
            <a:off x="7543800" y="4343400"/>
            <a:ext cx="3749039"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543800" y="4343400"/>
            <a:ext cx="82296" cy="9601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818120" y="4416552"/>
            <a:ext cx="3200400" cy="804672"/>
          </a:xfrm>
          <a:prstGeom prst="rect">
            <a:avLst/>
          </a:prstGeom>
          <a:noFill/>
        </p:spPr>
        <p:txBody>
          <a:bodyPr wrap="square" anchor="ctr" lIns="54864" rIns="54864" tIns="54864" bIns="54864">
            <a:spAutoFit/>
          </a:bodyPr>
          <a:lstStyle/>
          <a:p>
            <a:pPr algn="l">
              <a:spcAft>
                <a:spcPts val="300"/>
              </a:spcAft>
            </a:pPr>
            <a:r>
              <a:rPr sz="1800" b="1">
                <a:solidFill>
                  <a:srgbClr val="7C3AED"/>
                </a:solidFill>
                <a:latin typeface="Arial"/>
              </a:rPr>
              <a:t>15%</a:t>
            </a:r>
          </a:p>
          <a:p>
            <a:pPr algn="l">
              <a:spcAft>
                <a:spcPts val="300"/>
              </a:spcAft>
            </a:pPr>
            <a:r>
              <a:rPr sz="1150" b="0">
                <a:solidFill>
                  <a:srgbClr val="161B26"/>
                </a:solidFill>
                <a:latin typeface="Arial"/>
              </a:rPr>
              <a:t>Concepts are compact but foundational to every scenario.</a:t>
            </a:r>
          </a:p>
        </p:txBody>
      </p:sp>
      <p:sp>
        <p:nvSpPr>
          <p:cNvPr id="17" name="TextBox 16"/>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18" name="TextBox 17"/>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19" name="TextBox 18"/>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12</a:t>
            </a:r>
          </a:p>
        </p:txBody>
      </p:sp>
    </p:spTree>
  </p:cSld>
  <p:clrMapOvr>
    <a:masterClrMapping/>
  </p:clrMapOvr>
  <p:transition spd="fast">
    <p:fade/>
  </p:transition>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37744"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47472"/>
            <a:ext cx="10698480" cy="292608"/>
          </a:xfrm>
          <a:prstGeom prst="rect">
            <a:avLst/>
          </a:prstGeom>
          <a:noFill/>
        </p:spPr>
        <p:txBody>
          <a:bodyPr wrap="square" anchor="t" lIns="54864" rIns="54864" tIns="54864" bIns="54864">
            <a:spAutoFit/>
          </a:bodyPr>
          <a:lstStyle/>
          <a:p>
            <a:pPr algn="l">
              <a:spcAft>
                <a:spcPts val="300"/>
              </a:spcAft>
            </a:pPr>
            <a:r>
              <a:rPr sz="1200" b="1">
                <a:solidFill>
                  <a:srgbClr val="7C3AED"/>
                </a:solidFill>
                <a:latin typeface="Arial"/>
              </a:rPr>
              <a:t>EXAM-ALIGNED JOURNEY</a:t>
            </a:r>
          </a:p>
        </p:txBody>
      </p:sp>
      <p:sp>
        <p:nvSpPr>
          <p:cNvPr id="5" name="TextBox 4"/>
          <p:cNvSpPr txBox="1"/>
          <p:nvPr/>
        </p:nvSpPr>
        <p:spPr>
          <a:xfrm>
            <a:off x="749808" y="713232"/>
            <a:ext cx="10744200" cy="731520"/>
          </a:xfrm>
          <a:prstGeom prst="rect">
            <a:avLst/>
          </a:prstGeom>
          <a:noFill/>
        </p:spPr>
        <p:txBody>
          <a:bodyPr wrap="square" anchor="ctr" lIns="54864" rIns="54864" tIns="54864" bIns="54864">
            <a:spAutoFit/>
          </a:bodyPr>
          <a:lstStyle/>
          <a:p>
            <a:pPr algn="l">
              <a:spcAft>
                <a:spcPts val="300"/>
              </a:spcAft>
            </a:pPr>
            <a:r>
              <a:rPr sz="2700" b="1">
                <a:solidFill>
                  <a:srgbClr val="161B26"/>
                </a:solidFill>
                <a:latin typeface="Arial"/>
              </a:rPr>
              <a:t>Course Outline by Official Domain</a:t>
            </a:r>
          </a:p>
        </p:txBody>
      </p:sp>
      <p:sp>
        <p:nvSpPr>
          <p:cNvPr id="6" name="Rectangle 5"/>
          <p:cNvSpPr/>
          <p:nvPr/>
        </p:nvSpPr>
        <p:spPr>
          <a:xfrm>
            <a:off x="749808" y="1536192"/>
            <a:ext cx="106984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8096" y="1783080"/>
            <a:ext cx="3550920" cy="8686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1801368"/>
            <a:ext cx="3477768" cy="832103"/>
          </a:xfrm>
          <a:prstGeom prst="rect">
            <a:avLst/>
          </a:prstGeom>
          <a:noFill/>
        </p:spPr>
        <p:txBody>
          <a:bodyPr wrap="square" anchor="ctr" lIns="54864" rIns="54864" tIns="54864" bIns="54864">
            <a:spAutoFit/>
          </a:bodyPr>
          <a:lstStyle/>
          <a:p>
            <a:pPr algn="ctr">
              <a:spcAft>
                <a:spcPts val="300"/>
              </a:spcAft>
            </a:pPr>
            <a:r>
              <a:rPr sz="1150" b="1">
                <a:solidFill>
                  <a:srgbClr val="FFFFFF"/>
                </a:solidFill>
                <a:latin typeface="Arial"/>
              </a:rPr>
              <a:t>Domain</a:t>
            </a:r>
          </a:p>
        </p:txBody>
      </p:sp>
      <p:sp>
        <p:nvSpPr>
          <p:cNvPr id="9" name="Rectangle 8"/>
          <p:cNvSpPr/>
          <p:nvPr/>
        </p:nvSpPr>
        <p:spPr>
          <a:xfrm>
            <a:off x="4319016" y="1783080"/>
            <a:ext cx="3550920" cy="8686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355592" y="1801368"/>
            <a:ext cx="3477768" cy="832103"/>
          </a:xfrm>
          <a:prstGeom prst="rect">
            <a:avLst/>
          </a:prstGeom>
          <a:noFill/>
        </p:spPr>
        <p:txBody>
          <a:bodyPr wrap="square" anchor="ctr" lIns="54864" rIns="54864" tIns="54864" bIns="54864">
            <a:spAutoFit/>
          </a:bodyPr>
          <a:lstStyle/>
          <a:p>
            <a:pPr algn="ctr">
              <a:spcAft>
                <a:spcPts val="300"/>
              </a:spcAft>
            </a:pPr>
            <a:r>
              <a:rPr sz="1150" b="1">
                <a:solidFill>
                  <a:srgbClr val="FFFFFF"/>
                </a:solidFill>
                <a:latin typeface="Arial"/>
              </a:rPr>
              <a:t>Weight</a:t>
            </a:r>
          </a:p>
        </p:txBody>
      </p:sp>
      <p:sp>
        <p:nvSpPr>
          <p:cNvPr id="11" name="Rectangle 10"/>
          <p:cNvSpPr/>
          <p:nvPr/>
        </p:nvSpPr>
        <p:spPr>
          <a:xfrm>
            <a:off x="7869936" y="1783080"/>
            <a:ext cx="3550920" cy="8686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906512" y="1801368"/>
            <a:ext cx="3477768" cy="832103"/>
          </a:xfrm>
          <a:prstGeom prst="rect">
            <a:avLst/>
          </a:prstGeom>
          <a:noFill/>
        </p:spPr>
        <p:txBody>
          <a:bodyPr wrap="square" anchor="ctr" lIns="54864" rIns="54864" tIns="54864" bIns="54864">
            <a:spAutoFit/>
          </a:bodyPr>
          <a:lstStyle/>
          <a:p>
            <a:pPr algn="ctr">
              <a:spcAft>
                <a:spcPts val="300"/>
              </a:spcAft>
            </a:pPr>
            <a:r>
              <a:rPr sz="1150" b="1">
                <a:solidFill>
                  <a:srgbClr val="FFFFFF"/>
                </a:solidFill>
                <a:latin typeface="Arial"/>
              </a:rPr>
              <a:t>Labs</a:t>
            </a:r>
          </a:p>
        </p:txBody>
      </p:sp>
      <p:sp>
        <p:nvSpPr>
          <p:cNvPr id="13" name="Rectangle 12"/>
          <p:cNvSpPr/>
          <p:nvPr/>
        </p:nvSpPr>
        <p:spPr>
          <a:xfrm>
            <a:off x="768096" y="2651760"/>
            <a:ext cx="3550920" cy="8686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 y="2670048"/>
            <a:ext cx="3441192" cy="832103"/>
          </a:xfrm>
          <a:prstGeom prst="rect">
            <a:avLst/>
          </a:prstGeom>
          <a:noFill/>
        </p:spPr>
        <p:txBody>
          <a:bodyPr wrap="square" anchor="ctr" lIns="54864" rIns="54864" tIns="54864" bIns="54864">
            <a:spAutoFit/>
          </a:bodyPr>
          <a:lstStyle/>
          <a:p>
            <a:pPr algn="l">
              <a:spcAft>
                <a:spcPts val="300"/>
              </a:spcAft>
            </a:pPr>
            <a:r>
              <a:rPr sz="1050" b="1">
                <a:solidFill>
                  <a:srgbClr val="161B26"/>
                </a:solidFill>
                <a:latin typeface="Arial"/>
              </a:rPr>
              <a:t>1 · Connect and Prepare</a:t>
            </a:r>
          </a:p>
        </p:txBody>
      </p:sp>
      <p:sp>
        <p:nvSpPr>
          <p:cNvPr id="15" name="Rectangle 14"/>
          <p:cNvSpPr/>
          <p:nvPr/>
        </p:nvSpPr>
        <p:spPr>
          <a:xfrm>
            <a:off x="4319016" y="2651760"/>
            <a:ext cx="3550920" cy="8686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73880" y="2670048"/>
            <a:ext cx="3441192" cy="832103"/>
          </a:xfrm>
          <a:prstGeom prst="rect">
            <a:avLst/>
          </a:prstGeom>
          <a:noFill/>
        </p:spPr>
        <p:txBody>
          <a:bodyPr wrap="square" anchor="ctr" lIns="54864" rIns="54864" tIns="54864" bIns="54864">
            <a:spAutoFit/>
          </a:bodyPr>
          <a:lstStyle/>
          <a:p>
            <a:pPr algn="l">
              <a:spcAft>
                <a:spcPts val="300"/>
              </a:spcAft>
            </a:pPr>
            <a:r>
              <a:rPr sz="1050" b="0">
                <a:solidFill>
                  <a:srgbClr val="161B26"/>
                </a:solidFill>
                <a:latin typeface="Arial"/>
              </a:rPr>
              <a:t>23%</a:t>
            </a:r>
          </a:p>
        </p:txBody>
      </p:sp>
      <p:sp>
        <p:nvSpPr>
          <p:cNvPr id="17" name="Rectangle 16"/>
          <p:cNvSpPr/>
          <p:nvPr/>
        </p:nvSpPr>
        <p:spPr>
          <a:xfrm>
            <a:off x="7869936" y="2651760"/>
            <a:ext cx="3550920" cy="8686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24799" y="2670048"/>
            <a:ext cx="3441192" cy="832103"/>
          </a:xfrm>
          <a:prstGeom prst="rect">
            <a:avLst/>
          </a:prstGeom>
          <a:noFill/>
        </p:spPr>
        <p:txBody>
          <a:bodyPr wrap="square" anchor="ctr" lIns="54864" rIns="54864" tIns="54864" bIns="54864">
            <a:spAutoFit/>
          </a:bodyPr>
          <a:lstStyle/>
          <a:p>
            <a:pPr algn="l">
              <a:spcAft>
                <a:spcPts val="300"/>
              </a:spcAft>
            </a:pPr>
            <a:r>
              <a:rPr sz="1050" b="0">
                <a:solidFill>
                  <a:srgbClr val="161B26"/>
                </a:solidFill>
                <a:latin typeface="Arial"/>
              </a:rPr>
              <a:t>Labs 1–3</a:t>
            </a:r>
          </a:p>
        </p:txBody>
      </p:sp>
      <p:sp>
        <p:nvSpPr>
          <p:cNvPr id="19" name="Rectangle 18"/>
          <p:cNvSpPr/>
          <p:nvPr/>
        </p:nvSpPr>
        <p:spPr>
          <a:xfrm>
            <a:off x="768096" y="3520439"/>
            <a:ext cx="3550920" cy="86868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60" y="3538727"/>
            <a:ext cx="3441192" cy="832103"/>
          </a:xfrm>
          <a:prstGeom prst="rect">
            <a:avLst/>
          </a:prstGeom>
          <a:noFill/>
        </p:spPr>
        <p:txBody>
          <a:bodyPr wrap="square" anchor="ctr" lIns="54864" rIns="54864" tIns="54864" bIns="54864">
            <a:spAutoFit/>
          </a:bodyPr>
          <a:lstStyle/>
          <a:p>
            <a:pPr algn="l">
              <a:spcAft>
                <a:spcPts val="300"/>
              </a:spcAft>
            </a:pPr>
            <a:r>
              <a:rPr sz="1050" b="1">
                <a:solidFill>
                  <a:srgbClr val="161B26"/>
                </a:solidFill>
                <a:latin typeface="Arial"/>
              </a:rPr>
              <a:t>2 · Explore and Analyse</a:t>
            </a:r>
          </a:p>
        </p:txBody>
      </p:sp>
      <p:sp>
        <p:nvSpPr>
          <p:cNvPr id="21" name="Rectangle 20"/>
          <p:cNvSpPr/>
          <p:nvPr/>
        </p:nvSpPr>
        <p:spPr>
          <a:xfrm>
            <a:off x="4319016" y="3520439"/>
            <a:ext cx="3550920" cy="86868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373880" y="3538727"/>
            <a:ext cx="3441192" cy="832103"/>
          </a:xfrm>
          <a:prstGeom prst="rect">
            <a:avLst/>
          </a:prstGeom>
          <a:noFill/>
        </p:spPr>
        <p:txBody>
          <a:bodyPr wrap="square" anchor="ctr" lIns="54864" rIns="54864" tIns="54864" bIns="54864">
            <a:spAutoFit/>
          </a:bodyPr>
          <a:lstStyle/>
          <a:p>
            <a:pPr algn="l">
              <a:spcAft>
                <a:spcPts val="300"/>
              </a:spcAft>
            </a:pPr>
            <a:r>
              <a:rPr sz="1050" b="0">
                <a:solidFill>
                  <a:srgbClr val="161B26"/>
                </a:solidFill>
                <a:latin typeface="Arial"/>
              </a:rPr>
              <a:t>37%</a:t>
            </a:r>
          </a:p>
        </p:txBody>
      </p:sp>
      <p:sp>
        <p:nvSpPr>
          <p:cNvPr id="23" name="Rectangle 22"/>
          <p:cNvSpPr/>
          <p:nvPr/>
        </p:nvSpPr>
        <p:spPr>
          <a:xfrm>
            <a:off x="7869936" y="3520439"/>
            <a:ext cx="3550920" cy="86868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924799" y="3538727"/>
            <a:ext cx="3441192" cy="832103"/>
          </a:xfrm>
          <a:prstGeom prst="rect">
            <a:avLst/>
          </a:prstGeom>
          <a:noFill/>
        </p:spPr>
        <p:txBody>
          <a:bodyPr wrap="square" anchor="ctr" lIns="54864" rIns="54864" tIns="54864" bIns="54864">
            <a:spAutoFit/>
          </a:bodyPr>
          <a:lstStyle/>
          <a:p>
            <a:pPr algn="l">
              <a:spcAft>
                <a:spcPts val="300"/>
              </a:spcAft>
            </a:pPr>
            <a:r>
              <a:rPr sz="1050" b="0">
                <a:solidFill>
                  <a:srgbClr val="161B26"/>
                </a:solidFill>
                <a:latin typeface="Arial"/>
              </a:rPr>
              <a:t>Labs 4–7</a:t>
            </a:r>
          </a:p>
        </p:txBody>
      </p:sp>
      <p:sp>
        <p:nvSpPr>
          <p:cNvPr id="25" name="Rectangle 24"/>
          <p:cNvSpPr/>
          <p:nvPr/>
        </p:nvSpPr>
        <p:spPr>
          <a:xfrm>
            <a:off x="768096" y="4389120"/>
            <a:ext cx="3550920" cy="8686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2960" y="4407407"/>
            <a:ext cx="3441192" cy="832103"/>
          </a:xfrm>
          <a:prstGeom prst="rect">
            <a:avLst/>
          </a:prstGeom>
          <a:noFill/>
        </p:spPr>
        <p:txBody>
          <a:bodyPr wrap="square" anchor="ctr" lIns="54864" rIns="54864" tIns="54864" bIns="54864">
            <a:spAutoFit/>
          </a:bodyPr>
          <a:lstStyle/>
          <a:p>
            <a:pPr algn="l">
              <a:spcAft>
                <a:spcPts val="300"/>
              </a:spcAft>
            </a:pPr>
            <a:r>
              <a:rPr sz="1050" b="1">
                <a:solidFill>
                  <a:srgbClr val="161B26"/>
                </a:solidFill>
                <a:latin typeface="Arial"/>
              </a:rPr>
              <a:t>3 · Share Insights</a:t>
            </a:r>
          </a:p>
        </p:txBody>
      </p:sp>
      <p:sp>
        <p:nvSpPr>
          <p:cNvPr id="27" name="Rectangle 26"/>
          <p:cNvSpPr/>
          <p:nvPr/>
        </p:nvSpPr>
        <p:spPr>
          <a:xfrm>
            <a:off x="4319016" y="4389120"/>
            <a:ext cx="3550920" cy="8686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373880" y="4407407"/>
            <a:ext cx="3441192" cy="832103"/>
          </a:xfrm>
          <a:prstGeom prst="rect">
            <a:avLst/>
          </a:prstGeom>
          <a:noFill/>
        </p:spPr>
        <p:txBody>
          <a:bodyPr wrap="square" anchor="ctr" lIns="54864" rIns="54864" tIns="54864" bIns="54864">
            <a:spAutoFit/>
          </a:bodyPr>
          <a:lstStyle/>
          <a:p>
            <a:pPr algn="l">
              <a:spcAft>
                <a:spcPts val="300"/>
              </a:spcAft>
            </a:pPr>
            <a:r>
              <a:rPr sz="1050" b="0">
                <a:solidFill>
                  <a:srgbClr val="161B26"/>
                </a:solidFill>
                <a:latin typeface="Arial"/>
              </a:rPr>
              <a:t>25%</a:t>
            </a:r>
          </a:p>
        </p:txBody>
      </p:sp>
      <p:sp>
        <p:nvSpPr>
          <p:cNvPr id="29" name="Rectangle 28"/>
          <p:cNvSpPr/>
          <p:nvPr/>
        </p:nvSpPr>
        <p:spPr>
          <a:xfrm>
            <a:off x="7869936" y="4389120"/>
            <a:ext cx="3550920" cy="8686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924799" y="4407407"/>
            <a:ext cx="3441192" cy="832103"/>
          </a:xfrm>
          <a:prstGeom prst="rect">
            <a:avLst/>
          </a:prstGeom>
          <a:noFill/>
        </p:spPr>
        <p:txBody>
          <a:bodyPr wrap="square" anchor="ctr" lIns="54864" rIns="54864" tIns="54864" bIns="54864">
            <a:spAutoFit/>
          </a:bodyPr>
          <a:lstStyle/>
          <a:p>
            <a:pPr algn="l">
              <a:spcAft>
                <a:spcPts val="300"/>
              </a:spcAft>
            </a:pPr>
            <a:r>
              <a:rPr sz="1050" b="0">
                <a:solidFill>
                  <a:srgbClr val="161B26"/>
                </a:solidFill>
                <a:latin typeface="Arial"/>
              </a:rPr>
              <a:t>Labs 8–9</a:t>
            </a:r>
          </a:p>
        </p:txBody>
      </p:sp>
      <p:sp>
        <p:nvSpPr>
          <p:cNvPr id="31" name="Rectangle 30"/>
          <p:cNvSpPr/>
          <p:nvPr/>
        </p:nvSpPr>
        <p:spPr>
          <a:xfrm>
            <a:off x="768096" y="5257800"/>
            <a:ext cx="3550920" cy="86868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2960" y="5276088"/>
            <a:ext cx="3441192" cy="832103"/>
          </a:xfrm>
          <a:prstGeom prst="rect">
            <a:avLst/>
          </a:prstGeom>
          <a:noFill/>
        </p:spPr>
        <p:txBody>
          <a:bodyPr wrap="square" anchor="ctr" lIns="54864" rIns="54864" tIns="54864" bIns="54864">
            <a:spAutoFit/>
          </a:bodyPr>
          <a:lstStyle/>
          <a:p>
            <a:pPr algn="l">
              <a:spcAft>
                <a:spcPts val="300"/>
              </a:spcAft>
            </a:pPr>
            <a:r>
              <a:rPr sz="1050" b="1">
                <a:solidFill>
                  <a:srgbClr val="161B26"/>
                </a:solidFill>
                <a:latin typeface="Arial"/>
              </a:rPr>
              <a:t>4 · Concepts and Preparation</a:t>
            </a:r>
          </a:p>
        </p:txBody>
      </p:sp>
      <p:sp>
        <p:nvSpPr>
          <p:cNvPr id="33" name="Rectangle 32"/>
          <p:cNvSpPr/>
          <p:nvPr/>
        </p:nvSpPr>
        <p:spPr>
          <a:xfrm>
            <a:off x="4319016" y="5257800"/>
            <a:ext cx="3550920" cy="86868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373880" y="5276088"/>
            <a:ext cx="3441192" cy="832103"/>
          </a:xfrm>
          <a:prstGeom prst="rect">
            <a:avLst/>
          </a:prstGeom>
          <a:noFill/>
        </p:spPr>
        <p:txBody>
          <a:bodyPr wrap="square" anchor="ctr" lIns="54864" rIns="54864" tIns="54864" bIns="54864">
            <a:spAutoFit/>
          </a:bodyPr>
          <a:lstStyle/>
          <a:p>
            <a:pPr algn="l">
              <a:spcAft>
                <a:spcPts val="300"/>
              </a:spcAft>
            </a:pPr>
            <a:r>
              <a:rPr sz="1050" b="0">
                <a:solidFill>
                  <a:srgbClr val="161B26"/>
                </a:solidFill>
                <a:latin typeface="Arial"/>
              </a:rPr>
              <a:t>15%</a:t>
            </a:r>
          </a:p>
        </p:txBody>
      </p:sp>
      <p:sp>
        <p:nvSpPr>
          <p:cNvPr id="35" name="Rectangle 34"/>
          <p:cNvSpPr/>
          <p:nvPr/>
        </p:nvSpPr>
        <p:spPr>
          <a:xfrm>
            <a:off x="7869936" y="5257800"/>
            <a:ext cx="3550920" cy="86868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924799" y="5276088"/>
            <a:ext cx="3441192" cy="832103"/>
          </a:xfrm>
          <a:prstGeom prst="rect">
            <a:avLst/>
          </a:prstGeom>
          <a:noFill/>
        </p:spPr>
        <p:txBody>
          <a:bodyPr wrap="square" anchor="ctr" lIns="54864" rIns="54864" tIns="54864" bIns="54864">
            <a:spAutoFit/>
          </a:bodyPr>
          <a:lstStyle/>
          <a:p>
            <a:pPr algn="l">
              <a:spcAft>
                <a:spcPts val="300"/>
              </a:spcAft>
            </a:pPr>
            <a:r>
              <a:rPr sz="1050" b="0">
                <a:solidFill>
                  <a:srgbClr val="161B26"/>
                </a:solidFill>
                <a:latin typeface="Arial"/>
              </a:rPr>
              <a:t>Lab 10</a:t>
            </a:r>
          </a:p>
        </p:txBody>
      </p:sp>
      <p:sp>
        <p:nvSpPr>
          <p:cNvPr id="37" name="TextBox 36"/>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38" name="TextBox 37"/>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39" name="TextBox 38"/>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13</a:t>
            </a:r>
          </a:p>
        </p:txBody>
      </p:sp>
    </p:spTree>
  </p:cSld>
  <p:clrMapOvr>
    <a:masterClrMapping/>
  </p:clrMapOvr>
  <p:transition spd="fast">
    <p:fade/>
  </p:transition>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37744"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47472"/>
            <a:ext cx="10698480" cy="292608"/>
          </a:xfrm>
          <a:prstGeom prst="rect">
            <a:avLst/>
          </a:prstGeom>
          <a:noFill/>
        </p:spPr>
        <p:txBody>
          <a:bodyPr wrap="square" anchor="t" lIns="54864" rIns="54864" tIns="54864" bIns="54864">
            <a:spAutoFit/>
          </a:bodyPr>
          <a:lstStyle/>
          <a:p>
            <a:pPr algn="l">
              <a:spcAft>
                <a:spcPts val="300"/>
              </a:spcAft>
            </a:pPr>
            <a:r>
              <a:rPr sz="1200" b="1">
                <a:solidFill>
                  <a:srgbClr val="1F6FEB"/>
                </a:solidFill>
                <a:latin typeface="Arial"/>
              </a:rPr>
              <a:t>LMS/TMS · VISUAL ACCESS GUIDE</a:t>
            </a:r>
          </a:p>
        </p:txBody>
      </p:sp>
      <p:sp>
        <p:nvSpPr>
          <p:cNvPr id="5" name="TextBox 4"/>
          <p:cNvSpPr txBox="1"/>
          <p:nvPr/>
        </p:nvSpPr>
        <p:spPr>
          <a:xfrm>
            <a:off x="749808" y="713232"/>
            <a:ext cx="10744200" cy="731520"/>
          </a:xfrm>
          <a:prstGeom prst="rect">
            <a:avLst/>
          </a:prstGeom>
          <a:noFill/>
        </p:spPr>
        <p:txBody>
          <a:bodyPr wrap="square" anchor="ctr" lIns="54864" rIns="54864" tIns="54864" bIns="54864">
            <a:spAutoFit/>
          </a:bodyPr>
          <a:lstStyle/>
          <a:p>
            <a:pPr algn="l">
              <a:spcAft>
                <a:spcPts val="300"/>
              </a:spcAft>
            </a:pPr>
            <a:r>
              <a:rPr sz="2700" b="1">
                <a:solidFill>
                  <a:srgbClr val="161B26"/>
                </a:solidFill>
                <a:latin typeface="Arial"/>
              </a:rPr>
              <a:t>Download Course Material</a:t>
            </a:r>
          </a:p>
        </p:txBody>
      </p:sp>
      <p:sp>
        <p:nvSpPr>
          <p:cNvPr id="6" name="Rectangle 5"/>
          <p:cNvSpPr/>
          <p:nvPr/>
        </p:nvSpPr>
        <p:spPr>
          <a:xfrm>
            <a:off x="749808" y="1536192"/>
            <a:ext cx="106984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5577840" cy="40690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5577840" cy="4754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1984248"/>
            <a:ext cx="164592" cy="164592"/>
          </a:xfrm>
          <a:prstGeom prst="ellipse">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216152" y="1984248"/>
            <a:ext cx="164592" cy="16459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472184" y="1984248"/>
            <a:ext cx="164592" cy="16459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874519" y="1920240"/>
            <a:ext cx="4206240" cy="310896"/>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011680" y="1920240"/>
            <a:ext cx="3931920" cy="310896"/>
          </a:xfrm>
          <a:prstGeom prst="rect">
            <a:avLst/>
          </a:prstGeom>
          <a:noFill/>
        </p:spPr>
        <p:txBody>
          <a:bodyPr wrap="square" anchor="ctr" lIns="54864" rIns="54864" tIns="54864" bIns="54864">
            <a:spAutoFit/>
          </a:bodyPr>
          <a:lstStyle/>
          <a:p>
            <a:pPr algn="l">
              <a:spcAft>
                <a:spcPts val="300"/>
              </a:spcAft>
            </a:pPr>
            <a:r>
              <a:rPr sz="1150" b="1">
                <a:solidFill>
                  <a:srgbClr val="1F6FEB"/>
                </a:solidFill>
                <a:latin typeface="Arial"/>
                <a:hlinkClick r:id="rId2"/>
              </a:rPr>
              <a:t>https://lms-tms.tertiaryinfotech.com/</a:t>
            </a:r>
          </a:p>
        </p:txBody>
      </p:sp>
      <p:sp>
        <p:nvSpPr>
          <p:cNvPr id="14" name="Rectangle 13"/>
          <p:cNvSpPr/>
          <p:nvPr/>
        </p:nvSpPr>
        <p:spPr>
          <a:xfrm>
            <a:off x="1005840" y="2542032"/>
            <a:ext cx="5120640" cy="6583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188720" y="2578608"/>
            <a:ext cx="4754879" cy="566928"/>
          </a:xfrm>
          <a:prstGeom prst="rect">
            <a:avLst/>
          </a:prstGeom>
          <a:noFill/>
        </p:spPr>
        <p:txBody>
          <a:bodyPr wrap="square" anchor="ctr" lIns="54864" rIns="54864" tIns="54864" bIns="54864">
            <a:spAutoFit/>
          </a:bodyPr>
          <a:lstStyle/>
          <a:p>
            <a:pPr algn="l">
              <a:spcAft>
                <a:spcPts val="300"/>
              </a:spcAft>
            </a:pPr>
            <a:r>
              <a:rPr sz="1400" b="1">
                <a:solidFill>
                  <a:srgbClr val="FFFFFF"/>
                </a:solidFill>
                <a:latin typeface="Arial"/>
              </a:rPr>
              <a:t>Tertiary Infotech LMS/TMS</a:t>
            </a:r>
          </a:p>
          <a:p>
            <a:pPr algn="l">
              <a:spcAft>
                <a:spcPts val="300"/>
              </a:spcAft>
            </a:pPr>
            <a:r>
              <a:rPr sz="1000" b="0">
                <a:solidFill>
                  <a:srgbClr val="FFFFFF"/>
                </a:solidFill>
                <a:latin typeface="Arial"/>
              </a:rPr>
              <a:t>My Courses · Attendance · Assessment</a:t>
            </a:r>
          </a:p>
        </p:txBody>
      </p:sp>
      <p:sp>
        <p:nvSpPr>
          <p:cNvPr id="16" name="Rectangle 15"/>
          <p:cNvSpPr/>
          <p:nvPr/>
        </p:nvSpPr>
        <p:spPr>
          <a:xfrm>
            <a:off x="1005840" y="3383280"/>
            <a:ext cx="5120640"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234440" y="3383280"/>
            <a:ext cx="4663440" cy="420624"/>
          </a:xfrm>
          <a:prstGeom prst="rect">
            <a:avLst/>
          </a:prstGeom>
          <a:noFill/>
        </p:spPr>
        <p:txBody>
          <a:bodyPr wrap="square" anchor="ctr" lIns="54864" rIns="54864" tIns="54864" bIns="54864">
            <a:spAutoFit/>
          </a:bodyPr>
          <a:lstStyle/>
          <a:p>
            <a:pPr algn="l">
              <a:spcAft>
                <a:spcPts val="300"/>
              </a:spcAft>
            </a:pPr>
            <a:r>
              <a:rPr sz="1150" b="0">
                <a:solidFill>
                  <a:srgbClr val="161B26"/>
                </a:solidFill>
                <a:latin typeface="Arial"/>
              </a:rPr>
              <a:t>Learner Slides (PDF)</a:t>
            </a:r>
          </a:p>
        </p:txBody>
      </p:sp>
      <p:sp>
        <p:nvSpPr>
          <p:cNvPr id="18" name="Rectangle 17"/>
          <p:cNvSpPr/>
          <p:nvPr/>
        </p:nvSpPr>
        <p:spPr>
          <a:xfrm>
            <a:off x="1005840" y="3913632"/>
            <a:ext cx="5120640"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234440" y="3913632"/>
            <a:ext cx="4663440" cy="420624"/>
          </a:xfrm>
          <a:prstGeom prst="rect">
            <a:avLst/>
          </a:prstGeom>
          <a:noFill/>
        </p:spPr>
        <p:txBody>
          <a:bodyPr wrap="square" anchor="ctr" lIns="54864" rIns="54864" tIns="54864" bIns="54864">
            <a:spAutoFit/>
          </a:bodyPr>
          <a:lstStyle/>
          <a:p>
            <a:pPr algn="l">
              <a:spcAft>
                <a:spcPts val="300"/>
              </a:spcAft>
            </a:pPr>
            <a:r>
              <a:rPr sz="1150" b="0">
                <a:solidFill>
                  <a:srgbClr val="161B26"/>
                </a:solidFill>
                <a:latin typeface="Arial"/>
              </a:rPr>
              <a:t>Learner Guide (PDF)</a:t>
            </a:r>
          </a:p>
        </p:txBody>
      </p:sp>
      <p:sp>
        <p:nvSpPr>
          <p:cNvPr id="20" name="Rectangle 19"/>
          <p:cNvSpPr/>
          <p:nvPr/>
        </p:nvSpPr>
        <p:spPr>
          <a:xfrm>
            <a:off x="1005840" y="4443984"/>
            <a:ext cx="5120640"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234440" y="4443984"/>
            <a:ext cx="4663440" cy="420624"/>
          </a:xfrm>
          <a:prstGeom prst="rect">
            <a:avLst/>
          </a:prstGeom>
          <a:noFill/>
        </p:spPr>
        <p:txBody>
          <a:bodyPr wrap="square" anchor="ctr" lIns="54864" rIns="54864" tIns="54864" bIns="54864">
            <a:spAutoFit/>
          </a:bodyPr>
          <a:lstStyle/>
          <a:p>
            <a:pPr algn="l">
              <a:spcAft>
                <a:spcPts val="300"/>
              </a:spcAft>
            </a:pPr>
            <a:r>
              <a:rPr sz="1150" b="0">
                <a:solidFill>
                  <a:srgbClr val="161B26"/>
                </a:solidFill>
                <a:latin typeface="Arial"/>
              </a:rPr>
              <a:t>Individual Lab Folders</a:t>
            </a:r>
          </a:p>
        </p:txBody>
      </p:sp>
      <p:sp>
        <p:nvSpPr>
          <p:cNvPr id="22" name="Rectangle 21"/>
          <p:cNvSpPr/>
          <p:nvPr/>
        </p:nvSpPr>
        <p:spPr>
          <a:xfrm>
            <a:off x="1005840" y="4974336"/>
            <a:ext cx="5120640"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234440" y="4974336"/>
            <a:ext cx="4663440" cy="420624"/>
          </a:xfrm>
          <a:prstGeom prst="rect">
            <a:avLst/>
          </a:prstGeom>
          <a:noFill/>
        </p:spPr>
        <p:txBody>
          <a:bodyPr wrap="square" anchor="ctr" lIns="54864" rIns="54864" tIns="54864" bIns="54864">
            <a:spAutoFit/>
          </a:bodyPr>
          <a:lstStyle/>
          <a:p>
            <a:pPr algn="l">
              <a:spcAft>
                <a:spcPts val="300"/>
              </a:spcAft>
            </a:pPr>
            <a:r>
              <a:rPr sz="1150" b="0">
                <a:solidFill>
                  <a:srgbClr val="161B26"/>
                </a:solidFill>
                <a:latin typeface="Arial"/>
              </a:rPr>
              <a:t>Assessment Submission</a:t>
            </a:r>
          </a:p>
        </p:txBody>
      </p:sp>
      <p:sp>
        <p:nvSpPr>
          <p:cNvPr id="24" name="Rectangle 23"/>
          <p:cNvSpPr/>
          <p:nvPr/>
        </p:nvSpPr>
        <p:spPr>
          <a:xfrm>
            <a:off x="6675120" y="1828800"/>
            <a:ext cx="4709160" cy="8046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675120" y="1828800"/>
            <a:ext cx="82296" cy="80467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995160" y="1883664"/>
            <a:ext cx="4114800" cy="694944"/>
          </a:xfrm>
          <a:prstGeom prst="rect">
            <a:avLst/>
          </a:prstGeom>
          <a:noFill/>
        </p:spPr>
        <p:txBody>
          <a:bodyPr wrap="square" anchor="ctr" lIns="54864" rIns="54864" tIns="54864" bIns="54864">
            <a:spAutoFit/>
          </a:bodyPr>
          <a:lstStyle/>
          <a:p>
            <a:pPr algn="l">
              <a:spcAft>
                <a:spcPts val="300"/>
              </a:spcAft>
            </a:pPr>
            <a:r>
              <a:rPr sz="1300" b="1">
                <a:solidFill>
                  <a:srgbClr val="1F6FEB"/>
                </a:solidFill>
                <a:latin typeface="Arial"/>
              </a:rPr>
              <a:t>1. Sign in</a:t>
            </a:r>
          </a:p>
          <a:p>
            <a:pPr algn="l">
              <a:spcAft>
                <a:spcPts val="300"/>
              </a:spcAft>
            </a:pPr>
            <a:r>
              <a:rPr sz="1150" b="0">
                <a:solidFill>
                  <a:srgbClr val="161B26"/>
                </a:solidFill>
                <a:latin typeface="Arial"/>
              </a:rPr>
              <a:t>Use the email registered for the class.</a:t>
            </a:r>
          </a:p>
        </p:txBody>
      </p:sp>
      <p:sp>
        <p:nvSpPr>
          <p:cNvPr id="27" name="Rectangle 26"/>
          <p:cNvSpPr/>
          <p:nvPr/>
        </p:nvSpPr>
        <p:spPr>
          <a:xfrm>
            <a:off x="6675120" y="2834640"/>
            <a:ext cx="4709160" cy="8046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675120" y="2834640"/>
            <a:ext cx="82296" cy="80467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995160" y="2889504"/>
            <a:ext cx="4114800" cy="694944"/>
          </a:xfrm>
          <a:prstGeom prst="rect">
            <a:avLst/>
          </a:prstGeom>
          <a:noFill/>
        </p:spPr>
        <p:txBody>
          <a:bodyPr wrap="square" anchor="ctr" lIns="54864" rIns="54864" tIns="54864" bIns="54864">
            <a:spAutoFit/>
          </a:bodyPr>
          <a:lstStyle/>
          <a:p>
            <a:pPr algn="l">
              <a:spcAft>
                <a:spcPts val="300"/>
              </a:spcAft>
            </a:pPr>
            <a:r>
              <a:rPr sz="1300" b="1">
                <a:solidFill>
                  <a:srgbClr val="10B981"/>
                </a:solidFill>
                <a:latin typeface="Arial"/>
              </a:rPr>
              <a:t>2. Open course</a:t>
            </a:r>
          </a:p>
          <a:p>
            <a:pPr algn="l">
              <a:spcAft>
                <a:spcPts val="300"/>
              </a:spcAft>
            </a:pPr>
            <a:r>
              <a:rPr sz="1150" b="0">
                <a:solidFill>
                  <a:srgbClr val="161B26"/>
                </a:solidFill>
                <a:latin typeface="Arial"/>
              </a:rPr>
              <a:t>Select this TGS code under My Courses.</a:t>
            </a:r>
          </a:p>
        </p:txBody>
      </p:sp>
      <p:sp>
        <p:nvSpPr>
          <p:cNvPr id="30" name="Rectangle 29"/>
          <p:cNvSpPr/>
          <p:nvPr/>
        </p:nvSpPr>
        <p:spPr>
          <a:xfrm>
            <a:off x="6675120" y="3840480"/>
            <a:ext cx="4709160" cy="8046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675120" y="3840480"/>
            <a:ext cx="82296" cy="80467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995160" y="3895344"/>
            <a:ext cx="4114800" cy="694944"/>
          </a:xfrm>
          <a:prstGeom prst="rect">
            <a:avLst/>
          </a:prstGeom>
          <a:noFill/>
        </p:spPr>
        <p:txBody>
          <a:bodyPr wrap="square" anchor="ctr" lIns="54864" rIns="54864" tIns="54864" bIns="54864">
            <a:spAutoFit/>
          </a:bodyPr>
          <a:lstStyle/>
          <a:p>
            <a:pPr algn="l">
              <a:spcAft>
                <a:spcPts val="300"/>
              </a:spcAft>
            </a:pPr>
            <a:r>
              <a:rPr sz="1300" b="1">
                <a:solidFill>
                  <a:srgbClr val="7C3AED"/>
                </a:solidFill>
                <a:latin typeface="Arial"/>
              </a:rPr>
              <a:t>3. Download</a:t>
            </a:r>
          </a:p>
          <a:p>
            <a:pPr algn="l">
              <a:spcAft>
                <a:spcPts val="300"/>
              </a:spcAft>
            </a:pPr>
            <a:r>
              <a:rPr sz="1150" b="0">
                <a:solidFill>
                  <a:srgbClr val="161B26"/>
                </a:solidFill>
                <a:latin typeface="Arial"/>
              </a:rPr>
              <a:t>Keep slides, LG and labs together.</a:t>
            </a:r>
          </a:p>
        </p:txBody>
      </p:sp>
      <p:sp>
        <p:nvSpPr>
          <p:cNvPr id="33" name="Rectangle 32"/>
          <p:cNvSpPr/>
          <p:nvPr/>
        </p:nvSpPr>
        <p:spPr>
          <a:xfrm>
            <a:off x="6675120" y="4846320"/>
            <a:ext cx="4709160" cy="8046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675120" y="4846320"/>
            <a:ext cx="82296" cy="80467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995160" y="4901184"/>
            <a:ext cx="4114800" cy="694944"/>
          </a:xfrm>
          <a:prstGeom prst="rect">
            <a:avLst/>
          </a:prstGeom>
          <a:noFill/>
        </p:spPr>
        <p:txBody>
          <a:bodyPr wrap="square" anchor="ctr" lIns="54864" rIns="54864" tIns="54864" bIns="54864">
            <a:spAutoFit/>
          </a:bodyPr>
          <a:lstStyle/>
          <a:p>
            <a:pPr algn="l">
              <a:spcAft>
                <a:spcPts val="300"/>
              </a:spcAft>
            </a:pPr>
            <a:r>
              <a:rPr sz="1300" b="1">
                <a:solidFill>
                  <a:srgbClr val="F59E0B"/>
                </a:solidFill>
                <a:latin typeface="Arial"/>
              </a:rPr>
              <a:t>4. Assess</a:t>
            </a:r>
          </a:p>
          <a:p>
            <a:pPr algn="l">
              <a:spcAft>
                <a:spcPts val="300"/>
              </a:spcAft>
            </a:pPr>
            <a:r>
              <a:rPr sz="1150" b="0">
                <a:solidFill>
                  <a:srgbClr val="161B26"/>
                </a:solidFill>
                <a:latin typeface="Arial"/>
              </a:rPr>
              <a:t>Take attendance and submit on the LMS.</a:t>
            </a:r>
          </a:p>
        </p:txBody>
      </p:sp>
      <p:sp>
        <p:nvSpPr>
          <p:cNvPr id="36" name="TextBox 35"/>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37" name="TextBox 36"/>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38" name="TextBox 37"/>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14</a:t>
            </a:r>
          </a:p>
        </p:txBody>
      </p:sp>
    </p:spTree>
  </p:cSld>
  <p:clrMapOvr>
    <a:masterClrMapping/>
  </p:clrMapOvr>
  <p:transition spd="fast">
    <p:fade/>
  </p:transition>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37744"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47472"/>
            <a:ext cx="10698480" cy="292608"/>
          </a:xfrm>
          <a:prstGeom prst="rect">
            <a:avLst/>
          </a:prstGeom>
          <a:noFill/>
        </p:spPr>
        <p:txBody>
          <a:bodyPr wrap="square" anchor="t" lIns="54864" rIns="54864" tIns="54864" bIns="54864">
            <a:spAutoFit/>
          </a:bodyPr>
          <a:lstStyle/>
          <a:p>
            <a:pPr algn="l">
              <a:spcAft>
                <a:spcPts val="300"/>
              </a:spcAft>
            </a:pPr>
            <a:r>
              <a:rPr sz="1200" b="1">
                <a:solidFill>
                  <a:srgbClr val="10B981"/>
                </a:solidFill>
                <a:latin typeface="Arial"/>
              </a:rPr>
              <a:t>GITHUB · TWO ACCESS OPTIONS</a:t>
            </a:r>
          </a:p>
        </p:txBody>
      </p:sp>
      <p:sp>
        <p:nvSpPr>
          <p:cNvPr id="5" name="TextBox 4"/>
          <p:cNvSpPr txBox="1"/>
          <p:nvPr/>
        </p:nvSpPr>
        <p:spPr>
          <a:xfrm>
            <a:off x="749808" y="713232"/>
            <a:ext cx="10744200" cy="731520"/>
          </a:xfrm>
          <a:prstGeom prst="rect">
            <a:avLst/>
          </a:prstGeom>
          <a:noFill/>
        </p:spPr>
        <p:txBody>
          <a:bodyPr wrap="square" anchor="ctr" lIns="54864" rIns="54864" tIns="54864" bIns="54864">
            <a:spAutoFit/>
          </a:bodyPr>
          <a:lstStyle/>
          <a:p>
            <a:pPr algn="l">
              <a:spcAft>
                <a:spcPts val="300"/>
              </a:spcAft>
            </a:pPr>
            <a:r>
              <a:rPr sz="2700" b="1">
                <a:solidFill>
                  <a:srgbClr val="161B26"/>
                </a:solidFill>
                <a:latin typeface="Arial"/>
              </a:rPr>
              <a:t>Access the Hands-On Labs</a:t>
            </a:r>
          </a:p>
        </p:txBody>
      </p:sp>
      <p:sp>
        <p:nvSpPr>
          <p:cNvPr id="6" name="Rectangle 5"/>
          <p:cNvSpPr/>
          <p:nvPr/>
        </p:nvSpPr>
        <p:spPr>
          <a:xfrm>
            <a:off x="749808" y="1536192"/>
            <a:ext cx="106984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8096" y="1783080"/>
            <a:ext cx="3383280" cy="4343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68096" y="1783080"/>
            <a:ext cx="338328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87552" y="2057400"/>
            <a:ext cx="2926080" cy="457200"/>
          </a:xfrm>
          <a:prstGeom prst="rect">
            <a:avLst/>
          </a:prstGeom>
          <a:noFill/>
        </p:spPr>
        <p:txBody>
          <a:bodyPr wrap="square" anchor="t" lIns="54864" rIns="54864" tIns="54864" bIns="54864">
            <a:spAutoFit/>
          </a:bodyPr>
          <a:lstStyle/>
          <a:p>
            <a:pPr algn="l">
              <a:spcAft>
                <a:spcPts val="300"/>
              </a:spcAft>
            </a:pPr>
            <a:r>
              <a:rPr sz="1700" b="1">
                <a:solidFill>
                  <a:srgbClr val="1F6FEB"/>
                </a:solidFill>
                <a:latin typeface="Arial"/>
              </a:rPr>
              <a:t>Clone repository</a:t>
            </a:r>
          </a:p>
        </p:txBody>
      </p:sp>
      <p:sp>
        <p:nvSpPr>
          <p:cNvPr id="10" name="TextBox 9"/>
          <p:cNvSpPr txBox="1"/>
          <p:nvPr/>
        </p:nvSpPr>
        <p:spPr>
          <a:xfrm>
            <a:off x="996695" y="2743200"/>
            <a:ext cx="2926080" cy="566928"/>
          </a:xfrm>
          <a:prstGeom prst="rect">
            <a:avLst/>
          </a:prstGeom>
          <a:noFill/>
        </p:spPr>
        <p:txBody>
          <a:bodyPr wrap="square" anchor="ctr" lIns="54864" rIns="54864" tIns="54864" bIns="54864">
            <a:spAutoFit/>
          </a:bodyPr>
          <a:lstStyle/>
          <a:p>
            <a:pPr algn="l">
              <a:spcAft>
                <a:spcPts val="300"/>
              </a:spcAft>
            </a:pPr>
            <a:r>
              <a:rPr sz="1400" b="1">
                <a:solidFill>
                  <a:srgbClr val="1F6FEB"/>
                </a:solidFill>
                <a:latin typeface="Arial"/>
              </a:rPr>
              <a:t>• </a:t>
            </a:r>
            <a:r>
              <a:rPr sz="1250" b="0">
                <a:solidFill>
                  <a:srgbClr val="161B26"/>
                </a:solidFill>
                <a:latin typeface="Arial"/>
              </a:rPr>
              <a:t>git clone the course repository</a:t>
            </a:r>
          </a:p>
        </p:txBody>
      </p:sp>
      <p:sp>
        <p:nvSpPr>
          <p:cNvPr id="11" name="TextBox 10"/>
          <p:cNvSpPr txBox="1"/>
          <p:nvPr/>
        </p:nvSpPr>
        <p:spPr>
          <a:xfrm>
            <a:off x="996695" y="3438144"/>
            <a:ext cx="2926080" cy="566928"/>
          </a:xfrm>
          <a:prstGeom prst="rect">
            <a:avLst/>
          </a:prstGeom>
          <a:noFill/>
        </p:spPr>
        <p:txBody>
          <a:bodyPr wrap="square" anchor="ctr" lIns="54864" rIns="54864" tIns="54864" bIns="54864">
            <a:spAutoFit/>
          </a:bodyPr>
          <a:lstStyle/>
          <a:p>
            <a:pPr algn="l">
              <a:spcAft>
                <a:spcPts val="300"/>
              </a:spcAft>
            </a:pPr>
            <a:r>
              <a:rPr sz="1400" b="1">
                <a:solidFill>
                  <a:srgbClr val="1F6FEB"/>
                </a:solidFill>
                <a:latin typeface="Arial"/>
              </a:rPr>
              <a:t>• </a:t>
            </a:r>
            <a:r>
              <a:rPr sz="1250" b="0">
                <a:solidFill>
                  <a:srgbClr val="161B26"/>
                </a:solidFill>
                <a:latin typeface="Arial"/>
              </a:rPr>
              <a:t>Keeps folder structure intact</a:t>
            </a:r>
          </a:p>
        </p:txBody>
      </p:sp>
      <p:sp>
        <p:nvSpPr>
          <p:cNvPr id="12" name="TextBox 11"/>
          <p:cNvSpPr txBox="1"/>
          <p:nvPr/>
        </p:nvSpPr>
        <p:spPr>
          <a:xfrm>
            <a:off x="996695" y="4133087"/>
            <a:ext cx="2926080" cy="566928"/>
          </a:xfrm>
          <a:prstGeom prst="rect">
            <a:avLst/>
          </a:prstGeom>
          <a:noFill/>
        </p:spPr>
        <p:txBody>
          <a:bodyPr wrap="square" anchor="ctr" lIns="54864" rIns="54864" tIns="54864" bIns="54864">
            <a:spAutoFit/>
          </a:bodyPr>
          <a:lstStyle/>
          <a:p>
            <a:pPr algn="l">
              <a:spcAft>
                <a:spcPts val="300"/>
              </a:spcAft>
            </a:pPr>
            <a:r>
              <a:rPr sz="1400" b="1">
                <a:solidFill>
                  <a:srgbClr val="1F6FEB"/>
                </a:solidFill>
                <a:latin typeface="Arial"/>
              </a:rPr>
              <a:t>• </a:t>
            </a:r>
            <a:r>
              <a:rPr sz="1250" b="0">
                <a:solidFill>
                  <a:srgbClr val="161B26"/>
                </a:solidFill>
                <a:latin typeface="Arial"/>
              </a:rPr>
              <a:t>Pull future corrections</a:t>
            </a:r>
          </a:p>
        </p:txBody>
      </p:sp>
      <p:sp>
        <p:nvSpPr>
          <p:cNvPr id="13" name="Rectangle 12"/>
          <p:cNvSpPr/>
          <p:nvPr/>
        </p:nvSpPr>
        <p:spPr>
          <a:xfrm>
            <a:off x="4553712" y="1783080"/>
            <a:ext cx="3383280" cy="4343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53712" y="1783080"/>
            <a:ext cx="338328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73168" y="2057400"/>
            <a:ext cx="2926080" cy="457200"/>
          </a:xfrm>
          <a:prstGeom prst="rect">
            <a:avLst/>
          </a:prstGeom>
          <a:noFill/>
        </p:spPr>
        <p:txBody>
          <a:bodyPr wrap="square" anchor="t" lIns="54864" rIns="54864" tIns="54864" bIns="54864">
            <a:spAutoFit/>
          </a:bodyPr>
          <a:lstStyle/>
          <a:p>
            <a:pPr algn="l">
              <a:spcAft>
                <a:spcPts val="300"/>
              </a:spcAft>
            </a:pPr>
            <a:r>
              <a:rPr sz="1700" b="1">
                <a:solidFill>
                  <a:srgbClr val="10B981"/>
                </a:solidFill>
                <a:latin typeface="Arial"/>
              </a:rPr>
              <a:t>Download ZIP</a:t>
            </a:r>
          </a:p>
        </p:txBody>
      </p:sp>
      <p:sp>
        <p:nvSpPr>
          <p:cNvPr id="16" name="TextBox 15"/>
          <p:cNvSpPr txBox="1"/>
          <p:nvPr/>
        </p:nvSpPr>
        <p:spPr>
          <a:xfrm>
            <a:off x="4782312" y="2743200"/>
            <a:ext cx="2926080" cy="566928"/>
          </a:xfrm>
          <a:prstGeom prst="rect">
            <a:avLst/>
          </a:prstGeom>
          <a:noFill/>
        </p:spPr>
        <p:txBody>
          <a:bodyPr wrap="square" anchor="ctr" lIns="54864" rIns="54864" tIns="54864" bIns="54864">
            <a:spAutoFit/>
          </a:bodyPr>
          <a:lstStyle/>
          <a:p>
            <a:pPr algn="l">
              <a:spcAft>
                <a:spcPts val="300"/>
              </a:spcAft>
            </a:pPr>
            <a:r>
              <a:rPr sz="1400" b="1">
                <a:solidFill>
                  <a:srgbClr val="10B981"/>
                </a:solidFill>
                <a:latin typeface="Arial"/>
              </a:rPr>
              <a:t>• </a:t>
            </a:r>
            <a:r>
              <a:rPr sz="1250" b="0">
                <a:solidFill>
                  <a:srgbClr val="161B26"/>
                </a:solidFill>
                <a:latin typeface="Arial"/>
              </a:rPr>
              <a:t>GitHub Code → Download ZIP</a:t>
            </a:r>
          </a:p>
        </p:txBody>
      </p:sp>
      <p:sp>
        <p:nvSpPr>
          <p:cNvPr id="17" name="TextBox 16"/>
          <p:cNvSpPr txBox="1"/>
          <p:nvPr/>
        </p:nvSpPr>
        <p:spPr>
          <a:xfrm>
            <a:off x="4782312" y="3438144"/>
            <a:ext cx="2926080" cy="566928"/>
          </a:xfrm>
          <a:prstGeom prst="rect">
            <a:avLst/>
          </a:prstGeom>
          <a:noFill/>
        </p:spPr>
        <p:txBody>
          <a:bodyPr wrap="square" anchor="ctr" lIns="54864" rIns="54864" tIns="54864" bIns="54864">
            <a:spAutoFit/>
          </a:bodyPr>
          <a:lstStyle/>
          <a:p>
            <a:pPr algn="l">
              <a:spcAft>
                <a:spcPts val="300"/>
              </a:spcAft>
            </a:pPr>
            <a:r>
              <a:rPr sz="1400" b="1">
                <a:solidFill>
                  <a:srgbClr val="10B981"/>
                </a:solidFill>
                <a:latin typeface="Arial"/>
              </a:rPr>
              <a:t>• </a:t>
            </a:r>
            <a:r>
              <a:rPr sz="1250" b="0">
                <a:solidFill>
                  <a:srgbClr val="161B26"/>
                </a:solidFill>
                <a:latin typeface="Arial"/>
              </a:rPr>
              <a:t>Extract before opening Excel</a:t>
            </a:r>
          </a:p>
        </p:txBody>
      </p:sp>
      <p:sp>
        <p:nvSpPr>
          <p:cNvPr id="18" name="TextBox 17"/>
          <p:cNvSpPr txBox="1"/>
          <p:nvPr/>
        </p:nvSpPr>
        <p:spPr>
          <a:xfrm>
            <a:off x="4782312" y="4133087"/>
            <a:ext cx="2926080" cy="566928"/>
          </a:xfrm>
          <a:prstGeom prst="rect">
            <a:avLst/>
          </a:prstGeom>
          <a:noFill/>
        </p:spPr>
        <p:txBody>
          <a:bodyPr wrap="square" anchor="ctr" lIns="54864" rIns="54864" tIns="54864" bIns="54864">
            <a:spAutoFit/>
          </a:bodyPr>
          <a:lstStyle/>
          <a:p>
            <a:pPr algn="l">
              <a:spcAft>
                <a:spcPts val="300"/>
              </a:spcAft>
            </a:pPr>
            <a:r>
              <a:rPr sz="1400" b="1">
                <a:solidFill>
                  <a:srgbClr val="10B981"/>
                </a:solidFill>
                <a:latin typeface="Arial"/>
              </a:rPr>
              <a:t>• </a:t>
            </a:r>
            <a:r>
              <a:rPr sz="1250" b="0">
                <a:solidFill>
                  <a:srgbClr val="161B26"/>
                </a:solidFill>
                <a:latin typeface="Arial"/>
              </a:rPr>
              <a:t>Use when Git is unavailable</a:t>
            </a:r>
          </a:p>
        </p:txBody>
      </p:sp>
      <p:sp>
        <p:nvSpPr>
          <p:cNvPr id="19" name="Rectangle 18"/>
          <p:cNvSpPr/>
          <p:nvPr/>
        </p:nvSpPr>
        <p:spPr>
          <a:xfrm>
            <a:off x="8339327" y="1783080"/>
            <a:ext cx="3383280" cy="4343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339327" y="1783080"/>
            <a:ext cx="338328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58784" y="2057400"/>
            <a:ext cx="2926080" cy="457200"/>
          </a:xfrm>
          <a:prstGeom prst="rect">
            <a:avLst/>
          </a:prstGeom>
          <a:noFill/>
        </p:spPr>
        <p:txBody>
          <a:bodyPr wrap="square" anchor="t" lIns="54864" rIns="54864" tIns="54864" bIns="54864">
            <a:spAutoFit/>
          </a:bodyPr>
          <a:lstStyle/>
          <a:p>
            <a:pPr algn="l">
              <a:spcAft>
                <a:spcPts val="300"/>
              </a:spcAft>
            </a:pPr>
            <a:r>
              <a:rPr sz="1700" b="1">
                <a:solidFill>
                  <a:srgbClr val="7C3AED"/>
                </a:solidFill>
                <a:latin typeface="Arial"/>
              </a:rPr>
              <a:t>Every lab folder</a:t>
            </a:r>
          </a:p>
        </p:txBody>
      </p:sp>
      <p:sp>
        <p:nvSpPr>
          <p:cNvPr id="22" name="TextBox 21"/>
          <p:cNvSpPr txBox="1"/>
          <p:nvPr/>
        </p:nvSpPr>
        <p:spPr>
          <a:xfrm>
            <a:off x="8567928" y="2743200"/>
            <a:ext cx="2926080" cy="566928"/>
          </a:xfrm>
          <a:prstGeom prst="rect">
            <a:avLst/>
          </a:prstGeom>
          <a:noFill/>
        </p:spPr>
        <p:txBody>
          <a:bodyPr wrap="square" anchor="ctr" lIns="54864" rIns="54864" tIns="54864" bIns="54864">
            <a:spAutoFit/>
          </a:bodyPr>
          <a:lstStyle/>
          <a:p>
            <a:pPr algn="l">
              <a:spcAft>
                <a:spcPts val="300"/>
              </a:spcAft>
            </a:pPr>
            <a:r>
              <a:rPr sz="1400" b="1">
                <a:solidFill>
                  <a:srgbClr val="7C3AED"/>
                </a:solidFill>
                <a:latin typeface="Arial"/>
              </a:rPr>
              <a:t>• </a:t>
            </a:r>
            <a:r>
              <a:rPr sz="1250" b="0">
                <a:solidFill>
                  <a:srgbClr val="161B26"/>
                </a:solidFill>
                <a:latin typeface="Arial"/>
              </a:rPr>
              <a:t>README with procedure</a:t>
            </a:r>
          </a:p>
        </p:txBody>
      </p:sp>
      <p:sp>
        <p:nvSpPr>
          <p:cNvPr id="23" name="TextBox 22"/>
          <p:cNvSpPr txBox="1"/>
          <p:nvPr/>
        </p:nvSpPr>
        <p:spPr>
          <a:xfrm>
            <a:off x="8567928" y="3438144"/>
            <a:ext cx="2926080" cy="566928"/>
          </a:xfrm>
          <a:prstGeom prst="rect">
            <a:avLst/>
          </a:prstGeom>
          <a:noFill/>
        </p:spPr>
        <p:txBody>
          <a:bodyPr wrap="square" anchor="ctr" lIns="54864" rIns="54864" tIns="54864" bIns="54864">
            <a:spAutoFit/>
          </a:bodyPr>
          <a:lstStyle/>
          <a:p>
            <a:pPr algn="l">
              <a:spcAft>
                <a:spcPts val="300"/>
              </a:spcAft>
            </a:pPr>
            <a:r>
              <a:rPr sz="1400" b="1">
                <a:solidFill>
                  <a:srgbClr val="7C3AED"/>
                </a:solidFill>
                <a:latin typeface="Arial"/>
              </a:rPr>
              <a:t>• </a:t>
            </a:r>
            <a:r>
              <a:rPr sz="1250" b="0">
                <a:solidFill>
                  <a:srgbClr val="161B26"/>
                </a:solidFill>
                <a:latin typeface="Arial"/>
              </a:rPr>
              <a:t>Mock Excel workbook</a:t>
            </a:r>
          </a:p>
        </p:txBody>
      </p:sp>
      <p:sp>
        <p:nvSpPr>
          <p:cNvPr id="24" name="TextBox 23"/>
          <p:cNvSpPr txBox="1"/>
          <p:nvPr/>
        </p:nvSpPr>
        <p:spPr>
          <a:xfrm>
            <a:off x="8567928" y="4133087"/>
            <a:ext cx="2926080" cy="566928"/>
          </a:xfrm>
          <a:prstGeom prst="rect">
            <a:avLst/>
          </a:prstGeom>
          <a:noFill/>
        </p:spPr>
        <p:txBody>
          <a:bodyPr wrap="square" anchor="ctr" lIns="54864" rIns="54864" tIns="54864" bIns="54864">
            <a:spAutoFit/>
          </a:bodyPr>
          <a:lstStyle/>
          <a:p>
            <a:pPr algn="l">
              <a:spcAft>
                <a:spcPts val="300"/>
              </a:spcAft>
            </a:pPr>
            <a:r>
              <a:rPr sz="1400" b="1">
                <a:solidFill>
                  <a:srgbClr val="7C3AED"/>
                </a:solidFill>
                <a:latin typeface="Arial"/>
              </a:rPr>
              <a:t>• </a:t>
            </a:r>
            <a:r>
              <a:rPr sz="1250" b="0">
                <a:solidFill>
                  <a:srgbClr val="161B26"/>
                </a:solidFill>
                <a:latin typeface="Arial"/>
              </a:rPr>
              <a:t>starter.twb + checklist</a:t>
            </a:r>
          </a:p>
        </p:txBody>
      </p:sp>
      <p:sp>
        <p:nvSpPr>
          <p:cNvPr id="25" name="TextBox 24"/>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26" name="TextBox 25"/>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27" name="TextBox 26"/>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15</a:t>
            </a:r>
          </a:p>
        </p:txBody>
      </p:sp>
      <p:sp>
        <p:nvSpPr>
          <p:cNvPr id="28" name="TextBox 27"/>
          <p:cNvSpPr txBox="1"/>
          <p:nvPr/>
        </p:nvSpPr>
        <p:spPr>
          <a:xfrm>
            <a:off x="914400" y="5961888"/>
            <a:ext cx="10332720" cy="320040"/>
          </a:xfrm>
          <a:prstGeom prst="rect">
            <a:avLst/>
          </a:prstGeom>
          <a:noFill/>
        </p:spPr>
        <p:txBody>
          <a:bodyPr wrap="square" anchor="t" lIns="54864" rIns="54864" tIns="54864" bIns="54864">
            <a:spAutoFit/>
          </a:bodyPr>
          <a:lstStyle/>
          <a:p>
            <a:pPr algn="ctr">
              <a:spcAft>
                <a:spcPts val="300"/>
              </a:spcAft>
            </a:pPr>
            <a:r>
              <a:rPr sz="1200" b="1">
                <a:solidFill>
                  <a:srgbClr val="1F6FEB"/>
                </a:solidFill>
                <a:latin typeface="Arial"/>
                <a:hlinkClick r:id="rId2"/>
              </a:rPr>
              <a:t>https://github.com/tertiarycourses/TGS-2025053175---Tableau-Certified-Desktop-Specialist-Training</a:t>
            </a:r>
          </a:p>
        </p:txBody>
      </p:sp>
    </p:spTree>
  </p:cSld>
  <p:clrMapOvr>
    <a:masterClrMapping/>
  </p:clrMapOvr>
  <p:transition spd="fast">
    <p:fade/>
  </p:transition>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37744"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47472"/>
            <a:ext cx="10698480" cy="292608"/>
          </a:xfrm>
          <a:prstGeom prst="rect">
            <a:avLst/>
          </a:prstGeom>
          <a:noFill/>
        </p:spPr>
        <p:txBody>
          <a:bodyPr wrap="square" anchor="t" lIns="54864" rIns="54864" tIns="54864" bIns="54864">
            <a:spAutoFit/>
          </a:bodyPr>
          <a:lstStyle/>
          <a:p>
            <a:pPr algn="l">
              <a:spcAft>
                <a:spcPts val="300"/>
              </a:spcAft>
            </a:pPr>
            <a:r>
              <a:rPr sz="1200" b="1">
                <a:solidFill>
                  <a:srgbClr val="F59E0B"/>
                </a:solidFill>
                <a:latin typeface="Arial"/>
              </a:rPr>
              <a:t>BEFORE THE ASSESSMENT</a:t>
            </a:r>
          </a:p>
        </p:txBody>
      </p:sp>
      <p:sp>
        <p:nvSpPr>
          <p:cNvPr id="5" name="TextBox 4"/>
          <p:cNvSpPr txBox="1"/>
          <p:nvPr/>
        </p:nvSpPr>
        <p:spPr>
          <a:xfrm>
            <a:off x="749808" y="713232"/>
            <a:ext cx="10744200" cy="731520"/>
          </a:xfrm>
          <a:prstGeom prst="rect">
            <a:avLst/>
          </a:prstGeom>
          <a:noFill/>
        </p:spPr>
        <p:txBody>
          <a:bodyPr wrap="square" anchor="ctr" lIns="54864" rIns="54864" tIns="54864" bIns="54864">
            <a:spAutoFit/>
          </a:bodyPr>
          <a:lstStyle/>
          <a:p>
            <a:pPr algn="l">
              <a:spcAft>
                <a:spcPts val="300"/>
              </a:spcAft>
            </a:pPr>
            <a:r>
              <a:rPr sz="2700" b="1">
                <a:solidFill>
                  <a:srgbClr val="161B26"/>
                </a:solidFill>
                <a:latin typeface="Arial"/>
              </a:rPr>
              <a:t>Briefing for Assessment</a:t>
            </a:r>
          </a:p>
        </p:txBody>
      </p:sp>
      <p:sp>
        <p:nvSpPr>
          <p:cNvPr id="6" name="Rectangle 5"/>
          <p:cNvSpPr/>
          <p:nvPr/>
        </p:nvSpPr>
        <p:spPr>
          <a:xfrm>
            <a:off x="749808" y="1536192"/>
            <a:ext cx="106984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22960" y="1783080"/>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783080"/>
            <a:ext cx="384048" cy="384048"/>
          </a:xfrm>
          <a:prstGeom prst="rect">
            <a:avLst/>
          </a:prstGeom>
          <a:noFill/>
        </p:spPr>
        <p:txBody>
          <a:bodyPr wrap="square" anchor="ctr" lIns="54864" rIns="54864" tIns="54864" bIns="54864">
            <a:spAutoFit/>
          </a:bodyPr>
          <a:lstStyle/>
          <a:p>
            <a:pPr algn="ctr">
              <a:spcAft>
                <a:spcPts val="300"/>
              </a:spcAft>
            </a:pPr>
            <a:r>
              <a:rPr sz="1300" b="1">
                <a:solidFill>
                  <a:srgbClr val="FFFFFF"/>
                </a:solidFill>
                <a:latin typeface="Arial"/>
              </a:rPr>
              <a:t>1</a:t>
            </a:r>
          </a:p>
        </p:txBody>
      </p:sp>
      <p:sp>
        <p:nvSpPr>
          <p:cNvPr id="9" name="TextBox 8"/>
          <p:cNvSpPr txBox="1"/>
          <p:nvPr/>
        </p:nvSpPr>
        <p:spPr>
          <a:xfrm>
            <a:off x="1417320" y="1755648"/>
            <a:ext cx="9875520" cy="530352"/>
          </a:xfrm>
          <a:prstGeom prst="rect">
            <a:avLst/>
          </a:prstGeom>
          <a:noFill/>
        </p:spPr>
        <p:txBody>
          <a:bodyPr wrap="square" anchor="ctr" lIns="54864" rIns="54864" tIns="54864" bIns="54864">
            <a:spAutoFit/>
          </a:bodyPr>
          <a:lstStyle/>
          <a:p>
            <a:pPr algn="l">
              <a:spcAft>
                <a:spcPts val="300"/>
              </a:spcAft>
            </a:pPr>
            <a:r>
              <a:rPr sz="1500" b="0">
                <a:solidFill>
                  <a:srgbClr val="161B26"/>
                </a:solidFill>
                <a:latin typeface="Arial"/>
              </a:rPr>
              <a:t>Place phones and unauthorised materials under the table.</a:t>
            </a:r>
          </a:p>
        </p:txBody>
      </p:sp>
      <p:sp>
        <p:nvSpPr>
          <p:cNvPr id="10" name="Oval 9"/>
          <p:cNvSpPr/>
          <p:nvPr/>
        </p:nvSpPr>
        <p:spPr>
          <a:xfrm>
            <a:off x="822960" y="2450591"/>
            <a:ext cx="384048" cy="38404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2450591"/>
            <a:ext cx="384048" cy="384048"/>
          </a:xfrm>
          <a:prstGeom prst="rect">
            <a:avLst/>
          </a:prstGeom>
          <a:noFill/>
        </p:spPr>
        <p:txBody>
          <a:bodyPr wrap="square" anchor="ctr" lIns="54864" rIns="54864" tIns="54864" bIns="54864">
            <a:spAutoFit/>
          </a:bodyPr>
          <a:lstStyle/>
          <a:p>
            <a:pPr algn="ctr">
              <a:spcAft>
                <a:spcPts val="300"/>
              </a:spcAft>
            </a:pPr>
            <a:r>
              <a:rPr sz="1300" b="1">
                <a:solidFill>
                  <a:srgbClr val="FFFFFF"/>
                </a:solidFill>
                <a:latin typeface="Arial"/>
              </a:rPr>
              <a:t>2</a:t>
            </a:r>
          </a:p>
        </p:txBody>
      </p:sp>
      <p:sp>
        <p:nvSpPr>
          <p:cNvPr id="12" name="TextBox 11"/>
          <p:cNvSpPr txBox="1"/>
          <p:nvPr/>
        </p:nvSpPr>
        <p:spPr>
          <a:xfrm>
            <a:off x="1417320" y="2423160"/>
            <a:ext cx="9875520" cy="530352"/>
          </a:xfrm>
          <a:prstGeom prst="rect">
            <a:avLst/>
          </a:prstGeom>
          <a:noFill/>
        </p:spPr>
        <p:txBody>
          <a:bodyPr wrap="square" anchor="ctr" lIns="54864" rIns="54864" tIns="54864" bIns="54864">
            <a:spAutoFit/>
          </a:bodyPr>
          <a:lstStyle/>
          <a:p>
            <a:pPr algn="l">
              <a:spcAft>
                <a:spcPts val="300"/>
              </a:spcAft>
            </a:pPr>
            <a:r>
              <a:rPr sz="1500" b="0">
                <a:solidFill>
                  <a:srgbClr val="161B26"/>
                </a:solidFill>
                <a:latin typeface="Arial"/>
              </a:rPr>
              <a:t>No photos, recordings or discussion during assessment.</a:t>
            </a:r>
          </a:p>
        </p:txBody>
      </p:sp>
      <p:sp>
        <p:nvSpPr>
          <p:cNvPr id="13" name="Oval 12"/>
          <p:cNvSpPr/>
          <p:nvPr/>
        </p:nvSpPr>
        <p:spPr>
          <a:xfrm>
            <a:off x="822960" y="3118104"/>
            <a:ext cx="384048" cy="38404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 y="3118104"/>
            <a:ext cx="384048" cy="384048"/>
          </a:xfrm>
          <a:prstGeom prst="rect">
            <a:avLst/>
          </a:prstGeom>
          <a:noFill/>
        </p:spPr>
        <p:txBody>
          <a:bodyPr wrap="square" anchor="ctr" lIns="54864" rIns="54864" tIns="54864" bIns="54864">
            <a:spAutoFit/>
          </a:bodyPr>
          <a:lstStyle/>
          <a:p>
            <a:pPr algn="ctr">
              <a:spcAft>
                <a:spcPts val="300"/>
              </a:spcAft>
            </a:pPr>
            <a:r>
              <a:rPr sz="1300" b="1">
                <a:solidFill>
                  <a:srgbClr val="FFFFFF"/>
                </a:solidFill>
                <a:latin typeface="Arial"/>
              </a:rPr>
              <a:t>3</a:t>
            </a:r>
          </a:p>
        </p:txBody>
      </p:sp>
      <p:sp>
        <p:nvSpPr>
          <p:cNvPr id="15" name="TextBox 14"/>
          <p:cNvSpPr txBox="1"/>
          <p:nvPr/>
        </p:nvSpPr>
        <p:spPr>
          <a:xfrm>
            <a:off x="1417320" y="3090672"/>
            <a:ext cx="9875520" cy="530352"/>
          </a:xfrm>
          <a:prstGeom prst="rect">
            <a:avLst/>
          </a:prstGeom>
          <a:noFill/>
        </p:spPr>
        <p:txBody>
          <a:bodyPr wrap="square" anchor="ctr" lIns="54864" rIns="54864" tIns="54864" bIns="54864">
            <a:spAutoFit/>
          </a:bodyPr>
          <a:lstStyle/>
          <a:p>
            <a:pPr algn="l">
              <a:spcAft>
                <a:spcPts val="300"/>
              </a:spcAft>
            </a:pPr>
            <a:r>
              <a:rPr sz="1500" b="0">
                <a:solidFill>
                  <a:srgbClr val="161B26"/>
                </a:solidFill>
                <a:latin typeface="Arial"/>
              </a:rPr>
              <a:t>Use only slides, Learner Guide and approved open-book materials.</a:t>
            </a:r>
          </a:p>
        </p:txBody>
      </p:sp>
      <p:sp>
        <p:nvSpPr>
          <p:cNvPr id="16" name="Oval 15"/>
          <p:cNvSpPr/>
          <p:nvPr/>
        </p:nvSpPr>
        <p:spPr>
          <a:xfrm>
            <a:off x="822960" y="3785615"/>
            <a:ext cx="384048" cy="38404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60" y="3785615"/>
            <a:ext cx="384048" cy="384048"/>
          </a:xfrm>
          <a:prstGeom prst="rect">
            <a:avLst/>
          </a:prstGeom>
          <a:noFill/>
        </p:spPr>
        <p:txBody>
          <a:bodyPr wrap="square" anchor="ctr" lIns="54864" rIns="54864" tIns="54864" bIns="54864">
            <a:spAutoFit/>
          </a:bodyPr>
          <a:lstStyle/>
          <a:p>
            <a:pPr algn="ctr">
              <a:spcAft>
                <a:spcPts val="300"/>
              </a:spcAft>
            </a:pPr>
            <a:r>
              <a:rPr sz="1300" b="1">
                <a:solidFill>
                  <a:srgbClr val="FFFFFF"/>
                </a:solidFill>
                <a:latin typeface="Arial"/>
              </a:rPr>
              <a:t>4</a:t>
            </a:r>
          </a:p>
        </p:txBody>
      </p:sp>
      <p:sp>
        <p:nvSpPr>
          <p:cNvPr id="18" name="TextBox 17"/>
          <p:cNvSpPr txBox="1"/>
          <p:nvPr/>
        </p:nvSpPr>
        <p:spPr>
          <a:xfrm>
            <a:off x="1417320" y="3758183"/>
            <a:ext cx="9875520" cy="530352"/>
          </a:xfrm>
          <a:prstGeom prst="rect">
            <a:avLst/>
          </a:prstGeom>
          <a:noFill/>
        </p:spPr>
        <p:txBody>
          <a:bodyPr wrap="square" anchor="ctr" lIns="54864" rIns="54864" tIns="54864" bIns="54864">
            <a:spAutoFit/>
          </a:bodyPr>
          <a:lstStyle/>
          <a:p>
            <a:pPr algn="l">
              <a:spcAft>
                <a:spcPts val="300"/>
              </a:spcAft>
            </a:pPr>
            <a:r>
              <a:rPr sz="1500" b="0">
                <a:solidFill>
                  <a:srgbClr val="161B26"/>
                </a:solidFill>
                <a:latin typeface="Arial"/>
              </a:rPr>
              <a:t>Complete answers in your own words and submit on the LMS.</a:t>
            </a:r>
          </a:p>
        </p:txBody>
      </p:sp>
      <p:sp>
        <p:nvSpPr>
          <p:cNvPr id="19" name="Oval 18"/>
          <p:cNvSpPr/>
          <p:nvPr/>
        </p:nvSpPr>
        <p:spPr>
          <a:xfrm>
            <a:off x="822960" y="4453128"/>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60" y="4453128"/>
            <a:ext cx="384048" cy="384048"/>
          </a:xfrm>
          <a:prstGeom prst="rect">
            <a:avLst/>
          </a:prstGeom>
          <a:noFill/>
        </p:spPr>
        <p:txBody>
          <a:bodyPr wrap="square" anchor="ctr" lIns="54864" rIns="54864" tIns="54864" bIns="54864">
            <a:spAutoFit/>
          </a:bodyPr>
          <a:lstStyle/>
          <a:p>
            <a:pPr algn="ctr">
              <a:spcAft>
                <a:spcPts val="300"/>
              </a:spcAft>
            </a:pPr>
            <a:r>
              <a:rPr sz="1300" b="1">
                <a:solidFill>
                  <a:srgbClr val="FFFFFF"/>
                </a:solidFill>
                <a:latin typeface="Arial"/>
              </a:rPr>
              <a:t>5</a:t>
            </a:r>
          </a:p>
        </p:txBody>
      </p:sp>
      <p:sp>
        <p:nvSpPr>
          <p:cNvPr id="21" name="TextBox 20"/>
          <p:cNvSpPr txBox="1"/>
          <p:nvPr/>
        </p:nvSpPr>
        <p:spPr>
          <a:xfrm>
            <a:off x="1417320" y="4425696"/>
            <a:ext cx="9875520" cy="530352"/>
          </a:xfrm>
          <a:prstGeom prst="rect">
            <a:avLst/>
          </a:prstGeom>
          <a:noFill/>
        </p:spPr>
        <p:txBody>
          <a:bodyPr wrap="square" anchor="ctr" lIns="54864" rIns="54864" tIns="54864" bIns="54864">
            <a:spAutoFit/>
          </a:bodyPr>
          <a:lstStyle/>
          <a:p>
            <a:pPr algn="l">
              <a:spcAft>
                <a:spcPts val="300"/>
              </a:spcAft>
            </a:pPr>
            <a:r>
              <a:rPr sz="1500" b="0">
                <a:solidFill>
                  <a:srgbClr val="161B26"/>
                </a:solidFill>
                <a:latin typeface="Arial"/>
              </a:rPr>
              <a:t>Ask the assessor about process, not the answer content.</a:t>
            </a:r>
          </a:p>
        </p:txBody>
      </p:sp>
      <p:sp>
        <p:nvSpPr>
          <p:cNvPr id="22" name="Oval 21"/>
          <p:cNvSpPr/>
          <p:nvPr/>
        </p:nvSpPr>
        <p:spPr>
          <a:xfrm>
            <a:off x="822960" y="5120640"/>
            <a:ext cx="384048" cy="38404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2960" y="5120640"/>
            <a:ext cx="384048" cy="384048"/>
          </a:xfrm>
          <a:prstGeom prst="rect">
            <a:avLst/>
          </a:prstGeom>
          <a:noFill/>
        </p:spPr>
        <p:txBody>
          <a:bodyPr wrap="square" anchor="ctr" lIns="54864" rIns="54864" tIns="54864" bIns="54864">
            <a:spAutoFit/>
          </a:bodyPr>
          <a:lstStyle/>
          <a:p>
            <a:pPr algn="ctr">
              <a:spcAft>
                <a:spcPts val="300"/>
              </a:spcAft>
            </a:pPr>
            <a:r>
              <a:rPr sz="1300" b="1">
                <a:solidFill>
                  <a:srgbClr val="FFFFFF"/>
                </a:solidFill>
                <a:latin typeface="Arial"/>
              </a:rPr>
              <a:t>6</a:t>
            </a:r>
          </a:p>
        </p:txBody>
      </p:sp>
      <p:sp>
        <p:nvSpPr>
          <p:cNvPr id="24" name="TextBox 23"/>
          <p:cNvSpPr txBox="1"/>
          <p:nvPr/>
        </p:nvSpPr>
        <p:spPr>
          <a:xfrm>
            <a:off x="1417320" y="5093207"/>
            <a:ext cx="9875520" cy="530352"/>
          </a:xfrm>
          <a:prstGeom prst="rect">
            <a:avLst/>
          </a:prstGeom>
          <a:noFill/>
        </p:spPr>
        <p:txBody>
          <a:bodyPr wrap="square" anchor="ctr" lIns="54864" rIns="54864" tIns="54864" bIns="54864">
            <a:spAutoFit/>
          </a:bodyPr>
          <a:lstStyle/>
          <a:p>
            <a:pPr algn="l">
              <a:spcAft>
                <a:spcPts val="300"/>
              </a:spcAft>
            </a:pPr>
            <a:r>
              <a:rPr sz="1500" b="0">
                <a:solidFill>
                  <a:srgbClr val="161B26"/>
                </a:solidFill>
                <a:latin typeface="Arial"/>
              </a:rPr>
              <a:t>Appeal and reassessment routes are stated in the candidate instructions.</a:t>
            </a:r>
          </a:p>
        </p:txBody>
      </p:sp>
      <p:sp>
        <p:nvSpPr>
          <p:cNvPr id="25" name="TextBox 24"/>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26" name="TextBox 25"/>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27" name="TextBox 26"/>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16</a:t>
            </a:r>
          </a:p>
        </p:txBody>
      </p:sp>
    </p:spTree>
  </p:cSld>
  <p:clrMapOvr>
    <a:masterClrMapping/>
  </p:clrMapOvr>
  <p:transition spd="fast">
    <p:fade/>
  </p:transition>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37744"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47472"/>
            <a:ext cx="10698480" cy="292608"/>
          </a:xfrm>
          <a:prstGeom prst="rect">
            <a:avLst/>
          </a:prstGeom>
          <a:noFill/>
        </p:spPr>
        <p:txBody>
          <a:bodyPr wrap="square" anchor="t" lIns="54864" rIns="54864" tIns="54864" bIns="54864">
            <a:spAutoFit/>
          </a:bodyPr>
          <a:lstStyle/>
          <a:p>
            <a:pPr algn="l">
              <a:spcAft>
                <a:spcPts val="300"/>
              </a:spcAft>
            </a:pPr>
            <a:r>
              <a:rPr sz="1200" b="1">
                <a:solidFill>
                  <a:srgbClr val="F59E0B"/>
                </a:solidFill>
                <a:latin typeface="Arial"/>
              </a:rPr>
              <a:t>FINAL ASSESSMENT</a:t>
            </a:r>
          </a:p>
        </p:txBody>
      </p:sp>
      <p:sp>
        <p:nvSpPr>
          <p:cNvPr id="5" name="TextBox 4"/>
          <p:cNvSpPr txBox="1"/>
          <p:nvPr/>
        </p:nvSpPr>
        <p:spPr>
          <a:xfrm>
            <a:off x="749808" y="713232"/>
            <a:ext cx="10744200" cy="731520"/>
          </a:xfrm>
          <a:prstGeom prst="rect">
            <a:avLst/>
          </a:prstGeom>
          <a:noFill/>
        </p:spPr>
        <p:txBody>
          <a:bodyPr wrap="square" anchor="ctr" lIns="54864" rIns="54864" tIns="54864" bIns="54864">
            <a:spAutoFit/>
          </a:bodyPr>
          <a:lstStyle/>
          <a:p>
            <a:pPr algn="l">
              <a:spcAft>
                <a:spcPts val="300"/>
              </a:spcAft>
            </a:pPr>
            <a:r>
              <a:rPr sz="2700" b="1">
                <a:solidFill>
                  <a:srgbClr val="161B26"/>
                </a:solidFill>
                <a:latin typeface="Arial"/>
              </a:rPr>
              <a:t>Assessment &amp; Funding</a:t>
            </a:r>
          </a:p>
        </p:txBody>
      </p:sp>
      <p:sp>
        <p:nvSpPr>
          <p:cNvPr id="6" name="Rectangle 5"/>
          <p:cNvSpPr/>
          <p:nvPr/>
        </p:nvSpPr>
        <p:spPr>
          <a:xfrm>
            <a:off x="749808" y="1536192"/>
            <a:ext cx="106984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8096" y="1783080"/>
            <a:ext cx="5193792" cy="4343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68096" y="1783080"/>
            <a:ext cx="519379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96695" y="1975104"/>
            <a:ext cx="4736592" cy="384048"/>
          </a:xfrm>
          <a:prstGeom prst="rect">
            <a:avLst/>
          </a:prstGeom>
          <a:noFill/>
        </p:spPr>
        <p:txBody>
          <a:bodyPr wrap="square" anchor="t" lIns="54864" rIns="54864" tIns="54864" bIns="54864">
            <a:spAutoFit/>
          </a:bodyPr>
          <a:lstStyle/>
          <a:p>
            <a:pPr algn="l">
              <a:spcAft>
                <a:spcPts val="300"/>
              </a:spcAft>
            </a:pPr>
            <a:r>
              <a:rPr sz="1600" b="1">
                <a:solidFill>
                  <a:srgbClr val="1F6FEB"/>
                </a:solidFill>
                <a:latin typeface="Arial"/>
              </a:rPr>
              <a:t>Written Assessment</a:t>
            </a:r>
          </a:p>
        </p:txBody>
      </p:sp>
      <p:sp>
        <p:nvSpPr>
          <p:cNvPr id="10" name="TextBox 9"/>
          <p:cNvSpPr txBox="1"/>
          <p:nvPr/>
        </p:nvSpPr>
        <p:spPr>
          <a:xfrm>
            <a:off x="1024128" y="2514600"/>
            <a:ext cx="4690872" cy="502920"/>
          </a:xfrm>
          <a:prstGeom prst="rect">
            <a:avLst/>
          </a:prstGeom>
          <a:noFill/>
        </p:spPr>
        <p:txBody>
          <a:bodyPr wrap="square" anchor="ctr" lIns="54864" rIns="54864" tIns="54864" bIns="54864">
            <a:spAutoFit/>
          </a:bodyPr>
          <a:lstStyle/>
          <a:p>
            <a:pPr algn="l">
              <a:spcAft>
                <a:spcPts val="300"/>
              </a:spcAft>
            </a:pPr>
            <a:r>
              <a:rPr sz="1500" b="1">
                <a:solidFill>
                  <a:srgbClr val="1F6FEB"/>
                </a:solidFill>
                <a:latin typeface="Arial"/>
              </a:rPr>
              <a:t>• </a:t>
            </a:r>
            <a:r>
              <a:rPr sz="1350" b="0">
                <a:solidFill>
                  <a:srgbClr val="161B26"/>
                </a:solidFill>
                <a:latin typeface="Arial"/>
              </a:rPr>
              <a:t>Written Assessment (WA/SAQ) — 4 open-ended questions, 1 hour, open book.</a:t>
            </a:r>
          </a:p>
        </p:txBody>
      </p:sp>
      <p:sp>
        <p:nvSpPr>
          <p:cNvPr id="11" name="TextBox 10"/>
          <p:cNvSpPr txBox="1"/>
          <p:nvPr/>
        </p:nvSpPr>
        <p:spPr>
          <a:xfrm>
            <a:off x="1024128" y="3136392"/>
            <a:ext cx="4690872" cy="502920"/>
          </a:xfrm>
          <a:prstGeom prst="rect">
            <a:avLst/>
          </a:prstGeom>
          <a:noFill/>
        </p:spPr>
        <p:txBody>
          <a:bodyPr wrap="square" anchor="ctr" lIns="54864" rIns="54864" tIns="54864" bIns="54864">
            <a:spAutoFit/>
          </a:bodyPr>
          <a:lstStyle/>
          <a:p>
            <a:pPr algn="l">
              <a:spcAft>
                <a:spcPts val="300"/>
              </a:spcAft>
            </a:pPr>
            <a:r>
              <a:rPr sz="1500" b="1">
                <a:solidFill>
                  <a:srgbClr val="1F6FEB"/>
                </a:solidFill>
                <a:latin typeface="Arial"/>
              </a:rPr>
              <a:t>• </a:t>
            </a:r>
            <a:r>
              <a:rPr sz="1350" b="0">
                <a:solidFill>
                  <a:srgbClr val="161B26"/>
                </a:solidFill>
                <a:latin typeface="Arial"/>
              </a:rPr>
              <a:t>Tests K1–K4 knowledge taught in the deck.</a:t>
            </a:r>
          </a:p>
        </p:txBody>
      </p:sp>
      <p:sp>
        <p:nvSpPr>
          <p:cNvPr id="12" name="TextBox 11"/>
          <p:cNvSpPr txBox="1"/>
          <p:nvPr/>
        </p:nvSpPr>
        <p:spPr>
          <a:xfrm>
            <a:off x="1024128" y="3758184"/>
            <a:ext cx="4690872" cy="502920"/>
          </a:xfrm>
          <a:prstGeom prst="rect">
            <a:avLst/>
          </a:prstGeom>
          <a:noFill/>
        </p:spPr>
        <p:txBody>
          <a:bodyPr wrap="square" anchor="ctr" lIns="54864" rIns="54864" tIns="54864" bIns="54864">
            <a:spAutoFit/>
          </a:bodyPr>
          <a:lstStyle/>
          <a:p>
            <a:pPr algn="l">
              <a:spcAft>
                <a:spcPts val="300"/>
              </a:spcAft>
            </a:pPr>
            <a:r>
              <a:rPr sz="1500" b="1">
                <a:solidFill>
                  <a:srgbClr val="1F6FEB"/>
                </a:solidFill>
                <a:latin typeface="Arial"/>
              </a:rPr>
              <a:t>• </a:t>
            </a:r>
            <a:r>
              <a:rPr sz="1350" b="0">
                <a:solidFill>
                  <a:srgbClr val="161B26"/>
                </a:solidFill>
                <a:latin typeface="Arial"/>
              </a:rPr>
              <a:t>Four open-ended SAQ items.</a:t>
            </a:r>
          </a:p>
        </p:txBody>
      </p:sp>
      <p:sp>
        <p:nvSpPr>
          <p:cNvPr id="13" name="Rectangle 12"/>
          <p:cNvSpPr/>
          <p:nvPr/>
        </p:nvSpPr>
        <p:spPr>
          <a:xfrm>
            <a:off x="6254496" y="1783080"/>
            <a:ext cx="5166360" cy="4343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54496" y="1783080"/>
            <a:ext cx="516636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3096" y="1975104"/>
            <a:ext cx="4709160" cy="384048"/>
          </a:xfrm>
          <a:prstGeom prst="rect">
            <a:avLst/>
          </a:prstGeom>
          <a:noFill/>
        </p:spPr>
        <p:txBody>
          <a:bodyPr wrap="square" anchor="t" lIns="54864" rIns="54864" tIns="54864" bIns="54864">
            <a:spAutoFit/>
          </a:bodyPr>
          <a:lstStyle/>
          <a:p>
            <a:pPr algn="l">
              <a:spcAft>
                <a:spcPts val="300"/>
              </a:spcAft>
            </a:pPr>
            <a:r>
              <a:rPr sz="1600" b="1">
                <a:solidFill>
                  <a:srgbClr val="10B981"/>
                </a:solidFill>
                <a:latin typeface="Arial"/>
              </a:rPr>
              <a:t>Practical Performance</a:t>
            </a:r>
          </a:p>
        </p:txBody>
      </p:sp>
      <p:sp>
        <p:nvSpPr>
          <p:cNvPr id="16" name="TextBox 15"/>
          <p:cNvSpPr txBox="1"/>
          <p:nvPr/>
        </p:nvSpPr>
        <p:spPr>
          <a:xfrm>
            <a:off x="6510528" y="2514600"/>
            <a:ext cx="4663440" cy="502920"/>
          </a:xfrm>
          <a:prstGeom prst="rect">
            <a:avLst/>
          </a:prstGeom>
          <a:noFill/>
        </p:spPr>
        <p:txBody>
          <a:bodyPr wrap="square" anchor="ctr" lIns="54864" rIns="54864" tIns="54864" bIns="54864">
            <a:spAutoFit/>
          </a:bodyPr>
          <a:lstStyle/>
          <a:p>
            <a:pPr algn="l">
              <a:spcAft>
                <a:spcPts val="300"/>
              </a:spcAft>
            </a:pPr>
            <a:r>
              <a:rPr sz="1500" b="1">
                <a:solidFill>
                  <a:srgbClr val="10B981"/>
                </a:solidFill>
                <a:latin typeface="Arial"/>
              </a:rPr>
              <a:t>• </a:t>
            </a:r>
            <a:r>
              <a:rPr sz="1350" b="0">
                <a:solidFill>
                  <a:srgbClr val="161B26"/>
                </a:solidFill>
                <a:latin typeface="Arial"/>
              </a:rPr>
              <a:t>Practical Performance (PP) — 4 Tableau tasks, 1 hour, open book.</a:t>
            </a:r>
          </a:p>
        </p:txBody>
      </p:sp>
      <p:sp>
        <p:nvSpPr>
          <p:cNvPr id="17" name="TextBox 16"/>
          <p:cNvSpPr txBox="1"/>
          <p:nvPr/>
        </p:nvSpPr>
        <p:spPr>
          <a:xfrm>
            <a:off x="6510528" y="3136392"/>
            <a:ext cx="4663440" cy="502920"/>
          </a:xfrm>
          <a:prstGeom prst="rect">
            <a:avLst/>
          </a:prstGeom>
          <a:noFill/>
        </p:spPr>
        <p:txBody>
          <a:bodyPr wrap="square" anchor="ctr" lIns="54864" rIns="54864" tIns="54864" bIns="54864">
            <a:spAutoFit/>
          </a:bodyPr>
          <a:lstStyle/>
          <a:p>
            <a:pPr algn="l">
              <a:spcAft>
                <a:spcPts val="300"/>
              </a:spcAft>
            </a:pPr>
            <a:r>
              <a:rPr sz="1500" b="1">
                <a:solidFill>
                  <a:srgbClr val="10B981"/>
                </a:solidFill>
                <a:latin typeface="Arial"/>
              </a:rPr>
              <a:t>• </a:t>
            </a:r>
            <a:r>
              <a:rPr sz="1350" b="0">
                <a:solidFill>
                  <a:srgbClr val="161B26"/>
                </a:solidFill>
                <a:latin typeface="Arial"/>
              </a:rPr>
              <a:t>Tests A1–A4 through Tableau evidence.</a:t>
            </a:r>
          </a:p>
        </p:txBody>
      </p:sp>
      <p:sp>
        <p:nvSpPr>
          <p:cNvPr id="18" name="TextBox 17"/>
          <p:cNvSpPr txBox="1"/>
          <p:nvPr/>
        </p:nvSpPr>
        <p:spPr>
          <a:xfrm>
            <a:off x="6510528" y="3758184"/>
            <a:ext cx="4663440" cy="502920"/>
          </a:xfrm>
          <a:prstGeom prst="rect">
            <a:avLst/>
          </a:prstGeom>
          <a:noFill/>
        </p:spPr>
        <p:txBody>
          <a:bodyPr wrap="square" anchor="ctr" lIns="54864" rIns="54864" tIns="54864" bIns="54864">
            <a:spAutoFit/>
          </a:bodyPr>
          <a:lstStyle/>
          <a:p>
            <a:pPr algn="l">
              <a:spcAft>
                <a:spcPts val="300"/>
              </a:spcAft>
            </a:pPr>
            <a:r>
              <a:rPr sz="1500" b="1">
                <a:solidFill>
                  <a:srgbClr val="10B981"/>
                </a:solidFill>
                <a:latin typeface="Arial"/>
              </a:rPr>
              <a:t>• </a:t>
            </a:r>
            <a:r>
              <a:rPr sz="1350" b="0">
                <a:solidFill>
                  <a:srgbClr val="161B26"/>
                </a:solidFill>
                <a:latin typeface="Arial"/>
              </a:rPr>
              <a:t>Four practical tasks aligned to labs.</a:t>
            </a:r>
          </a:p>
        </p:txBody>
      </p:sp>
      <p:sp>
        <p:nvSpPr>
          <p:cNvPr id="19" name="TextBox 18"/>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20" name="TextBox 19"/>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21" name="TextBox 20"/>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17</a:t>
            </a:r>
          </a:p>
        </p:txBody>
      </p:sp>
    </p:spTree>
  </p:cSld>
  <p:clrMapOvr>
    <a:masterClrMapping/>
  </p:clrMapOvr>
  <p:transition spd="fast">
    <p:fade/>
  </p:transition>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37744"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47472"/>
            <a:ext cx="10698480" cy="292608"/>
          </a:xfrm>
          <a:prstGeom prst="rect">
            <a:avLst/>
          </a:prstGeom>
          <a:noFill/>
        </p:spPr>
        <p:txBody>
          <a:bodyPr wrap="square" anchor="t" lIns="54864" rIns="54864" tIns="54864" bIns="54864">
            <a:spAutoFit/>
          </a:bodyPr>
          <a:lstStyle/>
          <a:p>
            <a:pPr algn="l">
              <a:spcAft>
                <a:spcPts val="300"/>
              </a:spcAft>
            </a:pPr>
            <a:r>
              <a:rPr sz="1200" b="1">
                <a:solidFill>
                  <a:srgbClr val="F59E0B"/>
                </a:solidFill>
                <a:latin typeface="Arial"/>
              </a:rPr>
              <a:t>ON ASSESSMENT DAY</a:t>
            </a:r>
          </a:p>
        </p:txBody>
      </p:sp>
      <p:sp>
        <p:nvSpPr>
          <p:cNvPr id="5" name="TextBox 4"/>
          <p:cNvSpPr txBox="1"/>
          <p:nvPr/>
        </p:nvSpPr>
        <p:spPr>
          <a:xfrm>
            <a:off x="749808" y="713232"/>
            <a:ext cx="10744200" cy="731520"/>
          </a:xfrm>
          <a:prstGeom prst="rect">
            <a:avLst/>
          </a:prstGeom>
          <a:noFill/>
        </p:spPr>
        <p:txBody>
          <a:bodyPr wrap="square" anchor="ctr" lIns="54864" rIns="54864" tIns="54864" bIns="54864">
            <a:spAutoFit/>
          </a:bodyPr>
          <a:lstStyle/>
          <a:p>
            <a:pPr algn="l">
              <a:spcAft>
                <a:spcPts val="300"/>
              </a:spcAft>
            </a:pPr>
            <a:r>
              <a:rPr sz="2700" b="1">
                <a:solidFill>
                  <a:srgbClr val="161B26"/>
                </a:solidFill>
                <a:latin typeface="Arial"/>
              </a:rPr>
              <a:t>Assessment Flow</a:t>
            </a:r>
          </a:p>
        </p:txBody>
      </p:sp>
      <p:sp>
        <p:nvSpPr>
          <p:cNvPr id="6" name="Rectangle 5"/>
          <p:cNvSpPr/>
          <p:nvPr/>
        </p:nvSpPr>
        <p:spPr>
          <a:xfrm>
            <a:off x="749808" y="1536192"/>
            <a:ext cx="106984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8096" y="2057400"/>
            <a:ext cx="1947672" cy="2971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68096" y="2057400"/>
            <a:ext cx="194767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76172" y="2423160"/>
            <a:ext cx="731520" cy="7315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6172" y="2423160"/>
            <a:ext cx="731520" cy="731520"/>
          </a:xfrm>
          <a:prstGeom prst="rect">
            <a:avLst/>
          </a:prstGeom>
          <a:noFill/>
        </p:spPr>
        <p:txBody>
          <a:bodyPr wrap="square" anchor="ctr" lIns="54864" rIns="54864" tIns="54864" bIns="54864">
            <a:spAutoFit/>
          </a:bodyPr>
          <a:lstStyle/>
          <a:p>
            <a:pPr algn="ctr">
              <a:spcAft>
                <a:spcPts val="300"/>
              </a:spcAft>
            </a:pPr>
            <a:r>
              <a:rPr sz="2400" b="1">
                <a:solidFill>
                  <a:srgbClr val="FFFFFF"/>
                </a:solidFill>
                <a:latin typeface="Arial"/>
              </a:rPr>
              <a:t>1</a:t>
            </a:r>
          </a:p>
        </p:txBody>
      </p:sp>
      <p:sp>
        <p:nvSpPr>
          <p:cNvPr id="11" name="TextBox 10"/>
          <p:cNvSpPr txBox="1"/>
          <p:nvPr/>
        </p:nvSpPr>
        <p:spPr>
          <a:xfrm>
            <a:off x="877824" y="3429000"/>
            <a:ext cx="1728216" cy="1143000"/>
          </a:xfrm>
          <a:prstGeom prst="rect">
            <a:avLst/>
          </a:prstGeom>
          <a:noFill/>
        </p:spPr>
        <p:txBody>
          <a:bodyPr wrap="square" anchor="ctr" lIns="54864" rIns="54864" tIns="54864" bIns="54864">
            <a:spAutoFit/>
          </a:bodyPr>
          <a:lstStyle/>
          <a:p>
            <a:pPr algn="ctr">
              <a:spcAft>
                <a:spcPts val="300"/>
              </a:spcAft>
            </a:pPr>
            <a:r>
              <a:rPr sz="1250" b="0">
                <a:solidFill>
                  <a:srgbClr val="161B26"/>
                </a:solidFill>
                <a:latin typeface="Arial"/>
              </a:rPr>
              <a:t>TRAQOM / digital attendance</a:t>
            </a:r>
          </a:p>
        </p:txBody>
      </p:sp>
      <p:sp>
        <p:nvSpPr>
          <p:cNvPr id="12" name="TextBox 11"/>
          <p:cNvSpPr txBox="1"/>
          <p:nvPr/>
        </p:nvSpPr>
        <p:spPr>
          <a:xfrm>
            <a:off x="2697479" y="3246120"/>
            <a:ext cx="274320" cy="365760"/>
          </a:xfrm>
          <a:prstGeom prst="rect">
            <a:avLst/>
          </a:prstGeom>
          <a:noFill/>
        </p:spPr>
        <p:txBody>
          <a:bodyPr wrap="square" anchor="t" lIns="54864" rIns="54864" tIns="54864" bIns="54864">
            <a:spAutoFit/>
          </a:bodyPr>
          <a:lstStyle/>
          <a:p>
            <a:pPr algn="ctr">
              <a:spcAft>
                <a:spcPts val="300"/>
              </a:spcAft>
            </a:pPr>
            <a:r>
              <a:rPr sz="1200" b="1">
                <a:solidFill>
                  <a:srgbClr val="F59E0B"/>
                </a:solidFill>
                <a:latin typeface="Arial"/>
              </a:rPr>
              <a:t>▶</a:t>
            </a:r>
          </a:p>
        </p:txBody>
      </p:sp>
      <p:sp>
        <p:nvSpPr>
          <p:cNvPr id="13" name="Rectangle 12"/>
          <p:cNvSpPr/>
          <p:nvPr/>
        </p:nvSpPr>
        <p:spPr>
          <a:xfrm>
            <a:off x="2944368" y="2057400"/>
            <a:ext cx="1947672" cy="2971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44368" y="2057400"/>
            <a:ext cx="194767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52444" y="2423160"/>
            <a:ext cx="731520" cy="7315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52444" y="2423160"/>
            <a:ext cx="731520" cy="731520"/>
          </a:xfrm>
          <a:prstGeom prst="rect">
            <a:avLst/>
          </a:prstGeom>
          <a:noFill/>
        </p:spPr>
        <p:txBody>
          <a:bodyPr wrap="square" anchor="ctr" lIns="54864" rIns="54864" tIns="54864" bIns="54864">
            <a:spAutoFit/>
          </a:bodyPr>
          <a:lstStyle/>
          <a:p>
            <a:pPr algn="ctr">
              <a:spcAft>
                <a:spcPts val="300"/>
              </a:spcAft>
            </a:pPr>
            <a:r>
              <a:rPr sz="2400" b="1">
                <a:solidFill>
                  <a:srgbClr val="FFFFFF"/>
                </a:solidFill>
                <a:latin typeface="Arial"/>
              </a:rPr>
              <a:t>2</a:t>
            </a:r>
          </a:p>
        </p:txBody>
      </p:sp>
      <p:sp>
        <p:nvSpPr>
          <p:cNvPr id="17" name="TextBox 16"/>
          <p:cNvSpPr txBox="1"/>
          <p:nvPr/>
        </p:nvSpPr>
        <p:spPr>
          <a:xfrm>
            <a:off x="3054096" y="3429000"/>
            <a:ext cx="1728216" cy="1143000"/>
          </a:xfrm>
          <a:prstGeom prst="rect">
            <a:avLst/>
          </a:prstGeom>
          <a:noFill/>
        </p:spPr>
        <p:txBody>
          <a:bodyPr wrap="square" anchor="ctr" lIns="54864" rIns="54864" tIns="54864" bIns="54864">
            <a:spAutoFit/>
          </a:bodyPr>
          <a:lstStyle/>
          <a:p>
            <a:pPr algn="ctr">
              <a:spcAft>
                <a:spcPts val="300"/>
              </a:spcAft>
            </a:pPr>
            <a:r>
              <a:rPr sz="1250" b="0">
                <a:solidFill>
                  <a:srgbClr val="161B26"/>
                </a:solidFill>
                <a:latin typeface="Arial"/>
              </a:rPr>
              <a:t>Sit WA — 1 hour</a:t>
            </a:r>
          </a:p>
        </p:txBody>
      </p:sp>
      <p:sp>
        <p:nvSpPr>
          <p:cNvPr id="18" name="TextBox 17"/>
          <p:cNvSpPr txBox="1"/>
          <p:nvPr/>
        </p:nvSpPr>
        <p:spPr>
          <a:xfrm>
            <a:off x="4873752" y="3246120"/>
            <a:ext cx="274320" cy="365760"/>
          </a:xfrm>
          <a:prstGeom prst="rect">
            <a:avLst/>
          </a:prstGeom>
          <a:noFill/>
        </p:spPr>
        <p:txBody>
          <a:bodyPr wrap="square" anchor="t" lIns="54864" rIns="54864" tIns="54864" bIns="54864">
            <a:spAutoFit/>
          </a:bodyPr>
          <a:lstStyle/>
          <a:p>
            <a:pPr algn="ctr">
              <a:spcAft>
                <a:spcPts val="300"/>
              </a:spcAft>
            </a:pPr>
            <a:r>
              <a:rPr sz="1200" b="1">
                <a:solidFill>
                  <a:srgbClr val="F59E0B"/>
                </a:solidFill>
                <a:latin typeface="Arial"/>
              </a:rPr>
              <a:t>▶</a:t>
            </a:r>
          </a:p>
        </p:txBody>
      </p:sp>
      <p:sp>
        <p:nvSpPr>
          <p:cNvPr id="19" name="Rectangle 18"/>
          <p:cNvSpPr/>
          <p:nvPr/>
        </p:nvSpPr>
        <p:spPr>
          <a:xfrm>
            <a:off x="5120640" y="2057400"/>
            <a:ext cx="1947672" cy="2971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0" y="2057400"/>
            <a:ext cx="194767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28715" y="2423160"/>
            <a:ext cx="731520" cy="7315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28715" y="2423160"/>
            <a:ext cx="731520" cy="731520"/>
          </a:xfrm>
          <a:prstGeom prst="rect">
            <a:avLst/>
          </a:prstGeom>
          <a:noFill/>
        </p:spPr>
        <p:txBody>
          <a:bodyPr wrap="square" anchor="ctr" lIns="54864" rIns="54864" tIns="54864" bIns="54864">
            <a:spAutoFit/>
          </a:bodyPr>
          <a:lstStyle/>
          <a:p>
            <a:pPr algn="ctr">
              <a:spcAft>
                <a:spcPts val="300"/>
              </a:spcAft>
            </a:pPr>
            <a:r>
              <a:rPr sz="2400" b="1">
                <a:solidFill>
                  <a:srgbClr val="FFFFFF"/>
                </a:solidFill>
                <a:latin typeface="Arial"/>
              </a:rPr>
              <a:t>3</a:t>
            </a:r>
          </a:p>
        </p:txBody>
      </p:sp>
      <p:sp>
        <p:nvSpPr>
          <p:cNvPr id="23" name="TextBox 22"/>
          <p:cNvSpPr txBox="1"/>
          <p:nvPr/>
        </p:nvSpPr>
        <p:spPr>
          <a:xfrm>
            <a:off x="5230368" y="3429000"/>
            <a:ext cx="1728216" cy="1143000"/>
          </a:xfrm>
          <a:prstGeom prst="rect">
            <a:avLst/>
          </a:prstGeom>
          <a:noFill/>
        </p:spPr>
        <p:txBody>
          <a:bodyPr wrap="square" anchor="ctr" lIns="54864" rIns="54864" tIns="54864" bIns="54864">
            <a:spAutoFit/>
          </a:bodyPr>
          <a:lstStyle/>
          <a:p>
            <a:pPr algn="ctr">
              <a:spcAft>
                <a:spcPts val="300"/>
              </a:spcAft>
            </a:pPr>
            <a:r>
              <a:rPr sz="1250" b="0">
                <a:solidFill>
                  <a:srgbClr val="161B26"/>
                </a:solidFill>
                <a:latin typeface="Arial"/>
              </a:rPr>
              <a:t>Sit PP — 1 hour</a:t>
            </a:r>
          </a:p>
        </p:txBody>
      </p:sp>
      <p:sp>
        <p:nvSpPr>
          <p:cNvPr id="24" name="TextBox 23"/>
          <p:cNvSpPr txBox="1"/>
          <p:nvPr/>
        </p:nvSpPr>
        <p:spPr>
          <a:xfrm>
            <a:off x="7050024" y="3246120"/>
            <a:ext cx="274320" cy="365760"/>
          </a:xfrm>
          <a:prstGeom prst="rect">
            <a:avLst/>
          </a:prstGeom>
          <a:noFill/>
        </p:spPr>
        <p:txBody>
          <a:bodyPr wrap="square" anchor="t" lIns="54864" rIns="54864" tIns="54864" bIns="54864">
            <a:spAutoFit/>
          </a:bodyPr>
          <a:lstStyle/>
          <a:p>
            <a:pPr algn="ctr">
              <a:spcAft>
                <a:spcPts val="300"/>
              </a:spcAft>
            </a:pPr>
            <a:r>
              <a:rPr sz="1200" b="1">
                <a:solidFill>
                  <a:srgbClr val="F59E0B"/>
                </a:solidFill>
                <a:latin typeface="Arial"/>
              </a:rPr>
              <a:t>▶</a:t>
            </a:r>
          </a:p>
        </p:txBody>
      </p:sp>
      <p:sp>
        <p:nvSpPr>
          <p:cNvPr id="25" name="Rectangle 24"/>
          <p:cNvSpPr/>
          <p:nvPr/>
        </p:nvSpPr>
        <p:spPr>
          <a:xfrm>
            <a:off x="7296912" y="2057400"/>
            <a:ext cx="1947672" cy="2971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296912" y="2057400"/>
            <a:ext cx="194767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04988" y="2423160"/>
            <a:ext cx="731520" cy="7315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4988" y="2423160"/>
            <a:ext cx="731520" cy="731520"/>
          </a:xfrm>
          <a:prstGeom prst="rect">
            <a:avLst/>
          </a:prstGeom>
          <a:noFill/>
        </p:spPr>
        <p:txBody>
          <a:bodyPr wrap="square" anchor="ctr" lIns="54864" rIns="54864" tIns="54864" bIns="54864">
            <a:spAutoFit/>
          </a:bodyPr>
          <a:lstStyle/>
          <a:p>
            <a:pPr algn="ctr">
              <a:spcAft>
                <a:spcPts val="300"/>
              </a:spcAft>
            </a:pPr>
            <a:r>
              <a:rPr sz="2400" b="1">
                <a:solidFill>
                  <a:srgbClr val="FFFFFF"/>
                </a:solidFill>
                <a:latin typeface="Arial"/>
              </a:rPr>
              <a:t>4</a:t>
            </a:r>
          </a:p>
        </p:txBody>
      </p:sp>
      <p:sp>
        <p:nvSpPr>
          <p:cNvPr id="29" name="TextBox 28"/>
          <p:cNvSpPr txBox="1"/>
          <p:nvPr/>
        </p:nvSpPr>
        <p:spPr>
          <a:xfrm>
            <a:off x="7406640" y="3429000"/>
            <a:ext cx="1728216" cy="1143000"/>
          </a:xfrm>
          <a:prstGeom prst="rect">
            <a:avLst/>
          </a:prstGeom>
          <a:noFill/>
        </p:spPr>
        <p:txBody>
          <a:bodyPr wrap="square" anchor="ctr" lIns="54864" rIns="54864" tIns="54864" bIns="54864">
            <a:spAutoFit/>
          </a:bodyPr>
          <a:lstStyle/>
          <a:p>
            <a:pPr algn="ctr">
              <a:spcAft>
                <a:spcPts val="300"/>
              </a:spcAft>
            </a:pPr>
            <a:r>
              <a:rPr sz="1250" b="0">
                <a:solidFill>
                  <a:srgbClr val="161B26"/>
                </a:solidFill>
                <a:latin typeface="Arial"/>
              </a:rPr>
              <a:t>Submit on LMS</a:t>
            </a:r>
          </a:p>
        </p:txBody>
      </p:sp>
      <p:sp>
        <p:nvSpPr>
          <p:cNvPr id="30" name="TextBox 29"/>
          <p:cNvSpPr txBox="1"/>
          <p:nvPr/>
        </p:nvSpPr>
        <p:spPr>
          <a:xfrm>
            <a:off x="9226296" y="3246120"/>
            <a:ext cx="274320" cy="365760"/>
          </a:xfrm>
          <a:prstGeom prst="rect">
            <a:avLst/>
          </a:prstGeom>
          <a:noFill/>
        </p:spPr>
        <p:txBody>
          <a:bodyPr wrap="square" anchor="t" lIns="54864" rIns="54864" tIns="54864" bIns="54864">
            <a:spAutoFit/>
          </a:bodyPr>
          <a:lstStyle/>
          <a:p>
            <a:pPr algn="ctr">
              <a:spcAft>
                <a:spcPts val="300"/>
              </a:spcAft>
            </a:pPr>
            <a:r>
              <a:rPr sz="1200" b="1">
                <a:solidFill>
                  <a:srgbClr val="F59E0B"/>
                </a:solidFill>
                <a:latin typeface="Arial"/>
              </a:rPr>
              <a:t>▶</a:t>
            </a:r>
          </a:p>
        </p:txBody>
      </p:sp>
      <p:sp>
        <p:nvSpPr>
          <p:cNvPr id="31" name="Rectangle 30"/>
          <p:cNvSpPr/>
          <p:nvPr/>
        </p:nvSpPr>
        <p:spPr>
          <a:xfrm>
            <a:off x="9473184" y="2057400"/>
            <a:ext cx="1947672" cy="2971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473184" y="2057400"/>
            <a:ext cx="194767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81259" y="2423160"/>
            <a:ext cx="731520" cy="7315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81259" y="2423160"/>
            <a:ext cx="731520" cy="731520"/>
          </a:xfrm>
          <a:prstGeom prst="rect">
            <a:avLst/>
          </a:prstGeom>
          <a:noFill/>
        </p:spPr>
        <p:txBody>
          <a:bodyPr wrap="square" anchor="ctr" lIns="54864" rIns="54864" tIns="54864" bIns="54864">
            <a:spAutoFit/>
          </a:bodyPr>
          <a:lstStyle/>
          <a:p>
            <a:pPr algn="ctr">
              <a:spcAft>
                <a:spcPts val="300"/>
              </a:spcAft>
            </a:pPr>
            <a:r>
              <a:rPr sz="2400" b="1">
                <a:solidFill>
                  <a:srgbClr val="FFFFFF"/>
                </a:solidFill>
                <a:latin typeface="Arial"/>
              </a:rPr>
              <a:t>5</a:t>
            </a:r>
          </a:p>
        </p:txBody>
      </p:sp>
      <p:sp>
        <p:nvSpPr>
          <p:cNvPr id="35" name="TextBox 34"/>
          <p:cNvSpPr txBox="1"/>
          <p:nvPr/>
        </p:nvSpPr>
        <p:spPr>
          <a:xfrm>
            <a:off x="9582911" y="3429000"/>
            <a:ext cx="1728216" cy="1143000"/>
          </a:xfrm>
          <a:prstGeom prst="rect">
            <a:avLst/>
          </a:prstGeom>
          <a:noFill/>
        </p:spPr>
        <p:txBody>
          <a:bodyPr wrap="square" anchor="ctr" lIns="54864" rIns="54864" tIns="54864" bIns="54864">
            <a:spAutoFit/>
          </a:bodyPr>
          <a:lstStyle/>
          <a:p>
            <a:pPr algn="ctr">
              <a:spcAft>
                <a:spcPts val="300"/>
              </a:spcAft>
            </a:pPr>
            <a:r>
              <a:rPr sz="1250" b="0">
                <a:solidFill>
                  <a:srgbClr val="161B26"/>
                </a:solidFill>
                <a:latin typeface="Arial"/>
              </a:rPr>
              <a:t>Sign summary record</a:t>
            </a:r>
          </a:p>
        </p:txBody>
      </p:sp>
      <p:sp>
        <p:nvSpPr>
          <p:cNvPr id="36" name="TextBox 35"/>
          <p:cNvSpPr txBox="1"/>
          <p:nvPr/>
        </p:nvSpPr>
        <p:spPr>
          <a:xfrm>
            <a:off x="777240" y="5394960"/>
            <a:ext cx="10607040" cy="411480"/>
          </a:xfrm>
          <a:prstGeom prst="rect">
            <a:avLst/>
          </a:prstGeom>
          <a:noFill/>
        </p:spPr>
        <p:txBody>
          <a:bodyPr wrap="square" anchor="t" lIns="54864" rIns="54864" tIns="54864" bIns="54864">
            <a:spAutoFit/>
          </a:bodyPr>
          <a:lstStyle/>
          <a:p>
            <a:pPr algn="ctr">
              <a:spcAft>
                <a:spcPts val="300"/>
              </a:spcAft>
            </a:pPr>
            <a:r>
              <a:rPr sz="1250" b="0">
                <a:solidFill>
                  <a:srgbClr val="5B6372"/>
                </a:solidFill>
                <a:latin typeface="Arial"/>
              </a:rPr>
              <a:t>Question papers go to learners; answer keys remain trainer-only.</a:t>
            </a:r>
          </a:p>
        </p:txBody>
      </p:sp>
      <p:sp>
        <p:nvSpPr>
          <p:cNvPr id="37" name="TextBox 36"/>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38" name="TextBox 37"/>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39" name="TextBox 38"/>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18</a:t>
            </a:r>
          </a:p>
        </p:txBody>
      </p:sp>
    </p:spTree>
  </p:cSld>
  <p:clrMapOvr>
    <a:masterClrMapping/>
  </p:clrMapOvr>
  <p:transition spd="fast">
    <p:fade/>
  </p:transition>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148840"/>
            <a:ext cx="109728" cy="19659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148840"/>
            <a:ext cx="9601200" cy="365760"/>
          </a:xfrm>
          <a:prstGeom prst="rect">
            <a:avLst/>
          </a:prstGeom>
          <a:noFill/>
        </p:spPr>
        <p:txBody>
          <a:bodyPr wrap="square" anchor="t" lIns="54864" rIns="54864" tIns="54864" bIns="54864">
            <a:spAutoFit/>
          </a:bodyPr>
          <a:lstStyle/>
          <a:p>
            <a:pPr algn="l">
              <a:spcAft>
                <a:spcPts val="300"/>
              </a:spcAft>
            </a:pPr>
            <a:r>
              <a:rPr sz="1600" b="1">
                <a:solidFill>
                  <a:srgbClr val="1F6FEB"/>
                </a:solidFill>
                <a:latin typeface="Arial"/>
              </a:rPr>
              <a:t>TOPIC 01</a:t>
            </a:r>
          </a:p>
        </p:txBody>
      </p:sp>
      <p:sp>
        <p:nvSpPr>
          <p:cNvPr id="6" name="TextBox 5"/>
          <p:cNvSpPr txBox="1"/>
          <p:nvPr/>
        </p:nvSpPr>
        <p:spPr>
          <a:xfrm>
            <a:off x="1143000" y="2560320"/>
            <a:ext cx="9875520" cy="1463040"/>
          </a:xfrm>
          <a:prstGeom prst="rect">
            <a:avLst/>
          </a:prstGeom>
          <a:noFill/>
        </p:spPr>
        <p:txBody>
          <a:bodyPr wrap="square" anchor="ctr" lIns="54864" rIns="54864" tIns="54864" bIns="54864">
            <a:spAutoFit/>
          </a:bodyPr>
          <a:lstStyle/>
          <a:p>
            <a:pPr algn="l">
              <a:spcAft>
                <a:spcPts val="300"/>
              </a:spcAft>
            </a:pPr>
            <a:r>
              <a:rPr sz="3500" b="1">
                <a:solidFill>
                  <a:srgbClr val="161B26"/>
                </a:solidFill>
                <a:latin typeface="Arial"/>
              </a:rPr>
              <a:t>Connecting to and Preparing Data in Tableau Desktop</a:t>
            </a:r>
          </a:p>
        </p:txBody>
      </p:sp>
      <p:sp>
        <p:nvSpPr>
          <p:cNvPr id="7" name="TextBox 6"/>
          <p:cNvSpPr txBox="1"/>
          <p:nvPr/>
        </p:nvSpPr>
        <p:spPr>
          <a:xfrm>
            <a:off x="1161288" y="4160520"/>
            <a:ext cx="9692640" cy="640080"/>
          </a:xfrm>
          <a:prstGeom prst="rect">
            <a:avLst/>
          </a:prstGeom>
          <a:noFill/>
        </p:spPr>
        <p:txBody>
          <a:bodyPr wrap="square" anchor="t" lIns="54864" rIns="54864" tIns="54864" bIns="54864">
            <a:spAutoFit/>
          </a:bodyPr>
          <a:lstStyle/>
          <a:p>
            <a:pPr algn="l">
              <a:spcAft>
                <a:spcPts val="300"/>
              </a:spcAft>
            </a:pPr>
            <a:r>
              <a:rPr sz="1500" b="0">
                <a:solidFill>
                  <a:srgbClr val="5B6372"/>
                </a:solidFill>
                <a:latin typeface="Arial"/>
              </a:rPr>
              <a:t>Official exam weighting 23% · Connections · extracts · metadata · relationships · joins · unions · field properties · Tableau Prep cleansing</a:t>
            </a:r>
          </a:p>
        </p:txBody>
      </p:sp>
      <p:sp>
        <p:nvSpPr>
          <p:cNvPr id="8" name="TextBox 7"/>
          <p:cNvSpPr txBox="1"/>
          <p:nvPr/>
        </p:nvSpPr>
        <p:spPr>
          <a:xfrm>
            <a:off x="9235440" y="594360"/>
            <a:ext cx="2286000" cy="1371600"/>
          </a:xfrm>
          <a:prstGeom prst="rect">
            <a:avLst/>
          </a:prstGeom>
          <a:noFill/>
        </p:spPr>
        <p:txBody>
          <a:bodyPr wrap="square" anchor="t" lIns="54864" rIns="54864" tIns="54864" bIns="54864">
            <a:spAutoFit/>
          </a:bodyPr>
          <a:lstStyle/>
          <a:p>
            <a:pPr algn="r">
              <a:spcAft>
                <a:spcPts val="300"/>
              </a:spcAft>
            </a:pPr>
            <a:r>
              <a:rPr sz="6400" b="1">
                <a:solidFill>
                  <a:srgbClr val="E2E8F0"/>
                </a:solidFill>
                <a:latin typeface="Arial"/>
              </a:rPr>
              <a:t>01</a:t>
            </a:r>
          </a:p>
        </p:txBody>
      </p:sp>
      <p:sp>
        <p:nvSpPr>
          <p:cNvPr id="9" name="TextBox 8"/>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10" name="TextBox 9"/>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11" name="TextBox 10"/>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19</a:t>
            </a:r>
          </a:p>
        </p:txBody>
      </p:sp>
    </p:spTree>
  </p:cSld>
  <p:clrMapOvr>
    <a:masterClrMapping/>
  </p:clrMapOvr>
  <p:transition spd="fast">
    <p:fade/>
  </p:transition>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37744"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47472"/>
            <a:ext cx="10698480" cy="292608"/>
          </a:xfrm>
          <a:prstGeom prst="rect">
            <a:avLst/>
          </a:prstGeom>
          <a:noFill/>
        </p:spPr>
        <p:txBody>
          <a:bodyPr wrap="square" anchor="t" lIns="54864" rIns="54864" tIns="54864" bIns="54864">
            <a:spAutoFit/>
          </a:bodyPr>
          <a:lstStyle/>
          <a:p>
            <a:pPr algn="l">
              <a:spcAft>
                <a:spcPts val="300"/>
              </a:spcAft>
            </a:pPr>
            <a:r>
              <a:rPr sz="1200" b="1">
                <a:solidFill>
                  <a:srgbClr val="1F6FEB"/>
                </a:solidFill>
                <a:latin typeface="Arial"/>
              </a:rPr>
              <a:t>EXAM WEIGHTING 23%</a:t>
            </a:r>
          </a:p>
        </p:txBody>
      </p:sp>
      <p:sp>
        <p:nvSpPr>
          <p:cNvPr id="5" name="TextBox 4"/>
          <p:cNvSpPr txBox="1"/>
          <p:nvPr/>
        </p:nvSpPr>
        <p:spPr>
          <a:xfrm>
            <a:off x="749808" y="713232"/>
            <a:ext cx="10744200" cy="731520"/>
          </a:xfrm>
          <a:prstGeom prst="rect">
            <a:avLst/>
          </a:prstGeom>
          <a:noFill/>
        </p:spPr>
        <p:txBody>
          <a:bodyPr wrap="square" anchor="ctr" lIns="54864" rIns="54864" tIns="54864" bIns="54864">
            <a:spAutoFit/>
          </a:bodyPr>
          <a:lstStyle/>
          <a:p>
            <a:pPr algn="l">
              <a:spcAft>
                <a:spcPts val="300"/>
              </a:spcAft>
            </a:pPr>
            <a:r>
              <a:rPr sz="2700" b="1">
                <a:solidFill>
                  <a:srgbClr val="161B26"/>
                </a:solidFill>
                <a:latin typeface="Arial"/>
              </a:rPr>
              <a:t>Topic 01 — Core Ideas</a:t>
            </a:r>
          </a:p>
        </p:txBody>
      </p:sp>
      <p:sp>
        <p:nvSpPr>
          <p:cNvPr id="6" name="Rectangle 5"/>
          <p:cNvSpPr/>
          <p:nvPr/>
        </p:nvSpPr>
        <p:spPr>
          <a:xfrm>
            <a:off x="749808" y="1536192"/>
            <a:ext cx="106984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8096" y="1764792"/>
            <a:ext cx="5198364" cy="130149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68096" y="1764792"/>
            <a:ext cx="82296" cy="1301495"/>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96695" y="2168652"/>
            <a:ext cx="493776" cy="49377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5" y="2168652"/>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1</a:t>
            </a:r>
          </a:p>
        </p:txBody>
      </p:sp>
      <p:sp>
        <p:nvSpPr>
          <p:cNvPr id="11" name="TextBox 10"/>
          <p:cNvSpPr txBox="1"/>
          <p:nvPr/>
        </p:nvSpPr>
        <p:spPr>
          <a:xfrm>
            <a:off x="1664207" y="1856231"/>
            <a:ext cx="4119372" cy="1136903"/>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Connection strategy</a:t>
            </a:r>
          </a:p>
          <a:p>
            <a:pPr algn="l">
              <a:spcAft>
                <a:spcPts val="300"/>
              </a:spcAft>
            </a:pPr>
            <a:r>
              <a:rPr sz="1200" b="0">
                <a:solidFill>
                  <a:srgbClr val="5B6372"/>
                </a:solidFill>
                <a:latin typeface="Arial"/>
              </a:rPr>
              <a:t>Live prioritises source freshness; extracts prioritise speed, portability and predictable performance.</a:t>
            </a:r>
          </a:p>
        </p:txBody>
      </p:sp>
      <p:sp>
        <p:nvSpPr>
          <p:cNvPr id="12" name="Rectangle 11"/>
          <p:cNvSpPr/>
          <p:nvPr/>
        </p:nvSpPr>
        <p:spPr>
          <a:xfrm>
            <a:off x="6222492" y="1764792"/>
            <a:ext cx="5198364" cy="130149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22492" y="1764792"/>
            <a:ext cx="82296" cy="1301495"/>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51092" y="2168652"/>
            <a:ext cx="493776" cy="49377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51092" y="2168652"/>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2</a:t>
            </a:r>
          </a:p>
        </p:txBody>
      </p:sp>
      <p:sp>
        <p:nvSpPr>
          <p:cNvPr id="16" name="TextBox 15"/>
          <p:cNvSpPr txBox="1"/>
          <p:nvPr/>
        </p:nvSpPr>
        <p:spPr>
          <a:xfrm>
            <a:off x="7118604" y="1856231"/>
            <a:ext cx="4119372" cy="1136903"/>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Model at the right layer</a:t>
            </a:r>
          </a:p>
          <a:p>
            <a:pPr algn="l">
              <a:spcAft>
                <a:spcPts val="300"/>
              </a:spcAft>
            </a:pPr>
            <a:r>
              <a:rPr sz="1200" b="0">
                <a:solidFill>
                  <a:srgbClr val="5B6372"/>
                </a:solidFill>
                <a:latin typeface="Arial"/>
              </a:rPr>
              <a:t>Relationships preserve table grain; joins create one physical row set; unions append rows.</a:t>
            </a:r>
          </a:p>
        </p:txBody>
      </p:sp>
      <p:sp>
        <p:nvSpPr>
          <p:cNvPr id="17" name="Rectangle 16"/>
          <p:cNvSpPr/>
          <p:nvPr/>
        </p:nvSpPr>
        <p:spPr>
          <a:xfrm>
            <a:off x="768096" y="3285743"/>
            <a:ext cx="5198364" cy="130149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68096" y="3285743"/>
            <a:ext cx="82296" cy="1301495"/>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96695" y="3689604"/>
            <a:ext cx="493776" cy="49377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96695" y="3689604"/>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3</a:t>
            </a:r>
          </a:p>
        </p:txBody>
      </p:sp>
      <p:sp>
        <p:nvSpPr>
          <p:cNvPr id="21" name="TextBox 20"/>
          <p:cNvSpPr txBox="1"/>
          <p:nvPr/>
        </p:nvSpPr>
        <p:spPr>
          <a:xfrm>
            <a:off x="1664207" y="3377183"/>
            <a:ext cx="4119372" cy="1136903"/>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Metadata is quality</a:t>
            </a:r>
          </a:p>
          <a:p>
            <a:pPr algn="l">
              <a:spcAft>
                <a:spcPts val="300"/>
              </a:spcAft>
            </a:pPr>
            <a:r>
              <a:rPr sz="1200" b="0">
                <a:solidFill>
                  <a:srgbClr val="5B6372"/>
                </a:solidFill>
                <a:latin typeface="Arial"/>
              </a:rPr>
              <a:t>Names, aliases, types, roles, formats and defaults determine how fields behave.</a:t>
            </a:r>
          </a:p>
        </p:txBody>
      </p:sp>
      <p:sp>
        <p:nvSpPr>
          <p:cNvPr id="22" name="Rectangle 21"/>
          <p:cNvSpPr/>
          <p:nvPr/>
        </p:nvSpPr>
        <p:spPr>
          <a:xfrm>
            <a:off x="6222492" y="3285743"/>
            <a:ext cx="5198364" cy="130149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22492" y="3285743"/>
            <a:ext cx="82296" cy="1301495"/>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51092" y="3689604"/>
            <a:ext cx="493776" cy="49377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51092" y="3689604"/>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4</a:t>
            </a:r>
          </a:p>
        </p:txBody>
      </p:sp>
      <p:sp>
        <p:nvSpPr>
          <p:cNvPr id="26" name="TextBox 25"/>
          <p:cNvSpPr txBox="1"/>
          <p:nvPr/>
        </p:nvSpPr>
        <p:spPr>
          <a:xfrm>
            <a:off x="7118604" y="3377183"/>
            <a:ext cx="4119372" cy="1136903"/>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Clean before you model</a:t>
            </a:r>
          </a:p>
          <a:p>
            <a:pPr algn="l">
              <a:spcAft>
                <a:spcPts val="300"/>
              </a:spcAft>
            </a:pPr>
            <a:r>
              <a:rPr sz="1200" b="0">
                <a:solidFill>
                  <a:srgbClr val="5B6372"/>
                </a:solidFill>
                <a:latin typeface="Arial"/>
              </a:rPr>
              <a:t>Tableau Prep Builder repairs types, splits, nulls, duplicates and inconsistent members before analysis.</a:t>
            </a:r>
          </a:p>
        </p:txBody>
      </p:sp>
      <p:sp>
        <p:nvSpPr>
          <p:cNvPr id="27" name="Rectangle 26"/>
          <p:cNvSpPr/>
          <p:nvPr/>
        </p:nvSpPr>
        <p:spPr>
          <a:xfrm>
            <a:off x="768096" y="4806695"/>
            <a:ext cx="5198364" cy="130149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68096" y="4806695"/>
            <a:ext cx="82296" cy="1301495"/>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996695" y="5210555"/>
            <a:ext cx="493776" cy="49377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96695" y="5210555"/>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5</a:t>
            </a:r>
          </a:p>
        </p:txBody>
      </p:sp>
      <p:sp>
        <p:nvSpPr>
          <p:cNvPr id="31" name="TextBox 30"/>
          <p:cNvSpPr txBox="1"/>
          <p:nvPr/>
        </p:nvSpPr>
        <p:spPr>
          <a:xfrm>
            <a:off x="1664207" y="4898135"/>
            <a:ext cx="4119372" cy="1136903"/>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Validate first</a:t>
            </a:r>
          </a:p>
          <a:p>
            <a:pPr algn="l">
              <a:spcAft>
                <a:spcPts val="300"/>
              </a:spcAft>
            </a:pPr>
            <a:r>
              <a:rPr sz="1200" b="0">
                <a:solidFill>
                  <a:srgbClr val="5B6372"/>
                </a:solidFill>
                <a:latin typeface="Arial"/>
              </a:rPr>
              <a:t>Check row counts, null keys, duplicated grain and unmatched records before trusting a view.</a:t>
            </a:r>
          </a:p>
        </p:txBody>
      </p:sp>
      <p:sp>
        <p:nvSpPr>
          <p:cNvPr id="32" name="TextBox 31"/>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33" name="TextBox 32"/>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34" name="TextBox 33"/>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20</a:t>
            </a:r>
          </a:p>
        </p:txBody>
      </p:sp>
    </p:spTree>
  </p:cSld>
  <p:clrMapOvr>
    <a:masterClrMapping/>
  </p:clrMapOvr>
  <p:transition spd="fast">
    <p:fade/>
  </p:transition>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37744"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47472"/>
            <a:ext cx="10698480" cy="292608"/>
          </a:xfrm>
          <a:prstGeom prst="rect">
            <a:avLst/>
          </a:prstGeom>
          <a:noFill/>
        </p:spPr>
        <p:txBody>
          <a:bodyPr wrap="square" anchor="t" lIns="54864" rIns="54864" tIns="54864" bIns="54864">
            <a:spAutoFit/>
          </a:bodyPr>
          <a:lstStyle/>
          <a:p>
            <a:pPr algn="l">
              <a:spcAft>
                <a:spcPts val="300"/>
              </a:spcAft>
            </a:pPr>
            <a:r>
              <a:rPr sz="1200" b="1">
                <a:solidFill>
                  <a:srgbClr val="1F6FEB"/>
                </a:solidFill>
                <a:latin typeface="Arial"/>
              </a:rPr>
              <a:t>OFFICIAL SCOPE</a:t>
            </a:r>
          </a:p>
        </p:txBody>
      </p:sp>
      <p:sp>
        <p:nvSpPr>
          <p:cNvPr id="5" name="TextBox 4"/>
          <p:cNvSpPr txBox="1"/>
          <p:nvPr/>
        </p:nvSpPr>
        <p:spPr>
          <a:xfrm>
            <a:off x="749808" y="713232"/>
            <a:ext cx="10744200" cy="731520"/>
          </a:xfrm>
          <a:prstGeom prst="rect">
            <a:avLst/>
          </a:prstGeom>
          <a:noFill/>
        </p:spPr>
        <p:txBody>
          <a:bodyPr wrap="square" anchor="ctr" lIns="54864" rIns="54864" tIns="54864" bIns="54864">
            <a:spAutoFit/>
          </a:bodyPr>
          <a:lstStyle/>
          <a:p>
            <a:pPr algn="l">
              <a:spcAft>
                <a:spcPts val="300"/>
              </a:spcAft>
            </a:pPr>
            <a:r>
              <a:rPr sz="2700" b="1">
                <a:solidFill>
                  <a:srgbClr val="161B26"/>
                </a:solidFill>
                <a:latin typeface="Arial"/>
              </a:rPr>
              <a:t>Topic 01 Blueprint</a:t>
            </a:r>
          </a:p>
        </p:txBody>
      </p:sp>
      <p:sp>
        <p:nvSpPr>
          <p:cNvPr id="6" name="Rectangle 5"/>
          <p:cNvSpPr/>
          <p:nvPr/>
        </p:nvSpPr>
        <p:spPr>
          <a:xfrm>
            <a:off x="749808" y="1536192"/>
            <a:ext cx="106984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8096" y="1783080"/>
            <a:ext cx="3550920" cy="8686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1801368"/>
            <a:ext cx="3477768" cy="832103"/>
          </a:xfrm>
          <a:prstGeom prst="rect">
            <a:avLst/>
          </a:prstGeom>
          <a:noFill/>
        </p:spPr>
        <p:txBody>
          <a:bodyPr wrap="square" anchor="ctr" lIns="54864" rIns="54864" tIns="54864" bIns="54864">
            <a:spAutoFit/>
          </a:bodyPr>
          <a:lstStyle/>
          <a:p>
            <a:pPr algn="ctr">
              <a:spcAft>
                <a:spcPts val="300"/>
              </a:spcAft>
            </a:pPr>
            <a:r>
              <a:rPr sz="1150" b="1">
                <a:solidFill>
                  <a:srgbClr val="FFFFFF"/>
                </a:solidFill>
                <a:latin typeface="Arial"/>
              </a:rPr>
              <a:t>Objective group</a:t>
            </a:r>
          </a:p>
        </p:txBody>
      </p:sp>
      <p:sp>
        <p:nvSpPr>
          <p:cNvPr id="9" name="Rectangle 8"/>
          <p:cNvSpPr/>
          <p:nvPr/>
        </p:nvSpPr>
        <p:spPr>
          <a:xfrm>
            <a:off x="4319016" y="1783080"/>
            <a:ext cx="3550920" cy="8686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355592" y="1801368"/>
            <a:ext cx="3477768" cy="832103"/>
          </a:xfrm>
          <a:prstGeom prst="rect">
            <a:avLst/>
          </a:prstGeom>
          <a:noFill/>
        </p:spPr>
        <p:txBody>
          <a:bodyPr wrap="square" anchor="ctr" lIns="54864" rIns="54864" tIns="54864" bIns="54864">
            <a:spAutoFit/>
          </a:bodyPr>
          <a:lstStyle/>
          <a:p>
            <a:pPr algn="ctr">
              <a:spcAft>
                <a:spcPts val="300"/>
              </a:spcAft>
            </a:pPr>
            <a:r>
              <a:rPr sz="1150" b="1">
                <a:solidFill>
                  <a:srgbClr val="FFFFFF"/>
                </a:solidFill>
                <a:latin typeface="Arial"/>
              </a:rPr>
              <a:t>Codes</a:t>
            </a:r>
          </a:p>
        </p:txBody>
      </p:sp>
      <p:sp>
        <p:nvSpPr>
          <p:cNvPr id="11" name="Rectangle 10"/>
          <p:cNvSpPr/>
          <p:nvPr/>
        </p:nvSpPr>
        <p:spPr>
          <a:xfrm>
            <a:off x="7869936" y="1783080"/>
            <a:ext cx="3550920" cy="8686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906512" y="1801368"/>
            <a:ext cx="3477768" cy="832103"/>
          </a:xfrm>
          <a:prstGeom prst="rect">
            <a:avLst/>
          </a:prstGeom>
          <a:noFill/>
        </p:spPr>
        <p:txBody>
          <a:bodyPr wrap="square" anchor="ctr" lIns="54864" rIns="54864" tIns="54864" bIns="54864">
            <a:spAutoFit/>
          </a:bodyPr>
          <a:lstStyle/>
          <a:p>
            <a:pPr algn="ctr">
              <a:spcAft>
                <a:spcPts val="300"/>
              </a:spcAft>
            </a:pPr>
            <a:r>
              <a:rPr sz="1150" b="1">
                <a:solidFill>
                  <a:srgbClr val="FFFFFF"/>
                </a:solidFill>
                <a:latin typeface="Arial"/>
              </a:rPr>
              <a:t>Objectives</a:t>
            </a:r>
          </a:p>
        </p:txBody>
      </p:sp>
      <p:sp>
        <p:nvSpPr>
          <p:cNvPr id="13" name="Rectangle 12"/>
          <p:cNvSpPr/>
          <p:nvPr/>
        </p:nvSpPr>
        <p:spPr>
          <a:xfrm>
            <a:off x="768096" y="2651760"/>
            <a:ext cx="3550920" cy="8686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 y="2670048"/>
            <a:ext cx="3441192" cy="832103"/>
          </a:xfrm>
          <a:prstGeom prst="rect">
            <a:avLst/>
          </a:prstGeom>
          <a:noFill/>
        </p:spPr>
        <p:txBody>
          <a:bodyPr wrap="square" anchor="ctr" lIns="54864" rIns="54864" tIns="54864" bIns="54864">
            <a:spAutoFit/>
          </a:bodyPr>
          <a:lstStyle/>
          <a:p>
            <a:pPr algn="l">
              <a:spcAft>
                <a:spcPts val="300"/>
              </a:spcAft>
            </a:pPr>
            <a:r>
              <a:rPr sz="1050" b="1">
                <a:solidFill>
                  <a:srgbClr val="161B26"/>
                </a:solidFill>
                <a:latin typeface="Arial"/>
              </a:rPr>
              <a:t>Create live connections and extracts</a:t>
            </a:r>
          </a:p>
        </p:txBody>
      </p:sp>
      <p:sp>
        <p:nvSpPr>
          <p:cNvPr id="15" name="Rectangle 14"/>
          <p:cNvSpPr/>
          <p:nvPr/>
        </p:nvSpPr>
        <p:spPr>
          <a:xfrm>
            <a:off x="4319016" y="2651760"/>
            <a:ext cx="3550920" cy="8686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73880" y="2670048"/>
            <a:ext cx="3441192" cy="832103"/>
          </a:xfrm>
          <a:prstGeom prst="rect">
            <a:avLst/>
          </a:prstGeom>
          <a:noFill/>
        </p:spPr>
        <p:txBody>
          <a:bodyPr wrap="square" anchor="ctr" lIns="54864" rIns="54864" tIns="54864" bIns="54864">
            <a:spAutoFit/>
          </a:bodyPr>
          <a:lstStyle/>
          <a:p>
            <a:pPr algn="l">
              <a:spcAft>
                <a:spcPts val="300"/>
              </a:spcAft>
            </a:pPr>
            <a:r>
              <a:rPr sz="1050" b="0">
                <a:solidFill>
                  <a:srgbClr val="161B26"/>
                </a:solidFill>
                <a:latin typeface="Arial"/>
              </a:rPr>
              <a:t>1.1.1–1.1.5</a:t>
            </a:r>
          </a:p>
        </p:txBody>
      </p:sp>
      <p:sp>
        <p:nvSpPr>
          <p:cNvPr id="17" name="Rectangle 16"/>
          <p:cNvSpPr/>
          <p:nvPr/>
        </p:nvSpPr>
        <p:spPr>
          <a:xfrm>
            <a:off x="7869936" y="2651760"/>
            <a:ext cx="3550920" cy="8686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24799" y="2670048"/>
            <a:ext cx="3441192" cy="832103"/>
          </a:xfrm>
          <a:prstGeom prst="rect">
            <a:avLst/>
          </a:prstGeom>
          <a:noFill/>
        </p:spPr>
        <p:txBody>
          <a:bodyPr wrap="square" anchor="ctr" lIns="54864" rIns="54864" tIns="54864" bIns="54864">
            <a:spAutoFit/>
          </a:bodyPr>
          <a:lstStyle/>
          <a:p>
            <a:pPr algn="l">
              <a:spcAft>
                <a:spcPts val="300"/>
              </a:spcAft>
            </a:pPr>
            <a:r>
              <a:rPr sz="1050" b="0">
                <a:solidFill>
                  <a:srgbClr val="161B26"/>
                </a:solidFill>
                <a:latin typeface="Arial"/>
              </a:rPr>
              <a:t>5</a:t>
            </a:r>
          </a:p>
        </p:txBody>
      </p:sp>
      <p:sp>
        <p:nvSpPr>
          <p:cNvPr id="19" name="Rectangle 18"/>
          <p:cNvSpPr/>
          <p:nvPr/>
        </p:nvSpPr>
        <p:spPr>
          <a:xfrm>
            <a:off x="768096" y="3520439"/>
            <a:ext cx="3550920" cy="86868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60" y="3538727"/>
            <a:ext cx="3441192" cy="832103"/>
          </a:xfrm>
          <a:prstGeom prst="rect">
            <a:avLst/>
          </a:prstGeom>
          <a:noFill/>
        </p:spPr>
        <p:txBody>
          <a:bodyPr wrap="square" anchor="ctr" lIns="54864" rIns="54864" tIns="54864" bIns="54864">
            <a:spAutoFit/>
          </a:bodyPr>
          <a:lstStyle/>
          <a:p>
            <a:pPr algn="l">
              <a:spcAft>
                <a:spcPts val="300"/>
              </a:spcAft>
            </a:pPr>
            <a:r>
              <a:rPr sz="1050" b="1">
                <a:solidFill>
                  <a:srgbClr val="161B26"/>
                </a:solidFill>
                <a:latin typeface="Arial"/>
              </a:rPr>
              <a:t>Create and manage the data model</a:t>
            </a:r>
          </a:p>
        </p:txBody>
      </p:sp>
      <p:sp>
        <p:nvSpPr>
          <p:cNvPr id="21" name="Rectangle 20"/>
          <p:cNvSpPr/>
          <p:nvPr/>
        </p:nvSpPr>
        <p:spPr>
          <a:xfrm>
            <a:off x="4319016" y="3520439"/>
            <a:ext cx="3550920" cy="86868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373880" y="3538727"/>
            <a:ext cx="3441192" cy="832103"/>
          </a:xfrm>
          <a:prstGeom prst="rect">
            <a:avLst/>
          </a:prstGeom>
          <a:noFill/>
        </p:spPr>
        <p:txBody>
          <a:bodyPr wrap="square" anchor="ctr" lIns="54864" rIns="54864" tIns="54864" bIns="54864">
            <a:spAutoFit/>
          </a:bodyPr>
          <a:lstStyle/>
          <a:p>
            <a:pPr algn="l">
              <a:spcAft>
                <a:spcPts val="300"/>
              </a:spcAft>
            </a:pPr>
            <a:r>
              <a:rPr sz="1050" b="0">
                <a:solidFill>
                  <a:srgbClr val="161B26"/>
                </a:solidFill>
                <a:latin typeface="Arial"/>
              </a:rPr>
              <a:t>1.2.1–1.2.3</a:t>
            </a:r>
          </a:p>
        </p:txBody>
      </p:sp>
      <p:sp>
        <p:nvSpPr>
          <p:cNvPr id="23" name="Rectangle 22"/>
          <p:cNvSpPr/>
          <p:nvPr/>
        </p:nvSpPr>
        <p:spPr>
          <a:xfrm>
            <a:off x="7869936" y="3520439"/>
            <a:ext cx="3550920" cy="86868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924799" y="3538727"/>
            <a:ext cx="3441192" cy="832103"/>
          </a:xfrm>
          <a:prstGeom prst="rect">
            <a:avLst/>
          </a:prstGeom>
          <a:noFill/>
        </p:spPr>
        <p:txBody>
          <a:bodyPr wrap="square" anchor="ctr" lIns="54864" rIns="54864" tIns="54864" bIns="54864">
            <a:spAutoFit/>
          </a:bodyPr>
          <a:lstStyle/>
          <a:p>
            <a:pPr algn="l">
              <a:spcAft>
                <a:spcPts val="300"/>
              </a:spcAft>
            </a:pPr>
            <a:r>
              <a:rPr sz="1050" b="0">
                <a:solidFill>
                  <a:srgbClr val="161B26"/>
                </a:solidFill>
                <a:latin typeface="Arial"/>
              </a:rPr>
              <a:t>4</a:t>
            </a:r>
          </a:p>
        </p:txBody>
      </p:sp>
      <p:sp>
        <p:nvSpPr>
          <p:cNvPr id="25" name="Rectangle 24"/>
          <p:cNvSpPr/>
          <p:nvPr/>
        </p:nvSpPr>
        <p:spPr>
          <a:xfrm>
            <a:off x="768096" y="4389120"/>
            <a:ext cx="3550920" cy="8686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2960" y="4407407"/>
            <a:ext cx="3441192" cy="832103"/>
          </a:xfrm>
          <a:prstGeom prst="rect">
            <a:avLst/>
          </a:prstGeom>
          <a:noFill/>
        </p:spPr>
        <p:txBody>
          <a:bodyPr wrap="square" anchor="ctr" lIns="54864" rIns="54864" tIns="54864" bIns="54864">
            <a:spAutoFit/>
          </a:bodyPr>
          <a:lstStyle/>
          <a:p>
            <a:pPr algn="l">
              <a:spcAft>
                <a:spcPts val="300"/>
              </a:spcAft>
            </a:pPr>
            <a:r>
              <a:rPr sz="1050" b="1">
                <a:solidFill>
                  <a:srgbClr val="161B26"/>
                </a:solidFill>
                <a:latin typeface="Arial"/>
              </a:rPr>
              <a:t>Manage data properties</a:t>
            </a:r>
          </a:p>
        </p:txBody>
      </p:sp>
      <p:sp>
        <p:nvSpPr>
          <p:cNvPr id="27" name="Rectangle 26"/>
          <p:cNvSpPr/>
          <p:nvPr/>
        </p:nvSpPr>
        <p:spPr>
          <a:xfrm>
            <a:off x="4319016" y="4389120"/>
            <a:ext cx="3550920" cy="8686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373880" y="4407407"/>
            <a:ext cx="3441192" cy="832103"/>
          </a:xfrm>
          <a:prstGeom prst="rect">
            <a:avLst/>
          </a:prstGeom>
          <a:noFill/>
        </p:spPr>
        <p:txBody>
          <a:bodyPr wrap="square" anchor="ctr" lIns="54864" rIns="54864" tIns="54864" bIns="54864">
            <a:spAutoFit/>
          </a:bodyPr>
          <a:lstStyle/>
          <a:p>
            <a:pPr algn="l">
              <a:spcAft>
                <a:spcPts val="300"/>
              </a:spcAft>
            </a:pPr>
            <a:r>
              <a:rPr sz="1050" b="0">
                <a:solidFill>
                  <a:srgbClr val="161B26"/>
                </a:solidFill>
                <a:latin typeface="Arial"/>
              </a:rPr>
              <a:t>1.3.1–1.3.5</a:t>
            </a:r>
          </a:p>
        </p:txBody>
      </p:sp>
      <p:sp>
        <p:nvSpPr>
          <p:cNvPr id="29" name="Rectangle 28"/>
          <p:cNvSpPr/>
          <p:nvPr/>
        </p:nvSpPr>
        <p:spPr>
          <a:xfrm>
            <a:off x="7869936" y="4389120"/>
            <a:ext cx="3550920" cy="8686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924799" y="4407407"/>
            <a:ext cx="3441192" cy="832103"/>
          </a:xfrm>
          <a:prstGeom prst="rect">
            <a:avLst/>
          </a:prstGeom>
          <a:noFill/>
        </p:spPr>
        <p:txBody>
          <a:bodyPr wrap="square" anchor="ctr" lIns="54864" rIns="54864" tIns="54864" bIns="54864">
            <a:spAutoFit/>
          </a:bodyPr>
          <a:lstStyle/>
          <a:p>
            <a:pPr algn="l">
              <a:spcAft>
                <a:spcPts val="300"/>
              </a:spcAft>
            </a:pPr>
            <a:r>
              <a:rPr sz="1050" b="0">
                <a:solidFill>
                  <a:srgbClr val="161B26"/>
                </a:solidFill>
                <a:latin typeface="Arial"/>
              </a:rPr>
              <a:t>5</a:t>
            </a:r>
          </a:p>
        </p:txBody>
      </p:sp>
      <p:sp>
        <p:nvSpPr>
          <p:cNvPr id="31" name="Rectangle 30"/>
          <p:cNvSpPr/>
          <p:nvPr/>
        </p:nvSpPr>
        <p:spPr>
          <a:xfrm>
            <a:off x="768096" y="5257800"/>
            <a:ext cx="3550920" cy="86868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2960" y="5276088"/>
            <a:ext cx="3441192" cy="832103"/>
          </a:xfrm>
          <a:prstGeom prst="rect">
            <a:avLst/>
          </a:prstGeom>
          <a:noFill/>
        </p:spPr>
        <p:txBody>
          <a:bodyPr wrap="square" anchor="ctr" lIns="54864" rIns="54864" tIns="54864" bIns="54864">
            <a:spAutoFit/>
          </a:bodyPr>
          <a:lstStyle/>
          <a:p>
            <a:pPr algn="l">
              <a:spcAft>
                <a:spcPts val="300"/>
              </a:spcAft>
            </a:pPr>
            <a:r>
              <a:rPr sz="1050" b="1">
                <a:solidFill>
                  <a:srgbClr val="161B26"/>
                </a:solidFill>
                <a:latin typeface="Arial"/>
              </a:rPr>
              <a:t>Cleanse data with Tableau Prep Builder</a:t>
            </a:r>
          </a:p>
        </p:txBody>
      </p:sp>
      <p:sp>
        <p:nvSpPr>
          <p:cNvPr id="33" name="Rectangle 32"/>
          <p:cNvSpPr/>
          <p:nvPr/>
        </p:nvSpPr>
        <p:spPr>
          <a:xfrm>
            <a:off x="4319016" y="5257800"/>
            <a:ext cx="3550920" cy="86868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373880" y="5276088"/>
            <a:ext cx="3441192" cy="832103"/>
          </a:xfrm>
          <a:prstGeom prst="rect">
            <a:avLst/>
          </a:prstGeom>
          <a:noFill/>
        </p:spPr>
        <p:txBody>
          <a:bodyPr wrap="square" anchor="ctr" lIns="54864" rIns="54864" tIns="54864" bIns="54864">
            <a:spAutoFit/>
          </a:bodyPr>
          <a:lstStyle/>
          <a:p>
            <a:pPr algn="l">
              <a:spcAft>
                <a:spcPts val="300"/>
              </a:spcAft>
            </a:pPr>
            <a:r>
              <a:rPr sz="1050" b="0">
                <a:solidFill>
                  <a:srgbClr val="161B26"/>
                </a:solidFill>
                <a:latin typeface="Arial"/>
              </a:rPr>
              <a:t>1.4.1–1.4.10</a:t>
            </a:r>
          </a:p>
        </p:txBody>
      </p:sp>
      <p:sp>
        <p:nvSpPr>
          <p:cNvPr id="35" name="Rectangle 34"/>
          <p:cNvSpPr/>
          <p:nvPr/>
        </p:nvSpPr>
        <p:spPr>
          <a:xfrm>
            <a:off x="7869936" y="5257800"/>
            <a:ext cx="3550920" cy="86868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924799" y="5276088"/>
            <a:ext cx="3441192" cy="832103"/>
          </a:xfrm>
          <a:prstGeom prst="rect">
            <a:avLst/>
          </a:prstGeom>
          <a:noFill/>
        </p:spPr>
        <p:txBody>
          <a:bodyPr wrap="square" anchor="ctr" lIns="54864" rIns="54864" tIns="54864" bIns="54864">
            <a:spAutoFit/>
          </a:bodyPr>
          <a:lstStyle/>
          <a:p>
            <a:pPr algn="l">
              <a:spcAft>
                <a:spcPts val="300"/>
              </a:spcAft>
            </a:pPr>
            <a:r>
              <a:rPr sz="1050" b="0">
                <a:solidFill>
                  <a:srgbClr val="161B26"/>
                </a:solidFill>
                <a:latin typeface="Arial"/>
              </a:rPr>
              <a:t>10</a:t>
            </a:r>
          </a:p>
        </p:txBody>
      </p:sp>
      <p:sp>
        <p:nvSpPr>
          <p:cNvPr id="37" name="TextBox 36"/>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38" name="TextBox 37"/>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39" name="TextBox 38"/>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21</a:t>
            </a:r>
          </a:p>
        </p:txBody>
      </p:sp>
    </p:spTree>
  </p:cSld>
  <p:clrMapOvr>
    <a:masterClrMapping/>
  </p:clrMapOvr>
  <p:transition spd="fast">
    <p:fade/>
  </p:transition>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37744"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47472"/>
            <a:ext cx="10698480" cy="292608"/>
          </a:xfrm>
          <a:prstGeom prst="rect">
            <a:avLst/>
          </a:prstGeom>
          <a:noFill/>
        </p:spPr>
        <p:txBody>
          <a:bodyPr wrap="square" anchor="t" lIns="54864" rIns="54864" tIns="54864" bIns="54864">
            <a:spAutoFit/>
          </a:bodyPr>
          <a:lstStyle/>
          <a:p>
            <a:pPr algn="l">
              <a:spcAft>
                <a:spcPts val="300"/>
              </a:spcAft>
            </a:pPr>
            <a:r>
              <a:rPr sz="1200" b="1">
                <a:solidFill>
                  <a:srgbClr val="1F6FEB"/>
                </a:solidFill>
                <a:latin typeface="Arial"/>
              </a:rPr>
              <a:t>CONCEPT VISUAL · SYNTHETIC SECONDS</a:t>
            </a:r>
          </a:p>
        </p:txBody>
      </p:sp>
      <p:sp>
        <p:nvSpPr>
          <p:cNvPr id="5" name="TextBox 4"/>
          <p:cNvSpPr txBox="1"/>
          <p:nvPr/>
        </p:nvSpPr>
        <p:spPr>
          <a:xfrm>
            <a:off x="749808" y="713232"/>
            <a:ext cx="10744200" cy="731520"/>
          </a:xfrm>
          <a:prstGeom prst="rect">
            <a:avLst/>
          </a:prstGeom>
          <a:noFill/>
        </p:spPr>
        <p:txBody>
          <a:bodyPr wrap="square" anchor="ctr" lIns="54864" rIns="54864" tIns="54864" bIns="54864">
            <a:spAutoFit/>
          </a:bodyPr>
          <a:lstStyle/>
          <a:p>
            <a:pPr algn="l">
              <a:spcAft>
                <a:spcPts val="300"/>
              </a:spcAft>
            </a:pPr>
            <a:r>
              <a:rPr sz="2700" b="1">
                <a:solidFill>
                  <a:srgbClr val="161B26"/>
                </a:solidFill>
                <a:latin typeface="Arial"/>
              </a:rPr>
              <a:t>Illustrative Query Response: Live vs Extract</a:t>
            </a:r>
          </a:p>
        </p:txBody>
      </p:sp>
      <p:sp>
        <p:nvSpPr>
          <p:cNvPr id="6" name="Rectangle 5"/>
          <p:cNvSpPr/>
          <p:nvPr/>
        </p:nvSpPr>
        <p:spPr>
          <a:xfrm>
            <a:off x="749808" y="1536192"/>
            <a:ext cx="106984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Chart 6"/>
          <p:cNvGraphicFramePr>
            <a:graphicFrameLocks noGrp="1"/>
          </p:cNvGraphicFramePr>
          <p:nvPr/>
        </p:nvGraphicFramePr>
        <p:xfrm>
          <a:off x="914400" y="1828800"/>
          <a:ext cx="10332720" cy="3886200"/>
        </p:xfrm>
        <a:graphic>
          <a:graphicData uri="http://schemas.openxmlformats.org/drawingml/2006/chart">
            <c:chart xmlns:c="http://schemas.openxmlformats.org/drawingml/2006/chart" r:id="rId2"/>
          </a:graphicData>
        </a:graphic>
      </p:graphicFrame>
      <p:sp>
        <p:nvSpPr>
          <p:cNvPr id="8" name="TextBox 7"/>
          <p:cNvSpPr txBox="1"/>
          <p:nvPr/>
        </p:nvSpPr>
        <p:spPr>
          <a:xfrm>
            <a:off x="914400" y="5760720"/>
            <a:ext cx="10241280" cy="411480"/>
          </a:xfrm>
          <a:prstGeom prst="rect">
            <a:avLst/>
          </a:prstGeom>
          <a:noFill/>
        </p:spPr>
        <p:txBody>
          <a:bodyPr wrap="square" anchor="t" lIns="54864" rIns="54864" tIns="54864" bIns="54864">
            <a:spAutoFit/>
          </a:bodyPr>
          <a:lstStyle/>
          <a:p>
            <a:pPr algn="ctr">
              <a:spcAft>
                <a:spcPts val="300"/>
              </a:spcAft>
            </a:pPr>
            <a:r>
              <a:rPr sz="1150" b="0">
                <a:solidFill>
                  <a:srgbClr val="5B6372"/>
                </a:solidFill>
                <a:latin typeface="Arial"/>
              </a:rPr>
              <a:t>Illustrative only: actual performance depends on source, network, filters, extract design and workload.</a:t>
            </a:r>
          </a:p>
        </p:txBody>
      </p:sp>
      <p:sp>
        <p:nvSpPr>
          <p:cNvPr id="9" name="TextBox 8"/>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10" name="TextBox 9"/>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11" name="TextBox 10"/>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22</a:t>
            </a:r>
          </a:p>
        </p:txBody>
      </p:sp>
    </p:spTree>
  </p:cSld>
  <p:clrMapOvr>
    <a:masterClrMapping/>
  </p:clrMapOvr>
  <p:transition spd="fast">
    <p:fade/>
  </p:transition>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37744"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47472"/>
            <a:ext cx="10698480" cy="292608"/>
          </a:xfrm>
          <a:prstGeom prst="rect">
            <a:avLst/>
          </a:prstGeom>
          <a:noFill/>
        </p:spPr>
        <p:txBody>
          <a:bodyPr wrap="square" anchor="t" lIns="54864" rIns="54864" tIns="54864" bIns="54864">
            <a:spAutoFit/>
          </a:bodyPr>
          <a:lstStyle/>
          <a:p>
            <a:pPr algn="l">
              <a:spcAft>
                <a:spcPts val="300"/>
              </a:spcAft>
            </a:pPr>
            <a:r>
              <a:rPr sz="1200" b="1">
                <a:solidFill>
                  <a:srgbClr val="1F6FEB"/>
                </a:solidFill>
                <a:latin typeface="Arial"/>
              </a:rPr>
              <a:t>DOMAIN 1 · SECTION 1</a:t>
            </a:r>
          </a:p>
        </p:txBody>
      </p:sp>
      <p:sp>
        <p:nvSpPr>
          <p:cNvPr id="5" name="TextBox 4"/>
          <p:cNvSpPr txBox="1"/>
          <p:nvPr/>
        </p:nvSpPr>
        <p:spPr>
          <a:xfrm>
            <a:off x="749808" y="713232"/>
            <a:ext cx="10744200" cy="731520"/>
          </a:xfrm>
          <a:prstGeom prst="rect">
            <a:avLst/>
          </a:prstGeom>
          <a:noFill/>
        </p:spPr>
        <p:txBody>
          <a:bodyPr wrap="square" anchor="ctr" lIns="54864" rIns="54864" tIns="54864" bIns="54864">
            <a:spAutoFit/>
          </a:bodyPr>
          <a:lstStyle/>
          <a:p>
            <a:pPr algn="l">
              <a:spcAft>
                <a:spcPts val="300"/>
              </a:spcAft>
            </a:pPr>
            <a:r>
              <a:rPr sz="2700" b="1">
                <a:solidFill>
                  <a:srgbClr val="161B26"/>
                </a:solidFill>
                <a:latin typeface="Arial"/>
              </a:rPr>
              <a:t>Create live connections and extracts</a:t>
            </a:r>
          </a:p>
        </p:txBody>
      </p:sp>
      <p:sp>
        <p:nvSpPr>
          <p:cNvPr id="6" name="Rectangle 5"/>
          <p:cNvSpPr/>
          <p:nvPr/>
        </p:nvSpPr>
        <p:spPr>
          <a:xfrm>
            <a:off x="749808" y="1536192"/>
            <a:ext cx="106984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8096"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68096" y="1764792"/>
            <a:ext cx="82296" cy="206197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96695" y="2548890"/>
            <a:ext cx="493776" cy="49377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5"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1</a:t>
            </a:r>
          </a:p>
        </p:txBody>
      </p:sp>
      <p:sp>
        <p:nvSpPr>
          <p:cNvPr id="11" name="TextBox 10"/>
          <p:cNvSpPr txBox="1"/>
          <p:nvPr/>
        </p:nvSpPr>
        <p:spPr>
          <a:xfrm>
            <a:off x="1664207"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Live</a:t>
            </a:r>
          </a:p>
          <a:p>
            <a:pPr algn="l">
              <a:spcAft>
                <a:spcPts val="300"/>
              </a:spcAft>
            </a:pPr>
            <a:r>
              <a:rPr sz="1200" b="0">
                <a:solidFill>
                  <a:srgbClr val="5B6372"/>
                </a:solidFill>
                <a:latin typeface="Arial"/>
              </a:rPr>
              <a:t>Queries the source as the view runs; current but dependent on source performance and availability.</a:t>
            </a:r>
          </a:p>
        </p:txBody>
      </p:sp>
      <p:sp>
        <p:nvSpPr>
          <p:cNvPr id="12" name="Rectangle 11"/>
          <p:cNvSpPr/>
          <p:nvPr/>
        </p:nvSpPr>
        <p:spPr>
          <a:xfrm>
            <a:off x="6222492"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22492" y="1764792"/>
            <a:ext cx="82296" cy="206197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51092" y="2548890"/>
            <a:ext cx="493776" cy="49377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51092"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2</a:t>
            </a:r>
          </a:p>
        </p:txBody>
      </p:sp>
      <p:sp>
        <p:nvSpPr>
          <p:cNvPr id="16" name="TextBox 15"/>
          <p:cNvSpPr txBox="1"/>
          <p:nvPr/>
        </p:nvSpPr>
        <p:spPr>
          <a:xfrm>
            <a:off x="7118604"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Extract</a:t>
            </a:r>
          </a:p>
          <a:p>
            <a:pPr algn="l">
              <a:spcAft>
                <a:spcPts val="300"/>
              </a:spcAft>
            </a:pPr>
            <a:r>
              <a:rPr sz="1200" b="0">
                <a:solidFill>
                  <a:srgbClr val="5B6372"/>
                </a:solidFill>
                <a:latin typeface="Arial"/>
              </a:rPr>
              <a:t>A local .hyper snapshot optimised for analytics, portability and offline work.</a:t>
            </a:r>
          </a:p>
        </p:txBody>
      </p:sp>
      <p:sp>
        <p:nvSpPr>
          <p:cNvPr id="17" name="Rectangle 16"/>
          <p:cNvSpPr/>
          <p:nvPr/>
        </p:nvSpPr>
        <p:spPr>
          <a:xfrm>
            <a:off x="768096"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68096" y="4046220"/>
            <a:ext cx="82296" cy="206197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96695" y="4830318"/>
            <a:ext cx="493776" cy="49377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96695"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3</a:t>
            </a:r>
          </a:p>
        </p:txBody>
      </p:sp>
      <p:sp>
        <p:nvSpPr>
          <p:cNvPr id="21" name="TextBox 20"/>
          <p:cNvSpPr txBox="1"/>
          <p:nvPr/>
        </p:nvSpPr>
        <p:spPr>
          <a:xfrm>
            <a:off x="1664207"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.TDS metadata</a:t>
            </a:r>
          </a:p>
          <a:p>
            <a:pPr algn="l">
              <a:spcAft>
                <a:spcPts val="300"/>
              </a:spcAft>
            </a:pPr>
            <a:r>
              <a:rPr sz="1200" b="0">
                <a:solidFill>
                  <a:srgbClr val="5B6372"/>
                </a:solidFill>
                <a:latin typeface="Arial"/>
              </a:rPr>
              <a:t>Stores connection and field metadata; .TDSX can package local dependencies.</a:t>
            </a:r>
          </a:p>
        </p:txBody>
      </p:sp>
      <p:sp>
        <p:nvSpPr>
          <p:cNvPr id="22" name="Rectangle 21"/>
          <p:cNvSpPr/>
          <p:nvPr/>
        </p:nvSpPr>
        <p:spPr>
          <a:xfrm>
            <a:off x="6222492"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22492" y="4046220"/>
            <a:ext cx="82296" cy="206197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51092" y="4830318"/>
            <a:ext cx="493776" cy="49377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51092"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4</a:t>
            </a:r>
          </a:p>
        </p:txBody>
      </p:sp>
      <p:sp>
        <p:nvSpPr>
          <p:cNvPr id="26" name="TextBox 25"/>
          <p:cNvSpPr txBox="1"/>
          <p:nvPr/>
        </p:nvSpPr>
        <p:spPr>
          <a:xfrm>
            <a:off x="7118604"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Multiple connections</a:t>
            </a:r>
          </a:p>
          <a:p>
            <a:pPr algn="l">
              <a:spcAft>
                <a:spcPts val="300"/>
              </a:spcAft>
            </a:pPr>
            <a:r>
              <a:rPr sz="1200" b="0">
                <a:solidFill>
                  <a:srgbClr val="5B6372"/>
                </a:solidFill>
                <a:latin typeface="Arial"/>
              </a:rPr>
              <a:t>One Tableau data source can contain several connections and logical tables.</a:t>
            </a:r>
          </a:p>
        </p:txBody>
      </p:sp>
      <p:sp>
        <p:nvSpPr>
          <p:cNvPr id="27" name="TextBox 26"/>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28" name="TextBox 27"/>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29" name="TextBox 28"/>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23</a:t>
            </a:r>
          </a:p>
        </p:txBody>
      </p:sp>
    </p:spTree>
  </p:cSld>
  <p:clrMapOvr>
    <a:masterClrMapping/>
  </p:clrMapOvr>
  <p:transition spd="fast">
    <p:fade/>
  </p:transition>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37744"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47472"/>
            <a:ext cx="10698480" cy="292608"/>
          </a:xfrm>
          <a:prstGeom prst="rect">
            <a:avLst/>
          </a:prstGeom>
          <a:noFill/>
        </p:spPr>
        <p:txBody>
          <a:bodyPr wrap="square" anchor="t" lIns="54864" rIns="54864" tIns="54864" bIns="54864">
            <a:spAutoFit/>
          </a:bodyPr>
          <a:lstStyle/>
          <a:p>
            <a:pPr algn="l">
              <a:spcAft>
                <a:spcPts val="300"/>
              </a:spcAft>
            </a:pPr>
            <a:r>
              <a:rPr sz="1200" b="1">
                <a:solidFill>
                  <a:srgbClr val="1F6FEB"/>
                </a:solidFill>
                <a:latin typeface="Arial"/>
              </a:rPr>
              <a:t>CONCEPTUAL DECISION FLOW</a:t>
            </a:r>
          </a:p>
        </p:txBody>
      </p:sp>
      <p:sp>
        <p:nvSpPr>
          <p:cNvPr id="5" name="TextBox 4"/>
          <p:cNvSpPr txBox="1"/>
          <p:nvPr/>
        </p:nvSpPr>
        <p:spPr>
          <a:xfrm>
            <a:off x="749808" y="713232"/>
            <a:ext cx="10744200" cy="731520"/>
          </a:xfrm>
          <a:prstGeom prst="rect">
            <a:avLst/>
          </a:prstGeom>
          <a:noFill/>
        </p:spPr>
        <p:txBody>
          <a:bodyPr wrap="square" anchor="ctr" lIns="54864" rIns="54864" tIns="54864" bIns="54864">
            <a:spAutoFit/>
          </a:bodyPr>
          <a:lstStyle/>
          <a:p>
            <a:pPr algn="l">
              <a:spcAft>
                <a:spcPts val="300"/>
              </a:spcAft>
            </a:pPr>
            <a:r>
              <a:rPr sz="2300" b="1">
                <a:solidFill>
                  <a:srgbClr val="161B26"/>
                </a:solidFill>
                <a:latin typeface="Arial"/>
              </a:rPr>
              <a:t>Reasoning Pattern — Create live connections and extracts</a:t>
            </a:r>
          </a:p>
        </p:txBody>
      </p:sp>
      <p:sp>
        <p:nvSpPr>
          <p:cNvPr id="6" name="Rectangle 5"/>
          <p:cNvSpPr/>
          <p:nvPr/>
        </p:nvSpPr>
        <p:spPr>
          <a:xfrm>
            <a:off x="749808" y="1536192"/>
            <a:ext cx="106984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8096" y="2057400"/>
            <a:ext cx="1947672" cy="2971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68096" y="2057400"/>
            <a:ext cx="194767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76172" y="2423160"/>
            <a:ext cx="731520" cy="7315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6172" y="2423160"/>
            <a:ext cx="731520" cy="731520"/>
          </a:xfrm>
          <a:prstGeom prst="rect">
            <a:avLst/>
          </a:prstGeom>
          <a:noFill/>
        </p:spPr>
        <p:txBody>
          <a:bodyPr wrap="square" anchor="ctr" lIns="54864" rIns="54864" tIns="54864" bIns="54864">
            <a:spAutoFit/>
          </a:bodyPr>
          <a:lstStyle/>
          <a:p>
            <a:pPr algn="ctr">
              <a:spcAft>
                <a:spcPts val="300"/>
              </a:spcAft>
            </a:pPr>
            <a:r>
              <a:rPr sz="2400" b="1">
                <a:solidFill>
                  <a:srgbClr val="FFFFFF"/>
                </a:solidFill>
                <a:latin typeface="Arial"/>
              </a:rPr>
              <a:t>1</a:t>
            </a:r>
          </a:p>
        </p:txBody>
      </p:sp>
      <p:sp>
        <p:nvSpPr>
          <p:cNvPr id="11" name="TextBox 10"/>
          <p:cNvSpPr txBox="1"/>
          <p:nvPr/>
        </p:nvSpPr>
        <p:spPr>
          <a:xfrm>
            <a:off x="877824" y="3429000"/>
            <a:ext cx="1728216" cy="1143000"/>
          </a:xfrm>
          <a:prstGeom prst="rect">
            <a:avLst/>
          </a:prstGeom>
          <a:noFill/>
        </p:spPr>
        <p:txBody>
          <a:bodyPr wrap="square" anchor="ctr" lIns="54864" rIns="54864" tIns="54864" bIns="54864">
            <a:spAutoFit/>
          </a:bodyPr>
          <a:lstStyle/>
          <a:p>
            <a:pPr algn="ctr">
              <a:spcAft>
                <a:spcPts val="300"/>
              </a:spcAft>
            </a:pPr>
            <a:r>
              <a:rPr sz="1250" b="0">
                <a:solidFill>
                  <a:srgbClr val="161B26"/>
                </a:solidFill>
                <a:latin typeface="Arial"/>
              </a:rPr>
              <a:t>Live</a:t>
            </a:r>
          </a:p>
        </p:txBody>
      </p:sp>
      <p:sp>
        <p:nvSpPr>
          <p:cNvPr id="12" name="TextBox 11"/>
          <p:cNvSpPr txBox="1"/>
          <p:nvPr/>
        </p:nvSpPr>
        <p:spPr>
          <a:xfrm>
            <a:off x="2697479" y="3246120"/>
            <a:ext cx="274320" cy="365760"/>
          </a:xfrm>
          <a:prstGeom prst="rect">
            <a:avLst/>
          </a:prstGeom>
          <a:noFill/>
        </p:spPr>
        <p:txBody>
          <a:bodyPr wrap="square" anchor="t" lIns="54864" rIns="54864" tIns="54864" bIns="54864">
            <a:spAutoFit/>
          </a:bodyPr>
          <a:lstStyle/>
          <a:p>
            <a:pPr algn="ctr">
              <a:spcAft>
                <a:spcPts val="300"/>
              </a:spcAft>
            </a:pPr>
            <a:r>
              <a:rPr sz="1200" b="1">
                <a:solidFill>
                  <a:srgbClr val="1F6FEB"/>
                </a:solidFill>
                <a:latin typeface="Arial"/>
              </a:rPr>
              <a:t>▶</a:t>
            </a:r>
          </a:p>
        </p:txBody>
      </p:sp>
      <p:sp>
        <p:nvSpPr>
          <p:cNvPr id="13" name="Rectangle 12"/>
          <p:cNvSpPr/>
          <p:nvPr/>
        </p:nvSpPr>
        <p:spPr>
          <a:xfrm>
            <a:off x="2944368" y="2057400"/>
            <a:ext cx="1947672" cy="2971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44368" y="2057400"/>
            <a:ext cx="194767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52444" y="2423160"/>
            <a:ext cx="731520" cy="7315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52444" y="2423160"/>
            <a:ext cx="731520" cy="731520"/>
          </a:xfrm>
          <a:prstGeom prst="rect">
            <a:avLst/>
          </a:prstGeom>
          <a:noFill/>
        </p:spPr>
        <p:txBody>
          <a:bodyPr wrap="square" anchor="ctr" lIns="54864" rIns="54864" tIns="54864" bIns="54864">
            <a:spAutoFit/>
          </a:bodyPr>
          <a:lstStyle/>
          <a:p>
            <a:pPr algn="ctr">
              <a:spcAft>
                <a:spcPts val="300"/>
              </a:spcAft>
            </a:pPr>
            <a:r>
              <a:rPr sz="2400" b="1">
                <a:solidFill>
                  <a:srgbClr val="FFFFFF"/>
                </a:solidFill>
                <a:latin typeface="Arial"/>
              </a:rPr>
              <a:t>2</a:t>
            </a:r>
          </a:p>
        </p:txBody>
      </p:sp>
      <p:sp>
        <p:nvSpPr>
          <p:cNvPr id="17" name="TextBox 16"/>
          <p:cNvSpPr txBox="1"/>
          <p:nvPr/>
        </p:nvSpPr>
        <p:spPr>
          <a:xfrm>
            <a:off x="3054096" y="3429000"/>
            <a:ext cx="1728216" cy="1143000"/>
          </a:xfrm>
          <a:prstGeom prst="rect">
            <a:avLst/>
          </a:prstGeom>
          <a:noFill/>
        </p:spPr>
        <p:txBody>
          <a:bodyPr wrap="square" anchor="ctr" lIns="54864" rIns="54864" tIns="54864" bIns="54864">
            <a:spAutoFit/>
          </a:bodyPr>
          <a:lstStyle/>
          <a:p>
            <a:pPr algn="ctr">
              <a:spcAft>
                <a:spcPts val="300"/>
              </a:spcAft>
            </a:pPr>
            <a:r>
              <a:rPr sz="1250" b="0">
                <a:solidFill>
                  <a:srgbClr val="161B26"/>
                </a:solidFill>
                <a:latin typeface="Arial"/>
              </a:rPr>
              <a:t>Extract</a:t>
            </a:r>
          </a:p>
        </p:txBody>
      </p:sp>
      <p:sp>
        <p:nvSpPr>
          <p:cNvPr id="18" name="TextBox 17"/>
          <p:cNvSpPr txBox="1"/>
          <p:nvPr/>
        </p:nvSpPr>
        <p:spPr>
          <a:xfrm>
            <a:off x="4873752" y="3246120"/>
            <a:ext cx="274320" cy="365760"/>
          </a:xfrm>
          <a:prstGeom prst="rect">
            <a:avLst/>
          </a:prstGeom>
          <a:noFill/>
        </p:spPr>
        <p:txBody>
          <a:bodyPr wrap="square" anchor="t" lIns="54864" rIns="54864" tIns="54864" bIns="54864">
            <a:spAutoFit/>
          </a:bodyPr>
          <a:lstStyle/>
          <a:p>
            <a:pPr algn="ctr">
              <a:spcAft>
                <a:spcPts val="300"/>
              </a:spcAft>
            </a:pPr>
            <a:r>
              <a:rPr sz="1200" b="1">
                <a:solidFill>
                  <a:srgbClr val="1F6FEB"/>
                </a:solidFill>
                <a:latin typeface="Arial"/>
              </a:rPr>
              <a:t>▶</a:t>
            </a:r>
          </a:p>
        </p:txBody>
      </p:sp>
      <p:sp>
        <p:nvSpPr>
          <p:cNvPr id="19" name="Rectangle 18"/>
          <p:cNvSpPr/>
          <p:nvPr/>
        </p:nvSpPr>
        <p:spPr>
          <a:xfrm>
            <a:off x="5120640" y="2057400"/>
            <a:ext cx="1947672" cy="2971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0" y="2057400"/>
            <a:ext cx="194767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28715" y="2423160"/>
            <a:ext cx="731520" cy="7315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28715" y="2423160"/>
            <a:ext cx="731520" cy="731520"/>
          </a:xfrm>
          <a:prstGeom prst="rect">
            <a:avLst/>
          </a:prstGeom>
          <a:noFill/>
        </p:spPr>
        <p:txBody>
          <a:bodyPr wrap="square" anchor="ctr" lIns="54864" rIns="54864" tIns="54864" bIns="54864">
            <a:spAutoFit/>
          </a:bodyPr>
          <a:lstStyle/>
          <a:p>
            <a:pPr algn="ctr">
              <a:spcAft>
                <a:spcPts val="300"/>
              </a:spcAft>
            </a:pPr>
            <a:r>
              <a:rPr sz="2400" b="1">
                <a:solidFill>
                  <a:srgbClr val="FFFFFF"/>
                </a:solidFill>
                <a:latin typeface="Arial"/>
              </a:rPr>
              <a:t>3</a:t>
            </a:r>
          </a:p>
        </p:txBody>
      </p:sp>
      <p:sp>
        <p:nvSpPr>
          <p:cNvPr id="23" name="TextBox 22"/>
          <p:cNvSpPr txBox="1"/>
          <p:nvPr/>
        </p:nvSpPr>
        <p:spPr>
          <a:xfrm>
            <a:off x="5230368" y="3429000"/>
            <a:ext cx="1728216" cy="1143000"/>
          </a:xfrm>
          <a:prstGeom prst="rect">
            <a:avLst/>
          </a:prstGeom>
          <a:noFill/>
        </p:spPr>
        <p:txBody>
          <a:bodyPr wrap="square" anchor="ctr" lIns="54864" rIns="54864" tIns="54864" bIns="54864">
            <a:spAutoFit/>
          </a:bodyPr>
          <a:lstStyle/>
          <a:p>
            <a:pPr algn="ctr">
              <a:spcAft>
                <a:spcPts val="300"/>
              </a:spcAft>
            </a:pPr>
            <a:r>
              <a:rPr sz="1250" b="0">
                <a:solidFill>
                  <a:srgbClr val="161B26"/>
                </a:solidFill>
                <a:latin typeface="Arial"/>
              </a:rPr>
              <a:t>.TDS metadata</a:t>
            </a:r>
          </a:p>
        </p:txBody>
      </p:sp>
      <p:sp>
        <p:nvSpPr>
          <p:cNvPr id="24" name="TextBox 23"/>
          <p:cNvSpPr txBox="1"/>
          <p:nvPr/>
        </p:nvSpPr>
        <p:spPr>
          <a:xfrm>
            <a:off x="7050024" y="3246120"/>
            <a:ext cx="274320" cy="365760"/>
          </a:xfrm>
          <a:prstGeom prst="rect">
            <a:avLst/>
          </a:prstGeom>
          <a:noFill/>
        </p:spPr>
        <p:txBody>
          <a:bodyPr wrap="square" anchor="t" lIns="54864" rIns="54864" tIns="54864" bIns="54864">
            <a:spAutoFit/>
          </a:bodyPr>
          <a:lstStyle/>
          <a:p>
            <a:pPr algn="ctr">
              <a:spcAft>
                <a:spcPts val="300"/>
              </a:spcAft>
            </a:pPr>
            <a:r>
              <a:rPr sz="1200" b="1">
                <a:solidFill>
                  <a:srgbClr val="1F6FEB"/>
                </a:solidFill>
                <a:latin typeface="Arial"/>
              </a:rPr>
              <a:t>▶</a:t>
            </a:r>
          </a:p>
        </p:txBody>
      </p:sp>
      <p:sp>
        <p:nvSpPr>
          <p:cNvPr id="25" name="Rectangle 24"/>
          <p:cNvSpPr/>
          <p:nvPr/>
        </p:nvSpPr>
        <p:spPr>
          <a:xfrm>
            <a:off x="7296912" y="2057400"/>
            <a:ext cx="1947672" cy="2971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296912" y="2057400"/>
            <a:ext cx="194767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04988" y="2423160"/>
            <a:ext cx="731520" cy="7315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4988" y="2423160"/>
            <a:ext cx="731520" cy="731520"/>
          </a:xfrm>
          <a:prstGeom prst="rect">
            <a:avLst/>
          </a:prstGeom>
          <a:noFill/>
        </p:spPr>
        <p:txBody>
          <a:bodyPr wrap="square" anchor="ctr" lIns="54864" rIns="54864" tIns="54864" bIns="54864">
            <a:spAutoFit/>
          </a:bodyPr>
          <a:lstStyle/>
          <a:p>
            <a:pPr algn="ctr">
              <a:spcAft>
                <a:spcPts val="300"/>
              </a:spcAft>
            </a:pPr>
            <a:r>
              <a:rPr sz="2400" b="1">
                <a:solidFill>
                  <a:srgbClr val="FFFFFF"/>
                </a:solidFill>
                <a:latin typeface="Arial"/>
              </a:rPr>
              <a:t>4</a:t>
            </a:r>
          </a:p>
        </p:txBody>
      </p:sp>
      <p:sp>
        <p:nvSpPr>
          <p:cNvPr id="29" name="TextBox 28"/>
          <p:cNvSpPr txBox="1"/>
          <p:nvPr/>
        </p:nvSpPr>
        <p:spPr>
          <a:xfrm>
            <a:off x="7406640" y="3429000"/>
            <a:ext cx="1728216" cy="1143000"/>
          </a:xfrm>
          <a:prstGeom prst="rect">
            <a:avLst/>
          </a:prstGeom>
          <a:noFill/>
        </p:spPr>
        <p:txBody>
          <a:bodyPr wrap="square" anchor="ctr" lIns="54864" rIns="54864" tIns="54864" bIns="54864">
            <a:spAutoFit/>
          </a:bodyPr>
          <a:lstStyle/>
          <a:p>
            <a:pPr algn="ctr">
              <a:spcAft>
                <a:spcPts val="300"/>
              </a:spcAft>
            </a:pPr>
            <a:r>
              <a:rPr sz="1250" b="0">
                <a:solidFill>
                  <a:srgbClr val="161B26"/>
                </a:solidFill>
                <a:latin typeface="Arial"/>
              </a:rPr>
              <a:t>Multiple connections</a:t>
            </a:r>
          </a:p>
        </p:txBody>
      </p:sp>
      <p:sp>
        <p:nvSpPr>
          <p:cNvPr id="30" name="TextBox 29"/>
          <p:cNvSpPr txBox="1"/>
          <p:nvPr/>
        </p:nvSpPr>
        <p:spPr>
          <a:xfrm>
            <a:off x="9226296" y="3246120"/>
            <a:ext cx="274320" cy="365760"/>
          </a:xfrm>
          <a:prstGeom prst="rect">
            <a:avLst/>
          </a:prstGeom>
          <a:noFill/>
        </p:spPr>
        <p:txBody>
          <a:bodyPr wrap="square" anchor="t" lIns="54864" rIns="54864" tIns="54864" bIns="54864">
            <a:spAutoFit/>
          </a:bodyPr>
          <a:lstStyle/>
          <a:p>
            <a:pPr algn="ctr">
              <a:spcAft>
                <a:spcPts val="300"/>
              </a:spcAft>
            </a:pPr>
            <a:r>
              <a:rPr sz="1200" b="1">
                <a:solidFill>
                  <a:srgbClr val="1F6FEB"/>
                </a:solidFill>
                <a:latin typeface="Arial"/>
              </a:rPr>
              <a:t>▶</a:t>
            </a:r>
          </a:p>
        </p:txBody>
      </p:sp>
      <p:sp>
        <p:nvSpPr>
          <p:cNvPr id="31" name="Rectangle 30"/>
          <p:cNvSpPr/>
          <p:nvPr/>
        </p:nvSpPr>
        <p:spPr>
          <a:xfrm>
            <a:off x="9473184" y="2057400"/>
            <a:ext cx="1947672" cy="2971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473184" y="2057400"/>
            <a:ext cx="194767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81259" y="2423160"/>
            <a:ext cx="731520" cy="7315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81259" y="2423160"/>
            <a:ext cx="731520" cy="731520"/>
          </a:xfrm>
          <a:prstGeom prst="rect">
            <a:avLst/>
          </a:prstGeom>
          <a:noFill/>
        </p:spPr>
        <p:txBody>
          <a:bodyPr wrap="square" anchor="ctr" lIns="54864" rIns="54864" tIns="54864" bIns="54864">
            <a:spAutoFit/>
          </a:bodyPr>
          <a:lstStyle/>
          <a:p>
            <a:pPr algn="ctr">
              <a:spcAft>
                <a:spcPts val="300"/>
              </a:spcAft>
            </a:pPr>
            <a:r>
              <a:rPr sz="2400" b="1">
                <a:solidFill>
                  <a:srgbClr val="FFFFFF"/>
                </a:solidFill>
                <a:latin typeface="Arial"/>
              </a:rPr>
              <a:t>5</a:t>
            </a:r>
          </a:p>
        </p:txBody>
      </p:sp>
      <p:sp>
        <p:nvSpPr>
          <p:cNvPr id="35" name="TextBox 34"/>
          <p:cNvSpPr txBox="1"/>
          <p:nvPr/>
        </p:nvSpPr>
        <p:spPr>
          <a:xfrm>
            <a:off x="9582911" y="3429000"/>
            <a:ext cx="1728216" cy="1143000"/>
          </a:xfrm>
          <a:prstGeom prst="rect">
            <a:avLst/>
          </a:prstGeom>
          <a:noFill/>
        </p:spPr>
        <p:txBody>
          <a:bodyPr wrap="square" anchor="ctr" lIns="54864" rIns="54864" tIns="54864" bIns="54864">
            <a:spAutoFit/>
          </a:bodyPr>
          <a:lstStyle/>
          <a:p>
            <a:pPr algn="ctr">
              <a:spcAft>
                <a:spcPts val="300"/>
              </a:spcAft>
            </a:pPr>
            <a:r>
              <a:rPr sz="1250" b="0">
                <a:solidFill>
                  <a:srgbClr val="161B26"/>
                </a:solidFill>
                <a:latin typeface="Arial"/>
              </a:rPr>
              <a:t>Validate result</a:t>
            </a:r>
          </a:p>
        </p:txBody>
      </p:sp>
      <p:sp>
        <p:nvSpPr>
          <p:cNvPr id="36" name="TextBox 35"/>
          <p:cNvSpPr txBox="1"/>
          <p:nvPr/>
        </p:nvSpPr>
        <p:spPr>
          <a:xfrm>
            <a:off x="777240" y="5394960"/>
            <a:ext cx="10607040" cy="411480"/>
          </a:xfrm>
          <a:prstGeom prst="rect">
            <a:avLst/>
          </a:prstGeom>
          <a:noFill/>
        </p:spPr>
        <p:txBody>
          <a:bodyPr wrap="square" anchor="t" lIns="54864" rIns="54864" tIns="54864" bIns="54864">
            <a:spAutoFit/>
          </a:bodyPr>
          <a:lstStyle/>
          <a:p>
            <a:pPr algn="ctr">
              <a:spcAft>
                <a:spcPts val="300"/>
              </a:spcAft>
            </a:pPr>
            <a:r>
              <a:rPr sz="1250" b="0">
                <a:solidFill>
                  <a:srgbClr val="5B6372"/>
                </a:solidFill>
                <a:latin typeface="Arial"/>
              </a:rPr>
              <a:t>This is a reasoning map, not a click-by-click lab procedure.</a:t>
            </a:r>
          </a:p>
        </p:txBody>
      </p:sp>
      <p:sp>
        <p:nvSpPr>
          <p:cNvPr id="37" name="TextBox 36"/>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38" name="TextBox 37"/>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39" name="TextBox 38"/>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24</a:t>
            </a:r>
          </a:p>
        </p:txBody>
      </p:sp>
    </p:spTree>
  </p:cSld>
  <p:clrMapOvr>
    <a:masterClrMapping/>
  </p:clrMapOvr>
  <p:transition spd="fast">
    <p:fade/>
  </p:transition>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37744"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47472"/>
            <a:ext cx="10698480" cy="292608"/>
          </a:xfrm>
          <a:prstGeom prst="rect">
            <a:avLst/>
          </a:prstGeom>
          <a:noFill/>
        </p:spPr>
        <p:txBody>
          <a:bodyPr wrap="square" anchor="t" lIns="54864" rIns="54864" tIns="54864" bIns="54864">
            <a:spAutoFit/>
          </a:bodyPr>
          <a:lstStyle/>
          <a:p>
            <a:pPr algn="l">
              <a:spcAft>
                <a:spcPts val="300"/>
              </a:spcAft>
            </a:pPr>
            <a:r>
              <a:rPr sz="1200" b="1">
                <a:solidFill>
                  <a:srgbClr val="1F6FEB"/>
                </a:solidFill>
                <a:latin typeface="Arial"/>
              </a:rPr>
              <a:t>OFFICIAL OBJECTIVE · DOMAIN 1</a:t>
            </a:r>
          </a:p>
        </p:txBody>
      </p:sp>
      <p:sp>
        <p:nvSpPr>
          <p:cNvPr id="5" name="TextBox 4"/>
          <p:cNvSpPr txBox="1"/>
          <p:nvPr/>
        </p:nvSpPr>
        <p:spPr>
          <a:xfrm>
            <a:off x="749808" y="713232"/>
            <a:ext cx="10744200" cy="731520"/>
          </a:xfrm>
          <a:prstGeom prst="rect">
            <a:avLst/>
          </a:prstGeom>
          <a:noFill/>
        </p:spPr>
        <p:txBody>
          <a:bodyPr wrap="square" anchor="ctr" lIns="54864" rIns="54864" tIns="54864" bIns="54864">
            <a:spAutoFit/>
          </a:bodyPr>
          <a:lstStyle/>
          <a:p>
            <a:pPr algn="l">
              <a:spcAft>
                <a:spcPts val="300"/>
              </a:spcAft>
            </a:pPr>
            <a:r>
              <a:rPr sz="2700" b="1">
                <a:solidFill>
                  <a:srgbClr val="161B26"/>
                </a:solidFill>
                <a:latin typeface="Arial"/>
              </a:rPr>
              <a:t>1.1.1 · Create a live connection</a:t>
            </a:r>
          </a:p>
        </p:txBody>
      </p:sp>
      <p:sp>
        <p:nvSpPr>
          <p:cNvPr id="6" name="Rectangle 5"/>
          <p:cNvSpPr/>
          <p:nvPr/>
        </p:nvSpPr>
        <p:spPr>
          <a:xfrm>
            <a:off x="749808" y="1536192"/>
            <a:ext cx="106984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8096"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68096" y="1764792"/>
            <a:ext cx="82296" cy="206197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96695" y="2548890"/>
            <a:ext cx="493776" cy="49377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5"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1</a:t>
            </a:r>
          </a:p>
        </p:txBody>
      </p:sp>
      <p:sp>
        <p:nvSpPr>
          <p:cNvPr id="11" name="TextBox 10"/>
          <p:cNvSpPr txBox="1"/>
          <p:nvPr/>
        </p:nvSpPr>
        <p:spPr>
          <a:xfrm>
            <a:off x="1664207"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What it means</a:t>
            </a:r>
          </a:p>
          <a:p>
            <a:pPr algn="l">
              <a:spcAft>
                <a:spcPts val="300"/>
              </a:spcAft>
            </a:pPr>
            <a:r>
              <a:rPr sz="1200" b="0">
                <a:solidFill>
                  <a:srgbClr val="5B6372"/>
                </a:solidFill>
                <a:latin typeface="Arial"/>
              </a:rPr>
              <a:t>A live connection sends queries to the source during interaction.</a:t>
            </a:r>
          </a:p>
        </p:txBody>
      </p:sp>
      <p:sp>
        <p:nvSpPr>
          <p:cNvPr id="12" name="Rectangle 11"/>
          <p:cNvSpPr/>
          <p:nvPr/>
        </p:nvSpPr>
        <p:spPr>
          <a:xfrm>
            <a:off x="6222492"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22492" y="1764792"/>
            <a:ext cx="82296" cy="206197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51092" y="2548890"/>
            <a:ext cx="493776" cy="49377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51092"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2</a:t>
            </a:r>
          </a:p>
        </p:txBody>
      </p:sp>
      <p:sp>
        <p:nvSpPr>
          <p:cNvPr id="16" name="TextBox 15"/>
          <p:cNvSpPr txBox="1"/>
          <p:nvPr/>
        </p:nvSpPr>
        <p:spPr>
          <a:xfrm>
            <a:off x="7118604"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Use it when</a:t>
            </a:r>
          </a:p>
          <a:p>
            <a:pPr algn="l">
              <a:spcAft>
                <a:spcPts val="300"/>
              </a:spcAft>
            </a:pPr>
            <a:r>
              <a:rPr sz="1200" b="0">
                <a:solidFill>
                  <a:srgbClr val="5B6372"/>
                </a:solidFill>
                <a:latin typeface="Arial"/>
              </a:rPr>
              <a:t>Use when source freshness and central governance matter.</a:t>
            </a:r>
          </a:p>
        </p:txBody>
      </p:sp>
      <p:sp>
        <p:nvSpPr>
          <p:cNvPr id="17" name="Rectangle 16"/>
          <p:cNvSpPr/>
          <p:nvPr/>
        </p:nvSpPr>
        <p:spPr>
          <a:xfrm>
            <a:off x="768096"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68096" y="4046220"/>
            <a:ext cx="82296" cy="206197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96695" y="4830318"/>
            <a:ext cx="493776" cy="49377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96695"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3</a:t>
            </a:r>
          </a:p>
        </p:txBody>
      </p:sp>
      <p:sp>
        <p:nvSpPr>
          <p:cNvPr id="21" name="TextBox 20"/>
          <p:cNvSpPr txBox="1"/>
          <p:nvPr/>
        </p:nvSpPr>
        <p:spPr>
          <a:xfrm>
            <a:off x="1664207"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Exam clue</a:t>
            </a:r>
          </a:p>
          <a:p>
            <a:pPr algn="l">
              <a:spcAft>
                <a:spcPts val="300"/>
              </a:spcAft>
            </a:pPr>
            <a:r>
              <a:rPr sz="1200" b="0">
                <a:solidFill>
                  <a:srgbClr val="5B6372"/>
                </a:solidFill>
                <a:latin typeface="Arial"/>
              </a:rPr>
              <a:t>Current or real-time scenarios usually point to live.</a:t>
            </a:r>
          </a:p>
        </p:txBody>
      </p:sp>
      <p:sp>
        <p:nvSpPr>
          <p:cNvPr id="22" name="Rectangle 21"/>
          <p:cNvSpPr/>
          <p:nvPr/>
        </p:nvSpPr>
        <p:spPr>
          <a:xfrm>
            <a:off x="6222492"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22492" y="4046220"/>
            <a:ext cx="82296" cy="206197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51092" y="4830318"/>
            <a:ext cx="493776" cy="49377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51092"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4</a:t>
            </a:r>
          </a:p>
        </p:txBody>
      </p:sp>
      <p:sp>
        <p:nvSpPr>
          <p:cNvPr id="26" name="TextBox 25"/>
          <p:cNvSpPr txBox="1"/>
          <p:nvPr/>
        </p:nvSpPr>
        <p:spPr>
          <a:xfrm>
            <a:off x="7118604"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Common pitfall</a:t>
            </a:r>
          </a:p>
          <a:p>
            <a:pPr algn="l">
              <a:spcAft>
                <a:spcPts val="300"/>
              </a:spcAft>
            </a:pPr>
            <a:r>
              <a:rPr sz="1200" b="0">
                <a:solidFill>
                  <a:srgbClr val="5B6372"/>
                </a:solidFill>
                <a:latin typeface="Arial"/>
              </a:rPr>
              <a:t>Live is not automatically faster; network and query design still govern response time.</a:t>
            </a:r>
          </a:p>
        </p:txBody>
      </p:sp>
      <p:sp>
        <p:nvSpPr>
          <p:cNvPr id="27" name="TextBox 26"/>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28" name="TextBox 27"/>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29" name="TextBox 28"/>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25</a:t>
            </a:r>
          </a:p>
        </p:txBody>
      </p:sp>
    </p:spTree>
  </p:cSld>
  <p:clrMapOvr>
    <a:masterClrMapping/>
  </p:clrMapOvr>
  <p:transition spd="fast">
    <p:fade/>
  </p:transition>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37744"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47472"/>
            <a:ext cx="10698480" cy="292608"/>
          </a:xfrm>
          <a:prstGeom prst="rect">
            <a:avLst/>
          </a:prstGeom>
          <a:noFill/>
        </p:spPr>
        <p:txBody>
          <a:bodyPr wrap="square" anchor="t" lIns="54864" rIns="54864" tIns="54864" bIns="54864">
            <a:spAutoFit/>
          </a:bodyPr>
          <a:lstStyle/>
          <a:p>
            <a:pPr algn="l">
              <a:spcAft>
                <a:spcPts val="300"/>
              </a:spcAft>
            </a:pPr>
            <a:r>
              <a:rPr sz="1200" b="1">
                <a:solidFill>
                  <a:srgbClr val="1F6FEB"/>
                </a:solidFill>
                <a:latin typeface="Arial"/>
              </a:rPr>
              <a:t>OFFICIAL OBJECTIVE · DOMAIN 1</a:t>
            </a:r>
          </a:p>
        </p:txBody>
      </p:sp>
      <p:sp>
        <p:nvSpPr>
          <p:cNvPr id="5" name="TextBox 4"/>
          <p:cNvSpPr txBox="1"/>
          <p:nvPr/>
        </p:nvSpPr>
        <p:spPr>
          <a:xfrm>
            <a:off x="749808" y="713232"/>
            <a:ext cx="10744200" cy="731520"/>
          </a:xfrm>
          <a:prstGeom prst="rect">
            <a:avLst/>
          </a:prstGeom>
          <a:noFill/>
        </p:spPr>
        <p:txBody>
          <a:bodyPr wrap="square" anchor="ctr" lIns="54864" rIns="54864" tIns="54864" bIns="54864">
            <a:spAutoFit/>
          </a:bodyPr>
          <a:lstStyle/>
          <a:p>
            <a:pPr algn="l">
              <a:spcAft>
                <a:spcPts val="300"/>
              </a:spcAft>
            </a:pPr>
            <a:r>
              <a:rPr sz="2700" b="1">
                <a:solidFill>
                  <a:srgbClr val="161B26"/>
                </a:solidFill>
                <a:latin typeface="Arial"/>
              </a:rPr>
              <a:t>1.1.2 · Live versus extract</a:t>
            </a:r>
          </a:p>
        </p:txBody>
      </p:sp>
      <p:sp>
        <p:nvSpPr>
          <p:cNvPr id="6" name="Rectangle 5"/>
          <p:cNvSpPr/>
          <p:nvPr/>
        </p:nvSpPr>
        <p:spPr>
          <a:xfrm>
            <a:off x="749808" y="1536192"/>
            <a:ext cx="106984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8096"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68096" y="1764792"/>
            <a:ext cx="82296" cy="206197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96695" y="2548890"/>
            <a:ext cx="493776" cy="49377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5"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1</a:t>
            </a:r>
          </a:p>
        </p:txBody>
      </p:sp>
      <p:sp>
        <p:nvSpPr>
          <p:cNvPr id="11" name="TextBox 10"/>
          <p:cNvSpPr txBox="1"/>
          <p:nvPr/>
        </p:nvSpPr>
        <p:spPr>
          <a:xfrm>
            <a:off x="1664207"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What it means</a:t>
            </a:r>
          </a:p>
          <a:p>
            <a:pPr algn="l">
              <a:spcAft>
                <a:spcPts val="300"/>
              </a:spcAft>
            </a:pPr>
            <a:r>
              <a:rPr sz="1200" b="0">
                <a:solidFill>
                  <a:srgbClr val="5B6372"/>
                </a:solidFill>
                <a:latin typeface="Arial"/>
              </a:rPr>
              <a:t>The choice balances freshness, performance, portability and supported features.</a:t>
            </a:r>
          </a:p>
        </p:txBody>
      </p:sp>
      <p:sp>
        <p:nvSpPr>
          <p:cNvPr id="12" name="Rectangle 11"/>
          <p:cNvSpPr/>
          <p:nvPr/>
        </p:nvSpPr>
        <p:spPr>
          <a:xfrm>
            <a:off x="6222492"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22492" y="1764792"/>
            <a:ext cx="82296" cy="206197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51092" y="2548890"/>
            <a:ext cx="493776" cy="49377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51092"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2</a:t>
            </a:r>
          </a:p>
        </p:txBody>
      </p:sp>
      <p:sp>
        <p:nvSpPr>
          <p:cNvPr id="16" name="TextBox 15"/>
          <p:cNvSpPr txBox="1"/>
          <p:nvPr/>
        </p:nvSpPr>
        <p:spPr>
          <a:xfrm>
            <a:off x="7118604"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Use it when</a:t>
            </a:r>
          </a:p>
          <a:p>
            <a:pPr algn="l">
              <a:spcAft>
                <a:spcPts val="300"/>
              </a:spcAft>
            </a:pPr>
            <a:r>
              <a:rPr sz="1200" b="0">
                <a:solidFill>
                  <a:srgbClr val="5B6372"/>
                </a:solidFill>
                <a:latin typeface="Arial"/>
              </a:rPr>
              <a:t>Use an extract for offline analysis, acceleration or a stable reporting snapshot.</a:t>
            </a:r>
          </a:p>
        </p:txBody>
      </p:sp>
      <p:sp>
        <p:nvSpPr>
          <p:cNvPr id="17" name="Rectangle 16"/>
          <p:cNvSpPr/>
          <p:nvPr/>
        </p:nvSpPr>
        <p:spPr>
          <a:xfrm>
            <a:off x="768096"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68096" y="4046220"/>
            <a:ext cx="82296" cy="206197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96695" y="4830318"/>
            <a:ext cx="493776" cy="49377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96695"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3</a:t>
            </a:r>
          </a:p>
        </p:txBody>
      </p:sp>
      <p:sp>
        <p:nvSpPr>
          <p:cNvPr id="21" name="TextBox 20"/>
          <p:cNvSpPr txBox="1"/>
          <p:nvPr/>
        </p:nvSpPr>
        <p:spPr>
          <a:xfrm>
            <a:off x="1664207"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Exam clue</a:t>
            </a:r>
          </a:p>
          <a:p>
            <a:pPr algn="l">
              <a:spcAft>
                <a:spcPts val="300"/>
              </a:spcAft>
            </a:pPr>
            <a:r>
              <a:rPr sz="1200" b="0">
                <a:solidFill>
                  <a:srgbClr val="5B6372"/>
                </a:solidFill>
                <a:latin typeface="Arial"/>
              </a:rPr>
              <a:t>Select the mode that serves the scenario's priority.</a:t>
            </a:r>
          </a:p>
        </p:txBody>
      </p:sp>
      <p:sp>
        <p:nvSpPr>
          <p:cNvPr id="22" name="Rectangle 21"/>
          <p:cNvSpPr/>
          <p:nvPr/>
        </p:nvSpPr>
        <p:spPr>
          <a:xfrm>
            <a:off x="6222492"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22492" y="4046220"/>
            <a:ext cx="82296" cy="206197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51092" y="4830318"/>
            <a:ext cx="493776" cy="49377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51092"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4</a:t>
            </a:r>
          </a:p>
        </p:txBody>
      </p:sp>
      <p:sp>
        <p:nvSpPr>
          <p:cNvPr id="26" name="TextBox 25"/>
          <p:cNvSpPr txBox="1"/>
          <p:nvPr/>
        </p:nvSpPr>
        <p:spPr>
          <a:xfrm>
            <a:off x="7118604"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Common pitfall</a:t>
            </a:r>
          </a:p>
          <a:p>
            <a:pPr algn="l">
              <a:spcAft>
                <a:spcPts val="300"/>
              </a:spcAft>
            </a:pPr>
            <a:r>
              <a:rPr sz="1200" b="0">
                <a:solidFill>
                  <a:srgbClr val="5B6372"/>
                </a:solidFill>
                <a:latin typeface="Arial"/>
              </a:rPr>
              <a:t>An extract becomes stale until refreshed; a live connection may still cache results.</a:t>
            </a:r>
          </a:p>
        </p:txBody>
      </p:sp>
      <p:sp>
        <p:nvSpPr>
          <p:cNvPr id="27" name="TextBox 26"/>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28" name="TextBox 27"/>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29" name="TextBox 28"/>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26</a:t>
            </a:r>
          </a:p>
        </p:txBody>
      </p:sp>
    </p:spTree>
  </p:cSld>
  <p:clrMapOvr>
    <a:masterClrMapping/>
  </p:clrMapOvr>
  <p:transition spd="fast">
    <p:fade/>
  </p:transition>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37744"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47472"/>
            <a:ext cx="10698480" cy="292608"/>
          </a:xfrm>
          <a:prstGeom prst="rect">
            <a:avLst/>
          </a:prstGeom>
          <a:noFill/>
        </p:spPr>
        <p:txBody>
          <a:bodyPr wrap="square" anchor="t" lIns="54864" rIns="54864" tIns="54864" bIns="54864">
            <a:spAutoFit/>
          </a:bodyPr>
          <a:lstStyle/>
          <a:p>
            <a:pPr algn="l">
              <a:spcAft>
                <a:spcPts val="300"/>
              </a:spcAft>
            </a:pPr>
            <a:r>
              <a:rPr sz="1200" b="1">
                <a:solidFill>
                  <a:srgbClr val="1F6FEB"/>
                </a:solidFill>
                <a:latin typeface="Arial"/>
              </a:rPr>
              <a:t>OFFICIAL OBJECTIVE · DOMAIN 1</a:t>
            </a:r>
          </a:p>
        </p:txBody>
      </p:sp>
      <p:sp>
        <p:nvSpPr>
          <p:cNvPr id="5" name="TextBox 4"/>
          <p:cNvSpPr txBox="1"/>
          <p:nvPr/>
        </p:nvSpPr>
        <p:spPr>
          <a:xfrm>
            <a:off x="749808" y="713232"/>
            <a:ext cx="10744200" cy="731520"/>
          </a:xfrm>
          <a:prstGeom prst="rect">
            <a:avLst/>
          </a:prstGeom>
          <a:noFill/>
        </p:spPr>
        <p:txBody>
          <a:bodyPr wrap="square" anchor="ctr" lIns="54864" rIns="54864" tIns="54864" bIns="54864">
            <a:spAutoFit/>
          </a:bodyPr>
          <a:lstStyle/>
          <a:p>
            <a:pPr algn="l">
              <a:spcAft>
                <a:spcPts val="300"/>
              </a:spcAft>
            </a:pPr>
            <a:r>
              <a:rPr sz="2700" b="1">
                <a:solidFill>
                  <a:srgbClr val="161B26"/>
                </a:solidFill>
                <a:latin typeface="Arial"/>
              </a:rPr>
              <a:t>1.1.3 · Create and refresh an extract</a:t>
            </a:r>
          </a:p>
        </p:txBody>
      </p:sp>
      <p:sp>
        <p:nvSpPr>
          <p:cNvPr id="6" name="Rectangle 5"/>
          <p:cNvSpPr/>
          <p:nvPr/>
        </p:nvSpPr>
        <p:spPr>
          <a:xfrm>
            <a:off x="749808" y="1536192"/>
            <a:ext cx="106984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8096"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68096" y="1764792"/>
            <a:ext cx="82296" cy="206197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96695" y="2548890"/>
            <a:ext cx="493776" cy="49377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5"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1</a:t>
            </a:r>
          </a:p>
        </p:txBody>
      </p:sp>
      <p:sp>
        <p:nvSpPr>
          <p:cNvPr id="11" name="TextBox 10"/>
          <p:cNvSpPr txBox="1"/>
          <p:nvPr/>
        </p:nvSpPr>
        <p:spPr>
          <a:xfrm>
            <a:off x="1664207"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What it means</a:t>
            </a:r>
          </a:p>
          <a:p>
            <a:pPr algn="l">
              <a:spcAft>
                <a:spcPts val="300"/>
              </a:spcAft>
            </a:pPr>
            <a:r>
              <a:rPr sz="1200" b="0">
                <a:solidFill>
                  <a:srgbClr val="5B6372"/>
                </a:solidFill>
                <a:latin typeface="Arial"/>
              </a:rPr>
              <a:t>An extract materialises selected data in Tableau's columnar .hyper format.</a:t>
            </a:r>
          </a:p>
        </p:txBody>
      </p:sp>
      <p:sp>
        <p:nvSpPr>
          <p:cNvPr id="12" name="Rectangle 11"/>
          <p:cNvSpPr/>
          <p:nvPr/>
        </p:nvSpPr>
        <p:spPr>
          <a:xfrm>
            <a:off x="6222492"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22492" y="1764792"/>
            <a:ext cx="82296" cy="206197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51092" y="2548890"/>
            <a:ext cx="493776" cy="49377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51092"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2</a:t>
            </a:r>
          </a:p>
        </p:txBody>
      </p:sp>
      <p:sp>
        <p:nvSpPr>
          <p:cNvPr id="16" name="TextBox 15"/>
          <p:cNvSpPr txBox="1"/>
          <p:nvPr/>
        </p:nvSpPr>
        <p:spPr>
          <a:xfrm>
            <a:off x="7118604"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Use it when</a:t>
            </a:r>
          </a:p>
          <a:p>
            <a:pPr algn="l">
              <a:spcAft>
                <a:spcPts val="300"/>
              </a:spcAft>
            </a:pPr>
            <a:r>
              <a:rPr sz="1200" b="0">
                <a:solidFill>
                  <a:srgbClr val="5B6372"/>
                </a:solidFill>
                <a:latin typeface="Arial"/>
              </a:rPr>
              <a:t>Filter rows or columns when the complete source is unnecessary.</a:t>
            </a:r>
          </a:p>
        </p:txBody>
      </p:sp>
      <p:sp>
        <p:nvSpPr>
          <p:cNvPr id="17" name="Rectangle 16"/>
          <p:cNvSpPr/>
          <p:nvPr/>
        </p:nvSpPr>
        <p:spPr>
          <a:xfrm>
            <a:off x="768096"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68096" y="4046220"/>
            <a:ext cx="82296" cy="206197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96695" y="4830318"/>
            <a:ext cx="493776" cy="49377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96695"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3</a:t>
            </a:r>
          </a:p>
        </p:txBody>
      </p:sp>
      <p:sp>
        <p:nvSpPr>
          <p:cNvPr id="21" name="TextBox 20"/>
          <p:cNvSpPr txBox="1"/>
          <p:nvPr/>
        </p:nvSpPr>
        <p:spPr>
          <a:xfrm>
            <a:off x="1664207"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Exam clue</a:t>
            </a:r>
          </a:p>
          <a:p>
            <a:pPr algn="l">
              <a:spcAft>
                <a:spcPts val="300"/>
              </a:spcAft>
            </a:pPr>
            <a:r>
              <a:rPr sz="1200" b="0">
                <a:solidFill>
                  <a:srgbClr val="5B6372"/>
                </a:solidFill>
                <a:latin typeface="Arial"/>
              </a:rPr>
              <a:t>Full refresh rebuilds; incremental refresh adds rows using a reliable key.</a:t>
            </a:r>
          </a:p>
        </p:txBody>
      </p:sp>
      <p:sp>
        <p:nvSpPr>
          <p:cNvPr id="22" name="Rectangle 21"/>
          <p:cNvSpPr/>
          <p:nvPr/>
        </p:nvSpPr>
        <p:spPr>
          <a:xfrm>
            <a:off x="6222492"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22492" y="4046220"/>
            <a:ext cx="82296" cy="206197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51092" y="4830318"/>
            <a:ext cx="493776" cy="49377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51092"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4</a:t>
            </a:r>
          </a:p>
        </p:txBody>
      </p:sp>
      <p:sp>
        <p:nvSpPr>
          <p:cNvPr id="26" name="TextBox 25"/>
          <p:cNvSpPr txBox="1"/>
          <p:nvPr/>
        </p:nvSpPr>
        <p:spPr>
          <a:xfrm>
            <a:off x="7118604"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Common pitfall</a:t>
            </a:r>
          </a:p>
          <a:p>
            <a:pPr algn="l">
              <a:spcAft>
                <a:spcPts val="300"/>
              </a:spcAft>
            </a:pPr>
            <a:r>
              <a:rPr sz="1200" b="0">
                <a:solidFill>
                  <a:srgbClr val="5B6372"/>
                </a:solidFill>
                <a:latin typeface="Arial"/>
              </a:rPr>
              <a:t>Incremental refresh does not update changed historical rows by itself.</a:t>
            </a:r>
          </a:p>
        </p:txBody>
      </p:sp>
      <p:sp>
        <p:nvSpPr>
          <p:cNvPr id="27" name="TextBox 26"/>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28" name="TextBox 27"/>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29" name="TextBox 28"/>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27</a:t>
            </a:r>
          </a:p>
        </p:txBody>
      </p:sp>
    </p:spTree>
  </p:cSld>
  <p:clrMapOvr>
    <a:masterClrMapping/>
  </p:clrMapOvr>
  <p:transition spd="fast">
    <p:fade/>
  </p:transition>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37744"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47472"/>
            <a:ext cx="10698480" cy="292608"/>
          </a:xfrm>
          <a:prstGeom prst="rect">
            <a:avLst/>
          </a:prstGeom>
          <a:noFill/>
        </p:spPr>
        <p:txBody>
          <a:bodyPr wrap="square" anchor="t" lIns="54864" rIns="54864" tIns="54864" bIns="54864">
            <a:spAutoFit/>
          </a:bodyPr>
          <a:lstStyle/>
          <a:p>
            <a:pPr algn="l">
              <a:spcAft>
                <a:spcPts val="300"/>
              </a:spcAft>
            </a:pPr>
            <a:r>
              <a:rPr sz="1200" b="1">
                <a:solidFill>
                  <a:srgbClr val="1F6FEB"/>
                </a:solidFill>
                <a:latin typeface="Arial"/>
              </a:rPr>
              <a:t>OFFICIAL OBJECTIVE · DOMAIN 1</a:t>
            </a:r>
          </a:p>
        </p:txBody>
      </p:sp>
      <p:sp>
        <p:nvSpPr>
          <p:cNvPr id="5" name="TextBox 4"/>
          <p:cNvSpPr txBox="1"/>
          <p:nvPr/>
        </p:nvSpPr>
        <p:spPr>
          <a:xfrm>
            <a:off x="749808" y="713232"/>
            <a:ext cx="10744200" cy="731520"/>
          </a:xfrm>
          <a:prstGeom prst="rect">
            <a:avLst/>
          </a:prstGeom>
          <a:noFill/>
        </p:spPr>
        <p:txBody>
          <a:bodyPr wrap="square" anchor="ctr" lIns="54864" rIns="54864" tIns="54864" bIns="54864">
            <a:spAutoFit/>
          </a:bodyPr>
          <a:lstStyle/>
          <a:p>
            <a:pPr algn="l">
              <a:spcAft>
                <a:spcPts val="300"/>
              </a:spcAft>
            </a:pPr>
            <a:r>
              <a:rPr sz="2700" b="1">
                <a:solidFill>
                  <a:srgbClr val="161B26"/>
                </a:solidFill>
                <a:latin typeface="Arial"/>
              </a:rPr>
              <a:t>1.1.4 · Save metadata in a .TDS</a:t>
            </a:r>
          </a:p>
        </p:txBody>
      </p:sp>
      <p:sp>
        <p:nvSpPr>
          <p:cNvPr id="6" name="Rectangle 5"/>
          <p:cNvSpPr/>
          <p:nvPr/>
        </p:nvSpPr>
        <p:spPr>
          <a:xfrm>
            <a:off x="749808" y="1536192"/>
            <a:ext cx="106984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8096"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68096" y="1764792"/>
            <a:ext cx="82296" cy="206197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96695" y="2548890"/>
            <a:ext cx="493776" cy="49377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5"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1</a:t>
            </a:r>
          </a:p>
        </p:txBody>
      </p:sp>
      <p:sp>
        <p:nvSpPr>
          <p:cNvPr id="11" name="TextBox 10"/>
          <p:cNvSpPr txBox="1"/>
          <p:nvPr/>
        </p:nvSpPr>
        <p:spPr>
          <a:xfrm>
            <a:off x="1664207"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What it means</a:t>
            </a:r>
          </a:p>
          <a:p>
            <a:pPr algn="l">
              <a:spcAft>
                <a:spcPts val="300"/>
              </a:spcAft>
            </a:pPr>
            <a:r>
              <a:rPr sz="1200" b="0">
                <a:solidFill>
                  <a:srgbClr val="5B6372"/>
                </a:solidFill>
                <a:latin typeface="Arial"/>
              </a:rPr>
              <a:t>A Tableau Data Source file stores connection details and field metadata.</a:t>
            </a:r>
          </a:p>
        </p:txBody>
      </p:sp>
      <p:sp>
        <p:nvSpPr>
          <p:cNvPr id="12" name="Rectangle 11"/>
          <p:cNvSpPr/>
          <p:nvPr/>
        </p:nvSpPr>
        <p:spPr>
          <a:xfrm>
            <a:off x="6222492"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22492" y="1764792"/>
            <a:ext cx="82296" cy="206197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51092" y="2548890"/>
            <a:ext cx="493776" cy="49377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51092"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2</a:t>
            </a:r>
          </a:p>
        </p:txBody>
      </p:sp>
      <p:sp>
        <p:nvSpPr>
          <p:cNvPr id="16" name="TextBox 15"/>
          <p:cNvSpPr txBox="1"/>
          <p:nvPr/>
        </p:nvSpPr>
        <p:spPr>
          <a:xfrm>
            <a:off x="7118604"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Use it when</a:t>
            </a:r>
          </a:p>
          <a:p>
            <a:pPr algn="l">
              <a:spcAft>
                <a:spcPts val="300"/>
              </a:spcAft>
            </a:pPr>
            <a:r>
              <a:rPr sz="1200" b="0">
                <a:solidFill>
                  <a:srgbClr val="5B6372"/>
                </a:solidFill>
                <a:latin typeface="Arial"/>
              </a:rPr>
              <a:t>Use it to standardise names, aliases, roles, folders and calculations.</a:t>
            </a:r>
          </a:p>
        </p:txBody>
      </p:sp>
      <p:sp>
        <p:nvSpPr>
          <p:cNvPr id="17" name="Rectangle 16"/>
          <p:cNvSpPr/>
          <p:nvPr/>
        </p:nvSpPr>
        <p:spPr>
          <a:xfrm>
            <a:off x="768096"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68096" y="4046220"/>
            <a:ext cx="82296" cy="206197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96695" y="4830318"/>
            <a:ext cx="493776" cy="49377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96695"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3</a:t>
            </a:r>
          </a:p>
        </p:txBody>
      </p:sp>
      <p:sp>
        <p:nvSpPr>
          <p:cNvPr id="21" name="TextBox 20"/>
          <p:cNvSpPr txBox="1"/>
          <p:nvPr/>
        </p:nvSpPr>
        <p:spPr>
          <a:xfrm>
            <a:off x="1664207"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Exam clue</a:t>
            </a:r>
          </a:p>
          <a:p>
            <a:pPr algn="l">
              <a:spcAft>
                <a:spcPts val="300"/>
              </a:spcAft>
            </a:pPr>
            <a:r>
              <a:rPr sz="1200" b="0">
                <a:solidFill>
                  <a:srgbClr val="5B6372"/>
                </a:solidFill>
                <a:latin typeface="Arial"/>
              </a:rPr>
              <a:t>TDS contains metadata; TDSX packages metadata with local files or extracts.</a:t>
            </a:r>
          </a:p>
        </p:txBody>
      </p:sp>
      <p:sp>
        <p:nvSpPr>
          <p:cNvPr id="22" name="Rectangle 21"/>
          <p:cNvSpPr/>
          <p:nvPr/>
        </p:nvSpPr>
        <p:spPr>
          <a:xfrm>
            <a:off x="6222492"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22492" y="4046220"/>
            <a:ext cx="82296" cy="206197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51092" y="4830318"/>
            <a:ext cx="493776" cy="49377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51092"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4</a:t>
            </a:r>
          </a:p>
        </p:txBody>
      </p:sp>
      <p:sp>
        <p:nvSpPr>
          <p:cNvPr id="26" name="TextBox 25"/>
          <p:cNvSpPr txBox="1"/>
          <p:nvPr/>
        </p:nvSpPr>
        <p:spPr>
          <a:xfrm>
            <a:off x="7118604"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Common pitfall</a:t>
            </a:r>
          </a:p>
          <a:p>
            <a:pPr algn="l">
              <a:spcAft>
                <a:spcPts val="300"/>
              </a:spcAft>
            </a:pPr>
            <a:r>
              <a:rPr sz="1200" b="0">
                <a:solidFill>
                  <a:srgbClr val="5B6372"/>
                </a:solidFill>
                <a:latin typeface="Arial"/>
              </a:rPr>
              <a:t>Do not confuse a data source definition with a packaged workbook (.twbx).</a:t>
            </a:r>
          </a:p>
        </p:txBody>
      </p:sp>
      <p:sp>
        <p:nvSpPr>
          <p:cNvPr id="27" name="TextBox 26"/>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28" name="TextBox 27"/>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29" name="TextBox 28"/>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28</a:t>
            </a:r>
          </a:p>
        </p:txBody>
      </p:sp>
    </p:spTree>
  </p:cSld>
  <p:clrMapOvr>
    <a:masterClrMapping/>
  </p:clrMapOvr>
  <p:transition spd="fast">
    <p:fade/>
  </p:transition>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37744"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47472"/>
            <a:ext cx="10698480" cy="292608"/>
          </a:xfrm>
          <a:prstGeom prst="rect">
            <a:avLst/>
          </a:prstGeom>
          <a:noFill/>
        </p:spPr>
        <p:txBody>
          <a:bodyPr wrap="square" anchor="t" lIns="54864" rIns="54864" tIns="54864" bIns="54864">
            <a:spAutoFit/>
          </a:bodyPr>
          <a:lstStyle/>
          <a:p>
            <a:pPr algn="l">
              <a:spcAft>
                <a:spcPts val="300"/>
              </a:spcAft>
            </a:pPr>
            <a:r>
              <a:rPr sz="1200" b="1">
                <a:solidFill>
                  <a:srgbClr val="1F6FEB"/>
                </a:solidFill>
                <a:latin typeface="Arial"/>
              </a:rPr>
              <a:t>OFFICIAL OBJECTIVE · DOMAIN 1</a:t>
            </a:r>
          </a:p>
        </p:txBody>
      </p:sp>
      <p:sp>
        <p:nvSpPr>
          <p:cNvPr id="5" name="TextBox 4"/>
          <p:cNvSpPr txBox="1"/>
          <p:nvPr/>
        </p:nvSpPr>
        <p:spPr>
          <a:xfrm>
            <a:off x="749808" y="713232"/>
            <a:ext cx="10744200" cy="731520"/>
          </a:xfrm>
          <a:prstGeom prst="rect">
            <a:avLst/>
          </a:prstGeom>
          <a:noFill/>
        </p:spPr>
        <p:txBody>
          <a:bodyPr wrap="square" anchor="ctr" lIns="54864" rIns="54864" tIns="54864" bIns="54864">
            <a:spAutoFit/>
          </a:bodyPr>
          <a:lstStyle/>
          <a:p>
            <a:pPr algn="l">
              <a:spcAft>
                <a:spcPts val="300"/>
              </a:spcAft>
            </a:pPr>
            <a:r>
              <a:rPr sz="2700" b="1">
                <a:solidFill>
                  <a:srgbClr val="161B26"/>
                </a:solidFill>
                <a:latin typeface="Arial"/>
              </a:rPr>
              <a:t>1.1.5 · Use multiple connections</a:t>
            </a:r>
          </a:p>
        </p:txBody>
      </p:sp>
      <p:sp>
        <p:nvSpPr>
          <p:cNvPr id="6" name="Rectangle 5"/>
          <p:cNvSpPr/>
          <p:nvPr/>
        </p:nvSpPr>
        <p:spPr>
          <a:xfrm>
            <a:off x="749808" y="1536192"/>
            <a:ext cx="106984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8096"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68096" y="1764792"/>
            <a:ext cx="82296" cy="206197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96695" y="2548890"/>
            <a:ext cx="493776" cy="49377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5"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1</a:t>
            </a:r>
          </a:p>
        </p:txBody>
      </p:sp>
      <p:sp>
        <p:nvSpPr>
          <p:cNvPr id="11" name="TextBox 10"/>
          <p:cNvSpPr txBox="1"/>
          <p:nvPr/>
        </p:nvSpPr>
        <p:spPr>
          <a:xfrm>
            <a:off x="1664207"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What it means</a:t>
            </a:r>
          </a:p>
          <a:p>
            <a:pPr algn="l">
              <a:spcAft>
                <a:spcPts val="300"/>
              </a:spcAft>
            </a:pPr>
            <a:r>
              <a:rPr sz="1200" b="0">
                <a:solidFill>
                  <a:srgbClr val="5B6372"/>
                </a:solidFill>
                <a:latin typeface="Arial"/>
              </a:rPr>
              <a:t>A data source may combine file, database or published connections.</a:t>
            </a:r>
          </a:p>
        </p:txBody>
      </p:sp>
      <p:sp>
        <p:nvSpPr>
          <p:cNvPr id="12" name="Rectangle 11"/>
          <p:cNvSpPr/>
          <p:nvPr/>
        </p:nvSpPr>
        <p:spPr>
          <a:xfrm>
            <a:off x="6222492"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22492" y="1764792"/>
            <a:ext cx="82296" cy="206197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51092" y="2548890"/>
            <a:ext cx="493776" cy="49377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51092"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2</a:t>
            </a:r>
          </a:p>
        </p:txBody>
      </p:sp>
      <p:sp>
        <p:nvSpPr>
          <p:cNvPr id="16" name="TextBox 15"/>
          <p:cNvSpPr txBox="1"/>
          <p:nvPr/>
        </p:nvSpPr>
        <p:spPr>
          <a:xfrm>
            <a:off x="7118604"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Use it when</a:t>
            </a:r>
          </a:p>
          <a:p>
            <a:pPr algn="l">
              <a:spcAft>
                <a:spcPts val="300"/>
              </a:spcAft>
            </a:pPr>
            <a:r>
              <a:rPr sz="1200" b="0">
                <a:solidFill>
                  <a:srgbClr val="5B6372"/>
                </a:solidFill>
                <a:latin typeface="Arial"/>
              </a:rPr>
              <a:t>Use when required tables do not reside in the same connection.</a:t>
            </a:r>
          </a:p>
        </p:txBody>
      </p:sp>
      <p:sp>
        <p:nvSpPr>
          <p:cNvPr id="17" name="Rectangle 16"/>
          <p:cNvSpPr/>
          <p:nvPr/>
        </p:nvSpPr>
        <p:spPr>
          <a:xfrm>
            <a:off x="768096"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68096" y="4046220"/>
            <a:ext cx="82296" cy="206197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96695" y="4830318"/>
            <a:ext cx="493776" cy="49377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96695"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3</a:t>
            </a:r>
          </a:p>
        </p:txBody>
      </p:sp>
      <p:sp>
        <p:nvSpPr>
          <p:cNvPr id="21" name="TextBox 20"/>
          <p:cNvSpPr txBox="1"/>
          <p:nvPr/>
        </p:nvSpPr>
        <p:spPr>
          <a:xfrm>
            <a:off x="1664207"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Exam clue</a:t>
            </a:r>
          </a:p>
          <a:p>
            <a:pPr algn="l">
              <a:spcAft>
                <a:spcPts val="300"/>
              </a:spcAft>
            </a:pPr>
            <a:r>
              <a:rPr sz="1200" b="0">
                <a:solidFill>
                  <a:srgbClr val="5B6372"/>
                </a:solidFill>
                <a:latin typeface="Arial"/>
              </a:rPr>
              <a:t>Connection is transport; data source is the analytical model exposed to sheets.</a:t>
            </a:r>
          </a:p>
        </p:txBody>
      </p:sp>
      <p:sp>
        <p:nvSpPr>
          <p:cNvPr id="22" name="Rectangle 21"/>
          <p:cNvSpPr/>
          <p:nvPr/>
        </p:nvSpPr>
        <p:spPr>
          <a:xfrm>
            <a:off x="6222492"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22492" y="4046220"/>
            <a:ext cx="82296" cy="206197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51092" y="4830318"/>
            <a:ext cx="493776" cy="49377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51092"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4</a:t>
            </a:r>
          </a:p>
        </p:txBody>
      </p:sp>
      <p:sp>
        <p:nvSpPr>
          <p:cNvPr id="26" name="TextBox 25"/>
          <p:cNvSpPr txBox="1"/>
          <p:nvPr/>
        </p:nvSpPr>
        <p:spPr>
          <a:xfrm>
            <a:off x="7118604"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Common pitfall</a:t>
            </a:r>
          </a:p>
          <a:p>
            <a:pPr algn="l">
              <a:spcAft>
                <a:spcPts val="300"/>
              </a:spcAft>
            </a:pPr>
            <a:r>
              <a:rPr sz="1200" b="0">
                <a:solidFill>
                  <a:srgbClr val="5B6372"/>
                </a:solidFill>
                <a:latin typeface="Arial"/>
              </a:rPr>
              <a:t>Cross-database joins can add query cost and connector limitations.</a:t>
            </a:r>
          </a:p>
        </p:txBody>
      </p:sp>
      <p:sp>
        <p:nvSpPr>
          <p:cNvPr id="27" name="TextBox 26"/>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28" name="TextBox 27"/>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29" name="TextBox 28"/>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29</a:t>
            </a:r>
          </a:p>
        </p:txBody>
      </p:sp>
    </p:spTree>
  </p:cSld>
  <p:clrMapOvr>
    <a:masterClrMapping/>
  </p:clrMapOvr>
  <p:transition spd="fast">
    <p:fade/>
  </p:transition>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37744"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47472"/>
            <a:ext cx="10698480" cy="292608"/>
          </a:xfrm>
          <a:prstGeom prst="rect">
            <a:avLst/>
          </a:prstGeom>
          <a:noFill/>
        </p:spPr>
        <p:txBody>
          <a:bodyPr wrap="square" anchor="t" lIns="54864" rIns="54864" tIns="54864" bIns="54864">
            <a:spAutoFit/>
          </a:bodyPr>
          <a:lstStyle/>
          <a:p>
            <a:pPr algn="l">
              <a:spcAft>
                <a:spcPts val="300"/>
              </a:spcAft>
            </a:pPr>
            <a:r>
              <a:rPr sz="1200" b="1">
                <a:solidFill>
                  <a:srgbClr val="1F6FEB"/>
                </a:solidFill>
                <a:latin typeface="Arial"/>
              </a:rPr>
              <a:t>DOMAIN 1 · SECTION 2</a:t>
            </a:r>
          </a:p>
        </p:txBody>
      </p:sp>
      <p:sp>
        <p:nvSpPr>
          <p:cNvPr id="5" name="TextBox 4"/>
          <p:cNvSpPr txBox="1"/>
          <p:nvPr/>
        </p:nvSpPr>
        <p:spPr>
          <a:xfrm>
            <a:off x="749808" y="713232"/>
            <a:ext cx="10744200" cy="731520"/>
          </a:xfrm>
          <a:prstGeom prst="rect">
            <a:avLst/>
          </a:prstGeom>
          <a:noFill/>
        </p:spPr>
        <p:txBody>
          <a:bodyPr wrap="square" anchor="ctr" lIns="54864" rIns="54864" tIns="54864" bIns="54864">
            <a:spAutoFit/>
          </a:bodyPr>
          <a:lstStyle/>
          <a:p>
            <a:pPr algn="l">
              <a:spcAft>
                <a:spcPts val="300"/>
              </a:spcAft>
            </a:pPr>
            <a:r>
              <a:rPr sz="2700" b="1">
                <a:solidFill>
                  <a:srgbClr val="161B26"/>
                </a:solidFill>
                <a:latin typeface="Arial"/>
              </a:rPr>
              <a:t>Create and manage the data model</a:t>
            </a:r>
          </a:p>
        </p:txBody>
      </p:sp>
      <p:sp>
        <p:nvSpPr>
          <p:cNvPr id="6" name="Rectangle 5"/>
          <p:cNvSpPr/>
          <p:nvPr/>
        </p:nvSpPr>
        <p:spPr>
          <a:xfrm>
            <a:off x="749808" y="1536192"/>
            <a:ext cx="106984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8096"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68096" y="1764792"/>
            <a:ext cx="82296" cy="206197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96695" y="2548890"/>
            <a:ext cx="493776" cy="49377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5"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1</a:t>
            </a:r>
          </a:p>
        </p:txBody>
      </p:sp>
      <p:sp>
        <p:nvSpPr>
          <p:cNvPr id="11" name="TextBox 10"/>
          <p:cNvSpPr txBox="1"/>
          <p:nvPr/>
        </p:nvSpPr>
        <p:spPr>
          <a:xfrm>
            <a:off x="1664207"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Relationships</a:t>
            </a:r>
          </a:p>
          <a:p>
            <a:pPr algn="l">
              <a:spcAft>
                <a:spcPts val="300"/>
              </a:spcAft>
            </a:pPr>
            <a:r>
              <a:rPr sz="1200" b="0">
                <a:solidFill>
                  <a:srgbClr val="5B6372"/>
                </a:solidFill>
                <a:latin typeface="Arial"/>
              </a:rPr>
              <a:t>Logical links evaluated at query time; preserve each table's level of detail.</a:t>
            </a:r>
          </a:p>
        </p:txBody>
      </p:sp>
      <p:sp>
        <p:nvSpPr>
          <p:cNvPr id="12" name="Rectangle 11"/>
          <p:cNvSpPr/>
          <p:nvPr/>
        </p:nvSpPr>
        <p:spPr>
          <a:xfrm>
            <a:off x="6222492"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22492" y="1764792"/>
            <a:ext cx="82296" cy="206197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51092" y="2548890"/>
            <a:ext cx="493776" cy="49377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51092"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2</a:t>
            </a:r>
          </a:p>
        </p:txBody>
      </p:sp>
      <p:sp>
        <p:nvSpPr>
          <p:cNvPr id="16" name="TextBox 15"/>
          <p:cNvSpPr txBox="1"/>
          <p:nvPr/>
        </p:nvSpPr>
        <p:spPr>
          <a:xfrm>
            <a:off x="7118604"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Joins</a:t>
            </a:r>
          </a:p>
          <a:p>
            <a:pPr algn="l">
              <a:spcAft>
                <a:spcPts val="300"/>
              </a:spcAft>
            </a:pPr>
            <a:r>
              <a:rPr sz="1200" b="0">
                <a:solidFill>
                  <a:srgbClr val="5B6372"/>
                </a:solidFill>
                <a:latin typeface="Arial"/>
              </a:rPr>
              <a:t>Physical row combination using matching clauses and a fixed join type.</a:t>
            </a:r>
          </a:p>
        </p:txBody>
      </p:sp>
      <p:sp>
        <p:nvSpPr>
          <p:cNvPr id="17" name="Rectangle 16"/>
          <p:cNvSpPr/>
          <p:nvPr/>
        </p:nvSpPr>
        <p:spPr>
          <a:xfrm>
            <a:off x="768096"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68096" y="4046220"/>
            <a:ext cx="82296" cy="206197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96695" y="4830318"/>
            <a:ext cx="493776" cy="49377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96695"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3</a:t>
            </a:r>
          </a:p>
        </p:txBody>
      </p:sp>
      <p:sp>
        <p:nvSpPr>
          <p:cNvPr id="21" name="TextBox 20"/>
          <p:cNvSpPr txBox="1"/>
          <p:nvPr/>
        </p:nvSpPr>
        <p:spPr>
          <a:xfrm>
            <a:off x="1664207"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Unions</a:t>
            </a:r>
          </a:p>
          <a:p>
            <a:pPr algn="l">
              <a:spcAft>
                <a:spcPts val="300"/>
              </a:spcAft>
            </a:pPr>
            <a:r>
              <a:rPr sz="1200" b="0">
                <a:solidFill>
                  <a:srgbClr val="5B6372"/>
                </a:solidFill>
                <a:latin typeface="Arial"/>
              </a:rPr>
              <a:t>Append rows from similarly structured tables; align fields by name and type.</a:t>
            </a:r>
          </a:p>
        </p:txBody>
      </p:sp>
      <p:sp>
        <p:nvSpPr>
          <p:cNvPr id="22" name="Rectangle 21"/>
          <p:cNvSpPr/>
          <p:nvPr/>
        </p:nvSpPr>
        <p:spPr>
          <a:xfrm>
            <a:off x="6222492"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22492" y="4046220"/>
            <a:ext cx="82296" cy="206197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51092" y="4830318"/>
            <a:ext cx="493776" cy="49377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51092"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4</a:t>
            </a:r>
          </a:p>
        </p:txBody>
      </p:sp>
      <p:sp>
        <p:nvSpPr>
          <p:cNvPr id="26" name="TextBox 25"/>
          <p:cNvSpPr txBox="1"/>
          <p:nvPr/>
        </p:nvSpPr>
        <p:spPr>
          <a:xfrm>
            <a:off x="7118604"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Validation</a:t>
            </a:r>
          </a:p>
          <a:p>
            <a:pPr algn="l">
              <a:spcAft>
                <a:spcPts val="300"/>
              </a:spcAft>
            </a:pPr>
            <a:r>
              <a:rPr sz="1200" b="0">
                <a:solidFill>
                  <a:srgbClr val="5B6372"/>
                </a:solidFill>
                <a:latin typeface="Arial"/>
              </a:rPr>
              <a:t>Compare expected grain, row counts, unmatched keys and nulls before analysis.</a:t>
            </a:r>
          </a:p>
        </p:txBody>
      </p:sp>
      <p:sp>
        <p:nvSpPr>
          <p:cNvPr id="27" name="TextBox 26"/>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28" name="TextBox 27"/>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29" name="TextBox 28"/>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30</a:t>
            </a:r>
          </a:p>
        </p:txBody>
      </p:sp>
    </p:spTree>
  </p:cSld>
  <p:clrMapOvr>
    <a:masterClrMapping/>
  </p:clrMapOvr>
  <p:transition spd="fast">
    <p:fade/>
  </p:transition>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37744"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47472"/>
            <a:ext cx="10698480" cy="292608"/>
          </a:xfrm>
          <a:prstGeom prst="rect">
            <a:avLst/>
          </a:prstGeom>
          <a:noFill/>
        </p:spPr>
        <p:txBody>
          <a:bodyPr wrap="square" anchor="t" lIns="54864" rIns="54864" tIns="54864" bIns="54864">
            <a:spAutoFit/>
          </a:bodyPr>
          <a:lstStyle/>
          <a:p>
            <a:pPr algn="l">
              <a:spcAft>
                <a:spcPts val="300"/>
              </a:spcAft>
            </a:pPr>
            <a:r>
              <a:rPr sz="1200" b="1">
                <a:solidFill>
                  <a:srgbClr val="1F6FEB"/>
                </a:solidFill>
                <a:latin typeface="Arial"/>
              </a:rPr>
              <a:t>CONCEPTUAL DECISION FLOW</a:t>
            </a:r>
          </a:p>
        </p:txBody>
      </p:sp>
      <p:sp>
        <p:nvSpPr>
          <p:cNvPr id="5" name="TextBox 4"/>
          <p:cNvSpPr txBox="1"/>
          <p:nvPr/>
        </p:nvSpPr>
        <p:spPr>
          <a:xfrm>
            <a:off x="749808" y="713232"/>
            <a:ext cx="10744200" cy="731520"/>
          </a:xfrm>
          <a:prstGeom prst="rect">
            <a:avLst/>
          </a:prstGeom>
          <a:noFill/>
        </p:spPr>
        <p:txBody>
          <a:bodyPr wrap="square" anchor="ctr" lIns="54864" rIns="54864" tIns="54864" bIns="54864">
            <a:spAutoFit/>
          </a:bodyPr>
          <a:lstStyle/>
          <a:p>
            <a:pPr algn="l">
              <a:spcAft>
                <a:spcPts val="300"/>
              </a:spcAft>
            </a:pPr>
            <a:r>
              <a:rPr sz="2700" b="1">
                <a:solidFill>
                  <a:srgbClr val="161B26"/>
                </a:solidFill>
                <a:latin typeface="Arial"/>
              </a:rPr>
              <a:t>Reasoning Pattern — Create and manage the data model</a:t>
            </a:r>
          </a:p>
        </p:txBody>
      </p:sp>
      <p:sp>
        <p:nvSpPr>
          <p:cNvPr id="6" name="Rectangle 5"/>
          <p:cNvSpPr/>
          <p:nvPr/>
        </p:nvSpPr>
        <p:spPr>
          <a:xfrm>
            <a:off x="749808" y="1536192"/>
            <a:ext cx="106984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8096" y="2057400"/>
            <a:ext cx="1947672" cy="2971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68096" y="2057400"/>
            <a:ext cx="194767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76172" y="2423160"/>
            <a:ext cx="731520" cy="7315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6172" y="2423160"/>
            <a:ext cx="731520" cy="731520"/>
          </a:xfrm>
          <a:prstGeom prst="rect">
            <a:avLst/>
          </a:prstGeom>
          <a:noFill/>
        </p:spPr>
        <p:txBody>
          <a:bodyPr wrap="square" anchor="ctr" lIns="54864" rIns="54864" tIns="54864" bIns="54864">
            <a:spAutoFit/>
          </a:bodyPr>
          <a:lstStyle/>
          <a:p>
            <a:pPr algn="ctr">
              <a:spcAft>
                <a:spcPts val="300"/>
              </a:spcAft>
            </a:pPr>
            <a:r>
              <a:rPr sz="2400" b="1">
                <a:solidFill>
                  <a:srgbClr val="FFFFFF"/>
                </a:solidFill>
                <a:latin typeface="Arial"/>
              </a:rPr>
              <a:t>1</a:t>
            </a:r>
          </a:p>
        </p:txBody>
      </p:sp>
      <p:sp>
        <p:nvSpPr>
          <p:cNvPr id="11" name="TextBox 10"/>
          <p:cNvSpPr txBox="1"/>
          <p:nvPr/>
        </p:nvSpPr>
        <p:spPr>
          <a:xfrm>
            <a:off x="877824" y="3429000"/>
            <a:ext cx="1728216" cy="1143000"/>
          </a:xfrm>
          <a:prstGeom prst="rect">
            <a:avLst/>
          </a:prstGeom>
          <a:noFill/>
        </p:spPr>
        <p:txBody>
          <a:bodyPr wrap="square" anchor="ctr" lIns="54864" rIns="54864" tIns="54864" bIns="54864">
            <a:spAutoFit/>
          </a:bodyPr>
          <a:lstStyle/>
          <a:p>
            <a:pPr algn="ctr">
              <a:spcAft>
                <a:spcPts val="300"/>
              </a:spcAft>
            </a:pPr>
            <a:r>
              <a:rPr sz="1250" b="0">
                <a:solidFill>
                  <a:srgbClr val="161B26"/>
                </a:solidFill>
                <a:latin typeface="Arial"/>
              </a:rPr>
              <a:t>Relationships</a:t>
            </a:r>
          </a:p>
        </p:txBody>
      </p:sp>
      <p:sp>
        <p:nvSpPr>
          <p:cNvPr id="12" name="TextBox 11"/>
          <p:cNvSpPr txBox="1"/>
          <p:nvPr/>
        </p:nvSpPr>
        <p:spPr>
          <a:xfrm>
            <a:off x="2697479" y="3246120"/>
            <a:ext cx="274320" cy="365760"/>
          </a:xfrm>
          <a:prstGeom prst="rect">
            <a:avLst/>
          </a:prstGeom>
          <a:noFill/>
        </p:spPr>
        <p:txBody>
          <a:bodyPr wrap="square" anchor="t" lIns="54864" rIns="54864" tIns="54864" bIns="54864">
            <a:spAutoFit/>
          </a:bodyPr>
          <a:lstStyle/>
          <a:p>
            <a:pPr algn="ctr">
              <a:spcAft>
                <a:spcPts val="300"/>
              </a:spcAft>
            </a:pPr>
            <a:r>
              <a:rPr sz="1200" b="1">
                <a:solidFill>
                  <a:srgbClr val="1F6FEB"/>
                </a:solidFill>
                <a:latin typeface="Arial"/>
              </a:rPr>
              <a:t>▶</a:t>
            </a:r>
          </a:p>
        </p:txBody>
      </p:sp>
      <p:sp>
        <p:nvSpPr>
          <p:cNvPr id="13" name="Rectangle 12"/>
          <p:cNvSpPr/>
          <p:nvPr/>
        </p:nvSpPr>
        <p:spPr>
          <a:xfrm>
            <a:off x="2944368" y="2057400"/>
            <a:ext cx="1947672" cy="2971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44368" y="2057400"/>
            <a:ext cx="194767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52444" y="2423160"/>
            <a:ext cx="731520" cy="7315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52444" y="2423160"/>
            <a:ext cx="731520" cy="731520"/>
          </a:xfrm>
          <a:prstGeom prst="rect">
            <a:avLst/>
          </a:prstGeom>
          <a:noFill/>
        </p:spPr>
        <p:txBody>
          <a:bodyPr wrap="square" anchor="ctr" lIns="54864" rIns="54864" tIns="54864" bIns="54864">
            <a:spAutoFit/>
          </a:bodyPr>
          <a:lstStyle/>
          <a:p>
            <a:pPr algn="ctr">
              <a:spcAft>
                <a:spcPts val="300"/>
              </a:spcAft>
            </a:pPr>
            <a:r>
              <a:rPr sz="2400" b="1">
                <a:solidFill>
                  <a:srgbClr val="FFFFFF"/>
                </a:solidFill>
                <a:latin typeface="Arial"/>
              </a:rPr>
              <a:t>2</a:t>
            </a:r>
          </a:p>
        </p:txBody>
      </p:sp>
      <p:sp>
        <p:nvSpPr>
          <p:cNvPr id="17" name="TextBox 16"/>
          <p:cNvSpPr txBox="1"/>
          <p:nvPr/>
        </p:nvSpPr>
        <p:spPr>
          <a:xfrm>
            <a:off x="3054096" y="3429000"/>
            <a:ext cx="1728216" cy="1143000"/>
          </a:xfrm>
          <a:prstGeom prst="rect">
            <a:avLst/>
          </a:prstGeom>
          <a:noFill/>
        </p:spPr>
        <p:txBody>
          <a:bodyPr wrap="square" anchor="ctr" lIns="54864" rIns="54864" tIns="54864" bIns="54864">
            <a:spAutoFit/>
          </a:bodyPr>
          <a:lstStyle/>
          <a:p>
            <a:pPr algn="ctr">
              <a:spcAft>
                <a:spcPts val="300"/>
              </a:spcAft>
            </a:pPr>
            <a:r>
              <a:rPr sz="1250" b="0">
                <a:solidFill>
                  <a:srgbClr val="161B26"/>
                </a:solidFill>
                <a:latin typeface="Arial"/>
              </a:rPr>
              <a:t>Joins</a:t>
            </a:r>
          </a:p>
        </p:txBody>
      </p:sp>
      <p:sp>
        <p:nvSpPr>
          <p:cNvPr id="18" name="TextBox 17"/>
          <p:cNvSpPr txBox="1"/>
          <p:nvPr/>
        </p:nvSpPr>
        <p:spPr>
          <a:xfrm>
            <a:off x="4873752" y="3246120"/>
            <a:ext cx="274320" cy="365760"/>
          </a:xfrm>
          <a:prstGeom prst="rect">
            <a:avLst/>
          </a:prstGeom>
          <a:noFill/>
        </p:spPr>
        <p:txBody>
          <a:bodyPr wrap="square" anchor="t" lIns="54864" rIns="54864" tIns="54864" bIns="54864">
            <a:spAutoFit/>
          </a:bodyPr>
          <a:lstStyle/>
          <a:p>
            <a:pPr algn="ctr">
              <a:spcAft>
                <a:spcPts val="300"/>
              </a:spcAft>
            </a:pPr>
            <a:r>
              <a:rPr sz="1200" b="1">
                <a:solidFill>
                  <a:srgbClr val="1F6FEB"/>
                </a:solidFill>
                <a:latin typeface="Arial"/>
              </a:rPr>
              <a:t>▶</a:t>
            </a:r>
          </a:p>
        </p:txBody>
      </p:sp>
      <p:sp>
        <p:nvSpPr>
          <p:cNvPr id="19" name="Rectangle 18"/>
          <p:cNvSpPr/>
          <p:nvPr/>
        </p:nvSpPr>
        <p:spPr>
          <a:xfrm>
            <a:off x="5120640" y="2057400"/>
            <a:ext cx="1947672" cy="2971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0" y="2057400"/>
            <a:ext cx="194767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28715" y="2423160"/>
            <a:ext cx="731520" cy="7315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28715" y="2423160"/>
            <a:ext cx="731520" cy="731520"/>
          </a:xfrm>
          <a:prstGeom prst="rect">
            <a:avLst/>
          </a:prstGeom>
          <a:noFill/>
        </p:spPr>
        <p:txBody>
          <a:bodyPr wrap="square" anchor="ctr" lIns="54864" rIns="54864" tIns="54864" bIns="54864">
            <a:spAutoFit/>
          </a:bodyPr>
          <a:lstStyle/>
          <a:p>
            <a:pPr algn="ctr">
              <a:spcAft>
                <a:spcPts val="300"/>
              </a:spcAft>
            </a:pPr>
            <a:r>
              <a:rPr sz="2400" b="1">
                <a:solidFill>
                  <a:srgbClr val="FFFFFF"/>
                </a:solidFill>
                <a:latin typeface="Arial"/>
              </a:rPr>
              <a:t>3</a:t>
            </a:r>
          </a:p>
        </p:txBody>
      </p:sp>
      <p:sp>
        <p:nvSpPr>
          <p:cNvPr id="23" name="TextBox 22"/>
          <p:cNvSpPr txBox="1"/>
          <p:nvPr/>
        </p:nvSpPr>
        <p:spPr>
          <a:xfrm>
            <a:off x="5230368" y="3429000"/>
            <a:ext cx="1728216" cy="1143000"/>
          </a:xfrm>
          <a:prstGeom prst="rect">
            <a:avLst/>
          </a:prstGeom>
          <a:noFill/>
        </p:spPr>
        <p:txBody>
          <a:bodyPr wrap="square" anchor="ctr" lIns="54864" rIns="54864" tIns="54864" bIns="54864">
            <a:spAutoFit/>
          </a:bodyPr>
          <a:lstStyle/>
          <a:p>
            <a:pPr algn="ctr">
              <a:spcAft>
                <a:spcPts val="300"/>
              </a:spcAft>
            </a:pPr>
            <a:r>
              <a:rPr sz="1250" b="0">
                <a:solidFill>
                  <a:srgbClr val="161B26"/>
                </a:solidFill>
                <a:latin typeface="Arial"/>
              </a:rPr>
              <a:t>Unions</a:t>
            </a:r>
          </a:p>
        </p:txBody>
      </p:sp>
      <p:sp>
        <p:nvSpPr>
          <p:cNvPr id="24" name="TextBox 23"/>
          <p:cNvSpPr txBox="1"/>
          <p:nvPr/>
        </p:nvSpPr>
        <p:spPr>
          <a:xfrm>
            <a:off x="7050024" y="3246120"/>
            <a:ext cx="274320" cy="365760"/>
          </a:xfrm>
          <a:prstGeom prst="rect">
            <a:avLst/>
          </a:prstGeom>
          <a:noFill/>
        </p:spPr>
        <p:txBody>
          <a:bodyPr wrap="square" anchor="t" lIns="54864" rIns="54864" tIns="54864" bIns="54864">
            <a:spAutoFit/>
          </a:bodyPr>
          <a:lstStyle/>
          <a:p>
            <a:pPr algn="ctr">
              <a:spcAft>
                <a:spcPts val="300"/>
              </a:spcAft>
            </a:pPr>
            <a:r>
              <a:rPr sz="1200" b="1">
                <a:solidFill>
                  <a:srgbClr val="1F6FEB"/>
                </a:solidFill>
                <a:latin typeface="Arial"/>
              </a:rPr>
              <a:t>▶</a:t>
            </a:r>
          </a:p>
        </p:txBody>
      </p:sp>
      <p:sp>
        <p:nvSpPr>
          <p:cNvPr id="25" name="Rectangle 24"/>
          <p:cNvSpPr/>
          <p:nvPr/>
        </p:nvSpPr>
        <p:spPr>
          <a:xfrm>
            <a:off x="7296912" y="2057400"/>
            <a:ext cx="1947672" cy="2971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296912" y="2057400"/>
            <a:ext cx="194767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04988" y="2423160"/>
            <a:ext cx="731520" cy="7315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4988" y="2423160"/>
            <a:ext cx="731520" cy="731520"/>
          </a:xfrm>
          <a:prstGeom prst="rect">
            <a:avLst/>
          </a:prstGeom>
          <a:noFill/>
        </p:spPr>
        <p:txBody>
          <a:bodyPr wrap="square" anchor="ctr" lIns="54864" rIns="54864" tIns="54864" bIns="54864">
            <a:spAutoFit/>
          </a:bodyPr>
          <a:lstStyle/>
          <a:p>
            <a:pPr algn="ctr">
              <a:spcAft>
                <a:spcPts val="300"/>
              </a:spcAft>
            </a:pPr>
            <a:r>
              <a:rPr sz="2400" b="1">
                <a:solidFill>
                  <a:srgbClr val="FFFFFF"/>
                </a:solidFill>
                <a:latin typeface="Arial"/>
              </a:rPr>
              <a:t>4</a:t>
            </a:r>
          </a:p>
        </p:txBody>
      </p:sp>
      <p:sp>
        <p:nvSpPr>
          <p:cNvPr id="29" name="TextBox 28"/>
          <p:cNvSpPr txBox="1"/>
          <p:nvPr/>
        </p:nvSpPr>
        <p:spPr>
          <a:xfrm>
            <a:off x="7406640" y="3429000"/>
            <a:ext cx="1728216" cy="1143000"/>
          </a:xfrm>
          <a:prstGeom prst="rect">
            <a:avLst/>
          </a:prstGeom>
          <a:noFill/>
        </p:spPr>
        <p:txBody>
          <a:bodyPr wrap="square" anchor="ctr" lIns="54864" rIns="54864" tIns="54864" bIns="54864">
            <a:spAutoFit/>
          </a:bodyPr>
          <a:lstStyle/>
          <a:p>
            <a:pPr algn="ctr">
              <a:spcAft>
                <a:spcPts val="300"/>
              </a:spcAft>
            </a:pPr>
            <a:r>
              <a:rPr sz="1250" b="0">
                <a:solidFill>
                  <a:srgbClr val="161B26"/>
                </a:solidFill>
                <a:latin typeface="Arial"/>
              </a:rPr>
              <a:t>Validation</a:t>
            </a:r>
          </a:p>
        </p:txBody>
      </p:sp>
      <p:sp>
        <p:nvSpPr>
          <p:cNvPr id="30" name="TextBox 29"/>
          <p:cNvSpPr txBox="1"/>
          <p:nvPr/>
        </p:nvSpPr>
        <p:spPr>
          <a:xfrm>
            <a:off x="9226296" y="3246120"/>
            <a:ext cx="274320" cy="365760"/>
          </a:xfrm>
          <a:prstGeom prst="rect">
            <a:avLst/>
          </a:prstGeom>
          <a:noFill/>
        </p:spPr>
        <p:txBody>
          <a:bodyPr wrap="square" anchor="t" lIns="54864" rIns="54864" tIns="54864" bIns="54864">
            <a:spAutoFit/>
          </a:bodyPr>
          <a:lstStyle/>
          <a:p>
            <a:pPr algn="ctr">
              <a:spcAft>
                <a:spcPts val="300"/>
              </a:spcAft>
            </a:pPr>
            <a:r>
              <a:rPr sz="1200" b="1">
                <a:solidFill>
                  <a:srgbClr val="1F6FEB"/>
                </a:solidFill>
                <a:latin typeface="Arial"/>
              </a:rPr>
              <a:t>▶</a:t>
            </a:r>
          </a:p>
        </p:txBody>
      </p:sp>
      <p:sp>
        <p:nvSpPr>
          <p:cNvPr id="31" name="Rectangle 30"/>
          <p:cNvSpPr/>
          <p:nvPr/>
        </p:nvSpPr>
        <p:spPr>
          <a:xfrm>
            <a:off x="9473184" y="2057400"/>
            <a:ext cx="1947672" cy="2971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473184" y="2057400"/>
            <a:ext cx="194767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81259" y="2423160"/>
            <a:ext cx="731520" cy="7315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81259" y="2423160"/>
            <a:ext cx="731520" cy="731520"/>
          </a:xfrm>
          <a:prstGeom prst="rect">
            <a:avLst/>
          </a:prstGeom>
          <a:noFill/>
        </p:spPr>
        <p:txBody>
          <a:bodyPr wrap="square" anchor="ctr" lIns="54864" rIns="54864" tIns="54864" bIns="54864">
            <a:spAutoFit/>
          </a:bodyPr>
          <a:lstStyle/>
          <a:p>
            <a:pPr algn="ctr">
              <a:spcAft>
                <a:spcPts val="300"/>
              </a:spcAft>
            </a:pPr>
            <a:r>
              <a:rPr sz="2400" b="1">
                <a:solidFill>
                  <a:srgbClr val="FFFFFF"/>
                </a:solidFill>
                <a:latin typeface="Arial"/>
              </a:rPr>
              <a:t>5</a:t>
            </a:r>
          </a:p>
        </p:txBody>
      </p:sp>
      <p:sp>
        <p:nvSpPr>
          <p:cNvPr id="35" name="TextBox 34"/>
          <p:cNvSpPr txBox="1"/>
          <p:nvPr/>
        </p:nvSpPr>
        <p:spPr>
          <a:xfrm>
            <a:off x="9582911" y="3429000"/>
            <a:ext cx="1728216" cy="1143000"/>
          </a:xfrm>
          <a:prstGeom prst="rect">
            <a:avLst/>
          </a:prstGeom>
          <a:noFill/>
        </p:spPr>
        <p:txBody>
          <a:bodyPr wrap="square" anchor="ctr" lIns="54864" rIns="54864" tIns="54864" bIns="54864">
            <a:spAutoFit/>
          </a:bodyPr>
          <a:lstStyle/>
          <a:p>
            <a:pPr algn="ctr">
              <a:spcAft>
                <a:spcPts val="300"/>
              </a:spcAft>
            </a:pPr>
            <a:r>
              <a:rPr sz="1250" b="0">
                <a:solidFill>
                  <a:srgbClr val="161B26"/>
                </a:solidFill>
                <a:latin typeface="Arial"/>
              </a:rPr>
              <a:t>Validate result</a:t>
            </a:r>
          </a:p>
        </p:txBody>
      </p:sp>
      <p:sp>
        <p:nvSpPr>
          <p:cNvPr id="36" name="TextBox 35"/>
          <p:cNvSpPr txBox="1"/>
          <p:nvPr/>
        </p:nvSpPr>
        <p:spPr>
          <a:xfrm>
            <a:off x="777240" y="5394960"/>
            <a:ext cx="10607040" cy="411480"/>
          </a:xfrm>
          <a:prstGeom prst="rect">
            <a:avLst/>
          </a:prstGeom>
          <a:noFill/>
        </p:spPr>
        <p:txBody>
          <a:bodyPr wrap="square" anchor="t" lIns="54864" rIns="54864" tIns="54864" bIns="54864">
            <a:spAutoFit/>
          </a:bodyPr>
          <a:lstStyle/>
          <a:p>
            <a:pPr algn="ctr">
              <a:spcAft>
                <a:spcPts val="300"/>
              </a:spcAft>
            </a:pPr>
            <a:r>
              <a:rPr sz="1250" b="0">
                <a:solidFill>
                  <a:srgbClr val="5B6372"/>
                </a:solidFill>
                <a:latin typeface="Arial"/>
              </a:rPr>
              <a:t>This is a reasoning map, not a click-by-click lab procedure.</a:t>
            </a:r>
          </a:p>
        </p:txBody>
      </p:sp>
      <p:sp>
        <p:nvSpPr>
          <p:cNvPr id="37" name="TextBox 36"/>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38" name="TextBox 37"/>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39" name="TextBox 38"/>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31</a:t>
            </a:r>
          </a:p>
        </p:txBody>
      </p:sp>
    </p:spTree>
  </p:cSld>
  <p:clrMapOvr>
    <a:masterClrMapping/>
  </p:clrMapOvr>
  <p:transition spd="fast">
    <p:fade/>
  </p:transition>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37744"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47472"/>
            <a:ext cx="10698480" cy="292608"/>
          </a:xfrm>
          <a:prstGeom prst="rect">
            <a:avLst/>
          </a:prstGeom>
          <a:noFill/>
        </p:spPr>
        <p:txBody>
          <a:bodyPr wrap="square" anchor="t" lIns="54864" rIns="54864" tIns="54864" bIns="54864">
            <a:spAutoFit/>
          </a:bodyPr>
          <a:lstStyle/>
          <a:p>
            <a:pPr algn="l">
              <a:spcAft>
                <a:spcPts val="300"/>
              </a:spcAft>
            </a:pPr>
            <a:r>
              <a:rPr sz="1200" b="1">
                <a:solidFill>
                  <a:srgbClr val="1F6FEB"/>
                </a:solidFill>
                <a:latin typeface="Arial"/>
              </a:rPr>
              <a:t>OFFICIAL OBJECTIVE · DOMAIN 1</a:t>
            </a:r>
          </a:p>
        </p:txBody>
      </p:sp>
      <p:sp>
        <p:nvSpPr>
          <p:cNvPr id="5" name="TextBox 4"/>
          <p:cNvSpPr txBox="1"/>
          <p:nvPr/>
        </p:nvSpPr>
        <p:spPr>
          <a:xfrm>
            <a:off x="749808" y="713232"/>
            <a:ext cx="10744200" cy="731520"/>
          </a:xfrm>
          <a:prstGeom prst="rect">
            <a:avLst/>
          </a:prstGeom>
          <a:noFill/>
        </p:spPr>
        <p:txBody>
          <a:bodyPr wrap="square" anchor="ctr" lIns="54864" rIns="54864" tIns="54864" bIns="54864">
            <a:spAutoFit/>
          </a:bodyPr>
          <a:lstStyle/>
          <a:p>
            <a:pPr algn="l">
              <a:spcAft>
                <a:spcPts val="300"/>
              </a:spcAft>
            </a:pPr>
            <a:r>
              <a:rPr sz="2700" b="1">
                <a:solidFill>
                  <a:srgbClr val="161B26"/>
                </a:solidFill>
                <a:latin typeface="Arial"/>
              </a:rPr>
              <a:t>1.2.1 · Add relationships</a:t>
            </a:r>
          </a:p>
        </p:txBody>
      </p:sp>
      <p:sp>
        <p:nvSpPr>
          <p:cNvPr id="6" name="Rectangle 5"/>
          <p:cNvSpPr/>
          <p:nvPr/>
        </p:nvSpPr>
        <p:spPr>
          <a:xfrm>
            <a:off x="749808" y="1536192"/>
            <a:ext cx="106984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8096"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68096" y="1764792"/>
            <a:ext cx="82296" cy="206197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96695" y="2548890"/>
            <a:ext cx="493776" cy="49377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5"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1</a:t>
            </a:r>
          </a:p>
        </p:txBody>
      </p:sp>
      <p:sp>
        <p:nvSpPr>
          <p:cNvPr id="11" name="TextBox 10"/>
          <p:cNvSpPr txBox="1"/>
          <p:nvPr/>
        </p:nvSpPr>
        <p:spPr>
          <a:xfrm>
            <a:off x="1664207"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What it means</a:t>
            </a:r>
          </a:p>
          <a:p>
            <a:pPr algn="l">
              <a:spcAft>
                <a:spcPts val="300"/>
              </a:spcAft>
            </a:pPr>
            <a:r>
              <a:rPr sz="1200" b="0">
                <a:solidFill>
                  <a:srgbClr val="5B6372"/>
                </a:solidFill>
                <a:latin typeface="Arial"/>
              </a:rPr>
              <a:t>Relationships describe how logical tables correspond without flattening first.</a:t>
            </a:r>
          </a:p>
        </p:txBody>
      </p:sp>
      <p:sp>
        <p:nvSpPr>
          <p:cNvPr id="12" name="Rectangle 11"/>
          <p:cNvSpPr/>
          <p:nvPr/>
        </p:nvSpPr>
        <p:spPr>
          <a:xfrm>
            <a:off x="6222492"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22492" y="1764792"/>
            <a:ext cx="82296" cy="206197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51092" y="2548890"/>
            <a:ext cx="493776" cy="49377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51092"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2</a:t>
            </a:r>
          </a:p>
        </p:txBody>
      </p:sp>
      <p:sp>
        <p:nvSpPr>
          <p:cNvPr id="16" name="TextBox 15"/>
          <p:cNvSpPr txBox="1"/>
          <p:nvPr/>
        </p:nvSpPr>
        <p:spPr>
          <a:xfrm>
            <a:off x="7118604"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Use it when</a:t>
            </a:r>
          </a:p>
          <a:p>
            <a:pPr algn="l">
              <a:spcAft>
                <a:spcPts val="300"/>
              </a:spcAft>
            </a:pPr>
            <a:r>
              <a:rPr sz="1200" b="0">
                <a:solidFill>
                  <a:srgbClr val="5B6372"/>
                </a:solidFill>
                <a:latin typeface="Arial"/>
              </a:rPr>
              <a:t>Use for multi-fact models or tables at different grains.</a:t>
            </a:r>
          </a:p>
        </p:txBody>
      </p:sp>
      <p:sp>
        <p:nvSpPr>
          <p:cNvPr id="17" name="Rectangle 16"/>
          <p:cNvSpPr/>
          <p:nvPr/>
        </p:nvSpPr>
        <p:spPr>
          <a:xfrm>
            <a:off x="768096"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68096" y="4046220"/>
            <a:ext cx="82296" cy="206197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96695" y="4830318"/>
            <a:ext cx="493776" cy="49377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96695"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3</a:t>
            </a:r>
          </a:p>
        </p:txBody>
      </p:sp>
      <p:sp>
        <p:nvSpPr>
          <p:cNvPr id="21" name="TextBox 20"/>
          <p:cNvSpPr txBox="1"/>
          <p:nvPr/>
        </p:nvSpPr>
        <p:spPr>
          <a:xfrm>
            <a:off x="1664207"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Exam clue</a:t>
            </a:r>
          </a:p>
          <a:p>
            <a:pPr algn="l">
              <a:spcAft>
                <a:spcPts val="300"/>
              </a:spcAft>
            </a:pPr>
            <a:r>
              <a:rPr sz="1200" b="0">
                <a:solidFill>
                  <a:srgbClr val="5B6372"/>
                </a:solidFill>
                <a:latin typeface="Arial"/>
              </a:rPr>
              <a:t>Tableau chooses context-aware joins and aggregation from fields in the view.</a:t>
            </a:r>
          </a:p>
        </p:txBody>
      </p:sp>
      <p:sp>
        <p:nvSpPr>
          <p:cNvPr id="22" name="Rectangle 21"/>
          <p:cNvSpPr/>
          <p:nvPr/>
        </p:nvSpPr>
        <p:spPr>
          <a:xfrm>
            <a:off x="6222492"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22492" y="4046220"/>
            <a:ext cx="82296" cy="206197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51092" y="4830318"/>
            <a:ext cx="493776" cy="49377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51092"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4</a:t>
            </a:r>
          </a:p>
        </p:txBody>
      </p:sp>
      <p:sp>
        <p:nvSpPr>
          <p:cNvPr id="26" name="TextBox 25"/>
          <p:cNvSpPr txBox="1"/>
          <p:nvPr/>
        </p:nvSpPr>
        <p:spPr>
          <a:xfrm>
            <a:off x="7118604"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Common pitfall</a:t>
            </a:r>
          </a:p>
          <a:p>
            <a:pPr algn="l">
              <a:spcAft>
                <a:spcPts val="300"/>
              </a:spcAft>
            </a:pPr>
            <a:r>
              <a:rPr sz="1200" b="0">
                <a:solidFill>
                  <a:srgbClr val="5B6372"/>
                </a:solidFill>
                <a:latin typeface="Arial"/>
              </a:rPr>
              <a:t>Incorrect cardinality assumptions can produce unexpected results.</a:t>
            </a:r>
          </a:p>
        </p:txBody>
      </p:sp>
      <p:sp>
        <p:nvSpPr>
          <p:cNvPr id="27" name="TextBox 26"/>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28" name="TextBox 27"/>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29" name="TextBox 28"/>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32</a:t>
            </a:r>
          </a:p>
        </p:txBody>
      </p:sp>
    </p:spTree>
  </p:cSld>
  <p:clrMapOvr>
    <a:masterClrMapping/>
  </p:clrMapOvr>
  <p:transition spd="fast">
    <p:fade/>
  </p:transition>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37744"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47472"/>
            <a:ext cx="10698480" cy="292608"/>
          </a:xfrm>
          <a:prstGeom prst="rect">
            <a:avLst/>
          </a:prstGeom>
          <a:noFill/>
        </p:spPr>
        <p:txBody>
          <a:bodyPr wrap="square" anchor="t" lIns="54864" rIns="54864" tIns="54864" bIns="54864">
            <a:spAutoFit/>
          </a:bodyPr>
          <a:lstStyle/>
          <a:p>
            <a:pPr algn="l">
              <a:spcAft>
                <a:spcPts val="300"/>
              </a:spcAft>
            </a:pPr>
            <a:r>
              <a:rPr sz="1200" b="1">
                <a:solidFill>
                  <a:srgbClr val="1F6FEB"/>
                </a:solidFill>
                <a:latin typeface="Arial"/>
              </a:rPr>
              <a:t>OFFICIAL OBJECTIVE · DOMAIN 1</a:t>
            </a:r>
          </a:p>
        </p:txBody>
      </p:sp>
      <p:sp>
        <p:nvSpPr>
          <p:cNvPr id="5" name="TextBox 4"/>
          <p:cNvSpPr txBox="1"/>
          <p:nvPr/>
        </p:nvSpPr>
        <p:spPr>
          <a:xfrm>
            <a:off x="749808" y="713232"/>
            <a:ext cx="10744200" cy="731520"/>
          </a:xfrm>
          <a:prstGeom prst="rect">
            <a:avLst/>
          </a:prstGeom>
          <a:noFill/>
        </p:spPr>
        <p:txBody>
          <a:bodyPr wrap="square" anchor="ctr" lIns="54864" rIns="54864" tIns="54864" bIns="54864">
            <a:spAutoFit/>
          </a:bodyPr>
          <a:lstStyle/>
          <a:p>
            <a:pPr algn="l">
              <a:spcAft>
                <a:spcPts val="300"/>
              </a:spcAft>
            </a:pPr>
            <a:r>
              <a:rPr sz="2700" b="1">
                <a:solidFill>
                  <a:srgbClr val="161B26"/>
                </a:solidFill>
                <a:latin typeface="Arial"/>
              </a:rPr>
              <a:t>1.2.2a · Add joins</a:t>
            </a:r>
          </a:p>
        </p:txBody>
      </p:sp>
      <p:sp>
        <p:nvSpPr>
          <p:cNvPr id="6" name="Rectangle 5"/>
          <p:cNvSpPr/>
          <p:nvPr/>
        </p:nvSpPr>
        <p:spPr>
          <a:xfrm>
            <a:off x="749808" y="1536192"/>
            <a:ext cx="106984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8096"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68096" y="1764792"/>
            <a:ext cx="82296" cy="206197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96695" y="2548890"/>
            <a:ext cx="493776" cy="49377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5"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1</a:t>
            </a:r>
          </a:p>
        </p:txBody>
      </p:sp>
      <p:sp>
        <p:nvSpPr>
          <p:cNvPr id="11" name="TextBox 10"/>
          <p:cNvSpPr txBox="1"/>
          <p:nvPr/>
        </p:nvSpPr>
        <p:spPr>
          <a:xfrm>
            <a:off x="1664207"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What it means</a:t>
            </a:r>
          </a:p>
          <a:p>
            <a:pPr algn="l">
              <a:spcAft>
                <a:spcPts val="300"/>
              </a:spcAft>
            </a:pPr>
            <a:r>
              <a:rPr sz="1200" b="0">
                <a:solidFill>
                  <a:srgbClr val="5B6372"/>
                </a:solidFill>
                <a:latin typeface="Arial"/>
              </a:rPr>
              <a:t>A join combines physical tables using matching clauses.</a:t>
            </a:r>
          </a:p>
        </p:txBody>
      </p:sp>
      <p:sp>
        <p:nvSpPr>
          <p:cNvPr id="12" name="Rectangle 11"/>
          <p:cNvSpPr/>
          <p:nvPr/>
        </p:nvSpPr>
        <p:spPr>
          <a:xfrm>
            <a:off x="6222492"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22492" y="1764792"/>
            <a:ext cx="82296" cy="206197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51092" y="2548890"/>
            <a:ext cx="493776" cy="49377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51092"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2</a:t>
            </a:r>
          </a:p>
        </p:txBody>
      </p:sp>
      <p:sp>
        <p:nvSpPr>
          <p:cNvPr id="16" name="TextBox 15"/>
          <p:cNvSpPr txBox="1"/>
          <p:nvPr/>
        </p:nvSpPr>
        <p:spPr>
          <a:xfrm>
            <a:off x="7118604"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Use it when</a:t>
            </a:r>
          </a:p>
          <a:p>
            <a:pPr algn="l">
              <a:spcAft>
                <a:spcPts val="300"/>
              </a:spcAft>
            </a:pPr>
            <a:r>
              <a:rPr sz="1200" b="0">
                <a:solidFill>
                  <a:srgbClr val="5B6372"/>
                </a:solidFill>
                <a:latin typeface="Arial"/>
              </a:rPr>
              <a:t>Use when row-level control and one flattened table are required.</a:t>
            </a:r>
          </a:p>
        </p:txBody>
      </p:sp>
      <p:sp>
        <p:nvSpPr>
          <p:cNvPr id="17" name="Rectangle 16"/>
          <p:cNvSpPr/>
          <p:nvPr/>
        </p:nvSpPr>
        <p:spPr>
          <a:xfrm>
            <a:off x="768096"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68096" y="4046220"/>
            <a:ext cx="82296" cy="206197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96695" y="4830318"/>
            <a:ext cx="493776" cy="49377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96695"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3</a:t>
            </a:r>
          </a:p>
        </p:txBody>
      </p:sp>
      <p:sp>
        <p:nvSpPr>
          <p:cNvPr id="21" name="TextBox 20"/>
          <p:cNvSpPr txBox="1"/>
          <p:nvPr/>
        </p:nvSpPr>
        <p:spPr>
          <a:xfrm>
            <a:off x="1664207"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Exam clue</a:t>
            </a:r>
          </a:p>
          <a:p>
            <a:pPr algn="l">
              <a:spcAft>
                <a:spcPts val="300"/>
              </a:spcAft>
            </a:pPr>
            <a:r>
              <a:rPr sz="1200" b="0">
                <a:solidFill>
                  <a:srgbClr val="5B6372"/>
                </a:solidFill>
                <a:latin typeface="Arial"/>
              </a:rPr>
              <a:t>Inner keeps matches; left preserves all left rows; right/full follow preservation logic.</a:t>
            </a:r>
          </a:p>
        </p:txBody>
      </p:sp>
      <p:sp>
        <p:nvSpPr>
          <p:cNvPr id="22" name="Rectangle 21"/>
          <p:cNvSpPr/>
          <p:nvPr/>
        </p:nvSpPr>
        <p:spPr>
          <a:xfrm>
            <a:off x="6222492"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22492" y="4046220"/>
            <a:ext cx="82296" cy="206197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51092" y="4830318"/>
            <a:ext cx="493776" cy="49377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51092"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4</a:t>
            </a:r>
          </a:p>
        </p:txBody>
      </p:sp>
      <p:sp>
        <p:nvSpPr>
          <p:cNvPr id="26" name="TextBox 25"/>
          <p:cNvSpPr txBox="1"/>
          <p:nvPr/>
        </p:nvSpPr>
        <p:spPr>
          <a:xfrm>
            <a:off x="7118604"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Common pitfall</a:t>
            </a:r>
          </a:p>
          <a:p>
            <a:pPr algn="l">
              <a:spcAft>
                <a:spcPts val="300"/>
              </a:spcAft>
            </a:pPr>
            <a:r>
              <a:rPr sz="1200" b="0">
                <a:solidFill>
                  <a:srgbClr val="5B6372"/>
                </a:solidFill>
                <a:latin typeface="Arial"/>
              </a:rPr>
              <a:t>Many-to-many joins can multiply rows and inflate measures.</a:t>
            </a:r>
          </a:p>
        </p:txBody>
      </p:sp>
      <p:sp>
        <p:nvSpPr>
          <p:cNvPr id="27" name="TextBox 26"/>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28" name="TextBox 27"/>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29" name="TextBox 28"/>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33</a:t>
            </a:r>
          </a:p>
        </p:txBody>
      </p:sp>
    </p:spTree>
  </p:cSld>
  <p:clrMapOvr>
    <a:masterClrMapping/>
  </p:clrMapOvr>
  <p:transition spd="fast">
    <p:fade/>
  </p:transition>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37744"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47472"/>
            <a:ext cx="10698480" cy="292608"/>
          </a:xfrm>
          <a:prstGeom prst="rect">
            <a:avLst/>
          </a:prstGeom>
          <a:noFill/>
        </p:spPr>
        <p:txBody>
          <a:bodyPr wrap="square" anchor="t" lIns="54864" rIns="54864" tIns="54864" bIns="54864">
            <a:spAutoFit/>
          </a:bodyPr>
          <a:lstStyle/>
          <a:p>
            <a:pPr algn="l">
              <a:spcAft>
                <a:spcPts val="300"/>
              </a:spcAft>
            </a:pPr>
            <a:r>
              <a:rPr sz="1200" b="1">
                <a:solidFill>
                  <a:srgbClr val="1F6FEB"/>
                </a:solidFill>
                <a:latin typeface="Arial"/>
              </a:rPr>
              <a:t>OFFICIAL OBJECTIVE · DOMAIN 1</a:t>
            </a:r>
          </a:p>
        </p:txBody>
      </p:sp>
      <p:sp>
        <p:nvSpPr>
          <p:cNvPr id="5" name="TextBox 4"/>
          <p:cNvSpPr txBox="1"/>
          <p:nvPr/>
        </p:nvSpPr>
        <p:spPr>
          <a:xfrm>
            <a:off x="749808" y="713232"/>
            <a:ext cx="10744200" cy="731520"/>
          </a:xfrm>
          <a:prstGeom prst="rect">
            <a:avLst/>
          </a:prstGeom>
          <a:noFill/>
        </p:spPr>
        <p:txBody>
          <a:bodyPr wrap="square" anchor="ctr" lIns="54864" rIns="54864" tIns="54864" bIns="54864">
            <a:spAutoFit/>
          </a:bodyPr>
          <a:lstStyle/>
          <a:p>
            <a:pPr algn="l">
              <a:spcAft>
                <a:spcPts val="300"/>
              </a:spcAft>
            </a:pPr>
            <a:r>
              <a:rPr sz="2700" b="1">
                <a:solidFill>
                  <a:srgbClr val="161B26"/>
                </a:solidFill>
                <a:latin typeface="Arial"/>
              </a:rPr>
              <a:t>1.2.2b · Add unions</a:t>
            </a:r>
          </a:p>
        </p:txBody>
      </p:sp>
      <p:sp>
        <p:nvSpPr>
          <p:cNvPr id="6" name="Rectangle 5"/>
          <p:cNvSpPr/>
          <p:nvPr/>
        </p:nvSpPr>
        <p:spPr>
          <a:xfrm>
            <a:off x="749808" y="1536192"/>
            <a:ext cx="106984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8096"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68096" y="1764792"/>
            <a:ext cx="82296" cy="206197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96695" y="2548890"/>
            <a:ext cx="493776" cy="49377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5"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1</a:t>
            </a:r>
          </a:p>
        </p:txBody>
      </p:sp>
      <p:sp>
        <p:nvSpPr>
          <p:cNvPr id="11" name="TextBox 10"/>
          <p:cNvSpPr txBox="1"/>
          <p:nvPr/>
        </p:nvSpPr>
        <p:spPr>
          <a:xfrm>
            <a:off x="1664207"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What it means</a:t>
            </a:r>
          </a:p>
          <a:p>
            <a:pPr algn="l">
              <a:spcAft>
                <a:spcPts val="300"/>
              </a:spcAft>
            </a:pPr>
            <a:r>
              <a:rPr sz="1200" b="0">
                <a:solidFill>
                  <a:srgbClr val="5B6372"/>
                </a:solidFill>
                <a:latin typeface="Arial"/>
              </a:rPr>
              <a:t>A union stacks records vertically from compatible tables.</a:t>
            </a:r>
          </a:p>
        </p:txBody>
      </p:sp>
      <p:sp>
        <p:nvSpPr>
          <p:cNvPr id="12" name="Rectangle 11"/>
          <p:cNvSpPr/>
          <p:nvPr/>
        </p:nvSpPr>
        <p:spPr>
          <a:xfrm>
            <a:off x="6222492"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22492" y="1764792"/>
            <a:ext cx="82296" cy="206197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51092" y="2548890"/>
            <a:ext cx="493776" cy="49377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51092"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2</a:t>
            </a:r>
          </a:p>
        </p:txBody>
      </p:sp>
      <p:sp>
        <p:nvSpPr>
          <p:cNvPr id="16" name="TextBox 15"/>
          <p:cNvSpPr txBox="1"/>
          <p:nvPr/>
        </p:nvSpPr>
        <p:spPr>
          <a:xfrm>
            <a:off x="7118604"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Use it when</a:t>
            </a:r>
          </a:p>
          <a:p>
            <a:pPr algn="l">
              <a:spcAft>
                <a:spcPts val="300"/>
              </a:spcAft>
            </a:pPr>
            <a:r>
              <a:rPr sz="1200" b="0">
                <a:solidFill>
                  <a:srgbClr val="5B6372"/>
                </a:solidFill>
                <a:latin typeface="Arial"/>
              </a:rPr>
              <a:t>Use for monthly or regional files with the same columns.</a:t>
            </a:r>
          </a:p>
        </p:txBody>
      </p:sp>
      <p:sp>
        <p:nvSpPr>
          <p:cNvPr id="17" name="Rectangle 16"/>
          <p:cNvSpPr/>
          <p:nvPr/>
        </p:nvSpPr>
        <p:spPr>
          <a:xfrm>
            <a:off x="768096"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68096" y="4046220"/>
            <a:ext cx="82296" cy="206197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96695" y="4830318"/>
            <a:ext cx="493776" cy="49377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96695"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3</a:t>
            </a:r>
          </a:p>
        </p:txBody>
      </p:sp>
      <p:sp>
        <p:nvSpPr>
          <p:cNvPr id="21" name="TextBox 20"/>
          <p:cNvSpPr txBox="1"/>
          <p:nvPr/>
        </p:nvSpPr>
        <p:spPr>
          <a:xfrm>
            <a:off x="1664207"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Exam clue</a:t>
            </a:r>
          </a:p>
          <a:p>
            <a:pPr algn="l">
              <a:spcAft>
                <a:spcPts val="300"/>
              </a:spcAft>
            </a:pPr>
            <a:r>
              <a:rPr sz="1200" b="0">
                <a:solidFill>
                  <a:srgbClr val="5B6372"/>
                </a:solidFill>
                <a:latin typeface="Arial"/>
              </a:rPr>
              <a:t>Wildcard unions can include similarly named tables or files.</a:t>
            </a:r>
          </a:p>
        </p:txBody>
      </p:sp>
      <p:sp>
        <p:nvSpPr>
          <p:cNvPr id="22" name="Rectangle 21"/>
          <p:cNvSpPr/>
          <p:nvPr/>
        </p:nvSpPr>
        <p:spPr>
          <a:xfrm>
            <a:off x="6222492"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22492" y="4046220"/>
            <a:ext cx="82296" cy="206197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51092" y="4830318"/>
            <a:ext cx="493776" cy="49377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51092"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4</a:t>
            </a:r>
          </a:p>
        </p:txBody>
      </p:sp>
      <p:sp>
        <p:nvSpPr>
          <p:cNvPr id="26" name="TextBox 25"/>
          <p:cNvSpPr txBox="1"/>
          <p:nvPr/>
        </p:nvSpPr>
        <p:spPr>
          <a:xfrm>
            <a:off x="7118604"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Common pitfall</a:t>
            </a:r>
          </a:p>
          <a:p>
            <a:pPr algn="l">
              <a:spcAft>
                <a:spcPts val="300"/>
              </a:spcAft>
            </a:pPr>
            <a:r>
              <a:rPr sz="1200" b="0">
                <a:solidFill>
                  <a:srgbClr val="5B6372"/>
                </a:solidFill>
                <a:latin typeface="Arial"/>
              </a:rPr>
              <a:t>Mismatched names create separate columns until they are merged.</a:t>
            </a:r>
          </a:p>
        </p:txBody>
      </p:sp>
      <p:sp>
        <p:nvSpPr>
          <p:cNvPr id="27" name="TextBox 26"/>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28" name="TextBox 27"/>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29" name="TextBox 28"/>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34</a:t>
            </a:r>
          </a:p>
        </p:txBody>
      </p:sp>
    </p:spTree>
  </p:cSld>
  <p:clrMapOvr>
    <a:masterClrMapping/>
  </p:clrMapOvr>
  <p:transition spd="fast">
    <p:fade/>
  </p:transition>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37744"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47472"/>
            <a:ext cx="10698480" cy="292608"/>
          </a:xfrm>
          <a:prstGeom prst="rect">
            <a:avLst/>
          </a:prstGeom>
          <a:noFill/>
        </p:spPr>
        <p:txBody>
          <a:bodyPr wrap="square" anchor="t" lIns="54864" rIns="54864" tIns="54864" bIns="54864">
            <a:spAutoFit/>
          </a:bodyPr>
          <a:lstStyle/>
          <a:p>
            <a:pPr algn="l">
              <a:spcAft>
                <a:spcPts val="300"/>
              </a:spcAft>
            </a:pPr>
            <a:r>
              <a:rPr sz="1200" b="1">
                <a:solidFill>
                  <a:srgbClr val="1F6FEB"/>
                </a:solidFill>
                <a:latin typeface="Arial"/>
              </a:rPr>
              <a:t>OFFICIAL OBJECTIVE · DOMAIN 1</a:t>
            </a:r>
          </a:p>
        </p:txBody>
      </p:sp>
      <p:sp>
        <p:nvSpPr>
          <p:cNvPr id="5" name="TextBox 4"/>
          <p:cNvSpPr txBox="1"/>
          <p:nvPr/>
        </p:nvSpPr>
        <p:spPr>
          <a:xfrm>
            <a:off x="749808" y="713232"/>
            <a:ext cx="10744200" cy="731520"/>
          </a:xfrm>
          <a:prstGeom prst="rect">
            <a:avLst/>
          </a:prstGeom>
          <a:noFill/>
        </p:spPr>
        <p:txBody>
          <a:bodyPr wrap="square" anchor="ctr" lIns="54864" rIns="54864" tIns="54864" bIns="54864">
            <a:spAutoFit/>
          </a:bodyPr>
          <a:lstStyle/>
          <a:p>
            <a:pPr algn="l">
              <a:spcAft>
                <a:spcPts val="300"/>
              </a:spcAft>
            </a:pPr>
            <a:r>
              <a:rPr sz="2700" b="1">
                <a:solidFill>
                  <a:srgbClr val="161B26"/>
                </a:solidFill>
                <a:latin typeface="Arial"/>
              </a:rPr>
              <a:t>1.2.3 · Choose join or relationship</a:t>
            </a:r>
          </a:p>
        </p:txBody>
      </p:sp>
      <p:sp>
        <p:nvSpPr>
          <p:cNvPr id="6" name="Rectangle 5"/>
          <p:cNvSpPr/>
          <p:nvPr/>
        </p:nvSpPr>
        <p:spPr>
          <a:xfrm>
            <a:off x="749808" y="1536192"/>
            <a:ext cx="106984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8096"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68096" y="1764792"/>
            <a:ext cx="82296" cy="206197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96695" y="2548890"/>
            <a:ext cx="493776" cy="49377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5"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1</a:t>
            </a:r>
          </a:p>
        </p:txBody>
      </p:sp>
      <p:sp>
        <p:nvSpPr>
          <p:cNvPr id="11" name="TextBox 10"/>
          <p:cNvSpPr txBox="1"/>
          <p:nvPr/>
        </p:nvSpPr>
        <p:spPr>
          <a:xfrm>
            <a:off x="1664207"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What it means</a:t>
            </a:r>
          </a:p>
          <a:p>
            <a:pPr algn="l">
              <a:spcAft>
                <a:spcPts val="300"/>
              </a:spcAft>
            </a:pPr>
            <a:r>
              <a:rPr sz="1200" b="0">
                <a:solidFill>
                  <a:srgbClr val="5B6372"/>
                </a:solidFill>
                <a:latin typeface="Arial"/>
              </a:rPr>
              <a:t>Relationships preserve independent grains; joins establish one physical grain.</a:t>
            </a:r>
          </a:p>
        </p:txBody>
      </p:sp>
      <p:sp>
        <p:nvSpPr>
          <p:cNvPr id="12" name="Rectangle 11"/>
          <p:cNvSpPr/>
          <p:nvPr/>
        </p:nvSpPr>
        <p:spPr>
          <a:xfrm>
            <a:off x="6222492"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22492" y="1764792"/>
            <a:ext cx="82296" cy="206197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51092" y="2548890"/>
            <a:ext cx="493776" cy="49377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51092"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2</a:t>
            </a:r>
          </a:p>
        </p:txBody>
      </p:sp>
      <p:sp>
        <p:nvSpPr>
          <p:cNvPr id="16" name="TextBox 15"/>
          <p:cNvSpPr txBox="1"/>
          <p:nvPr/>
        </p:nvSpPr>
        <p:spPr>
          <a:xfrm>
            <a:off x="7118604"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Use it when</a:t>
            </a:r>
          </a:p>
          <a:p>
            <a:pPr algn="l">
              <a:spcAft>
                <a:spcPts val="300"/>
              </a:spcAft>
            </a:pPr>
            <a:r>
              <a:rPr sz="1200" b="0">
                <a:solidFill>
                  <a:srgbClr val="5B6372"/>
                </a:solidFill>
                <a:latin typeface="Arial"/>
              </a:rPr>
              <a:t>Prefer relationships for flexible analysis; use joins for deliberate shaping.</a:t>
            </a:r>
          </a:p>
        </p:txBody>
      </p:sp>
      <p:sp>
        <p:nvSpPr>
          <p:cNvPr id="17" name="Rectangle 16"/>
          <p:cNvSpPr/>
          <p:nvPr/>
        </p:nvSpPr>
        <p:spPr>
          <a:xfrm>
            <a:off x="768096"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68096" y="4046220"/>
            <a:ext cx="82296" cy="206197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96695" y="4830318"/>
            <a:ext cx="493776" cy="49377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96695"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3</a:t>
            </a:r>
          </a:p>
        </p:txBody>
      </p:sp>
      <p:sp>
        <p:nvSpPr>
          <p:cNvPr id="21" name="TextBox 20"/>
          <p:cNvSpPr txBox="1"/>
          <p:nvPr/>
        </p:nvSpPr>
        <p:spPr>
          <a:xfrm>
            <a:off x="1664207"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Exam clue</a:t>
            </a:r>
          </a:p>
          <a:p>
            <a:pPr algn="l">
              <a:spcAft>
                <a:spcPts val="300"/>
              </a:spcAft>
            </a:pPr>
            <a:r>
              <a:rPr sz="1200" b="0">
                <a:solidFill>
                  <a:srgbClr val="5B6372"/>
                </a:solidFill>
                <a:latin typeface="Arial"/>
              </a:rPr>
              <a:t>Different grains or duplicated measures usually favour relationships.</a:t>
            </a:r>
          </a:p>
        </p:txBody>
      </p:sp>
      <p:sp>
        <p:nvSpPr>
          <p:cNvPr id="22" name="Rectangle 21"/>
          <p:cNvSpPr/>
          <p:nvPr/>
        </p:nvSpPr>
        <p:spPr>
          <a:xfrm>
            <a:off x="6222492"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22492" y="4046220"/>
            <a:ext cx="82296" cy="206197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51092" y="4830318"/>
            <a:ext cx="493776" cy="49377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51092"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4</a:t>
            </a:r>
          </a:p>
        </p:txBody>
      </p:sp>
      <p:sp>
        <p:nvSpPr>
          <p:cNvPr id="26" name="TextBox 25"/>
          <p:cNvSpPr txBox="1"/>
          <p:nvPr/>
        </p:nvSpPr>
        <p:spPr>
          <a:xfrm>
            <a:off x="7118604"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Common pitfall</a:t>
            </a:r>
          </a:p>
          <a:p>
            <a:pPr algn="l">
              <a:spcAft>
                <a:spcPts val="300"/>
              </a:spcAft>
            </a:pPr>
            <a:r>
              <a:rPr sz="1200" b="0">
                <a:solidFill>
                  <a:srgbClr val="5B6372"/>
                </a:solidFill>
                <a:latin typeface="Arial"/>
              </a:rPr>
              <a:t>A relationship line does not guarantee correct keys; validate it.</a:t>
            </a:r>
          </a:p>
        </p:txBody>
      </p:sp>
      <p:sp>
        <p:nvSpPr>
          <p:cNvPr id="27" name="TextBox 26"/>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28" name="TextBox 27"/>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29" name="TextBox 28"/>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35</a:t>
            </a:r>
          </a:p>
        </p:txBody>
      </p:sp>
    </p:spTree>
  </p:cSld>
  <p:clrMapOvr>
    <a:masterClrMapping/>
  </p:clrMapOvr>
  <p:transition spd="fast">
    <p:fade/>
  </p:transition>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37744"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47472"/>
            <a:ext cx="10698480" cy="292608"/>
          </a:xfrm>
          <a:prstGeom prst="rect">
            <a:avLst/>
          </a:prstGeom>
          <a:noFill/>
        </p:spPr>
        <p:txBody>
          <a:bodyPr wrap="square" anchor="t" lIns="54864" rIns="54864" tIns="54864" bIns="54864">
            <a:spAutoFit/>
          </a:bodyPr>
          <a:lstStyle/>
          <a:p>
            <a:pPr algn="l">
              <a:spcAft>
                <a:spcPts val="300"/>
              </a:spcAft>
            </a:pPr>
            <a:r>
              <a:rPr sz="1200" b="1">
                <a:solidFill>
                  <a:srgbClr val="1F6FEB"/>
                </a:solidFill>
                <a:latin typeface="Arial"/>
              </a:rPr>
              <a:t>DOMAIN 1 · SECTION 3</a:t>
            </a:r>
          </a:p>
        </p:txBody>
      </p:sp>
      <p:sp>
        <p:nvSpPr>
          <p:cNvPr id="5" name="TextBox 4"/>
          <p:cNvSpPr txBox="1"/>
          <p:nvPr/>
        </p:nvSpPr>
        <p:spPr>
          <a:xfrm>
            <a:off x="749808" y="713232"/>
            <a:ext cx="10744200" cy="731520"/>
          </a:xfrm>
          <a:prstGeom prst="rect">
            <a:avLst/>
          </a:prstGeom>
          <a:noFill/>
        </p:spPr>
        <p:txBody>
          <a:bodyPr wrap="square" anchor="ctr" lIns="54864" rIns="54864" tIns="54864" bIns="54864">
            <a:spAutoFit/>
          </a:bodyPr>
          <a:lstStyle/>
          <a:p>
            <a:pPr algn="l">
              <a:spcAft>
                <a:spcPts val="300"/>
              </a:spcAft>
            </a:pPr>
            <a:r>
              <a:rPr sz="2700" b="1">
                <a:solidFill>
                  <a:srgbClr val="161B26"/>
                </a:solidFill>
                <a:latin typeface="Arial"/>
              </a:rPr>
              <a:t>Manage data properties</a:t>
            </a:r>
          </a:p>
        </p:txBody>
      </p:sp>
      <p:sp>
        <p:nvSpPr>
          <p:cNvPr id="6" name="Rectangle 5"/>
          <p:cNvSpPr/>
          <p:nvPr/>
        </p:nvSpPr>
        <p:spPr>
          <a:xfrm>
            <a:off x="749808" y="1536192"/>
            <a:ext cx="106984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8096"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68096" y="1764792"/>
            <a:ext cx="82296" cy="206197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96695" y="2548890"/>
            <a:ext cx="493776" cy="49377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5"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1</a:t>
            </a:r>
          </a:p>
        </p:txBody>
      </p:sp>
      <p:sp>
        <p:nvSpPr>
          <p:cNvPr id="11" name="TextBox 10"/>
          <p:cNvSpPr txBox="1"/>
          <p:nvPr/>
        </p:nvSpPr>
        <p:spPr>
          <a:xfrm>
            <a:off x="1664207"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Semantic clarity</a:t>
            </a:r>
          </a:p>
          <a:p>
            <a:pPr algn="l">
              <a:spcAft>
                <a:spcPts val="300"/>
              </a:spcAft>
            </a:pPr>
            <a:r>
              <a:rPr sz="1200" b="0">
                <a:solidFill>
                  <a:srgbClr val="5B6372"/>
                </a:solidFill>
                <a:latin typeface="Arial"/>
              </a:rPr>
              <a:t>Rename columns and apply aliases so consumers understand the data.</a:t>
            </a:r>
          </a:p>
        </p:txBody>
      </p:sp>
      <p:sp>
        <p:nvSpPr>
          <p:cNvPr id="12" name="Rectangle 11"/>
          <p:cNvSpPr/>
          <p:nvPr/>
        </p:nvSpPr>
        <p:spPr>
          <a:xfrm>
            <a:off x="6222492"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22492" y="1764792"/>
            <a:ext cx="82296" cy="206197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51092" y="2548890"/>
            <a:ext cx="493776" cy="49377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51092"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2</a:t>
            </a:r>
          </a:p>
        </p:txBody>
      </p:sp>
      <p:sp>
        <p:nvSpPr>
          <p:cNvPr id="16" name="TextBox 15"/>
          <p:cNvSpPr txBox="1"/>
          <p:nvPr/>
        </p:nvSpPr>
        <p:spPr>
          <a:xfrm>
            <a:off x="7118604"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Correct type</a:t>
            </a:r>
          </a:p>
          <a:p>
            <a:pPr algn="l">
              <a:spcAft>
                <a:spcPts val="300"/>
              </a:spcAft>
            </a:pPr>
            <a:r>
              <a:rPr sz="1200" b="0">
                <a:solidFill>
                  <a:srgbClr val="5B6372"/>
                </a:solidFill>
                <a:latin typeface="Arial"/>
              </a:rPr>
              <a:t>Date, number, string and Boolean types determine available operations.</a:t>
            </a:r>
          </a:p>
        </p:txBody>
      </p:sp>
      <p:sp>
        <p:nvSpPr>
          <p:cNvPr id="17" name="Rectangle 16"/>
          <p:cNvSpPr/>
          <p:nvPr/>
        </p:nvSpPr>
        <p:spPr>
          <a:xfrm>
            <a:off x="768096"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68096" y="4046220"/>
            <a:ext cx="82296" cy="206197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96695" y="4830318"/>
            <a:ext cx="493776" cy="49377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96695"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3</a:t>
            </a:r>
          </a:p>
        </p:txBody>
      </p:sp>
      <p:sp>
        <p:nvSpPr>
          <p:cNvPr id="21" name="TextBox 20"/>
          <p:cNvSpPr txBox="1"/>
          <p:nvPr/>
        </p:nvSpPr>
        <p:spPr>
          <a:xfrm>
            <a:off x="1664207"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Geographic meaning</a:t>
            </a:r>
          </a:p>
          <a:p>
            <a:pPr algn="l">
              <a:spcAft>
                <a:spcPts val="300"/>
              </a:spcAft>
            </a:pPr>
            <a:r>
              <a:rPr sz="1200" b="0">
                <a:solidFill>
                  <a:srgbClr val="5B6372"/>
                </a:solidFill>
                <a:latin typeface="Arial"/>
              </a:rPr>
              <a:t>Roles such as Country and Postal Code enable generated coordinates.</a:t>
            </a:r>
          </a:p>
        </p:txBody>
      </p:sp>
      <p:sp>
        <p:nvSpPr>
          <p:cNvPr id="22" name="Rectangle 21"/>
          <p:cNvSpPr/>
          <p:nvPr/>
        </p:nvSpPr>
        <p:spPr>
          <a:xfrm>
            <a:off x="6222492"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22492" y="4046220"/>
            <a:ext cx="82296" cy="206197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51092" y="4830318"/>
            <a:ext cx="493776" cy="49377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51092"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4</a:t>
            </a:r>
          </a:p>
        </p:txBody>
      </p:sp>
      <p:sp>
        <p:nvSpPr>
          <p:cNvPr id="26" name="TextBox 25"/>
          <p:cNvSpPr txBox="1"/>
          <p:nvPr/>
        </p:nvSpPr>
        <p:spPr>
          <a:xfrm>
            <a:off x="7118604"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Consistent defaults</a:t>
            </a:r>
          </a:p>
          <a:p>
            <a:pPr algn="l">
              <a:spcAft>
                <a:spcPts val="300"/>
              </a:spcAft>
            </a:pPr>
            <a:r>
              <a:rPr sz="1200" b="0">
                <a:solidFill>
                  <a:srgbClr val="5B6372"/>
                </a:solidFill>
                <a:latin typeface="Arial"/>
              </a:rPr>
              <a:t>Set aggregation, format, colour and date behaviour once for reuse.</a:t>
            </a:r>
          </a:p>
        </p:txBody>
      </p:sp>
      <p:sp>
        <p:nvSpPr>
          <p:cNvPr id="27" name="TextBox 26"/>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28" name="TextBox 27"/>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29" name="TextBox 28"/>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36</a:t>
            </a:r>
          </a:p>
        </p:txBody>
      </p:sp>
    </p:spTree>
  </p:cSld>
  <p:clrMapOvr>
    <a:masterClrMapping/>
  </p:clrMapOvr>
  <p:transition spd="fast">
    <p:fade/>
  </p:transition>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37744"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47472"/>
            <a:ext cx="10698480" cy="292608"/>
          </a:xfrm>
          <a:prstGeom prst="rect">
            <a:avLst/>
          </a:prstGeom>
          <a:noFill/>
        </p:spPr>
        <p:txBody>
          <a:bodyPr wrap="square" anchor="t" lIns="54864" rIns="54864" tIns="54864" bIns="54864">
            <a:spAutoFit/>
          </a:bodyPr>
          <a:lstStyle/>
          <a:p>
            <a:pPr algn="l">
              <a:spcAft>
                <a:spcPts val="300"/>
              </a:spcAft>
            </a:pPr>
            <a:r>
              <a:rPr sz="1200" b="1">
                <a:solidFill>
                  <a:srgbClr val="1F6FEB"/>
                </a:solidFill>
                <a:latin typeface="Arial"/>
              </a:rPr>
              <a:t>CONCEPTUAL DECISION FLOW</a:t>
            </a:r>
          </a:p>
        </p:txBody>
      </p:sp>
      <p:sp>
        <p:nvSpPr>
          <p:cNvPr id="5" name="TextBox 4"/>
          <p:cNvSpPr txBox="1"/>
          <p:nvPr/>
        </p:nvSpPr>
        <p:spPr>
          <a:xfrm>
            <a:off x="749808" y="713232"/>
            <a:ext cx="10744200" cy="731520"/>
          </a:xfrm>
          <a:prstGeom prst="rect">
            <a:avLst/>
          </a:prstGeom>
          <a:noFill/>
        </p:spPr>
        <p:txBody>
          <a:bodyPr wrap="square" anchor="ctr" lIns="54864" rIns="54864" tIns="54864" bIns="54864">
            <a:spAutoFit/>
          </a:bodyPr>
          <a:lstStyle/>
          <a:p>
            <a:pPr algn="l">
              <a:spcAft>
                <a:spcPts val="300"/>
              </a:spcAft>
            </a:pPr>
            <a:r>
              <a:rPr sz="2700" b="1">
                <a:solidFill>
                  <a:srgbClr val="161B26"/>
                </a:solidFill>
                <a:latin typeface="Arial"/>
              </a:rPr>
              <a:t>Reasoning Pattern — Manage data properties</a:t>
            </a:r>
          </a:p>
        </p:txBody>
      </p:sp>
      <p:sp>
        <p:nvSpPr>
          <p:cNvPr id="6" name="Rectangle 5"/>
          <p:cNvSpPr/>
          <p:nvPr/>
        </p:nvSpPr>
        <p:spPr>
          <a:xfrm>
            <a:off x="749808" y="1536192"/>
            <a:ext cx="106984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8096" y="2057400"/>
            <a:ext cx="1947672" cy="2971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68096" y="2057400"/>
            <a:ext cx="194767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76172" y="2423160"/>
            <a:ext cx="731520" cy="7315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6172" y="2423160"/>
            <a:ext cx="731520" cy="731520"/>
          </a:xfrm>
          <a:prstGeom prst="rect">
            <a:avLst/>
          </a:prstGeom>
          <a:noFill/>
        </p:spPr>
        <p:txBody>
          <a:bodyPr wrap="square" anchor="ctr" lIns="54864" rIns="54864" tIns="54864" bIns="54864">
            <a:spAutoFit/>
          </a:bodyPr>
          <a:lstStyle/>
          <a:p>
            <a:pPr algn="ctr">
              <a:spcAft>
                <a:spcPts val="300"/>
              </a:spcAft>
            </a:pPr>
            <a:r>
              <a:rPr sz="2400" b="1">
                <a:solidFill>
                  <a:srgbClr val="FFFFFF"/>
                </a:solidFill>
                <a:latin typeface="Arial"/>
              </a:rPr>
              <a:t>1</a:t>
            </a:r>
          </a:p>
        </p:txBody>
      </p:sp>
      <p:sp>
        <p:nvSpPr>
          <p:cNvPr id="11" name="TextBox 10"/>
          <p:cNvSpPr txBox="1"/>
          <p:nvPr/>
        </p:nvSpPr>
        <p:spPr>
          <a:xfrm>
            <a:off x="877824" y="3429000"/>
            <a:ext cx="1728216" cy="1143000"/>
          </a:xfrm>
          <a:prstGeom prst="rect">
            <a:avLst/>
          </a:prstGeom>
          <a:noFill/>
        </p:spPr>
        <p:txBody>
          <a:bodyPr wrap="square" anchor="ctr" lIns="54864" rIns="54864" tIns="54864" bIns="54864">
            <a:spAutoFit/>
          </a:bodyPr>
          <a:lstStyle/>
          <a:p>
            <a:pPr algn="ctr">
              <a:spcAft>
                <a:spcPts val="300"/>
              </a:spcAft>
            </a:pPr>
            <a:r>
              <a:rPr sz="1250" b="0">
                <a:solidFill>
                  <a:srgbClr val="161B26"/>
                </a:solidFill>
                <a:latin typeface="Arial"/>
              </a:rPr>
              <a:t>Semantic clarity</a:t>
            </a:r>
          </a:p>
        </p:txBody>
      </p:sp>
      <p:sp>
        <p:nvSpPr>
          <p:cNvPr id="12" name="TextBox 11"/>
          <p:cNvSpPr txBox="1"/>
          <p:nvPr/>
        </p:nvSpPr>
        <p:spPr>
          <a:xfrm>
            <a:off x="2697479" y="3246120"/>
            <a:ext cx="274320" cy="365760"/>
          </a:xfrm>
          <a:prstGeom prst="rect">
            <a:avLst/>
          </a:prstGeom>
          <a:noFill/>
        </p:spPr>
        <p:txBody>
          <a:bodyPr wrap="square" anchor="t" lIns="54864" rIns="54864" tIns="54864" bIns="54864">
            <a:spAutoFit/>
          </a:bodyPr>
          <a:lstStyle/>
          <a:p>
            <a:pPr algn="ctr">
              <a:spcAft>
                <a:spcPts val="300"/>
              </a:spcAft>
            </a:pPr>
            <a:r>
              <a:rPr sz="1200" b="1">
                <a:solidFill>
                  <a:srgbClr val="1F6FEB"/>
                </a:solidFill>
                <a:latin typeface="Arial"/>
              </a:rPr>
              <a:t>▶</a:t>
            </a:r>
          </a:p>
        </p:txBody>
      </p:sp>
      <p:sp>
        <p:nvSpPr>
          <p:cNvPr id="13" name="Rectangle 12"/>
          <p:cNvSpPr/>
          <p:nvPr/>
        </p:nvSpPr>
        <p:spPr>
          <a:xfrm>
            <a:off x="2944368" y="2057400"/>
            <a:ext cx="1947672" cy="2971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44368" y="2057400"/>
            <a:ext cx="194767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52444" y="2423160"/>
            <a:ext cx="731520" cy="7315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52444" y="2423160"/>
            <a:ext cx="731520" cy="731520"/>
          </a:xfrm>
          <a:prstGeom prst="rect">
            <a:avLst/>
          </a:prstGeom>
          <a:noFill/>
        </p:spPr>
        <p:txBody>
          <a:bodyPr wrap="square" anchor="ctr" lIns="54864" rIns="54864" tIns="54864" bIns="54864">
            <a:spAutoFit/>
          </a:bodyPr>
          <a:lstStyle/>
          <a:p>
            <a:pPr algn="ctr">
              <a:spcAft>
                <a:spcPts val="300"/>
              </a:spcAft>
            </a:pPr>
            <a:r>
              <a:rPr sz="2400" b="1">
                <a:solidFill>
                  <a:srgbClr val="FFFFFF"/>
                </a:solidFill>
                <a:latin typeface="Arial"/>
              </a:rPr>
              <a:t>2</a:t>
            </a:r>
          </a:p>
        </p:txBody>
      </p:sp>
      <p:sp>
        <p:nvSpPr>
          <p:cNvPr id="17" name="TextBox 16"/>
          <p:cNvSpPr txBox="1"/>
          <p:nvPr/>
        </p:nvSpPr>
        <p:spPr>
          <a:xfrm>
            <a:off x="3054096" y="3429000"/>
            <a:ext cx="1728216" cy="1143000"/>
          </a:xfrm>
          <a:prstGeom prst="rect">
            <a:avLst/>
          </a:prstGeom>
          <a:noFill/>
        </p:spPr>
        <p:txBody>
          <a:bodyPr wrap="square" anchor="ctr" lIns="54864" rIns="54864" tIns="54864" bIns="54864">
            <a:spAutoFit/>
          </a:bodyPr>
          <a:lstStyle/>
          <a:p>
            <a:pPr algn="ctr">
              <a:spcAft>
                <a:spcPts val="300"/>
              </a:spcAft>
            </a:pPr>
            <a:r>
              <a:rPr sz="1250" b="0">
                <a:solidFill>
                  <a:srgbClr val="161B26"/>
                </a:solidFill>
                <a:latin typeface="Arial"/>
              </a:rPr>
              <a:t>Correct type</a:t>
            </a:r>
          </a:p>
        </p:txBody>
      </p:sp>
      <p:sp>
        <p:nvSpPr>
          <p:cNvPr id="18" name="TextBox 17"/>
          <p:cNvSpPr txBox="1"/>
          <p:nvPr/>
        </p:nvSpPr>
        <p:spPr>
          <a:xfrm>
            <a:off x="4873752" y="3246120"/>
            <a:ext cx="274320" cy="365760"/>
          </a:xfrm>
          <a:prstGeom prst="rect">
            <a:avLst/>
          </a:prstGeom>
          <a:noFill/>
        </p:spPr>
        <p:txBody>
          <a:bodyPr wrap="square" anchor="t" lIns="54864" rIns="54864" tIns="54864" bIns="54864">
            <a:spAutoFit/>
          </a:bodyPr>
          <a:lstStyle/>
          <a:p>
            <a:pPr algn="ctr">
              <a:spcAft>
                <a:spcPts val="300"/>
              </a:spcAft>
            </a:pPr>
            <a:r>
              <a:rPr sz="1200" b="1">
                <a:solidFill>
                  <a:srgbClr val="1F6FEB"/>
                </a:solidFill>
                <a:latin typeface="Arial"/>
              </a:rPr>
              <a:t>▶</a:t>
            </a:r>
          </a:p>
        </p:txBody>
      </p:sp>
      <p:sp>
        <p:nvSpPr>
          <p:cNvPr id="19" name="Rectangle 18"/>
          <p:cNvSpPr/>
          <p:nvPr/>
        </p:nvSpPr>
        <p:spPr>
          <a:xfrm>
            <a:off x="5120640" y="2057400"/>
            <a:ext cx="1947672" cy="2971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0" y="2057400"/>
            <a:ext cx="194767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28715" y="2423160"/>
            <a:ext cx="731520" cy="7315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28715" y="2423160"/>
            <a:ext cx="731520" cy="731520"/>
          </a:xfrm>
          <a:prstGeom prst="rect">
            <a:avLst/>
          </a:prstGeom>
          <a:noFill/>
        </p:spPr>
        <p:txBody>
          <a:bodyPr wrap="square" anchor="ctr" lIns="54864" rIns="54864" tIns="54864" bIns="54864">
            <a:spAutoFit/>
          </a:bodyPr>
          <a:lstStyle/>
          <a:p>
            <a:pPr algn="ctr">
              <a:spcAft>
                <a:spcPts val="300"/>
              </a:spcAft>
            </a:pPr>
            <a:r>
              <a:rPr sz="2400" b="1">
                <a:solidFill>
                  <a:srgbClr val="FFFFFF"/>
                </a:solidFill>
                <a:latin typeface="Arial"/>
              </a:rPr>
              <a:t>3</a:t>
            </a:r>
          </a:p>
        </p:txBody>
      </p:sp>
      <p:sp>
        <p:nvSpPr>
          <p:cNvPr id="23" name="TextBox 22"/>
          <p:cNvSpPr txBox="1"/>
          <p:nvPr/>
        </p:nvSpPr>
        <p:spPr>
          <a:xfrm>
            <a:off x="5230368" y="3429000"/>
            <a:ext cx="1728216" cy="1143000"/>
          </a:xfrm>
          <a:prstGeom prst="rect">
            <a:avLst/>
          </a:prstGeom>
          <a:noFill/>
        </p:spPr>
        <p:txBody>
          <a:bodyPr wrap="square" anchor="ctr" lIns="54864" rIns="54864" tIns="54864" bIns="54864">
            <a:spAutoFit/>
          </a:bodyPr>
          <a:lstStyle/>
          <a:p>
            <a:pPr algn="ctr">
              <a:spcAft>
                <a:spcPts val="300"/>
              </a:spcAft>
            </a:pPr>
            <a:r>
              <a:rPr sz="1250" b="0">
                <a:solidFill>
                  <a:srgbClr val="161B26"/>
                </a:solidFill>
                <a:latin typeface="Arial"/>
              </a:rPr>
              <a:t>Geographic meaning</a:t>
            </a:r>
          </a:p>
        </p:txBody>
      </p:sp>
      <p:sp>
        <p:nvSpPr>
          <p:cNvPr id="24" name="TextBox 23"/>
          <p:cNvSpPr txBox="1"/>
          <p:nvPr/>
        </p:nvSpPr>
        <p:spPr>
          <a:xfrm>
            <a:off x="7050024" y="3246120"/>
            <a:ext cx="274320" cy="365760"/>
          </a:xfrm>
          <a:prstGeom prst="rect">
            <a:avLst/>
          </a:prstGeom>
          <a:noFill/>
        </p:spPr>
        <p:txBody>
          <a:bodyPr wrap="square" anchor="t" lIns="54864" rIns="54864" tIns="54864" bIns="54864">
            <a:spAutoFit/>
          </a:bodyPr>
          <a:lstStyle/>
          <a:p>
            <a:pPr algn="ctr">
              <a:spcAft>
                <a:spcPts val="300"/>
              </a:spcAft>
            </a:pPr>
            <a:r>
              <a:rPr sz="1200" b="1">
                <a:solidFill>
                  <a:srgbClr val="1F6FEB"/>
                </a:solidFill>
                <a:latin typeface="Arial"/>
              </a:rPr>
              <a:t>▶</a:t>
            </a:r>
          </a:p>
        </p:txBody>
      </p:sp>
      <p:sp>
        <p:nvSpPr>
          <p:cNvPr id="25" name="Rectangle 24"/>
          <p:cNvSpPr/>
          <p:nvPr/>
        </p:nvSpPr>
        <p:spPr>
          <a:xfrm>
            <a:off x="7296912" y="2057400"/>
            <a:ext cx="1947672" cy="2971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296912" y="2057400"/>
            <a:ext cx="194767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04988" y="2423160"/>
            <a:ext cx="731520" cy="7315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4988" y="2423160"/>
            <a:ext cx="731520" cy="731520"/>
          </a:xfrm>
          <a:prstGeom prst="rect">
            <a:avLst/>
          </a:prstGeom>
          <a:noFill/>
        </p:spPr>
        <p:txBody>
          <a:bodyPr wrap="square" anchor="ctr" lIns="54864" rIns="54864" tIns="54864" bIns="54864">
            <a:spAutoFit/>
          </a:bodyPr>
          <a:lstStyle/>
          <a:p>
            <a:pPr algn="ctr">
              <a:spcAft>
                <a:spcPts val="300"/>
              </a:spcAft>
            </a:pPr>
            <a:r>
              <a:rPr sz="2400" b="1">
                <a:solidFill>
                  <a:srgbClr val="FFFFFF"/>
                </a:solidFill>
                <a:latin typeface="Arial"/>
              </a:rPr>
              <a:t>4</a:t>
            </a:r>
          </a:p>
        </p:txBody>
      </p:sp>
      <p:sp>
        <p:nvSpPr>
          <p:cNvPr id="29" name="TextBox 28"/>
          <p:cNvSpPr txBox="1"/>
          <p:nvPr/>
        </p:nvSpPr>
        <p:spPr>
          <a:xfrm>
            <a:off x="7406640" y="3429000"/>
            <a:ext cx="1728216" cy="1143000"/>
          </a:xfrm>
          <a:prstGeom prst="rect">
            <a:avLst/>
          </a:prstGeom>
          <a:noFill/>
        </p:spPr>
        <p:txBody>
          <a:bodyPr wrap="square" anchor="ctr" lIns="54864" rIns="54864" tIns="54864" bIns="54864">
            <a:spAutoFit/>
          </a:bodyPr>
          <a:lstStyle/>
          <a:p>
            <a:pPr algn="ctr">
              <a:spcAft>
                <a:spcPts val="300"/>
              </a:spcAft>
            </a:pPr>
            <a:r>
              <a:rPr sz="1250" b="0">
                <a:solidFill>
                  <a:srgbClr val="161B26"/>
                </a:solidFill>
                <a:latin typeface="Arial"/>
              </a:rPr>
              <a:t>Consistent defaults</a:t>
            </a:r>
          </a:p>
        </p:txBody>
      </p:sp>
      <p:sp>
        <p:nvSpPr>
          <p:cNvPr id="30" name="TextBox 29"/>
          <p:cNvSpPr txBox="1"/>
          <p:nvPr/>
        </p:nvSpPr>
        <p:spPr>
          <a:xfrm>
            <a:off x="9226296" y="3246120"/>
            <a:ext cx="274320" cy="365760"/>
          </a:xfrm>
          <a:prstGeom prst="rect">
            <a:avLst/>
          </a:prstGeom>
          <a:noFill/>
        </p:spPr>
        <p:txBody>
          <a:bodyPr wrap="square" anchor="t" lIns="54864" rIns="54864" tIns="54864" bIns="54864">
            <a:spAutoFit/>
          </a:bodyPr>
          <a:lstStyle/>
          <a:p>
            <a:pPr algn="ctr">
              <a:spcAft>
                <a:spcPts val="300"/>
              </a:spcAft>
            </a:pPr>
            <a:r>
              <a:rPr sz="1200" b="1">
                <a:solidFill>
                  <a:srgbClr val="1F6FEB"/>
                </a:solidFill>
                <a:latin typeface="Arial"/>
              </a:rPr>
              <a:t>▶</a:t>
            </a:r>
          </a:p>
        </p:txBody>
      </p:sp>
      <p:sp>
        <p:nvSpPr>
          <p:cNvPr id="31" name="Rectangle 30"/>
          <p:cNvSpPr/>
          <p:nvPr/>
        </p:nvSpPr>
        <p:spPr>
          <a:xfrm>
            <a:off x="9473184" y="2057400"/>
            <a:ext cx="1947672" cy="2971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473184" y="2057400"/>
            <a:ext cx="194767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81259" y="2423160"/>
            <a:ext cx="731520" cy="7315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81259" y="2423160"/>
            <a:ext cx="731520" cy="731520"/>
          </a:xfrm>
          <a:prstGeom prst="rect">
            <a:avLst/>
          </a:prstGeom>
          <a:noFill/>
        </p:spPr>
        <p:txBody>
          <a:bodyPr wrap="square" anchor="ctr" lIns="54864" rIns="54864" tIns="54864" bIns="54864">
            <a:spAutoFit/>
          </a:bodyPr>
          <a:lstStyle/>
          <a:p>
            <a:pPr algn="ctr">
              <a:spcAft>
                <a:spcPts val="300"/>
              </a:spcAft>
            </a:pPr>
            <a:r>
              <a:rPr sz="2400" b="1">
                <a:solidFill>
                  <a:srgbClr val="FFFFFF"/>
                </a:solidFill>
                <a:latin typeface="Arial"/>
              </a:rPr>
              <a:t>5</a:t>
            </a:r>
          </a:p>
        </p:txBody>
      </p:sp>
      <p:sp>
        <p:nvSpPr>
          <p:cNvPr id="35" name="TextBox 34"/>
          <p:cNvSpPr txBox="1"/>
          <p:nvPr/>
        </p:nvSpPr>
        <p:spPr>
          <a:xfrm>
            <a:off x="9582911" y="3429000"/>
            <a:ext cx="1728216" cy="1143000"/>
          </a:xfrm>
          <a:prstGeom prst="rect">
            <a:avLst/>
          </a:prstGeom>
          <a:noFill/>
        </p:spPr>
        <p:txBody>
          <a:bodyPr wrap="square" anchor="ctr" lIns="54864" rIns="54864" tIns="54864" bIns="54864">
            <a:spAutoFit/>
          </a:bodyPr>
          <a:lstStyle/>
          <a:p>
            <a:pPr algn="ctr">
              <a:spcAft>
                <a:spcPts val="300"/>
              </a:spcAft>
            </a:pPr>
            <a:r>
              <a:rPr sz="1250" b="0">
                <a:solidFill>
                  <a:srgbClr val="161B26"/>
                </a:solidFill>
                <a:latin typeface="Arial"/>
              </a:rPr>
              <a:t>Validate result</a:t>
            </a:r>
          </a:p>
        </p:txBody>
      </p:sp>
      <p:sp>
        <p:nvSpPr>
          <p:cNvPr id="36" name="TextBox 35"/>
          <p:cNvSpPr txBox="1"/>
          <p:nvPr/>
        </p:nvSpPr>
        <p:spPr>
          <a:xfrm>
            <a:off x="777240" y="5394960"/>
            <a:ext cx="10607040" cy="411480"/>
          </a:xfrm>
          <a:prstGeom prst="rect">
            <a:avLst/>
          </a:prstGeom>
          <a:noFill/>
        </p:spPr>
        <p:txBody>
          <a:bodyPr wrap="square" anchor="t" lIns="54864" rIns="54864" tIns="54864" bIns="54864">
            <a:spAutoFit/>
          </a:bodyPr>
          <a:lstStyle/>
          <a:p>
            <a:pPr algn="ctr">
              <a:spcAft>
                <a:spcPts val="300"/>
              </a:spcAft>
            </a:pPr>
            <a:r>
              <a:rPr sz="1250" b="0">
                <a:solidFill>
                  <a:srgbClr val="5B6372"/>
                </a:solidFill>
                <a:latin typeface="Arial"/>
              </a:rPr>
              <a:t>This is a reasoning map, not a click-by-click lab procedure.</a:t>
            </a:r>
          </a:p>
        </p:txBody>
      </p:sp>
      <p:sp>
        <p:nvSpPr>
          <p:cNvPr id="37" name="TextBox 36"/>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38" name="TextBox 37"/>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39" name="TextBox 38"/>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37</a:t>
            </a:r>
          </a:p>
        </p:txBody>
      </p:sp>
    </p:spTree>
  </p:cSld>
  <p:clrMapOvr>
    <a:masterClrMapping/>
  </p:clrMapOvr>
  <p:transition spd="fast">
    <p:fade/>
  </p:transition>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37744"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47472"/>
            <a:ext cx="10698480" cy="292608"/>
          </a:xfrm>
          <a:prstGeom prst="rect">
            <a:avLst/>
          </a:prstGeom>
          <a:noFill/>
        </p:spPr>
        <p:txBody>
          <a:bodyPr wrap="square" anchor="t" lIns="54864" rIns="54864" tIns="54864" bIns="54864">
            <a:spAutoFit/>
          </a:bodyPr>
          <a:lstStyle/>
          <a:p>
            <a:pPr algn="l">
              <a:spcAft>
                <a:spcPts val="300"/>
              </a:spcAft>
            </a:pPr>
            <a:r>
              <a:rPr sz="1200" b="1">
                <a:solidFill>
                  <a:srgbClr val="1F6FEB"/>
                </a:solidFill>
                <a:latin typeface="Arial"/>
              </a:rPr>
              <a:t>OFFICIAL OBJECTIVE · DOMAIN 1</a:t>
            </a:r>
          </a:p>
        </p:txBody>
      </p:sp>
      <p:sp>
        <p:nvSpPr>
          <p:cNvPr id="5" name="TextBox 4"/>
          <p:cNvSpPr txBox="1"/>
          <p:nvPr/>
        </p:nvSpPr>
        <p:spPr>
          <a:xfrm>
            <a:off x="749808" y="713232"/>
            <a:ext cx="10744200" cy="731520"/>
          </a:xfrm>
          <a:prstGeom prst="rect">
            <a:avLst/>
          </a:prstGeom>
          <a:noFill/>
        </p:spPr>
        <p:txBody>
          <a:bodyPr wrap="square" anchor="ctr" lIns="54864" rIns="54864" tIns="54864" bIns="54864">
            <a:spAutoFit/>
          </a:bodyPr>
          <a:lstStyle/>
          <a:p>
            <a:pPr algn="l">
              <a:spcAft>
                <a:spcPts val="300"/>
              </a:spcAft>
            </a:pPr>
            <a:r>
              <a:rPr sz="2700" b="1">
                <a:solidFill>
                  <a:srgbClr val="161B26"/>
                </a:solidFill>
                <a:latin typeface="Arial"/>
              </a:rPr>
              <a:t>1.3.1 · Rename a field</a:t>
            </a:r>
          </a:p>
        </p:txBody>
      </p:sp>
      <p:sp>
        <p:nvSpPr>
          <p:cNvPr id="6" name="Rectangle 5"/>
          <p:cNvSpPr/>
          <p:nvPr/>
        </p:nvSpPr>
        <p:spPr>
          <a:xfrm>
            <a:off x="749808" y="1536192"/>
            <a:ext cx="106984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8096"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68096" y="1764792"/>
            <a:ext cx="82296" cy="206197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96695" y="2548890"/>
            <a:ext cx="493776" cy="49377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5"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1</a:t>
            </a:r>
          </a:p>
        </p:txBody>
      </p:sp>
      <p:sp>
        <p:nvSpPr>
          <p:cNvPr id="11" name="TextBox 10"/>
          <p:cNvSpPr txBox="1"/>
          <p:nvPr/>
        </p:nvSpPr>
        <p:spPr>
          <a:xfrm>
            <a:off x="1664207"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What it means</a:t>
            </a:r>
          </a:p>
          <a:p>
            <a:pPr algn="l">
              <a:spcAft>
                <a:spcPts val="300"/>
              </a:spcAft>
            </a:pPr>
            <a:r>
              <a:rPr sz="1200" b="0">
                <a:solidFill>
                  <a:srgbClr val="5B6372"/>
                </a:solidFill>
                <a:latin typeface="Arial"/>
              </a:rPr>
              <a:t>A caption can be business-friendly without changing the source column.</a:t>
            </a:r>
          </a:p>
        </p:txBody>
      </p:sp>
      <p:sp>
        <p:nvSpPr>
          <p:cNvPr id="12" name="Rectangle 11"/>
          <p:cNvSpPr/>
          <p:nvPr/>
        </p:nvSpPr>
        <p:spPr>
          <a:xfrm>
            <a:off x="6222492"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22492" y="1764792"/>
            <a:ext cx="82296" cy="206197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51092" y="2548890"/>
            <a:ext cx="493776" cy="49377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51092"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2</a:t>
            </a:r>
          </a:p>
        </p:txBody>
      </p:sp>
      <p:sp>
        <p:nvSpPr>
          <p:cNvPr id="16" name="TextBox 15"/>
          <p:cNvSpPr txBox="1"/>
          <p:nvPr/>
        </p:nvSpPr>
        <p:spPr>
          <a:xfrm>
            <a:off x="7118604"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Use it when</a:t>
            </a:r>
          </a:p>
          <a:p>
            <a:pPr algn="l">
              <a:spcAft>
                <a:spcPts val="300"/>
              </a:spcAft>
            </a:pPr>
            <a:r>
              <a:rPr sz="1200" b="0">
                <a:solidFill>
                  <a:srgbClr val="5B6372"/>
                </a:solidFill>
                <a:latin typeface="Arial"/>
              </a:rPr>
              <a:t>Replace codes or database naming conventions with clear language.</a:t>
            </a:r>
          </a:p>
        </p:txBody>
      </p:sp>
      <p:sp>
        <p:nvSpPr>
          <p:cNvPr id="17" name="Rectangle 16"/>
          <p:cNvSpPr/>
          <p:nvPr/>
        </p:nvSpPr>
        <p:spPr>
          <a:xfrm>
            <a:off x="768096"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68096" y="4046220"/>
            <a:ext cx="82296" cy="206197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96695" y="4830318"/>
            <a:ext cx="493776" cy="49377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96695"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3</a:t>
            </a:r>
          </a:p>
        </p:txBody>
      </p:sp>
      <p:sp>
        <p:nvSpPr>
          <p:cNvPr id="21" name="TextBox 20"/>
          <p:cNvSpPr txBox="1"/>
          <p:nvPr/>
        </p:nvSpPr>
        <p:spPr>
          <a:xfrm>
            <a:off x="1664207"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Exam clue</a:t>
            </a:r>
          </a:p>
          <a:p>
            <a:pPr algn="l">
              <a:spcAft>
                <a:spcPts val="300"/>
              </a:spcAft>
            </a:pPr>
            <a:r>
              <a:rPr sz="1200" b="0">
                <a:solidFill>
                  <a:srgbClr val="5B6372"/>
                </a:solidFill>
                <a:latin typeface="Arial"/>
              </a:rPr>
              <a:t>Renaming affects Tableau metadata, not the source system.</a:t>
            </a:r>
          </a:p>
        </p:txBody>
      </p:sp>
      <p:sp>
        <p:nvSpPr>
          <p:cNvPr id="22" name="Rectangle 21"/>
          <p:cNvSpPr/>
          <p:nvPr/>
        </p:nvSpPr>
        <p:spPr>
          <a:xfrm>
            <a:off x="6222492"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22492" y="4046220"/>
            <a:ext cx="82296" cy="206197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51092" y="4830318"/>
            <a:ext cx="493776" cy="49377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51092"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4</a:t>
            </a:r>
          </a:p>
        </p:txBody>
      </p:sp>
      <p:sp>
        <p:nvSpPr>
          <p:cNvPr id="26" name="TextBox 25"/>
          <p:cNvSpPr txBox="1"/>
          <p:nvPr/>
        </p:nvSpPr>
        <p:spPr>
          <a:xfrm>
            <a:off x="7118604"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Common pitfall</a:t>
            </a:r>
          </a:p>
          <a:p>
            <a:pPr algn="l">
              <a:spcAft>
                <a:spcPts val="300"/>
              </a:spcAft>
            </a:pPr>
            <a:r>
              <a:rPr sz="1200" b="0">
                <a:solidFill>
                  <a:srgbClr val="5B6372"/>
                </a:solidFill>
                <a:latin typeface="Arial"/>
              </a:rPr>
              <a:t>Do not create ambiguous duplicate captions.</a:t>
            </a:r>
          </a:p>
        </p:txBody>
      </p:sp>
      <p:sp>
        <p:nvSpPr>
          <p:cNvPr id="27" name="TextBox 26"/>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28" name="TextBox 27"/>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29" name="TextBox 28"/>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38</a:t>
            </a:r>
          </a:p>
        </p:txBody>
      </p:sp>
    </p:spTree>
  </p:cSld>
  <p:clrMapOvr>
    <a:masterClrMapping/>
  </p:clrMapOvr>
  <p:transition spd="fast">
    <p:fade/>
  </p:transition>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37744"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47472"/>
            <a:ext cx="10698480" cy="292608"/>
          </a:xfrm>
          <a:prstGeom prst="rect">
            <a:avLst/>
          </a:prstGeom>
          <a:noFill/>
        </p:spPr>
        <p:txBody>
          <a:bodyPr wrap="square" anchor="t" lIns="54864" rIns="54864" tIns="54864" bIns="54864">
            <a:spAutoFit/>
          </a:bodyPr>
          <a:lstStyle/>
          <a:p>
            <a:pPr algn="l">
              <a:spcAft>
                <a:spcPts val="300"/>
              </a:spcAft>
            </a:pPr>
            <a:r>
              <a:rPr sz="1200" b="1">
                <a:solidFill>
                  <a:srgbClr val="1F6FEB"/>
                </a:solidFill>
                <a:latin typeface="Arial"/>
              </a:rPr>
              <a:t>OFFICIAL OBJECTIVE · DOMAIN 1</a:t>
            </a:r>
          </a:p>
        </p:txBody>
      </p:sp>
      <p:sp>
        <p:nvSpPr>
          <p:cNvPr id="5" name="TextBox 4"/>
          <p:cNvSpPr txBox="1"/>
          <p:nvPr/>
        </p:nvSpPr>
        <p:spPr>
          <a:xfrm>
            <a:off x="749808" y="713232"/>
            <a:ext cx="10744200" cy="731520"/>
          </a:xfrm>
          <a:prstGeom prst="rect">
            <a:avLst/>
          </a:prstGeom>
          <a:noFill/>
        </p:spPr>
        <p:txBody>
          <a:bodyPr wrap="square" anchor="ctr" lIns="54864" rIns="54864" tIns="54864" bIns="54864">
            <a:spAutoFit/>
          </a:bodyPr>
          <a:lstStyle/>
          <a:p>
            <a:pPr algn="l">
              <a:spcAft>
                <a:spcPts val="300"/>
              </a:spcAft>
            </a:pPr>
            <a:r>
              <a:rPr sz="2700" b="1">
                <a:solidFill>
                  <a:srgbClr val="161B26"/>
                </a:solidFill>
                <a:latin typeface="Arial"/>
              </a:rPr>
              <a:t>1.3.2 · Assign aliases</a:t>
            </a:r>
          </a:p>
        </p:txBody>
      </p:sp>
      <p:sp>
        <p:nvSpPr>
          <p:cNvPr id="6" name="Rectangle 5"/>
          <p:cNvSpPr/>
          <p:nvPr/>
        </p:nvSpPr>
        <p:spPr>
          <a:xfrm>
            <a:off x="749808" y="1536192"/>
            <a:ext cx="106984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8096"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68096" y="1764792"/>
            <a:ext cx="82296" cy="206197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96695" y="2548890"/>
            <a:ext cx="493776" cy="49377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5"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1</a:t>
            </a:r>
          </a:p>
        </p:txBody>
      </p:sp>
      <p:sp>
        <p:nvSpPr>
          <p:cNvPr id="11" name="TextBox 10"/>
          <p:cNvSpPr txBox="1"/>
          <p:nvPr/>
        </p:nvSpPr>
        <p:spPr>
          <a:xfrm>
            <a:off x="1664207"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What it means</a:t>
            </a:r>
          </a:p>
          <a:p>
            <a:pPr algn="l">
              <a:spcAft>
                <a:spcPts val="300"/>
              </a:spcAft>
            </a:pPr>
            <a:r>
              <a:rPr sz="1200" b="0">
                <a:solidFill>
                  <a:srgbClr val="5B6372"/>
                </a:solidFill>
                <a:latin typeface="Arial"/>
              </a:rPr>
              <a:t>Aliases replace displayed member labels while retaining original values.</a:t>
            </a:r>
          </a:p>
        </p:txBody>
      </p:sp>
      <p:sp>
        <p:nvSpPr>
          <p:cNvPr id="12" name="Rectangle 11"/>
          <p:cNvSpPr/>
          <p:nvPr/>
        </p:nvSpPr>
        <p:spPr>
          <a:xfrm>
            <a:off x="6222492"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22492" y="1764792"/>
            <a:ext cx="82296" cy="206197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51092" y="2548890"/>
            <a:ext cx="493776" cy="49377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51092"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2</a:t>
            </a:r>
          </a:p>
        </p:txBody>
      </p:sp>
      <p:sp>
        <p:nvSpPr>
          <p:cNvPr id="16" name="TextBox 15"/>
          <p:cNvSpPr txBox="1"/>
          <p:nvPr/>
        </p:nvSpPr>
        <p:spPr>
          <a:xfrm>
            <a:off x="7118604"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Use it when</a:t>
            </a:r>
          </a:p>
          <a:p>
            <a:pPr algn="l">
              <a:spcAft>
                <a:spcPts val="300"/>
              </a:spcAft>
            </a:pPr>
            <a:r>
              <a:rPr sz="1200" b="0">
                <a:solidFill>
                  <a:srgbClr val="5B6372"/>
                </a:solidFill>
                <a:latin typeface="Arial"/>
              </a:rPr>
              <a:t>Use for abbreviations or coded categories.</a:t>
            </a:r>
          </a:p>
        </p:txBody>
      </p:sp>
      <p:sp>
        <p:nvSpPr>
          <p:cNvPr id="17" name="Rectangle 16"/>
          <p:cNvSpPr/>
          <p:nvPr/>
        </p:nvSpPr>
        <p:spPr>
          <a:xfrm>
            <a:off x="768096"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68096" y="4046220"/>
            <a:ext cx="82296" cy="206197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96695" y="4830318"/>
            <a:ext cx="493776" cy="49377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96695"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3</a:t>
            </a:r>
          </a:p>
        </p:txBody>
      </p:sp>
      <p:sp>
        <p:nvSpPr>
          <p:cNvPr id="21" name="TextBox 20"/>
          <p:cNvSpPr txBox="1"/>
          <p:nvPr/>
        </p:nvSpPr>
        <p:spPr>
          <a:xfrm>
            <a:off x="1664207"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Exam clue</a:t>
            </a:r>
          </a:p>
          <a:p>
            <a:pPr algn="l">
              <a:spcAft>
                <a:spcPts val="300"/>
              </a:spcAft>
            </a:pPr>
            <a:r>
              <a:rPr sz="1200" b="0">
                <a:solidFill>
                  <a:srgbClr val="5B6372"/>
                </a:solidFill>
                <a:latin typeface="Arial"/>
              </a:rPr>
              <a:t>Aliases apply to discrete dimension members.</a:t>
            </a:r>
          </a:p>
        </p:txBody>
      </p:sp>
      <p:sp>
        <p:nvSpPr>
          <p:cNvPr id="22" name="Rectangle 21"/>
          <p:cNvSpPr/>
          <p:nvPr/>
        </p:nvSpPr>
        <p:spPr>
          <a:xfrm>
            <a:off x="6222492"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22492" y="4046220"/>
            <a:ext cx="82296" cy="206197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51092" y="4830318"/>
            <a:ext cx="493776" cy="49377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51092"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4</a:t>
            </a:r>
          </a:p>
        </p:txBody>
      </p:sp>
      <p:sp>
        <p:nvSpPr>
          <p:cNvPr id="26" name="TextBox 25"/>
          <p:cNvSpPr txBox="1"/>
          <p:nvPr/>
        </p:nvSpPr>
        <p:spPr>
          <a:xfrm>
            <a:off x="7118604"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Common pitfall</a:t>
            </a:r>
          </a:p>
          <a:p>
            <a:pPr algn="l">
              <a:spcAft>
                <a:spcPts val="300"/>
              </a:spcAft>
            </a:pPr>
            <a:r>
              <a:rPr sz="1200" b="0">
                <a:solidFill>
                  <a:srgbClr val="5B6372"/>
                </a:solidFill>
                <a:latin typeface="Arial"/>
              </a:rPr>
              <a:t>Aliases do not cleanse the source value.</a:t>
            </a:r>
          </a:p>
        </p:txBody>
      </p:sp>
      <p:sp>
        <p:nvSpPr>
          <p:cNvPr id="27" name="TextBox 26"/>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28" name="TextBox 27"/>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29" name="TextBox 28"/>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39</a:t>
            </a:r>
          </a:p>
        </p:txBody>
      </p:sp>
    </p:spTree>
  </p:cSld>
  <p:clrMapOvr>
    <a:masterClrMapping/>
  </p:clrMapOvr>
  <p:transition spd="fast">
    <p:fade/>
  </p:transition>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37744"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47472"/>
            <a:ext cx="10698480" cy="292608"/>
          </a:xfrm>
          <a:prstGeom prst="rect">
            <a:avLst/>
          </a:prstGeom>
          <a:noFill/>
        </p:spPr>
        <p:txBody>
          <a:bodyPr wrap="square" anchor="t" lIns="54864" rIns="54864" tIns="54864" bIns="54864">
            <a:spAutoFit/>
          </a:bodyPr>
          <a:lstStyle/>
          <a:p>
            <a:pPr algn="l">
              <a:spcAft>
                <a:spcPts val="300"/>
              </a:spcAft>
            </a:pPr>
            <a:r>
              <a:rPr sz="1200" b="1">
                <a:solidFill>
                  <a:srgbClr val="1F6FEB"/>
                </a:solidFill>
                <a:latin typeface="Arial"/>
              </a:rPr>
              <a:t>OFFICIAL OBJECTIVE · DOMAIN 1</a:t>
            </a:r>
          </a:p>
        </p:txBody>
      </p:sp>
      <p:sp>
        <p:nvSpPr>
          <p:cNvPr id="5" name="TextBox 4"/>
          <p:cNvSpPr txBox="1"/>
          <p:nvPr/>
        </p:nvSpPr>
        <p:spPr>
          <a:xfrm>
            <a:off x="749808" y="713232"/>
            <a:ext cx="10744200" cy="731520"/>
          </a:xfrm>
          <a:prstGeom prst="rect">
            <a:avLst/>
          </a:prstGeom>
          <a:noFill/>
        </p:spPr>
        <p:txBody>
          <a:bodyPr wrap="square" anchor="ctr" lIns="54864" rIns="54864" tIns="54864" bIns="54864">
            <a:spAutoFit/>
          </a:bodyPr>
          <a:lstStyle/>
          <a:p>
            <a:pPr algn="l">
              <a:spcAft>
                <a:spcPts val="300"/>
              </a:spcAft>
            </a:pPr>
            <a:r>
              <a:rPr sz="2700" b="1">
                <a:solidFill>
                  <a:srgbClr val="161B26"/>
                </a:solidFill>
                <a:latin typeface="Arial"/>
              </a:rPr>
              <a:t>1.3.3 · Assign geographic roles</a:t>
            </a:r>
          </a:p>
        </p:txBody>
      </p:sp>
      <p:sp>
        <p:nvSpPr>
          <p:cNvPr id="6" name="Rectangle 5"/>
          <p:cNvSpPr/>
          <p:nvPr/>
        </p:nvSpPr>
        <p:spPr>
          <a:xfrm>
            <a:off x="749808" y="1536192"/>
            <a:ext cx="106984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8096"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68096" y="1764792"/>
            <a:ext cx="82296" cy="206197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96695" y="2548890"/>
            <a:ext cx="493776" cy="49377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5"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1</a:t>
            </a:r>
          </a:p>
        </p:txBody>
      </p:sp>
      <p:sp>
        <p:nvSpPr>
          <p:cNvPr id="11" name="TextBox 10"/>
          <p:cNvSpPr txBox="1"/>
          <p:nvPr/>
        </p:nvSpPr>
        <p:spPr>
          <a:xfrm>
            <a:off x="1664207"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What it means</a:t>
            </a:r>
          </a:p>
          <a:p>
            <a:pPr algn="l">
              <a:spcAft>
                <a:spcPts val="300"/>
              </a:spcAft>
            </a:pPr>
            <a:r>
              <a:rPr sz="1200" b="0">
                <a:solidFill>
                  <a:srgbClr val="5B6372"/>
                </a:solidFill>
                <a:latin typeface="Arial"/>
              </a:rPr>
              <a:t>A geographic role tells Tableau how to geocode a field.</a:t>
            </a:r>
          </a:p>
        </p:txBody>
      </p:sp>
      <p:sp>
        <p:nvSpPr>
          <p:cNvPr id="12" name="Rectangle 11"/>
          <p:cNvSpPr/>
          <p:nvPr/>
        </p:nvSpPr>
        <p:spPr>
          <a:xfrm>
            <a:off x="6222492"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22492" y="1764792"/>
            <a:ext cx="82296" cy="206197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51092" y="2548890"/>
            <a:ext cx="493776" cy="49377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51092"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2</a:t>
            </a:r>
          </a:p>
        </p:txBody>
      </p:sp>
      <p:sp>
        <p:nvSpPr>
          <p:cNvPr id="16" name="TextBox 15"/>
          <p:cNvSpPr txBox="1"/>
          <p:nvPr/>
        </p:nvSpPr>
        <p:spPr>
          <a:xfrm>
            <a:off x="7118604"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Use it when</a:t>
            </a:r>
          </a:p>
          <a:p>
            <a:pPr algn="l">
              <a:spcAft>
                <a:spcPts val="300"/>
              </a:spcAft>
            </a:pPr>
            <a:r>
              <a:rPr sz="1200" b="0">
                <a:solidFill>
                  <a:srgbClr val="5B6372"/>
                </a:solidFill>
                <a:latin typeface="Arial"/>
              </a:rPr>
              <a:t>Use for country, state, city, postal code or custom location analysis.</a:t>
            </a:r>
          </a:p>
        </p:txBody>
      </p:sp>
      <p:sp>
        <p:nvSpPr>
          <p:cNvPr id="17" name="Rectangle 16"/>
          <p:cNvSpPr/>
          <p:nvPr/>
        </p:nvSpPr>
        <p:spPr>
          <a:xfrm>
            <a:off x="768096"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68096" y="4046220"/>
            <a:ext cx="82296" cy="206197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96695" y="4830318"/>
            <a:ext cx="493776" cy="49377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96695"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3</a:t>
            </a:r>
          </a:p>
        </p:txBody>
      </p:sp>
      <p:sp>
        <p:nvSpPr>
          <p:cNvPr id="21" name="TextBox 20"/>
          <p:cNvSpPr txBox="1"/>
          <p:nvPr/>
        </p:nvSpPr>
        <p:spPr>
          <a:xfrm>
            <a:off x="1664207"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Exam clue</a:t>
            </a:r>
          </a:p>
          <a:p>
            <a:pPr algn="l">
              <a:spcAft>
                <a:spcPts val="300"/>
              </a:spcAft>
            </a:pPr>
            <a:r>
              <a:rPr sz="1200" b="0">
                <a:solidFill>
                  <a:srgbClr val="5B6372"/>
                </a:solidFill>
                <a:latin typeface="Arial"/>
              </a:rPr>
              <a:t>Generated Latitude and Longitude appear after a valid role.</a:t>
            </a:r>
          </a:p>
        </p:txBody>
      </p:sp>
      <p:sp>
        <p:nvSpPr>
          <p:cNvPr id="22" name="Rectangle 21"/>
          <p:cNvSpPr/>
          <p:nvPr/>
        </p:nvSpPr>
        <p:spPr>
          <a:xfrm>
            <a:off x="6222492"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22492" y="4046220"/>
            <a:ext cx="82296" cy="206197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51092" y="4830318"/>
            <a:ext cx="493776" cy="49377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51092"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4</a:t>
            </a:r>
          </a:p>
        </p:txBody>
      </p:sp>
      <p:sp>
        <p:nvSpPr>
          <p:cNvPr id="26" name="TextBox 25"/>
          <p:cNvSpPr txBox="1"/>
          <p:nvPr/>
        </p:nvSpPr>
        <p:spPr>
          <a:xfrm>
            <a:off x="7118604"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Common pitfall</a:t>
            </a:r>
          </a:p>
          <a:p>
            <a:pPr algn="l">
              <a:spcAft>
                <a:spcPts val="300"/>
              </a:spcAft>
            </a:pPr>
            <a:r>
              <a:rPr sz="1200" b="0">
                <a:solidFill>
                  <a:srgbClr val="5B6372"/>
                </a:solidFill>
                <a:latin typeface="Arial"/>
              </a:rPr>
              <a:t>Ambiguous places need country or state context.</a:t>
            </a:r>
          </a:p>
        </p:txBody>
      </p:sp>
      <p:sp>
        <p:nvSpPr>
          <p:cNvPr id="27" name="TextBox 26"/>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28" name="TextBox 27"/>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29" name="TextBox 28"/>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40</a:t>
            </a:r>
          </a:p>
        </p:txBody>
      </p:sp>
    </p:spTree>
  </p:cSld>
  <p:clrMapOvr>
    <a:masterClrMapping/>
  </p:clrMapOvr>
  <p:transition spd="fast">
    <p:fade/>
  </p:transition>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37744"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47472"/>
            <a:ext cx="10698480" cy="292608"/>
          </a:xfrm>
          <a:prstGeom prst="rect">
            <a:avLst/>
          </a:prstGeom>
          <a:noFill/>
        </p:spPr>
        <p:txBody>
          <a:bodyPr wrap="square" anchor="t" lIns="54864" rIns="54864" tIns="54864" bIns="54864">
            <a:spAutoFit/>
          </a:bodyPr>
          <a:lstStyle/>
          <a:p>
            <a:pPr algn="l">
              <a:spcAft>
                <a:spcPts val="300"/>
              </a:spcAft>
            </a:pPr>
            <a:r>
              <a:rPr sz="1200" b="1">
                <a:solidFill>
                  <a:srgbClr val="1F6FEB"/>
                </a:solidFill>
                <a:latin typeface="Arial"/>
              </a:rPr>
              <a:t>OFFICIAL OBJECTIVE · DOMAIN 1</a:t>
            </a:r>
          </a:p>
        </p:txBody>
      </p:sp>
      <p:sp>
        <p:nvSpPr>
          <p:cNvPr id="5" name="TextBox 4"/>
          <p:cNvSpPr txBox="1"/>
          <p:nvPr/>
        </p:nvSpPr>
        <p:spPr>
          <a:xfrm>
            <a:off x="749808" y="713232"/>
            <a:ext cx="10744200" cy="731520"/>
          </a:xfrm>
          <a:prstGeom prst="rect">
            <a:avLst/>
          </a:prstGeom>
          <a:noFill/>
        </p:spPr>
        <p:txBody>
          <a:bodyPr wrap="square" anchor="ctr" lIns="54864" rIns="54864" tIns="54864" bIns="54864">
            <a:spAutoFit/>
          </a:bodyPr>
          <a:lstStyle/>
          <a:p>
            <a:pPr algn="l">
              <a:spcAft>
                <a:spcPts val="300"/>
              </a:spcAft>
            </a:pPr>
            <a:r>
              <a:rPr sz="2700" b="1">
                <a:solidFill>
                  <a:srgbClr val="161B26"/>
                </a:solidFill>
                <a:latin typeface="Arial"/>
              </a:rPr>
              <a:t>1.3.4 · Change a data type</a:t>
            </a:r>
          </a:p>
        </p:txBody>
      </p:sp>
      <p:sp>
        <p:nvSpPr>
          <p:cNvPr id="6" name="Rectangle 5"/>
          <p:cNvSpPr/>
          <p:nvPr/>
        </p:nvSpPr>
        <p:spPr>
          <a:xfrm>
            <a:off x="749808" y="1536192"/>
            <a:ext cx="106984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8096"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68096" y="1764792"/>
            <a:ext cx="82296" cy="206197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96695" y="2548890"/>
            <a:ext cx="493776" cy="49377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5"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1</a:t>
            </a:r>
          </a:p>
        </p:txBody>
      </p:sp>
      <p:sp>
        <p:nvSpPr>
          <p:cNvPr id="11" name="TextBox 10"/>
          <p:cNvSpPr txBox="1"/>
          <p:nvPr/>
        </p:nvSpPr>
        <p:spPr>
          <a:xfrm>
            <a:off x="1664207"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What it means</a:t>
            </a:r>
          </a:p>
          <a:p>
            <a:pPr algn="l">
              <a:spcAft>
                <a:spcPts val="300"/>
              </a:spcAft>
            </a:pPr>
            <a:r>
              <a:rPr sz="1200" b="0">
                <a:solidFill>
                  <a:srgbClr val="5B6372"/>
                </a:solidFill>
                <a:latin typeface="Arial"/>
              </a:rPr>
              <a:t>The type defines valid operations, parsing and visual encodings.</a:t>
            </a:r>
          </a:p>
        </p:txBody>
      </p:sp>
      <p:sp>
        <p:nvSpPr>
          <p:cNvPr id="12" name="Rectangle 11"/>
          <p:cNvSpPr/>
          <p:nvPr/>
        </p:nvSpPr>
        <p:spPr>
          <a:xfrm>
            <a:off x="6222492"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22492" y="1764792"/>
            <a:ext cx="82296" cy="206197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51092" y="2548890"/>
            <a:ext cx="493776" cy="49377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51092"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2</a:t>
            </a:r>
          </a:p>
        </p:txBody>
      </p:sp>
      <p:sp>
        <p:nvSpPr>
          <p:cNvPr id="16" name="TextBox 15"/>
          <p:cNvSpPr txBox="1"/>
          <p:nvPr/>
        </p:nvSpPr>
        <p:spPr>
          <a:xfrm>
            <a:off x="7118604"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Use it when</a:t>
            </a:r>
          </a:p>
          <a:p>
            <a:pPr algn="l">
              <a:spcAft>
                <a:spcPts val="300"/>
              </a:spcAft>
            </a:pPr>
            <a:r>
              <a:rPr sz="1200" b="0">
                <a:solidFill>
                  <a:srgbClr val="5B6372"/>
                </a:solidFill>
                <a:latin typeface="Arial"/>
              </a:rPr>
              <a:t>Correct imported IDs, dates, decimals and Boolean indicators.</a:t>
            </a:r>
          </a:p>
        </p:txBody>
      </p:sp>
      <p:sp>
        <p:nvSpPr>
          <p:cNvPr id="17" name="Rectangle 16"/>
          <p:cNvSpPr/>
          <p:nvPr/>
        </p:nvSpPr>
        <p:spPr>
          <a:xfrm>
            <a:off x="768096"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68096" y="4046220"/>
            <a:ext cx="82296" cy="206197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96695" y="4830318"/>
            <a:ext cx="493776" cy="49377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96695"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3</a:t>
            </a:r>
          </a:p>
        </p:txBody>
      </p:sp>
      <p:sp>
        <p:nvSpPr>
          <p:cNvPr id="21" name="TextBox 20"/>
          <p:cNvSpPr txBox="1"/>
          <p:nvPr/>
        </p:nvSpPr>
        <p:spPr>
          <a:xfrm>
            <a:off x="1664207"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Exam clue</a:t>
            </a:r>
          </a:p>
          <a:p>
            <a:pPr algn="l">
              <a:spcAft>
                <a:spcPts val="300"/>
              </a:spcAft>
            </a:pPr>
            <a:r>
              <a:rPr sz="1200" b="0">
                <a:solidFill>
                  <a:srgbClr val="5B6372"/>
                </a:solidFill>
                <a:latin typeface="Arial"/>
              </a:rPr>
              <a:t>A calendar-looking string is not a date until parsed correctly.</a:t>
            </a:r>
          </a:p>
        </p:txBody>
      </p:sp>
      <p:sp>
        <p:nvSpPr>
          <p:cNvPr id="22" name="Rectangle 21"/>
          <p:cNvSpPr/>
          <p:nvPr/>
        </p:nvSpPr>
        <p:spPr>
          <a:xfrm>
            <a:off x="6222492"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22492" y="4046220"/>
            <a:ext cx="82296" cy="206197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51092" y="4830318"/>
            <a:ext cx="493776" cy="49377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51092"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4</a:t>
            </a:r>
          </a:p>
        </p:txBody>
      </p:sp>
      <p:sp>
        <p:nvSpPr>
          <p:cNvPr id="26" name="TextBox 25"/>
          <p:cNvSpPr txBox="1"/>
          <p:nvPr/>
        </p:nvSpPr>
        <p:spPr>
          <a:xfrm>
            <a:off x="7118604"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Common pitfall</a:t>
            </a:r>
          </a:p>
          <a:p>
            <a:pPr algn="l">
              <a:spcAft>
                <a:spcPts val="300"/>
              </a:spcAft>
            </a:pPr>
            <a:r>
              <a:rPr sz="1200" b="0">
                <a:solidFill>
                  <a:srgbClr val="5B6372"/>
                </a:solidFill>
                <a:latin typeface="Arial"/>
              </a:rPr>
              <a:t>Conversion can create nulls where values are invalid.</a:t>
            </a:r>
          </a:p>
        </p:txBody>
      </p:sp>
      <p:sp>
        <p:nvSpPr>
          <p:cNvPr id="27" name="TextBox 26"/>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28" name="TextBox 27"/>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29" name="TextBox 28"/>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41</a:t>
            </a:r>
          </a:p>
        </p:txBody>
      </p:sp>
    </p:spTree>
  </p:cSld>
  <p:clrMapOvr>
    <a:masterClrMapping/>
  </p:clrMapOvr>
  <p:transition spd="fast">
    <p:fade/>
  </p:transition>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37744"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47472"/>
            <a:ext cx="10698480" cy="292608"/>
          </a:xfrm>
          <a:prstGeom prst="rect">
            <a:avLst/>
          </a:prstGeom>
          <a:noFill/>
        </p:spPr>
        <p:txBody>
          <a:bodyPr wrap="square" anchor="t" lIns="54864" rIns="54864" tIns="54864" bIns="54864">
            <a:spAutoFit/>
          </a:bodyPr>
          <a:lstStyle/>
          <a:p>
            <a:pPr algn="l">
              <a:spcAft>
                <a:spcPts val="300"/>
              </a:spcAft>
            </a:pPr>
            <a:r>
              <a:rPr sz="1200" b="1">
                <a:solidFill>
                  <a:srgbClr val="1F6FEB"/>
                </a:solidFill>
                <a:latin typeface="Arial"/>
              </a:rPr>
              <a:t>OFFICIAL OBJECTIVE · DOMAIN 1</a:t>
            </a:r>
          </a:p>
        </p:txBody>
      </p:sp>
      <p:sp>
        <p:nvSpPr>
          <p:cNvPr id="5" name="TextBox 4"/>
          <p:cNvSpPr txBox="1"/>
          <p:nvPr/>
        </p:nvSpPr>
        <p:spPr>
          <a:xfrm>
            <a:off x="749808" y="713232"/>
            <a:ext cx="10744200" cy="731520"/>
          </a:xfrm>
          <a:prstGeom prst="rect">
            <a:avLst/>
          </a:prstGeom>
          <a:noFill/>
        </p:spPr>
        <p:txBody>
          <a:bodyPr wrap="square" anchor="ctr" lIns="54864" rIns="54864" tIns="54864" bIns="54864">
            <a:spAutoFit/>
          </a:bodyPr>
          <a:lstStyle/>
          <a:p>
            <a:pPr algn="l">
              <a:spcAft>
                <a:spcPts val="300"/>
              </a:spcAft>
            </a:pPr>
            <a:r>
              <a:rPr sz="2700" b="1">
                <a:solidFill>
                  <a:srgbClr val="161B26"/>
                </a:solidFill>
                <a:latin typeface="Arial"/>
              </a:rPr>
              <a:t>1.3.5 · Set default properties</a:t>
            </a:r>
          </a:p>
        </p:txBody>
      </p:sp>
      <p:sp>
        <p:nvSpPr>
          <p:cNvPr id="6" name="Rectangle 5"/>
          <p:cNvSpPr/>
          <p:nvPr/>
        </p:nvSpPr>
        <p:spPr>
          <a:xfrm>
            <a:off x="749808" y="1536192"/>
            <a:ext cx="106984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8096"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68096" y="1764792"/>
            <a:ext cx="82296" cy="206197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96695" y="2548890"/>
            <a:ext cx="493776" cy="49377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5"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1</a:t>
            </a:r>
          </a:p>
        </p:txBody>
      </p:sp>
      <p:sp>
        <p:nvSpPr>
          <p:cNvPr id="11" name="TextBox 10"/>
          <p:cNvSpPr txBox="1"/>
          <p:nvPr/>
        </p:nvSpPr>
        <p:spPr>
          <a:xfrm>
            <a:off x="1664207"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What it means</a:t>
            </a:r>
          </a:p>
          <a:p>
            <a:pPr algn="l">
              <a:spcAft>
                <a:spcPts val="300"/>
              </a:spcAft>
            </a:pPr>
            <a:r>
              <a:rPr sz="1200" b="0">
                <a:solidFill>
                  <a:srgbClr val="5B6372"/>
                </a:solidFill>
                <a:latin typeface="Arial"/>
              </a:rPr>
              <a:t>Defaults control aggregation, number/date format, colour and sort.</a:t>
            </a:r>
          </a:p>
        </p:txBody>
      </p:sp>
      <p:sp>
        <p:nvSpPr>
          <p:cNvPr id="12" name="Rectangle 11"/>
          <p:cNvSpPr/>
          <p:nvPr/>
        </p:nvSpPr>
        <p:spPr>
          <a:xfrm>
            <a:off x="6222492"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22492" y="1764792"/>
            <a:ext cx="82296" cy="206197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51092" y="2548890"/>
            <a:ext cx="493776" cy="49377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51092"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2</a:t>
            </a:r>
          </a:p>
        </p:txBody>
      </p:sp>
      <p:sp>
        <p:nvSpPr>
          <p:cNvPr id="16" name="TextBox 15"/>
          <p:cNvSpPr txBox="1"/>
          <p:nvPr/>
        </p:nvSpPr>
        <p:spPr>
          <a:xfrm>
            <a:off x="7118604"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Use it when</a:t>
            </a:r>
          </a:p>
          <a:p>
            <a:pPr algn="l">
              <a:spcAft>
                <a:spcPts val="300"/>
              </a:spcAft>
            </a:pPr>
            <a:r>
              <a:rPr sz="1200" b="0">
                <a:solidFill>
                  <a:srgbClr val="5B6372"/>
                </a:solidFill>
                <a:latin typeface="Arial"/>
              </a:rPr>
              <a:t>Use when a field should behave consistently on new sheets.</a:t>
            </a:r>
          </a:p>
        </p:txBody>
      </p:sp>
      <p:sp>
        <p:nvSpPr>
          <p:cNvPr id="17" name="Rectangle 16"/>
          <p:cNvSpPr/>
          <p:nvPr/>
        </p:nvSpPr>
        <p:spPr>
          <a:xfrm>
            <a:off x="768096"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68096" y="4046220"/>
            <a:ext cx="82296" cy="206197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96695" y="4830318"/>
            <a:ext cx="493776" cy="49377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96695"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3</a:t>
            </a:r>
          </a:p>
        </p:txBody>
      </p:sp>
      <p:sp>
        <p:nvSpPr>
          <p:cNvPr id="21" name="TextBox 20"/>
          <p:cNvSpPr txBox="1"/>
          <p:nvPr/>
        </p:nvSpPr>
        <p:spPr>
          <a:xfrm>
            <a:off x="1664207"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Exam clue</a:t>
            </a:r>
          </a:p>
          <a:p>
            <a:pPr algn="l">
              <a:spcAft>
                <a:spcPts val="300"/>
              </a:spcAft>
            </a:pPr>
            <a:r>
              <a:rPr sz="1200" b="0">
                <a:solidFill>
                  <a:srgbClr val="5B6372"/>
                </a:solidFill>
                <a:latin typeface="Arial"/>
              </a:rPr>
              <a:t>Default aggregation can still be changed in a view.</a:t>
            </a:r>
          </a:p>
        </p:txBody>
      </p:sp>
      <p:sp>
        <p:nvSpPr>
          <p:cNvPr id="22" name="Rectangle 21"/>
          <p:cNvSpPr/>
          <p:nvPr/>
        </p:nvSpPr>
        <p:spPr>
          <a:xfrm>
            <a:off x="6222492"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22492" y="4046220"/>
            <a:ext cx="82296" cy="206197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51092" y="4830318"/>
            <a:ext cx="493776" cy="49377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51092"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4</a:t>
            </a:r>
          </a:p>
        </p:txBody>
      </p:sp>
      <p:sp>
        <p:nvSpPr>
          <p:cNvPr id="26" name="TextBox 25"/>
          <p:cNvSpPr txBox="1"/>
          <p:nvPr/>
        </p:nvSpPr>
        <p:spPr>
          <a:xfrm>
            <a:off x="7118604"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Common pitfall</a:t>
            </a:r>
          </a:p>
          <a:p>
            <a:pPr algn="l">
              <a:spcAft>
                <a:spcPts val="300"/>
              </a:spcAft>
            </a:pPr>
            <a:r>
              <a:rPr sz="1200" b="0">
                <a:solidFill>
                  <a:srgbClr val="5B6372"/>
                </a:solidFill>
                <a:latin typeface="Arial"/>
              </a:rPr>
              <a:t>Currency formatting does not convert currencies or units.</a:t>
            </a:r>
          </a:p>
        </p:txBody>
      </p:sp>
      <p:sp>
        <p:nvSpPr>
          <p:cNvPr id="27" name="TextBox 26"/>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28" name="TextBox 27"/>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29" name="TextBox 28"/>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42</a:t>
            </a:r>
          </a:p>
        </p:txBody>
      </p:sp>
    </p:spTree>
  </p:cSld>
  <p:clrMapOvr>
    <a:masterClrMapping/>
  </p:clrMapOvr>
  <p:transition spd="fast">
    <p:fade/>
  </p:transition>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37744"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47472"/>
            <a:ext cx="10698480" cy="292608"/>
          </a:xfrm>
          <a:prstGeom prst="rect">
            <a:avLst/>
          </a:prstGeom>
          <a:noFill/>
        </p:spPr>
        <p:txBody>
          <a:bodyPr wrap="square" anchor="t" lIns="54864" rIns="54864" tIns="54864" bIns="54864">
            <a:spAutoFit/>
          </a:bodyPr>
          <a:lstStyle/>
          <a:p>
            <a:pPr algn="l">
              <a:spcAft>
                <a:spcPts val="300"/>
              </a:spcAft>
            </a:pPr>
            <a:r>
              <a:rPr sz="1200" b="1">
                <a:solidFill>
                  <a:srgbClr val="1F6FEB"/>
                </a:solidFill>
                <a:latin typeface="Arial"/>
              </a:rPr>
              <a:t>DOMAIN 1 · SECTION 4</a:t>
            </a:r>
          </a:p>
        </p:txBody>
      </p:sp>
      <p:sp>
        <p:nvSpPr>
          <p:cNvPr id="5" name="TextBox 4"/>
          <p:cNvSpPr txBox="1"/>
          <p:nvPr/>
        </p:nvSpPr>
        <p:spPr>
          <a:xfrm>
            <a:off x="749808" y="713232"/>
            <a:ext cx="10744200" cy="731520"/>
          </a:xfrm>
          <a:prstGeom prst="rect">
            <a:avLst/>
          </a:prstGeom>
          <a:noFill/>
        </p:spPr>
        <p:txBody>
          <a:bodyPr wrap="square" anchor="ctr" lIns="54864" rIns="54864" tIns="54864" bIns="54864">
            <a:spAutoFit/>
          </a:bodyPr>
          <a:lstStyle/>
          <a:p>
            <a:pPr algn="l">
              <a:spcAft>
                <a:spcPts val="300"/>
              </a:spcAft>
            </a:pPr>
            <a:r>
              <a:rPr sz="2700" b="1">
                <a:solidFill>
                  <a:srgbClr val="161B26"/>
                </a:solidFill>
                <a:latin typeface="Arial"/>
              </a:rPr>
              <a:t>Cleanse data with Tableau Prep Builder</a:t>
            </a:r>
          </a:p>
        </p:txBody>
      </p:sp>
      <p:sp>
        <p:nvSpPr>
          <p:cNvPr id="6" name="Rectangle 5"/>
          <p:cNvSpPr/>
          <p:nvPr/>
        </p:nvSpPr>
        <p:spPr>
          <a:xfrm>
            <a:off x="749808" y="1536192"/>
            <a:ext cx="106984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8096"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68096" y="1764792"/>
            <a:ext cx="82296" cy="206197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96695" y="2548890"/>
            <a:ext cx="493776" cy="49377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5"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1</a:t>
            </a:r>
          </a:p>
        </p:txBody>
      </p:sp>
      <p:sp>
        <p:nvSpPr>
          <p:cNvPr id="11" name="TextBox 10"/>
          <p:cNvSpPr txBox="1"/>
          <p:nvPr/>
        </p:nvSpPr>
        <p:spPr>
          <a:xfrm>
            <a:off x="1664207"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Flow, not clicks</a:t>
            </a:r>
          </a:p>
          <a:p>
            <a:pPr algn="l">
              <a:spcAft>
                <a:spcPts val="300"/>
              </a:spcAft>
            </a:pPr>
            <a:r>
              <a:rPr sz="1200" b="0">
                <a:solidFill>
                  <a:srgbClr val="5B6372"/>
                </a:solidFill>
                <a:latin typeface="Arial"/>
              </a:rPr>
              <a:t>A Prep flow is a repeatable, auditable pipeline of Input, Clean, Pivot, Union, Join, Aggregate and Output steps.</a:t>
            </a:r>
          </a:p>
        </p:txBody>
      </p:sp>
      <p:sp>
        <p:nvSpPr>
          <p:cNvPr id="12" name="Rectangle 11"/>
          <p:cNvSpPr/>
          <p:nvPr/>
        </p:nvSpPr>
        <p:spPr>
          <a:xfrm>
            <a:off x="6222492"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22492" y="1764792"/>
            <a:ext cx="82296" cy="206197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51092" y="2548890"/>
            <a:ext cx="493776" cy="49377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51092"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2</a:t>
            </a:r>
          </a:p>
        </p:txBody>
      </p:sp>
      <p:sp>
        <p:nvSpPr>
          <p:cNvPr id="16" name="TextBox 15"/>
          <p:cNvSpPr txBox="1"/>
          <p:nvPr/>
        </p:nvSpPr>
        <p:spPr>
          <a:xfrm>
            <a:off x="7118604"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Profile before you fix</a:t>
            </a:r>
          </a:p>
          <a:p>
            <a:pPr algn="l">
              <a:spcAft>
                <a:spcPts val="300"/>
              </a:spcAft>
            </a:pPr>
            <a:r>
              <a:rPr sz="1200" b="0">
                <a:solidFill>
                  <a:srgbClr val="5B6372"/>
                </a:solidFill>
                <a:latin typeface="Arial"/>
              </a:rPr>
              <a:t>The profile pane exposes dirty types, outliers, nulls, duplicates and inconsistent members before any change.</a:t>
            </a:r>
          </a:p>
        </p:txBody>
      </p:sp>
      <p:sp>
        <p:nvSpPr>
          <p:cNvPr id="17" name="Rectangle 16"/>
          <p:cNvSpPr/>
          <p:nvPr/>
        </p:nvSpPr>
        <p:spPr>
          <a:xfrm>
            <a:off x="768096"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68096" y="4046220"/>
            <a:ext cx="82296" cy="206197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96695" y="4830318"/>
            <a:ext cx="493776" cy="49377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96695"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3</a:t>
            </a:r>
          </a:p>
        </p:txBody>
      </p:sp>
      <p:sp>
        <p:nvSpPr>
          <p:cNvPr id="21" name="TextBox 20"/>
          <p:cNvSpPr txBox="1"/>
          <p:nvPr/>
        </p:nvSpPr>
        <p:spPr>
          <a:xfrm>
            <a:off x="1664207"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Change list is the audit trail</a:t>
            </a:r>
          </a:p>
          <a:p>
            <a:pPr algn="l">
              <a:spcAft>
                <a:spcPts val="300"/>
              </a:spcAft>
            </a:pPr>
            <a:r>
              <a:rPr sz="1200" b="0">
                <a:solidFill>
                  <a:srgbClr val="5B6372"/>
                </a:solidFill>
                <a:latin typeface="Arial"/>
              </a:rPr>
              <a:t>Every cleaning action is recorded, reorderable and removable, so the flow stays reproducible.</a:t>
            </a:r>
          </a:p>
        </p:txBody>
      </p:sp>
      <p:sp>
        <p:nvSpPr>
          <p:cNvPr id="22" name="Rectangle 21"/>
          <p:cNvSpPr/>
          <p:nvPr/>
        </p:nvSpPr>
        <p:spPr>
          <a:xfrm>
            <a:off x="6222492"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22492" y="4046220"/>
            <a:ext cx="82296" cy="206197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51092" y="4830318"/>
            <a:ext cx="493776" cy="49377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51092"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4</a:t>
            </a:r>
          </a:p>
        </p:txBody>
      </p:sp>
      <p:sp>
        <p:nvSpPr>
          <p:cNvPr id="26" name="TextBox 25"/>
          <p:cNvSpPr txBox="1"/>
          <p:nvPr/>
        </p:nvSpPr>
        <p:spPr>
          <a:xfrm>
            <a:off x="7118604"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Reshape for analysis</a:t>
            </a:r>
          </a:p>
          <a:p>
            <a:pPr algn="l">
              <a:spcAft>
                <a:spcPts val="300"/>
              </a:spcAft>
            </a:pPr>
            <a:r>
              <a:rPr sz="1200" b="0">
                <a:solidFill>
                  <a:srgbClr val="5B6372"/>
                </a:solidFill>
                <a:latin typeface="Arial"/>
              </a:rPr>
              <a:t>Pivot columns to rows for tidy time series; union files and join lookups to build one analysis-ready table.</a:t>
            </a:r>
          </a:p>
        </p:txBody>
      </p:sp>
      <p:sp>
        <p:nvSpPr>
          <p:cNvPr id="27" name="TextBox 26"/>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28" name="TextBox 27"/>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29" name="TextBox 28"/>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43</a:t>
            </a:r>
          </a:p>
        </p:txBody>
      </p:sp>
    </p:spTree>
  </p:cSld>
  <p:clrMapOvr>
    <a:masterClrMapping/>
  </p:clrMapOvr>
  <p:transition spd="fast">
    <p:fade/>
  </p:transition>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37744"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47472"/>
            <a:ext cx="10698480" cy="292608"/>
          </a:xfrm>
          <a:prstGeom prst="rect">
            <a:avLst/>
          </a:prstGeom>
          <a:noFill/>
        </p:spPr>
        <p:txBody>
          <a:bodyPr wrap="square" anchor="t" lIns="54864" rIns="54864" tIns="54864" bIns="54864">
            <a:spAutoFit/>
          </a:bodyPr>
          <a:lstStyle/>
          <a:p>
            <a:pPr algn="l">
              <a:spcAft>
                <a:spcPts val="300"/>
              </a:spcAft>
            </a:pPr>
            <a:r>
              <a:rPr sz="1200" b="1">
                <a:solidFill>
                  <a:srgbClr val="1F6FEB"/>
                </a:solidFill>
                <a:latin typeface="Arial"/>
              </a:rPr>
              <a:t>CONCEPTUAL DECISION FLOW</a:t>
            </a:r>
          </a:p>
        </p:txBody>
      </p:sp>
      <p:sp>
        <p:nvSpPr>
          <p:cNvPr id="5" name="TextBox 4"/>
          <p:cNvSpPr txBox="1"/>
          <p:nvPr/>
        </p:nvSpPr>
        <p:spPr>
          <a:xfrm>
            <a:off x="749808" y="713232"/>
            <a:ext cx="10744200" cy="731520"/>
          </a:xfrm>
          <a:prstGeom prst="rect">
            <a:avLst/>
          </a:prstGeom>
          <a:noFill/>
        </p:spPr>
        <p:txBody>
          <a:bodyPr wrap="square" anchor="ctr" lIns="54864" rIns="54864" tIns="54864" bIns="54864">
            <a:spAutoFit/>
          </a:bodyPr>
          <a:lstStyle/>
          <a:p>
            <a:pPr algn="l">
              <a:spcAft>
                <a:spcPts val="300"/>
              </a:spcAft>
            </a:pPr>
            <a:r>
              <a:rPr sz="2300" b="1">
                <a:solidFill>
                  <a:srgbClr val="161B26"/>
                </a:solidFill>
                <a:latin typeface="Arial"/>
              </a:rPr>
              <a:t>Reasoning Pattern — Cleanse data with Tableau Prep Builder</a:t>
            </a:r>
          </a:p>
        </p:txBody>
      </p:sp>
      <p:sp>
        <p:nvSpPr>
          <p:cNvPr id="6" name="Rectangle 5"/>
          <p:cNvSpPr/>
          <p:nvPr/>
        </p:nvSpPr>
        <p:spPr>
          <a:xfrm>
            <a:off x="749808" y="1536192"/>
            <a:ext cx="106984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8096" y="2057400"/>
            <a:ext cx="1947672" cy="2971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68096" y="2057400"/>
            <a:ext cx="194767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76172" y="2423160"/>
            <a:ext cx="731520" cy="7315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6172" y="2423160"/>
            <a:ext cx="731520" cy="731520"/>
          </a:xfrm>
          <a:prstGeom prst="rect">
            <a:avLst/>
          </a:prstGeom>
          <a:noFill/>
        </p:spPr>
        <p:txBody>
          <a:bodyPr wrap="square" anchor="ctr" lIns="54864" rIns="54864" tIns="54864" bIns="54864">
            <a:spAutoFit/>
          </a:bodyPr>
          <a:lstStyle/>
          <a:p>
            <a:pPr algn="ctr">
              <a:spcAft>
                <a:spcPts val="300"/>
              </a:spcAft>
            </a:pPr>
            <a:r>
              <a:rPr sz="2400" b="1">
                <a:solidFill>
                  <a:srgbClr val="FFFFFF"/>
                </a:solidFill>
                <a:latin typeface="Arial"/>
              </a:rPr>
              <a:t>1</a:t>
            </a:r>
          </a:p>
        </p:txBody>
      </p:sp>
      <p:sp>
        <p:nvSpPr>
          <p:cNvPr id="11" name="TextBox 10"/>
          <p:cNvSpPr txBox="1"/>
          <p:nvPr/>
        </p:nvSpPr>
        <p:spPr>
          <a:xfrm>
            <a:off x="877824" y="3429000"/>
            <a:ext cx="1728216" cy="1143000"/>
          </a:xfrm>
          <a:prstGeom prst="rect">
            <a:avLst/>
          </a:prstGeom>
          <a:noFill/>
        </p:spPr>
        <p:txBody>
          <a:bodyPr wrap="square" anchor="ctr" lIns="54864" rIns="54864" tIns="54864" bIns="54864">
            <a:spAutoFit/>
          </a:bodyPr>
          <a:lstStyle/>
          <a:p>
            <a:pPr algn="ctr">
              <a:spcAft>
                <a:spcPts val="300"/>
              </a:spcAft>
            </a:pPr>
            <a:r>
              <a:rPr sz="1250" b="0">
                <a:solidFill>
                  <a:srgbClr val="161B26"/>
                </a:solidFill>
                <a:latin typeface="Arial"/>
              </a:rPr>
              <a:t>Flow, not clicks</a:t>
            </a:r>
          </a:p>
        </p:txBody>
      </p:sp>
      <p:sp>
        <p:nvSpPr>
          <p:cNvPr id="12" name="TextBox 11"/>
          <p:cNvSpPr txBox="1"/>
          <p:nvPr/>
        </p:nvSpPr>
        <p:spPr>
          <a:xfrm>
            <a:off x="2697479" y="3246120"/>
            <a:ext cx="274320" cy="365760"/>
          </a:xfrm>
          <a:prstGeom prst="rect">
            <a:avLst/>
          </a:prstGeom>
          <a:noFill/>
        </p:spPr>
        <p:txBody>
          <a:bodyPr wrap="square" anchor="t" lIns="54864" rIns="54864" tIns="54864" bIns="54864">
            <a:spAutoFit/>
          </a:bodyPr>
          <a:lstStyle/>
          <a:p>
            <a:pPr algn="ctr">
              <a:spcAft>
                <a:spcPts val="300"/>
              </a:spcAft>
            </a:pPr>
            <a:r>
              <a:rPr sz="1200" b="1">
                <a:solidFill>
                  <a:srgbClr val="1F6FEB"/>
                </a:solidFill>
                <a:latin typeface="Arial"/>
              </a:rPr>
              <a:t>▶</a:t>
            </a:r>
          </a:p>
        </p:txBody>
      </p:sp>
      <p:sp>
        <p:nvSpPr>
          <p:cNvPr id="13" name="Rectangle 12"/>
          <p:cNvSpPr/>
          <p:nvPr/>
        </p:nvSpPr>
        <p:spPr>
          <a:xfrm>
            <a:off x="2944368" y="2057400"/>
            <a:ext cx="1947672" cy="2971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44368" y="2057400"/>
            <a:ext cx="194767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52444" y="2423160"/>
            <a:ext cx="731520" cy="7315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52444" y="2423160"/>
            <a:ext cx="731520" cy="731520"/>
          </a:xfrm>
          <a:prstGeom prst="rect">
            <a:avLst/>
          </a:prstGeom>
          <a:noFill/>
        </p:spPr>
        <p:txBody>
          <a:bodyPr wrap="square" anchor="ctr" lIns="54864" rIns="54864" tIns="54864" bIns="54864">
            <a:spAutoFit/>
          </a:bodyPr>
          <a:lstStyle/>
          <a:p>
            <a:pPr algn="ctr">
              <a:spcAft>
                <a:spcPts val="300"/>
              </a:spcAft>
            </a:pPr>
            <a:r>
              <a:rPr sz="2400" b="1">
                <a:solidFill>
                  <a:srgbClr val="FFFFFF"/>
                </a:solidFill>
                <a:latin typeface="Arial"/>
              </a:rPr>
              <a:t>2</a:t>
            </a:r>
          </a:p>
        </p:txBody>
      </p:sp>
      <p:sp>
        <p:nvSpPr>
          <p:cNvPr id="17" name="TextBox 16"/>
          <p:cNvSpPr txBox="1"/>
          <p:nvPr/>
        </p:nvSpPr>
        <p:spPr>
          <a:xfrm>
            <a:off x="3054096" y="3429000"/>
            <a:ext cx="1728216" cy="1143000"/>
          </a:xfrm>
          <a:prstGeom prst="rect">
            <a:avLst/>
          </a:prstGeom>
          <a:noFill/>
        </p:spPr>
        <p:txBody>
          <a:bodyPr wrap="square" anchor="ctr" lIns="54864" rIns="54864" tIns="54864" bIns="54864">
            <a:spAutoFit/>
          </a:bodyPr>
          <a:lstStyle/>
          <a:p>
            <a:pPr algn="ctr">
              <a:spcAft>
                <a:spcPts val="300"/>
              </a:spcAft>
            </a:pPr>
            <a:r>
              <a:rPr sz="1250" b="0">
                <a:solidFill>
                  <a:srgbClr val="161B26"/>
                </a:solidFill>
                <a:latin typeface="Arial"/>
              </a:rPr>
              <a:t>Profile before you fix</a:t>
            </a:r>
          </a:p>
        </p:txBody>
      </p:sp>
      <p:sp>
        <p:nvSpPr>
          <p:cNvPr id="18" name="TextBox 17"/>
          <p:cNvSpPr txBox="1"/>
          <p:nvPr/>
        </p:nvSpPr>
        <p:spPr>
          <a:xfrm>
            <a:off x="4873752" y="3246120"/>
            <a:ext cx="274320" cy="365760"/>
          </a:xfrm>
          <a:prstGeom prst="rect">
            <a:avLst/>
          </a:prstGeom>
          <a:noFill/>
        </p:spPr>
        <p:txBody>
          <a:bodyPr wrap="square" anchor="t" lIns="54864" rIns="54864" tIns="54864" bIns="54864">
            <a:spAutoFit/>
          </a:bodyPr>
          <a:lstStyle/>
          <a:p>
            <a:pPr algn="ctr">
              <a:spcAft>
                <a:spcPts val="300"/>
              </a:spcAft>
            </a:pPr>
            <a:r>
              <a:rPr sz="1200" b="1">
                <a:solidFill>
                  <a:srgbClr val="1F6FEB"/>
                </a:solidFill>
                <a:latin typeface="Arial"/>
              </a:rPr>
              <a:t>▶</a:t>
            </a:r>
          </a:p>
        </p:txBody>
      </p:sp>
      <p:sp>
        <p:nvSpPr>
          <p:cNvPr id="19" name="Rectangle 18"/>
          <p:cNvSpPr/>
          <p:nvPr/>
        </p:nvSpPr>
        <p:spPr>
          <a:xfrm>
            <a:off x="5120640" y="2057400"/>
            <a:ext cx="1947672" cy="2971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0" y="2057400"/>
            <a:ext cx="194767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28715" y="2423160"/>
            <a:ext cx="731520" cy="7315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28715" y="2423160"/>
            <a:ext cx="731520" cy="731520"/>
          </a:xfrm>
          <a:prstGeom prst="rect">
            <a:avLst/>
          </a:prstGeom>
          <a:noFill/>
        </p:spPr>
        <p:txBody>
          <a:bodyPr wrap="square" anchor="ctr" lIns="54864" rIns="54864" tIns="54864" bIns="54864">
            <a:spAutoFit/>
          </a:bodyPr>
          <a:lstStyle/>
          <a:p>
            <a:pPr algn="ctr">
              <a:spcAft>
                <a:spcPts val="300"/>
              </a:spcAft>
            </a:pPr>
            <a:r>
              <a:rPr sz="2400" b="1">
                <a:solidFill>
                  <a:srgbClr val="FFFFFF"/>
                </a:solidFill>
                <a:latin typeface="Arial"/>
              </a:rPr>
              <a:t>3</a:t>
            </a:r>
          </a:p>
        </p:txBody>
      </p:sp>
      <p:sp>
        <p:nvSpPr>
          <p:cNvPr id="23" name="TextBox 22"/>
          <p:cNvSpPr txBox="1"/>
          <p:nvPr/>
        </p:nvSpPr>
        <p:spPr>
          <a:xfrm>
            <a:off x="5230368" y="3429000"/>
            <a:ext cx="1728216" cy="1143000"/>
          </a:xfrm>
          <a:prstGeom prst="rect">
            <a:avLst/>
          </a:prstGeom>
          <a:noFill/>
        </p:spPr>
        <p:txBody>
          <a:bodyPr wrap="square" anchor="ctr" lIns="54864" rIns="54864" tIns="54864" bIns="54864">
            <a:spAutoFit/>
          </a:bodyPr>
          <a:lstStyle/>
          <a:p>
            <a:pPr algn="ctr">
              <a:spcAft>
                <a:spcPts val="300"/>
              </a:spcAft>
            </a:pPr>
            <a:r>
              <a:rPr sz="1250" b="0">
                <a:solidFill>
                  <a:srgbClr val="161B26"/>
                </a:solidFill>
                <a:latin typeface="Arial"/>
              </a:rPr>
              <a:t>Change list is the audit trail</a:t>
            </a:r>
          </a:p>
        </p:txBody>
      </p:sp>
      <p:sp>
        <p:nvSpPr>
          <p:cNvPr id="24" name="TextBox 23"/>
          <p:cNvSpPr txBox="1"/>
          <p:nvPr/>
        </p:nvSpPr>
        <p:spPr>
          <a:xfrm>
            <a:off x="7050024" y="3246120"/>
            <a:ext cx="274320" cy="365760"/>
          </a:xfrm>
          <a:prstGeom prst="rect">
            <a:avLst/>
          </a:prstGeom>
          <a:noFill/>
        </p:spPr>
        <p:txBody>
          <a:bodyPr wrap="square" anchor="t" lIns="54864" rIns="54864" tIns="54864" bIns="54864">
            <a:spAutoFit/>
          </a:bodyPr>
          <a:lstStyle/>
          <a:p>
            <a:pPr algn="ctr">
              <a:spcAft>
                <a:spcPts val="300"/>
              </a:spcAft>
            </a:pPr>
            <a:r>
              <a:rPr sz="1200" b="1">
                <a:solidFill>
                  <a:srgbClr val="1F6FEB"/>
                </a:solidFill>
                <a:latin typeface="Arial"/>
              </a:rPr>
              <a:t>▶</a:t>
            </a:r>
          </a:p>
        </p:txBody>
      </p:sp>
      <p:sp>
        <p:nvSpPr>
          <p:cNvPr id="25" name="Rectangle 24"/>
          <p:cNvSpPr/>
          <p:nvPr/>
        </p:nvSpPr>
        <p:spPr>
          <a:xfrm>
            <a:off x="7296912" y="2057400"/>
            <a:ext cx="1947672" cy="2971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296912" y="2057400"/>
            <a:ext cx="194767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04988" y="2423160"/>
            <a:ext cx="731520" cy="7315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4988" y="2423160"/>
            <a:ext cx="731520" cy="731520"/>
          </a:xfrm>
          <a:prstGeom prst="rect">
            <a:avLst/>
          </a:prstGeom>
          <a:noFill/>
        </p:spPr>
        <p:txBody>
          <a:bodyPr wrap="square" anchor="ctr" lIns="54864" rIns="54864" tIns="54864" bIns="54864">
            <a:spAutoFit/>
          </a:bodyPr>
          <a:lstStyle/>
          <a:p>
            <a:pPr algn="ctr">
              <a:spcAft>
                <a:spcPts val="300"/>
              </a:spcAft>
            </a:pPr>
            <a:r>
              <a:rPr sz="2400" b="1">
                <a:solidFill>
                  <a:srgbClr val="FFFFFF"/>
                </a:solidFill>
                <a:latin typeface="Arial"/>
              </a:rPr>
              <a:t>4</a:t>
            </a:r>
          </a:p>
        </p:txBody>
      </p:sp>
      <p:sp>
        <p:nvSpPr>
          <p:cNvPr id="29" name="TextBox 28"/>
          <p:cNvSpPr txBox="1"/>
          <p:nvPr/>
        </p:nvSpPr>
        <p:spPr>
          <a:xfrm>
            <a:off x="7406640" y="3429000"/>
            <a:ext cx="1728216" cy="1143000"/>
          </a:xfrm>
          <a:prstGeom prst="rect">
            <a:avLst/>
          </a:prstGeom>
          <a:noFill/>
        </p:spPr>
        <p:txBody>
          <a:bodyPr wrap="square" anchor="ctr" lIns="54864" rIns="54864" tIns="54864" bIns="54864">
            <a:spAutoFit/>
          </a:bodyPr>
          <a:lstStyle/>
          <a:p>
            <a:pPr algn="ctr">
              <a:spcAft>
                <a:spcPts val="300"/>
              </a:spcAft>
            </a:pPr>
            <a:r>
              <a:rPr sz="1250" b="0">
                <a:solidFill>
                  <a:srgbClr val="161B26"/>
                </a:solidFill>
                <a:latin typeface="Arial"/>
              </a:rPr>
              <a:t>Reshape for analysis</a:t>
            </a:r>
          </a:p>
        </p:txBody>
      </p:sp>
      <p:sp>
        <p:nvSpPr>
          <p:cNvPr id="30" name="TextBox 29"/>
          <p:cNvSpPr txBox="1"/>
          <p:nvPr/>
        </p:nvSpPr>
        <p:spPr>
          <a:xfrm>
            <a:off x="9226296" y="3246120"/>
            <a:ext cx="274320" cy="365760"/>
          </a:xfrm>
          <a:prstGeom prst="rect">
            <a:avLst/>
          </a:prstGeom>
          <a:noFill/>
        </p:spPr>
        <p:txBody>
          <a:bodyPr wrap="square" anchor="t" lIns="54864" rIns="54864" tIns="54864" bIns="54864">
            <a:spAutoFit/>
          </a:bodyPr>
          <a:lstStyle/>
          <a:p>
            <a:pPr algn="ctr">
              <a:spcAft>
                <a:spcPts val="300"/>
              </a:spcAft>
            </a:pPr>
            <a:r>
              <a:rPr sz="1200" b="1">
                <a:solidFill>
                  <a:srgbClr val="1F6FEB"/>
                </a:solidFill>
                <a:latin typeface="Arial"/>
              </a:rPr>
              <a:t>▶</a:t>
            </a:r>
          </a:p>
        </p:txBody>
      </p:sp>
      <p:sp>
        <p:nvSpPr>
          <p:cNvPr id="31" name="Rectangle 30"/>
          <p:cNvSpPr/>
          <p:nvPr/>
        </p:nvSpPr>
        <p:spPr>
          <a:xfrm>
            <a:off x="9473184" y="2057400"/>
            <a:ext cx="1947672" cy="2971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473184" y="2057400"/>
            <a:ext cx="194767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81259" y="2423160"/>
            <a:ext cx="731520" cy="7315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81259" y="2423160"/>
            <a:ext cx="731520" cy="731520"/>
          </a:xfrm>
          <a:prstGeom prst="rect">
            <a:avLst/>
          </a:prstGeom>
          <a:noFill/>
        </p:spPr>
        <p:txBody>
          <a:bodyPr wrap="square" anchor="ctr" lIns="54864" rIns="54864" tIns="54864" bIns="54864">
            <a:spAutoFit/>
          </a:bodyPr>
          <a:lstStyle/>
          <a:p>
            <a:pPr algn="ctr">
              <a:spcAft>
                <a:spcPts val="300"/>
              </a:spcAft>
            </a:pPr>
            <a:r>
              <a:rPr sz="2400" b="1">
                <a:solidFill>
                  <a:srgbClr val="FFFFFF"/>
                </a:solidFill>
                <a:latin typeface="Arial"/>
              </a:rPr>
              <a:t>5</a:t>
            </a:r>
          </a:p>
        </p:txBody>
      </p:sp>
      <p:sp>
        <p:nvSpPr>
          <p:cNvPr id="35" name="TextBox 34"/>
          <p:cNvSpPr txBox="1"/>
          <p:nvPr/>
        </p:nvSpPr>
        <p:spPr>
          <a:xfrm>
            <a:off x="9582911" y="3429000"/>
            <a:ext cx="1728216" cy="1143000"/>
          </a:xfrm>
          <a:prstGeom prst="rect">
            <a:avLst/>
          </a:prstGeom>
          <a:noFill/>
        </p:spPr>
        <p:txBody>
          <a:bodyPr wrap="square" anchor="ctr" lIns="54864" rIns="54864" tIns="54864" bIns="54864">
            <a:spAutoFit/>
          </a:bodyPr>
          <a:lstStyle/>
          <a:p>
            <a:pPr algn="ctr">
              <a:spcAft>
                <a:spcPts val="300"/>
              </a:spcAft>
            </a:pPr>
            <a:r>
              <a:rPr sz="1250" b="0">
                <a:solidFill>
                  <a:srgbClr val="161B26"/>
                </a:solidFill>
                <a:latin typeface="Arial"/>
              </a:rPr>
              <a:t>Validate result</a:t>
            </a:r>
          </a:p>
        </p:txBody>
      </p:sp>
      <p:sp>
        <p:nvSpPr>
          <p:cNvPr id="36" name="TextBox 35"/>
          <p:cNvSpPr txBox="1"/>
          <p:nvPr/>
        </p:nvSpPr>
        <p:spPr>
          <a:xfrm>
            <a:off x="777240" y="5394960"/>
            <a:ext cx="10607040" cy="411480"/>
          </a:xfrm>
          <a:prstGeom prst="rect">
            <a:avLst/>
          </a:prstGeom>
          <a:noFill/>
        </p:spPr>
        <p:txBody>
          <a:bodyPr wrap="square" anchor="t" lIns="54864" rIns="54864" tIns="54864" bIns="54864">
            <a:spAutoFit/>
          </a:bodyPr>
          <a:lstStyle/>
          <a:p>
            <a:pPr algn="ctr">
              <a:spcAft>
                <a:spcPts val="300"/>
              </a:spcAft>
            </a:pPr>
            <a:r>
              <a:rPr sz="1250" b="0">
                <a:solidFill>
                  <a:srgbClr val="5B6372"/>
                </a:solidFill>
                <a:latin typeface="Arial"/>
              </a:rPr>
              <a:t>This is a reasoning map, not a click-by-click lab procedure.</a:t>
            </a:r>
          </a:p>
        </p:txBody>
      </p:sp>
      <p:sp>
        <p:nvSpPr>
          <p:cNvPr id="37" name="TextBox 36"/>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38" name="TextBox 37"/>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39" name="TextBox 38"/>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44</a:t>
            </a:r>
          </a:p>
        </p:txBody>
      </p:sp>
    </p:spTree>
  </p:cSld>
  <p:clrMapOvr>
    <a:masterClrMapping/>
  </p:clrMapOvr>
  <p:transition spd="fast">
    <p:fade/>
  </p:transition>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37744"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47472"/>
            <a:ext cx="10698480" cy="292608"/>
          </a:xfrm>
          <a:prstGeom prst="rect">
            <a:avLst/>
          </a:prstGeom>
          <a:noFill/>
        </p:spPr>
        <p:txBody>
          <a:bodyPr wrap="square" anchor="t" lIns="54864" rIns="54864" tIns="54864" bIns="54864">
            <a:spAutoFit/>
          </a:bodyPr>
          <a:lstStyle/>
          <a:p>
            <a:pPr algn="l">
              <a:spcAft>
                <a:spcPts val="300"/>
              </a:spcAft>
            </a:pPr>
            <a:r>
              <a:rPr sz="1200" b="1">
                <a:solidFill>
                  <a:srgbClr val="1F6FEB"/>
                </a:solidFill>
                <a:latin typeface="Arial"/>
              </a:rPr>
              <a:t>OFFICIAL OBJECTIVE · DOMAIN 1</a:t>
            </a:r>
          </a:p>
        </p:txBody>
      </p:sp>
      <p:sp>
        <p:nvSpPr>
          <p:cNvPr id="5" name="TextBox 4"/>
          <p:cNvSpPr txBox="1"/>
          <p:nvPr/>
        </p:nvSpPr>
        <p:spPr>
          <a:xfrm>
            <a:off x="749808" y="713232"/>
            <a:ext cx="10744200" cy="731520"/>
          </a:xfrm>
          <a:prstGeom prst="rect">
            <a:avLst/>
          </a:prstGeom>
          <a:noFill/>
        </p:spPr>
        <p:txBody>
          <a:bodyPr wrap="square" anchor="ctr" lIns="54864" rIns="54864" tIns="54864" bIns="54864">
            <a:spAutoFit/>
          </a:bodyPr>
          <a:lstStyle/>
          <a:p>
            <a:pPr algn="l">
              <a:spcAft>
                <a:spcPts val="300"/>
              </a:spcAft>
            </a:pPr>
            <a:r>
              <a:rPr sz="2300" b="1">
                <a:solidFill>
                  <a:srgbClr val="161B26"/>
                </a:solidFill>
                <a:latin typeface="Arial"/>
              </a:rPr>
              <a:t>1.4.1 · Connect a Prep input and use the Data Interpreter</a:t>
            </a:r>
          </a:p>
        </p:txBody>
      </p:sp>
      <p:sp>
        <p:nvSpPr>
          <p:cNvPr id="6" name="Rectangle 5"/>
          <p:cNvSpPr/>
          <p:nvPr/>
        </p:nvSpPr>
        <p:spPr>
          <a:xfrm>
            <a:off x="749808" y="1536192"/>
            <a:ext cx="106984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8096"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68096" y="1764792"/>
            <a:ext cx="82296" cy="206197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96695" y="2548890"/>
            <a:ext cx="493776" cy="49377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5"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1</a:t>
            </a:r>
          </a:p>
        </p:txBody>
      </p:sp>
      <p:sp>
        <p:nvSpPr>
          <p:cNvPr id="11" name="TextBox 10"/>
          <p:cNvSpPr txBox="1"/>
          <p:nvPr/>
        </p:nvSpPr>
        <p:spPr>
          <a:xfrm>
            <a:off x="1664207"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What it means</a:t>
            </a:r>
          </a:p>
          <a:p>
            <a:pPr algn="l">
              <a:spcAft>
                <a:spcPts val="300"/>
              </a:spcAft>
            </a:pPr>
            <a:r>
              <a:rPr sz="1200" b="0">
                <a:solidFill>
                  <a:srgbClr val="5B6372"/>
                </a:solidFill>
                <a:latin typeface="Arial"/>
              </a:rPr>
              <a:t>Input steps bring in Excel, CSV, database and published sources; the Data Interpreter strips titles, notes and blank banding.</a:t>
            </a:r>
          </a:p>
        </p:txBody>
      </p:sp>
      <p:sp>
        <p:nvSpPr>
          <p:cNvPr id="12" name="Rectangle 11"/>
          <p:cNvSpPr/>
          <p:nvPr/>
        </p:nvSpPr>
        <p:spPr>
          <a:xfrm>
            <a:off x="6222492"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22492" y="1764792"/>
            <a:ext cx="82296" cy="206197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51092" y="2548890"/>
            <a:ext cx="493776" cy="49377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51092"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2</a:t>
            </a:r>
          </a:p>
        </p:txBody>
      </p:sp>
      <p:sp>
        <p:nvSpPr>
          <p:cNvPr id="16" name="TextBox 15"/>
          <p:cNvSpPr txBox="1"/>
          <p:nvPr/>
        </p:nvSpPr>
        <p:spPr>
          <a:xfrm>
            <a:off x="7118604"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Use it when</a:t>
            </a:r>
          </a:p>
          <a:p>
            <a:pPr algn="l">
              <a:spcAft>
                <a:spcPts val="300"/>
              </a:spcAft>
            </a:pPr>
            <a:r>
              <a:rPr sz="1200" b="0">
                <a:solidFill>
                  <a:srgbClr val="5B6372"/>
                </a:solidFill>
                <a:latin typeface="Arial"/>
              </a:rPr>
              <a:t>Use when spreadsheets carry cosmetic headers or merged title rows above the real table.</a:t>
            </a:r>
          </a:p>
        </p:txBody>
      </p:sp>
      <p:sp>
        <p:nvSpPr>
          <p:cNvPr id="17" name="Rectangle 16"/>
          <p:cNvSpPr/>
          <p:nvPr/>
        </p:nvSpPr>
        <p:spPr>
          <a:xfrm>
            <a:off x="768096"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68096" y="4046220"/>
            <a:ext cx="82296" cy="206197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96695" y="4830318"/>
            <a:ext cx="493776" cy="49377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96695"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3</a:t>
            </a:r>
          </a:p>
        </p:txBody>
      </p:sp>
      <p:sp>
        <p:nvSpPr>
          <p:cNvPr id="21" name="TextBox 20"/>
          <p:cNvSpPr txBox="1"/>
          <p:nvPr/>
        </p:nvSpPr>
        <p:spPr>
          <a:xfrm>
            <a:off x="1664207"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Exam clue</a:t>
            </a:r>
          </a:p>
          <a:p>
            <a:pPr algn="l">
              <a:spcAft>
                <a:spcPts val="300"/>
              </a:spcAft>
            </a:pPr>
            <a:r>
              <a:rPr sz="1200" b="0">
                <a:solidFill>
                  <a:srgbClr val="5B6372"/>
                </a:solidFill>
                <a:latin typeface="Arial"/>
              </a:rPr>
              <a:t>The input step is where sampling, field removal and input-level filters are set.</a:t>
            </a:r>
          </a:p>
        </p:txBody>
      </p:sp>
      <p:sp>
        <p:nvSpPr>
          <p:cNvPr id="22" name="Rectangle 21"/>
          <p:cNvSpPr/>
          <p:nvPr/>
        </p:nvSpPr>
        <p:spPr>
          <a:xfrm>
            <a:off x="6222492"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22492" y="4046220"/>
            <a:ext cx="82296" cy="206197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51092" y="4830318"/>
            <a:ext cx="493776" cy="49377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51092"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4</a:t>
            </a:r>
          </a:p>
        </p:txBody>
      </p:sp>
      <p:sp>
        <p:nvSpPr>
          <p:cNvPr id="26" name="TextBox 25"/>
          <p:cNvSpPr txBox="1"/>
          <p:nvPr/>
        </p:nvSpPr>
        <p:spPr>
          <a:xfrm>
            <a:off x="7118604"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Common pitfall</a:t>
            </a:r>
          </a:p>
          <a:p>
            <a:pPr algn="l">
              <a:spcAft>
                <a:spcPts val="300"/>
              </a:spcAft>
            </a:pPr>
            <a:r>
              <a:rPr sz="1200" b="0">
                <a:solidFill>
                  <a:srgbClr val="5B6372"/>
                </a:solidFill>
                <a:latin typeface="Arial"/>
              </a:rPr>
              <a:t>Interpreting an already-clean sheet can drop legitimate header rows; always review the result.</a:t>
            </a:r>
          </a:p>
        </p:txBody>
      </p:sp>
      <p:sp>
        <p:nvSpPr>
          <p:cNvPr id="27" name="TextBox 26"/>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28" name="TextBox 27"/>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29" name="TextBox 28"/>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45</a:t>
            </a:r>
          </a:p>
        </p:txBody>
      </p:sp>
    </p:spTree>
  </p:cSld>
  <p:clrMapOvr>
    <a:masterClrMapping/>
  </p:clrMapOvr>
  <p:transition spd="fast">
    <p:fade/>
  </p:transition>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37744"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47472"/>
            <a:ext cx="10698480" cy="292608"/>
          </a:xfrm>
          <a:prstGeom prst="rect">
            <a:avLst/>
          </a:prstGeom>
          <a:noFill/>
        </p:spPr>
        <p:txBody>
          <a:bodyPr wrap="square" anchor="t" lIns="54864" rIns="54864" tIns="54864" bIns="54864">
            <a:spAutoFit/>
          </a:bodyPr>
          <a:lstStyle/>
          <a:p>
            <a:pPr algn="l">
              <a:spcAft>
                <a:spcPts val="300"/>
              </a:spcAft>
            </a:pPr>
            <a:r>
              <a:rPr sz="1200" b="1">
                <a:solidFill>
                  <a:srgbClr val="1F6FEB"/>
                </a:solidFill>
                <a:latin typeface="Arial"/>
              </a:rPr>
              <a:t>OFFICIAL OBJECTIVE · DOMAIN 1</a:t>
            </a:r>
          </a:p>
        </p:txBody>
      </p:sp>
      <p:sp>
        <p:nvSpPr>
          <p:cNvPr id="5" name="TextBox 4"/>
          <p:cNvSpPr txBox="1"/>
          <p:nvPr/>
        </p:nvSpPr>
        <p:spPr>
          <a:xfrm>
            <a:off x="749808" y="713232"/>
            <a:ext cx="10744200" cy="731520"/>
          </a:xfrm>
          <a:prstGeom prst="rect">
            <a:avLst/>
          </a:prstGeom>
          <a:noFill/>
        </p:spPr>
        <p:txBody>
          <a:bodyPr wrap="square" anchor="ctr" lIns="54864" rIns="54864" tIns="54864" bIns="54864">
            <a:spAutoFit/>
          </a:bodyPr>
          <a:lstStyle/>
          <a:p>
            <a:pPr algn="l">
              <a:spcAft>
                <a:spcPts val="300"/>
              </a:spcAft>
            </a:pPr>
            <a:r>
              <a:rPr sz="2700" b="1">
                <a:solidFill>
                  <a:srgbClr val="161B26"/>
                </a:solidFill>
                <a:latin typeface="Arial"/>
              </a:rPr>
              <a:t>1.4.2 · Add a Clean step and read the profile pane</a:t>
            </a:r>
          </a:p>
        </p:txBody>
      </p:sp>
      <p:sp>
        <p:nvSpPr>
          <p:cNvPr id="6" name="Rectangle 5"/>
          <p:cNvSpPr/>
          <p:nvPr/>
        </p:nvSpPr>
        <p:spPr>
          <a:xfrm>
            <a:off x="749808" y="1536192"/>
            <a:ext cx="106984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8096"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68096" y="1764792"/>
            <a:ext cx="82296" cy="206197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96695" y="2548890"/>
            <a:ext cx="493776" cy="49377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5"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1</a:t>
            </a:r>
          </a:p>
        </p:txBody>
      </p:sp>
      <p:sp>
        <p:nvSpPr>
          <p:cNvPr id="11" name="TextBox 10"/>
          <p:cNvSpPr txBox="1"/>
          <p:nvPr/>
        </p:nvSpPr>
        <p:spPr>
          <a:xfrm>
            <a:off x="1664207"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What it means</a:t>
            </a:r>
          </a:p>
          <a:p>
            <a:pPr algn="l">
              <a:spcAft>
                <a:spcPts val="300"/>
              </a:spcAft>
            </a:pPr>
            <a:r>
              <a:rPr sz="1200" b="0">
                <a:solidFill>
                  <a:srgbClr val="5B6372"/>
                </a:solidFill>
                <a:latin typeface="Arial"/>
              </a:rPr>
              <a:t>The Clean step profiles each field, showing value distribution, nulls and outliers.</a:t>
            </a:r>
          </a:p>
        </p:txBody>
      </p:sp>
      <p:sp>
        <p:nvSpPr>
          <p:cNvPr id="12" name="Rectangle 11"/>
          <p:cNvSpPr/>
          <p:nvPr/>
        </p:nvSpPr>
        <p:spPr>
          <a:xfrm>
            <a:off x="6222492"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22492" y="1764792"/>
            <a:ext cx="82296" cy="206197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51092" y="2548890"/>
            <a:ext cx="493776" cy="49377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51092"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2</a:t>
            </a:r>
          </a:p>
        </p:txBody>
      </p:sp>
      <p:sp>
        <p:nvSpPr>
          <p:cNvPr id="16" name="TextBox 15"/>
          <p:cNvSpPr txBox="1"/>
          <p:nvPr/>
        </p:nvSpPr>
        <p:spPr>
          <a:xfrm>
            <a:off x="7118604"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Use it when</a:t>
            </a:r>
          </a:p>
          <a:p>
            <a:pPr algn="l">
              <a:spcAft>
                <a:spcPts val="300"/>
              </a:spcAft>
            </a:pPr>
            <a:r>
              <a:rPr sz="1200" b="0">
                <a:solidFill>
                  <a:srgbClr val="5B6372"/>
                </a:solidFill>
                <a:latin typeface="Arial"/>
              </a:rPr>
              <a:t>Use it first to see what is actually wrong before deciding on fixes.</a:t>
            </a:r>
          </a:p>
        </p:txBody>
      </p:sp>
      <p:sp>
        <p:nvSpPr>
          <p:cNvPr id="17" name="Rectangle 16"/>
          <p:cNvSpPr/>
          <p:nvPr/>
        </p:nvSpPr>
        <p:spPr>
          <a:xfrm>
            <a:off x="768096"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68096" y="4046220"/>
            <a:ext cx="82296" cy="206197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96695" y="4830318"/>
            <a:ext cx="493776" cy="49377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96695"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3</a:t>
            </a:r>
          </a:p>
        </p:txBody>
      </p:sp>
      <p:sp>
        <p:nvSpPr>
          <p:cNvPr id="21" name="TextBox 20"/>
          <p:cNvSpPr txBox="1"/>
          <p:nvPr/>
        </p:nvSpPr>
        <p:spPr>
          <a:xfrm>
            <a:off x="1664207"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Exam clue</a:t>
            </a:r>
          </a:p>
          <a:p>
            <a:pPr algn="l">
              <a:spcAft>
                <a:spcPts val="300"/>
              </a:spcAft>
            </a:pPr>
            <a:r>
              <a:rPr sz="1200" b="0">
                <a:solidFill>
                  <a:srgbClr val="5B6372"/>
                </a:solidFill>
                <a:latin typeface="Arial"/>
              </a:rPr>
              <a:t>Clicking a profile bar filters the data grid to those records.</a:t>
            </a:r>
          </a:p>
        </p:txBody>
      </p:sp>
      <p:sp>
        <p:nvSpPr>
          <p:cNvPr id="22" name="Rectangle 21"/>
          <p:cNvSpPr/>
          <p:nvPr/>
        </p:nvSpPr>
        <p:spPr>
          <a:xfrm>
            <a:off x="6222492"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22492" y="4046220"/>
            <a:ext cx="82296" cy="206197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51092" y="4830318"/>
            <a:ext cx="493776" cy="49377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51092"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4</a:t>
            </a:r>
          </a:p>
        </p:txBody>
      </p:sp>
      <p:sp>
        <p:nvSpPr>
          <p:cNvPr id="26" name="TextBox 25"/>
          <p:cNvSpPr txBox="1"/>
          <p:nvPr/>
        </p:nvSpPr>
        <p:spPr>
          <a:xfrm>
            <a:off x="7118604"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Common pitfall</a:t>
            </a:r>
          </a:p>
          <a:p>
            <a:pPr algn="l">
              <a:spcAft>
                <a:spcPts val="300"/>
              </a:spcAft>
            </a:pPr>
            <a:r>
              <a:rPr sz="1200" b="0">
                <a:solidFill>
                  <a:srgbClr val="5B6372"/>
                </a:solidFill>
                <a:latin typeface="Arial"/>
              </a:rPr>
              <a:t>Judging quality from the data grid alone hides the distribution problems the profile reveals.</a:t>
            </a:r>
          </a:p>
        </p:txBody>
      </p:sp>
      <p:sp>
        <p:nvSpPr>
          <p:cNvPr id="27" name="TextBox 26"/>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28" name="TextBox 27"/>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29" name="TextBox 28"/>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46</a:t>
            </a:r>
          </a:p>
        </p:txBody>
      </p:sp>
    </p:spTree>
  </p:cSld>
  <p:clrMapOvr>
    <a:masterClrMapping/>
  </p:clrMapOvr>
  <p:transition spd="fast">
    <p:fade/>
  </p:transition>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37744"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47472"/>
            <a:ext cx="10698480" cy="292608"/>
          </a:xfrm>
          <a:prstGeom prst="rect">
            <a:avLst/>
          </a:prstGeom>
          <a:noFill/>
        </p:spPr>
        <p:txBody>
          <a:bodyPr wrap="square" anchor="t" lIns="54864" rIns="54864" tIns="54864" bIns="54864">
            <a:spAutoFit/>
          </a:bodyPr>
          <a:lstStyle/>
          <a:p>
            <a:pPr algn="l">
              <a:spcAft>
                <a:spcPts val="300"/>
              </a:spcAft>
            </a:pPr>
            <a:r>
              <a:rPr sz="1200" b="1">
                <a:solidFill>
                  <a:srgbClr val="1F6FEB"/>
                </a:solidFill>
                <a:latin typeface="Arial"/>
              </a:rPr>
              <a:t>OFFICIAL OBJECTIVE · DOMAIN 1</a:t>
            </a:r>
          </a:p>
        </p:txBody>
      </p:sp>
      <p:sp>
        <p:nvSpPr>
          <p:cNvPr id="5" name="TextBox 4"/>
          <p:cNvSpPr txBox="1"/>
          <p:nvPr/>
        </p:nvSpPr>
        <p:spPr>
          <a:xfrm>
            <a:off x="749808" y="713232"/>
            <a:ext cx="10744200" cy="731520"/>
          </a:xfrm>
          <a:prstGeom prst="rect">
            <a:avLst/>
          </a:prstGeom>
          <a:noFill/>
        </p:spPr>
        <p:txBody>
          <a:bodyPr wrap="square" anchor="ctr" lIns="54864" rIns="54864" tIns="54864" bIns="54864">
            <a:spAutoFit/>
          </a:bodyPr>
          <a:lstStyle/>
          <a:p>
            <a:pPr algn="l">
              <a:spcAft>
                <a:spcPts val="300"/>
              </a:spcAft>
            </a:pPr>
            <a:r>
              <a:rPr sz="2700" b="1">
                <a:solidFill>
                  <a:srgbClr val="161B26"/>
                </a:solidFill>
                <a:latin typeface="Arial"/>
              </a:rPr>
              <a:t>1.4.3 · Fix data types and repair non-numeric text</a:t>
            </a:r>
          </a:p>
        </p:txBody>
      </p:sp>
      <p:sp>
        <p:nvSpPr>
          <p:cNvPr id="6" name="Rectangle 5"/>
          <p:cNvSpPr/>
          <p:nvPr/>
        </p:nvSpPr>
        <p:spPr>
          <a:xfrm>
            <a:off x="749808" y="1536192"/>
            <a:ext cx="106984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8096"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68096" y="1764792"/>
            <a:ext cx="82296" cy="206197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96695" y="2548890"/>
            <a:ext cx="493776" cy="49377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5"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1</a:t>
            </a:r>
          </a:p>
        </p:txBody>
      </p:sp>
      <p:sp>
        <p:nvSpPr>
          <p:cNvPr id="11" name="TextBox 10"/>
          <p:cNvSpPr txBox="1"/>
          <p:nvPr/>
        </p:nvSpPr>
        <p:spPr>
          <a:xfrm>
            <a:off x="1664207"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What it means</a:t>
            </a:r>
          </a:p>
          <a:p>
            <a:pPr algn="l">
              <a:spcAft>
                <a:spcPts val="300"/>
              </a:spcAft>
            </a:pPr>
            <a:r>
              <a:rPr sz="1200" b="0">
                <a:solidFill>
                  <a:srgbClr val="5B6372"/>
                </a:solidFill>
                <a:latin typeface="Arial"/>
              </a:rPr>
              <a:t>Currency, thousands separators and stray characters block numeric conversion.</a:t>
            </a:r>
          </a:p>
        </p:txBody>
      </p:sp>
      <p:sp>
        <p:nvSpPr>
          <p:cNvPr id="12" name="Rectangle 11"/>
          <p:cNvSpPr/>
          <p:nvPr/>
        </p:nvSpPr>
        <p:spPr>
          <a:xfrm>
            <a:off x="6222492"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22492" y="1764792"/>
            <a:ext cx="82296" cy="206197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51092" y="2548890"/>
            <a:ext cx="493776" cy="49377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51092"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2</a:t>
            </a:r>
          </a:p>
        </p:txBody>
      </p:sp>
      <p:sp>
        <p:nvSpPr>
          <p:cNvPr id="16" name="TextBox 15"/>
          <p:cNvSpPr txBox="1"/>
          <p:nvPr/>
        </p:nvSpPr>
        <p:spPr>
          <a:xfrm>
            <a:off x="7118604"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Use it when</a:t>
            </a:r>
          </a:p>
          <a:p>
            <a:pPr algn="l">
              <a:spcAft>
                <a:spcPts val="300"/>
              </a:spcAft>
            </a:pPr>
            <a:r>
              <a:rPr sz="1200" b="0">
                <a:solidFill>
                  <a:srgbClr val="5B6372"/>
                </a:solidFill>
                <a:latin typeface="Arial"/>
              </a:rPr>
              <a:t>Use a calculated field such as a REPLACE to strip commas before changing the type.</a:t>
            </a:r>
          </a:p>
        </p:txBody>
      </p:sp>
      <p:sp>
        <p:nvSpPr>
          <p:cNvPr id="17" name="Rectangle 16"/>
          <p:cNvSpPr/>
          <p:nvPr/>
        </p:nvSpPr>
        <p:spPr>
          <a:xfrm>
            <a:off x="768096"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68096" y="4046220"/>
            <a:ext cx="82296" cy="206197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96695" y="4830318"/>
            <a:ext cx="493776" cy="49377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96695"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3</a:t>
            </a:r>
          </a:p>
        </p:txBody>
      </p:sp>
      <p:sp>
        <p:nvSpPr>
          <p:cNvPr id="21" name="TextBox 20"/>
          <p:cNvSpPr txBox="1"/>
          <p:nvPr/>
        </p:nvSpPr>
        <p:spPr>
          <a:xfrm>
            <a:off x="1664207"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Exam clue</a:t>
            </a:r>
          </a:p>
          <a:p>
            <a:pPr algn="l">
              <a:spcAft>
                <a:spcPts val="300"/>
              </a:spcAft>
            </a:pPr>
            <a:r>
              <a:rPr sz="1200" b="0">
                <a:solidFill>
                  <a:srgbClr val="5B6372"/>
                </a:solidFill>
                <a:latin typeface="Arial"/>
              </a:rPr>
              <a:t>A field that refuses to become a number usually contains punctuation or spaces.</a:t>
            </a:r>
          </a:p>
        </p:txBody>
      </p:sp>
      <p:sp>
        <p:nvSpPr>
          <p:cNvPr id="22" name="Rectangle 21"/>
          <p:cNvSpPr/>
          <p:nvPr/>
        </p:nvSpPr>
        <p:spPr>
          <a:xfrm>
            <a:off x="6222492"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22492" y="4046220"/>
            <a:ext cx="82296" cy="206197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51092" y="4830318"/>
            <a:ext cx="493776" cy="49377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51092"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4</a:t>
            </a:r>
          </a:p>
        </p:txBody>
      </p:sp>
      <p:sp>
        <p:nvSpPr>
          <p:cNvPr id="26" name="TextBox 25"/>
          <p:cNvSpPr txBox="1"/>
          <p:nvPr/>
        </p:nvSpPr>
        <p:spPr>
          <a:xfrm>
            <a:off x="7118604"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Common pitfall</a:t>
            </a:r>
          </a:p>
          <a:p>
            <a:pPr algn="l">
              <a:spcAft>
                <a:spcPts val="300"/>
              </a:spcAft>
            </a:pPr>
            <a:r>
              <a:rPr sz="1200" b="0">
                <a:solidFill>
                  <a:srgbClr val="5B6372"/>
                </a:solidFill>
                <a:latin typeface="Arial"/>
              </a:rPr>
              <a:t>Converting directly to a number silently produces nulls where parsing fails.</a:t>
            </a:r>
          </a:p>
        </p:txBody>
      </p:sp>
      <p:sp>
        <p:nvSpPr>
          <p:cNvPr id="27" name="TextBox 26"/>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28" name="TextBox 27"/>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29" name="TextBox 28"/>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47</a:t>
            </a:r>
          </a:p>
        </p:txBody>
      </p:sp>
    </p:spTree>
  </p:cSld>
  <p:clrMapOvr>
    <a:masterClrMapping/>
  </p:clrMapOvr>
  <p:transition spd="fast">
    <p:fade/>
  </p:transition>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37744"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47472"/>
            <a:ext cx="10698480" cy="292608"/>
          </a:xfrm>
          <a:prstGeom prst="rect">
            <a:avLst/>
          </a:prstGeom>
          <a:noFill/>
        </p:spPr>
        <p:txBody>
          <a:bodyPr wrap="square" anchor="t" lIns="54864" rIns="54864" tIns="54864" bIns="54864">
            <a:spAutoFit/>
          </a:bodyPr>
          <a:lstStyle/>
          <a:p>
            <a:pPr algn="l">
              <a:spcAft>
                <a:spcPts val="300"/>
              </a:spcAft>
            </a:pPr>
            <a:r>
              <a:rPr sz="1200" b="1">
                <a:solidFill>
                  <a:srgbClr val="1F6FEB"/>
                </a:solidFill>
                <a:latin typeface="Arial"/>
              </a:rPr>
              <a:t>OFFICIAL OBJECTIVE · DOMAIN 1</a:t>
            </a:r>
          </a:p>
        </p:txBody>
      </p:sp>
      <p:sp>
        <p:nvSpPr>
          <p:cNvPr id="5" name="TextBox 4"/>
          <p:cNvSpPr txBox="1"/>
          <p:nvPr/>
        </p:nvSpPr>
        <p:spPr>
          <a:xfrm>
            <a:off x="749808" y="713232"/>
            <a:ext cx="10744200" cy="731520"/>
          </a:xfrm>
          <a:prstGeom prst="rect">
            <a:avLst/>
          </a:prstGeom>
          <a:noFill/>
        </p:spPr>
        <p:txBody>
          <a:bodyPr wrap="square" anchor="ctr" lIns="54864" rIns="54864" tIns="54864" bIns="54864">
            <a:spAutoFit/>
          </a:bodyPr>
          <a:lstStyle/>
          <a:p>
            <a:pPr algn="l">
              <a:spcAft>
                <a:spcPts val="300"/>
              </a:spcAft>
            </a:pPr>
            <a:r>
              <a:rPr sz="2700" b="1">
                <a:solidFill>
                  <a:srgbClr val="161B26"/>
                </a:solidFill>
                <a:latin typeface="Arial"/>
              </a:rPr>
              <a:t>1.4.4 · Apply cleaning operations</a:t>
            </a:r>
          </a:p>
        </p:txBody>
      </p:sp>
      <p:sp>
        <p:nvSpPr>
          <p:cNvPr id="6" name="Rectangle 5"/>
          <p:cNvSpPr/>
          <p:nvPr/>
        </p:nvSpPr>
        <p:spPr>
          <a:xfrm>
            <a:off x="749808" y="1536192"/>
            <a:ext cx="106984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8096"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68096" y="1764792"/>
            <a:ext cx="82296" cy="206197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96695" y="2548890"/>
            <a:ext cx="493776" cy="49377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5"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1</a:t>
            </a:r>
          </a:p>
        </p:txBody>
      </p:sp>
      <p:sp>
        <p:nvSpPr>
          <p:cNvPr id="11" name="TextBox 10"/>
          <p:cNvSpPr txBox="1"/>
          <p:nvPr/>
        </p:nvSpPr>
        <p:spPr>
          <a:xfrm>
            <a:off x="1664207"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What it means</a:t>
            </a:r>
          </a:p>
          <a:p>
            <a:pPr algn="l">
              <a:spcAft>
                <a:spcPts val="300"/>
              </a:spcAft>
            </a:pPr>
            <a:r>
              <a:rPr sz="1200" b="0">
                <a:solidFill>
                  <a:srgbClr val="5B6372"/>
                </a:solidFill>
                <a:latin typeface="Arial"/>
              </a:rPr>
              <a:t>Prep offers Remove Letters, Remove Numbers, Remove Punctuation, Trim Spaces, Remove Extra Spaces and case conversion.</a:t>
            </a:r>
          </a:p>
        </p:txBody>
      </p:sp>
      <p:sp>
        <p:nvSpPr>
          <p:cNvPr id="12" name="Rectangle 11"/>
          <p:cNvSpPr/>
          <p:nvPr/>
        </p:nvSpPr>
        <p:spPr>
          <a:xfrm>
            <a:off x="6222492"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22492" y="1764792"/>
            <a:ext cx="82296" cy="206197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51092" y="2548890"/>
            <a:ext cx="493776" cy="49377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51092"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2</a:t>
            </a:r>
          </a:p>
        </p:txBody>
      </p:sp>
      <p:sp>
        <p:nvSpPr>
          <p:cNvPr id="16" name="TextBox 15"/>
          <p:cNvSpPr txBox="1"/>
          <p:nvPr/>
        </p:nvSpPr>
        <p:spPr>
          <a:xfrm>
            <a:off x="7118604"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Use it when</a:t>
            </a:r>
          </a:p>
          <a:p>
            <a:pPr algn="l">
              <a:spcAft>
                <a:spcPts val="300"/>
              </a:spcAft>
            </a:pPr>
            <a:r>
              <a:rPr sz="1200" b="0">
                <a:solidFill>
                  <a:srgbClr val="5B6372"/>
                </a:solidFill>
                <a:latin typeface="Arial"/>
              </a:rPr>
              <a:t>Use to normalise names, codes and free-text categories.</a:t>
            </a:r>
          </a:p>
        </p:txBody>
      </p:sp>
      <p:sp>
        <p:nvSpPr>
          <p:cNvPr id="17" name="Rectangle 16"/>
          <p:cNvSpPr/>
          <p:nvPr/>
        </p:nvSpPr>
        <p:spPr>
          <a:xfrm>
            <a:off x="768096"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68096" y="4046220"/>
            <a:ext cx="82296" cy="206197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96695" y="4830318"/>
            <a:ext cx="493776" cy="49377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96695"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3</a:t>
            </a:r>
          </a:p>
        </p:txBody>
      </p:sp>
      <p:sp>
        <p:nvSpPr>
          <p:cNvPr id="21" name="TextBox 20"/>
          <p:cNvSpPr txBox="1"/>
          <p:nvPr/>
        </p:nvSpPr>
        <p:spPr>
          <a:xfrm>
            <a:off x="1664207"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Exam clue</a:t>
            </a:r>
          </a:p>
          <a:p>
            <a:pPr algn="l">
              <a:spcAft>
                <a:spcPts val="300"/>
              </a:spcAft>
            </a:pPr>
            <a:r>
              <a:rPr sz="1200" b="0">
                <a:solidFill>
                  <a:srgbClr val="5B6372"/>
                </a:solidFill>
                <a:latin typeface="Arial"/>
              </a:rPr>
              <a:t>Remove Extra Spaces collapses repeats; Remove All Spaces deletes every space.</a:t>
            </a:r>
          </a:p>
        </p:txBody>
      </p:sp>
      <p:sp>
        <p:nvSpPr>
          <p:cNvPr id="22" name="Rectangle 21"/>
          <p:cNvSpPr/>
          <p:nvPr/>
        </p:nvSpPr>
        <p:spPr>
          <a:xfrm>
            <a:off x="6222492"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22492" y="4046220"/>
            <a:ext cx="82296" cy="206197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51092" y="4830318"/>
            <a:ext cx="493776" cy="49377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51092"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4</a:t>
            </a:r>
          </a:p>
        </p:txBody>
      </p:sp>
      <p:sp>
        <p:nvSpPr>
          <p:cNvPr id="26" name="TextBox 25"/>
          <p:cNvSpPr txBox="1"/>
          <p:nvPr/>
        </p:nvSpPr>
        <p:spPr>
          <a:xfrm>
            <a:off x="7118604"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Common pitfall</a:t>
            </a:r>
          </a:p>
          <a:p>
            <a:pPr algn="l">
              <a:spcAft>
                <a:spcPts val="300"/>
              </a:spcAft>
            </a:pPr>
            <a:r>
              <a:rPr sz="1200" b="0">
                <a:solidFill>
                  <a:srgbClr val="5B6372"/>
                </a:solidFill>
                <a:latin typeface="Arial"/>
              </a:rPr>
              <a:t>Removing all spaces destroys multi-word names that still need to be readable.</a:t>
            </a:r>
          </a:p>
        </p:txBody>
      </p:sp>
      <p:sp>
        <p:nvSpPr>
          <p:cNvPr id="27" name="TextBox 26"/>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28" name="TextBox 27"/>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29" name="TextBox 28"/>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48</a:t>
            </a:r>
          </a:p>
        </p:txBody>
      </p:sp>
    </p:spTree>
  </p:cSld>
  <p:clrMapOvr>
    <a:masterClrMapping/>
  </p:clrMapOvr>
  <p:transition spd="fast">
    <p:fade/>
  </p:transition>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37744"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47472"/>
            <a:ext cx="10698480" cy="292608"/>
          </a:xfrm>
          <a:prstGeom prst="rect">
            <a:avLst/>
          </a:prstGeom>
          <a:noFill/>
        </p:spPr>
        <p:txBody>
          <a:bodyPr wrap="square" anchor="t" lIns="54864" rIns="54864" tIns="54864" bIns="54864">
            <a:spAutoFit/>
          </a:bodyPr>
          <a:lstStyle/>
          <a:p>
            <a:pPr algn="l">
              <a:spcAft>
                <a:spcPts val="300"/>
              </a:spcAft>
            </a:pPr>
            <a:r>
              <a:rPr sz="1200" b="1">
                <a:solidFill>
                  <a:srgbClr val="1F6FEB"/>
                </a:solidFill>
                <a:latin typeface="Arial"/>
              </a:rPr>
              <a:t>OFFICIAL OBJECTIVE · DOMAIN 1</a:t>
            </a:r>
          </a:p>
        </p:txBody>
      </p:sp>
      <p:sp>
        <p:nvSpPr>
          <p:cNvPr id="5" name="TextBox 4"/>
          <p:cNvSpPr txBox="1"/>
          <p:nvPr/>
        </p:nvSpPr>
        <p:spPr>
          <a:xfrm>
            <a:off x="749808" y="713232"/>
            <a:ext cx="10744200" cy="731520"/>
          </a:xfrm>
          <a:prstGeom prst="rect">
            <a:avLst/>
          </a:prstGeom>
          <a:noFill/>
        </p:spPr>
        <p:txBody>
          <a:bodyPr wrap="square" anchor="ctr" lIns="54864" rIns="54864" tIns="54864" bIns="54864">
            <a:spAutoFit/>
          </a:bodyPr>
          <a:lstStyle/>
          <a:p>
            <a:pPr algn="l">
              <a:spcAft>
                <a:spcPts val="300"/>
              </a:spcAft>
            </a:pPr>
            <a:r>
              <a:rPr sz="2700" b="1">
                <a:solidFill>
                  <a:srgbClr val="161B26"/>
                </a:solidFill>
                <a:latin typeface="Arial"/>
              </a:rPr>
              <a:t>1.4.5 · Split fields automatically and manually</a:t>
            </a:r>
          </a:p>
        </p:txBody>
      </p:sp>
      <p:sp>
        <p:nvSpPr>
          <p:cNvPr id="6" name="Rectangle 5"/>
          <p:cNvSpPr/>
          <p:nvPr/>
        </p:nvSpPr>
        <p:spPr>
          <a:xfrm>
            <a:off x="749808" y="1536192"/>
            <a:ext cx="106984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8096"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68096" y="1764792"/>
            <a:ext cx="82296" cy="206197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96695" y="2548890"/>
            <a:ext cx="493776" cy="49377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5"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1</a:t>
            </a:r>
          </a:p>
        </p:txBody>
      </p:sp>
      <p:sp>
        <p:nvSpPr>
          <p:cNvPr id="11" name="TextBox 10"/>
          <p:cNvSpPr txBox="1"/>
          <p:nvPr/>
        </p:nvSpPr>
        <p:spPr>
          <a:xfrm>
            <a:off x="1664207"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What it means</a:t>
            </a:r>
          </a:p>
          <a:p>
            <a:pPr algn="l">
              <a:spcAft>
                <a:spcPts val="300"/>
              </a:spcAft>
            </a:pPr>
            <a:r>
              <a:rPr sz="1200" b="0">
                <a:solidFill>
                  <a:srgbClr val="5B6372"/>
                </a:solidFill>
                <a:latin typeface="Arial"/>
              </a:rPr>
              <a:t>Automatic split infers a separator; custom split specifies the delimiter and number of columns.</a:t>
            </a:r>
          </a:p>
        </p:txBody>
      </p:sp>
      <p:sp>
        <p:nvSpPr>
          <p:cNvPr id="12" name="Rectangle 11"/>
          <p:cNvSpPr/>
          <p:nvPr/>
        </p:nvSpPr>
        <p:spPr>
          <a:xfrm>
            <a:off x="6222492"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22492" y="1764792"/>
            <a:ext cx="82296" cy="206197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51092" y="2548890"/>
            <a:ext cx="493776" cy="49377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51092"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2</a:t>
            </a:r>
          </a:p>
        </p:txBody>
      </p:sp>
      <p:sp>
        <p:nvSpPr>
          <p:cNvPr id="16" name="TextBox 15"/>
          <p:cNvSpPr txBox="1"/>
          <p:nvPr/>
        </p:nvSpPr>
        <p:spPr>
          <a:xfrm>
            <a:off x="7118604"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Use it when</a:t>
            </a:r>
          </a:p>
          <a:p>
            <a:pPr algn="l">
              <a:spcAft>
                <a:spcPts val="300"/>
              </a:spcAft>
            </a:pPr>
            <a:r>
              <a:rPr sz="1200" b="0">
                <a:solidFill>
                  <a:srgbClr val="5B6372"/>
                </a:solidFill>
                <a:latin typeface="Arial"/>
              </a:rPr>
              <a:t>Use to separate names, codes, dates or concatenated attributes.</a:t>
            </a:r>
          </a:p>
        </p:txBody>
      </p:sp>
      <p:sp>
        <p:nvSpPr>
          <p:cNvPr id="17" name="Rectangle 16"/>
          <p:cNvSpPr/>
          <p:nvPr/>
        </p:nvSpPr>
        <p:spPr>
          <a:xfrm>
            <a:off x="768096"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68096" y="4046220"/>
            <a:ext cx="82296" cy="206197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96695" y="4830318"/>
            <a:ext cx="493776" cy="49377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96695"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3</a:t>
            </a:r>
          </a:p>
        </p:txBody>
      </p:sp>
      <p:sp>
        <p:nvSpPr>
          <p:cNvPr id="21" name="TextBox 20"/>
          <p:cNvSpPr txBox="1"/>
          <p:nvPr/>
        </p:nvSpPr>
        <p:spPr>
          <a:xfrm>
            <a:off x="1664207"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Exam clue</a:t>
            </a:r>
          </a:p>
          <a:p>
            <a:pPr algn="l">
              <a:spcAft>
                <a:spcPts val="300"/>
              </a:spcAft>
            </a:pPr>
            <a:r>
              <a:rPr sz="1200" b="0">
                <a:solidFill>
                  <a:srgbClr val="5B6372"/>
                </a:solidFill>
                <a:latin typeface="Arial"/>
              </a:rPr>
              <a:t>Split creates new fields; the original is usually removed afterwards.</a:t>
            </a:r>
          </a:p>
        </p:txBody>
      </p:sp>
      <p:sp>
        <p:nvSpPr>
          <p:cNvPr id="22" name="Rectangle 21"/>
          <p:cNvSpPr/>
          <p:nvPr/>
        </p:nvSpPr>
        <p:spPr>
          <a:xfrm>
            <a:off x="6222492"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22492" y="4046220"/>
            <a:ext cx="82296" cy="206197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51092" y="4830318"/>
            <a:ext cx="493776" cy="49377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51092"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4</a:t>
            </a:r>
          </a:p>
        </p:txBody>
      </p:sp>
      <p:sp>
        <p:nvSpPr>
          <p:cNvPr id="26" name="TextBox 25"/>
          <p:cNvSpPr txBox="1"/>
          <p:nvPr/>
        </p:nvSpPr>
        <p:spPr>
          <a:xfrm>
            <a:off x="7118604"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Common pitfall</a:t>
            </a:r>
          </a:p>
          <a:p>
            <a:pPr algn="l">
              <a:spcAft>
                <a:spcPts val="300"/>
              </a:spcAft>
            </a:pPr>
            <a:r>
              <a:rPr sz="1200" b="0">
                <a:solidFill>
                  <a:srgbClr val="5B6372"/>
                </a:solidFill>
                <a:latin typeface="Arial"/>
              </a:rPr>
              <a:t>An inferred split breaks when the separator is inconsistent across rows.</a:t>
            </a:r>
          </a:p>
        </p:txBody>
      </p:sp>
      <p:sp>
        <p:nvSpPr>
          <p:cNvPr id="27" name="TextBox 26"/>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28" name="TextBox 27"/>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29" name="TextBox 28"/>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49</a:t>
            </a:r>
          </a:p>
        </p:txBody>
      </p:sp>
    </p:spTree>
  </p:cSld>
  <p:clrMapOvr>
    <a:masterClrMapping/>
  </p:clrMapOvr>
  <p:transition spd="fast">
    <p:fade/>
  </p:transition>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37744"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47472"/>
            <a:ext cx="10698480" cy="292608"/>
          </a:xfrm>
          <a:prstGeom prst="rect">
            <a:avLst/>
          </a:prstGeom>
          <a:noFill/>
        </p:spPr>
        <p:txBody>
          <a:bodyPr wrap="square" anchor="t" lIns="54864" rIns="54864" tIns="54864" bIns="54864">
            <a:spAutoFit/>
          </a:bodyPr>
          <a:lstStyle/>
          <a:p>
            <a:pPr algn="l">
              <a:spcAft>
                <a:spcPts val="300"/>
              </a:spcAft>
            </a:pPr>
            <a:r>
              <a:rPr sz="1200" b="1">
                <a:solidFill>
                  <a:srgbClr val="1F6FEB"/>
                </a:solidFill>
                <a:latin typeface="Arial"/>
              </a:rPr>
              <a:t>OFFICIAL OBJECTIVE · DOMAIN 1</a:t>
            </a:r>
          </a:p>
        </p:txBody>
      </p:sp>
      <p:sp>
        <p:nvSpPr>
          <p:cNvPr id="5" name="TextBox 4"/>
          <p:cNvSpPr txBox="1"/>
          <p:nvPr/>
        </p:nvSpPr>
        <p:spPr>
          <a:xfrm>
            <a:off x="749808" y="713232"/>
            <a:ext cx="10744200" cy="731520"/>
          </a:xfrm>
          <a:prstGeom prst="rect">
            <a:avLst/>
          </a:prstGeom>
          <a:noFill/>
        </p:spPr>
        <p:txBody>
          <a:bodyPr wrap="square" anchor="ctr" lIns="54864" rIns="54864" tIns="54864" bIns="54864">
            <a:spAutoFit/>
          </a:bodyPr>
          <a:lstStyle/>
          <a:p>
            <a:pPr algn="l">
              <a:spcAft>
                <a:spcPts val="300"/>
              </a:spcAft>
            </a:pPr>
            <a:r>
              <a:rPr sz="2700" b="1">
                <a:solidFill>
                  <a:srgbClr val="161B26"/>
                </a:solidFill>
                <a:latin typeface="Arial"/>
              </a:rPr>
              <a:t>1.4.6 · Filter and handle nulls and duplicates</a:t>
            </a:r>
          </a:p>
        </p:txBody>
      </p:sp>
      <p:sp>
        <p:nvSpPr>
          <p:cNvPr id="6" name="Rectangle 5"/>
          <p:cNvSpPr/>
          <p:nvPr/>
        </p:nvSpPr>
        <p:spPr>
          <a:xfrm>
            <a:off x="749808" y="1536192"/>
            <a:ext cx="106984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8096"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68096" y="1764792"/>
            <a:ext cx="82296" cy="206197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96695" y="2548890"/>
            <a:ext cx="493776" cy="49377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5"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1</a:t>
            </a:r>
          </a:p>
        </p:txBody>
      </p:sp>
      <p:sp>
        <p:nvSpPr>
          <p:cNvPr id="11" name="TextBox 10"/>
          <p:cNvSpPr txBox="1"/>
          <p:nvPr/>
        </p:nvSpPr>
        <p:spPr>
          <a:xfrm>
            <a:off x="1664207"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What it means</a:t>
            </a:r>
          </a:p>
          <a:p>
            <a:pPr algn="l">
              <a:spcAft>
                <a:spcPts val="300"/>
              </a:spcAft>
            </a:pPr>
            <a:r>
              <a:rPr sz="1200" b="0">
                <a:solidFill>
                  <a:srgbClr val="5B6372"/>
                </a:solidFill>
                <a:latin typeface="Arial"/>
              </a:rPr>
              <a:t>Filters can be by value, wildcard, range, calculation or null status; duplicates are found by profiling the row key.</a:t>
            </a:r>
          </a:p>
        </p:txBody>
      </p:sp>
      <p:sp>
        <p:nvSpPr>
          <p:cNvPr id="12" name="Rectangle 11"/>
          <p:cNvSpPr/>
          <p:nvPr/>
        </p:nvSpPr>
        <p:spPr>
          <a:xfrm>
            <a:off x="6222492"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22492" y="1764792"/>
            <a:ext cx="82296" cy="206197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51092" y="2548890"/>
            <a:ext cx="493776" cy="49377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51092"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2</a:t>
            </a:r>
          </a:p>
        </p:txBody>
      </p:sp>
      <p:sp>
        <p:nvSpPr>
          <p:cNvPr id="16" name="TextBox 15"/>
          <p:cNvSpPr txBox="1"/>
          <p:nvPr/>
        </p:nvSpPr>
        <p:spPr>
          <a:xfrm>
            <a:off x="7118604"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Use it when</a:t>
            </a:r>
          </a:p>
          <a:p>
            <a:pPr algn="l">
              <a:spcAft>
                <a:spcPts val="300"/>
              </a:spcAft>
            </a:pPr>
            <a:r>
              <a:rPr sz="1200" b="0">
                <a:solidFill>
                  <a:srgbClr val="5B6372"/>
                </a:solidFill>
                <a:latin typeface="Arial"/>
              </a:rPr>
              <a:t>Use to exclude test rows, negative sales, out-of-scope regions and empty keys.</a:t>
            </a:r>
          </a:p>
        </p:txBody>
      </p:sp>
      <p:sp>
        <p:nvSpPr>
          <p:cNvPr id="17" name="Rectangle 16"/>
          <p:cNvSpPr/>
          <p:nvPr/>
        </p:nvSpPr>
        <p:spPr>
          <a:xfrm>
            <a:off x="768096"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68096" y="4046220"/>
            <a:ext cx="82296" cy="206197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96695" y="4830318"/>
            <a:ext cx="493776" cy="49377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96695"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3</a:t>
            </a:r>
          </a:p>
        </p:txBody>
      </p:sp>
      <p:sp>
        <p:nvSpPr>
          <p:cNvPr id="21" name="TextBox 20"/>
          <p:cNvSpPr txBox="1"/>
          <p:nvPr/>
        </p:nvSpPr>
        <p:spPr>
          <a:xfrm>
            <a:off x="1664207"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Exam clue</a:t>
            </a:r>
          </a:p>
          <a:p>
            <a:pPr algn="l">
              <a:spcAft>
                <a:spcPts val="300"/>
              </a:spcAft>
            </a:pPr>
            <a:r>
              <a:rPr sz="1200" b="0">
                <a:solidFill>
                  <a:srgbClr val="5B6372"/>
                </a:solidFill>
                <a:latin typeface="Arial"/>
              </a:rPr>
              <a:t>Keep Only and Exclude are the fastest filters directly from the profile.</a:t>
            </a:r>
          </a:p>
        </p:txBody>
      </p:sp>
      <p:sp>
        <p:nvSpPr>
          <p:cNvPr id="22" name="Rectangle 21"/>
          <p:cNvSpPr/>
          <p:nvPr/>
        </p:nvSpPr>
        <p:spPr>
          <a:xfrm>
            <a:off x="6222492"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22492" y="4046220"/>
            <a:ext cx="82296" cy="206197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51092" y="4830318"/>
            <a:ext cx="493776" cy="49377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51092"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4</a:t>
            </a:r>
          </a:p>
        </p:txBody>
      </p:sp>
      <p:sp>
        <p:nvSpPr>
          <p:cNvPr id="26" name="TextBox 25"/>
          <p:cNvSpPr txBox="1"/>
          <p:nvPr/>
        </p:nvSpPr>
        <p:spPr>
          <a:xfrm>
            <a:off x="7118604"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Common pitfall</a:t>
            </a:r>
          </a:p>
          <a:p>
            <a:pPr algn="l">
              <a:spcAft>
                <a:spcPts val="300"/>
              </a:spcAft>
            </a:pPr>
            <a:r>
              <a:rPr sz="1200" b="0">
                <a:solidFill>
                  <a:srgbClr val="5B6372"/>
                </a:solidFill>
                <a:latin typeface="Arial"/>
              </a:rPr>
              <a:t>Filtering away nulls can silently drop valid records that merely lack one attribute.</a:t>
            </a:r>
          </a:p>
        </p:txBody>
      </p:sp>
      <p:sp>
        <p:nvSpPr>
          <p:cNvPr id="27" name="TextBox 26"/>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28" name="TextBox 27"/>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29" name="TextBox 28"/>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50</a:t>
            </a:r>
          </a:p>
        </p:txBody>
      </p:sp>
    </p:spTree>
  </p:cSld>
  <p:clrMapOvr>
    <a:masterClrMapping/>
  </p:clrMapOvr>
  <p:transition spd="fast">
    <p:fade/>
  </p:transition>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37744"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47472"/>
            <a:ext cx="10698480" cy="292608"/>
          </a:xfrm>
          <a:prstGeom prst="rect">
            <a:avLst/>
          </a:prstGeom>
          <a:noFill/>
        </p:spPr>
        <p:txBody>
          <a:bodyPr wrap="square" anchor="t" lIns="54864" rIns="54864" tIns="54864" bIns="54864">
            <a:spAutoFit/>
          </a:bodyPr>
          <a:lstStyle/>
          <a:p>
            <a:pPr algn="l">
              <a:spcAft>
                <a:spcPts val="300"/>
              </a:spcAft>
            </a:pPr>
            <a:r>
              <a:rPr sz="1200" b="1">
                <a:solidFill>
                  <a:srgbClr val="1F6FEB"/>
                </a:solidFill>
                <a:latin typeface="Arial"/>
              </a:rPr>
              <a:t>OFFICIAL OBJECTIVE · DOMAIN 1</a:t>
            </a:r>
          </a:p>
        </p:txBody>
      </p:sp>
      <p:sp>
        <p:nvSpPr>
          <p:cNvPr id="5" name="TextBox 4"/>
          <p:cNvSpPr txBox="1"/>
          <p:nvPr/>
        </p:nvSpPr>
        <p:spPr>
          <a:xfrm>
            <a:off x="749808" y="713232"/>
            <a:ext cx="10744200" cy="731520"/>
          </a:xfrm>
          <a:prstGeom prst="rect">
            <a:avLst/>
          </a:prstGeom>
          <a:noFill/>
        </p:spPr>
        <p:txBody>
          <a:bodyPr wrap="square" anchor="ctr" lIns="54864" rIns="54864" tIns="54864" bIns="54864">
            <a:spAutoFit/>
          </a:bodyPr>
          <a:lstStyle/>
          <a:p>
            <a:pPr algn="l">
              <a:spcAft>
                <a:spcPts val="300"/>
              </a:spcAft>
            </a:pPr>
            <a:r>
              <a:rPr sz="2700" b="1">
                <a:solidFill>
                  <a:srgbClr val="161B26"/>
                </a:solidFill>
                <a:latin typeface="Arial"/>
              </a:rPr>
              <a:t>1.4.7 · Group and Replace to standardise members</a:t>
            </a:r>
          </a:p>
        </p:txBody>
      </p:sp>
      <p:sp>
        <p:nvSpPr>
          <p:cNvPr id="6" name="Rectangle 5"/>
          <p:cNvSpPr/>
          <p:nvPr/>
        </p:nvSpPr>
        <p:spPr>
          <a:xfrm>
            <a:off x="749808" y="1536192"/>
            <a:ext cx="106984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8096"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68096" y="1764792"/>
            <a:ext cx="82296" cy="206197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96695" y="2548890"/>
            <a:ext cx="493776" cy="49377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5"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1</a:t>
            </a:r>
          </a:p>
        </p:txBody>
      </p:sp>
      <p:sp>
        <p:nvSpPr>
          <p:cNvPr id="11" name="TextBox 10"/>
          <p:cNvSpPr txBox="1"/>
          <p:nvPr/>
        </p:nvSpPr>
        <p:spPr>
          <a:xfrm>
            <a:off x="1664207"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What it means</a:t>
            </a:r>
          </a:p>
          <a:p>
            <a:pPr algn="l">
              <a:spcAft>
                <a:spcPts val="300"/>
              </a:spcAft>
            </a:pPr>
            <a:r>
              <a:rPr sz="1200" b="0">
                <a:solidFill>
                  <a:srgbClr val="5B6372"/>
                </a:solidFill>
                <a:latin typeface="Arial"/>
              </a:rPr>
              <a:t>Group and Replace merges variants using manual selection, pronunciation, common characters or spelling similarity.</a:t>
            </a:r>
          </a:p>
        </p:txBody>
      </p:sp>
      <p:sp>
        <p:nvSpPr>
          <p:cNvPr id="12" name="Rectangle 11"/>
          <p:cNvSpPr/>
          <p:nvPr/>
        </p:nvSpPr>
        <p:spPr>
          <a:xfrm>
            <a:off x="6222492"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22492" y="1764792"/>
            <a:ext cx="82296" cy="206197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51092" y="2548890"/>
            <a:ext cx="493776" cy="49377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51092"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2</a:t>
            </a:r>
          </a:p>
        </p:txBody>
      </p:sp>
      <p:sp>
        <p:nvSpPr>
          <p:cNvPr id="16" name="TextBox 15"/>
          <p:cNvSpPr txBox="1"/>
          <p:nvPr/>
        </p:nvSpPr>
        <p:spPr>
          <a:xfrm>
            <a:off x="7118604"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Use it when</a:t>
            </a:r>
          </a:p>
          <a:p>
            <a:pPr algn="l">
              <a:spcAft>
                <a:spcPts val="300"/>
              </a:spcAft>
            </a:pPr>
            <a:r>
              <a:rPr sz="1200" b="0">
                <a:solidFill>
                  <a:srgbClr val="5B6372"/>
                </a:solidFill>
                <a:latin typeface="Arial"/>
              </a:rPr>
              <a:t>Use for misspelt city, product or customer names that should be one member.</a:t>
            </a:r>
          </a:p>
        </p:txBody>
      </p:sp>
      <p:sp>
        <p:nvSpPr>
          <p:cNvPr id="17" name="Rectangle 16"/>
          <p:cNvSpPr/>
          <p:nvPr/>
        </p:nvSpPr>
        <p:spPr>
          <a:xfrm>
            <a:off x="768096"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68096" y="4046220"/>
            <a:ext cx="82296" cy="206197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96695" y="4830318"/>
            <a:ext cx="493776" cy="49377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96695"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3</a:t>
            </a:r>
          </a:p>
        </p:txBody>
      </p:sp>
      <p:sp>
        <p:nvSpPr>
          <p:cNvPr id="21" name="TextBox 20"/>
          <p:cNvSpPr txBox="1"/>
          <p:nvPr/>
        </p:nvSpPr>
        <p:spPr>
          <a:xfrm>
            <a:off x="1664207"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Exam clue</a:t>
            </a:r>
          </a:p>
          <a:p>
            <a:pPr algn="l">
              <a:spcAft>
                <a:spcPts val="300"/>
              </a:spcAft>
            </a:pPr>
            <a:r>
              <a:rPr sz="1200" b="0">
                <a:solidFill>
                  <a:srgbClr val="5B6372"/>
                </a:solidFill>
                <a:latin typeface="Arial"/>
              </a:rPr>
              <a:t>Fuzzy matching proposes groups; the analyst confirms them.</a:t>
            </a:r>
          </a:p>
        </p:txBody>
      </p:sp>
      <p:sp>
        <p:nvSpPr>
          <p:cNvPr id="22" name="Rectangle 21"/>
          <p:cNvSpPr/>
          <p:nvPr/>
        </p:nvSpPr>
        <p:spPr>
          <a:xfrm>
            <a:off x="6222492"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22492" y="4046220"/>
            <a:ext cx="82296" cy="206197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51092" y="4830318"/>
            <a:ext cx="493776" cy="49377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51092"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4</a:t>
            </a:r>
          </a:p>
        </p:txBody>
      </p:sp>
      <p:sp>
        <p:nvSpPr>
          <p:cNvPr id="26" name="TextBox 25"/>
          <p:cNvSpPr txBox="1"/>
          <p:nvPr/>
        </p:nvSpPr>
        <p:spPr>
          <a:xfrm>
            <a:off x="7118604"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Common pitfall</a:t>
            </a:r>
          </a:p>
          <a:p>
            <a:pPr algn="l">
              <a:spcAft>
                <a:spcPts val="300"/>
              </a:spcAft>
            </a:pPr>
            <a:r>
              <a:rPr sz="1200" b="0">
                <a:solidFill>
                  <a:srgbClr val="5B6372"/>
                </a:solidFill>
                <a:latin typeface="Arial"/>
              </a:rPr>
              <a:t>Aggressive fuzzy matching can merge genuinely different members.</a:t>
            </a:r>
          </a:p>
        </p:txBody>
      </p:sp>
      <p:sp>
        <p:nvSpPr>
          <p:cNvPr id="27" name="TextBox 26"/>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28" name="TextBox 27"/>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29" name="TextBox 28"/>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51</a:t>
            </a:r>
          </a:p>
        </p:txBody>
      </p:sp>
    </p:spTree>
  </p:cSld>
  <p:clrMapOvr>
    <a:masterClrMapping/>
  </p:clrMapOvr>
  <p:transition spd="fast">
    <p:fade/>
  </p:transition>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37744"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47472"/>
            <a:ext cx="10698480" cy="292608"/>
          </a:xfrm>
          <a:prstGeom prst="rect">
            <a:avLst/>
          </a:prstGeom>
          <a:noFill/>
        </p:spPr>
        <p:txBody>
          <a:bodyPr wrap="square" anchor="t" lIns="54864" rIns="54864" tIns="54864" bIns="54864">
            <a:spAutoFit/>
          </a:bodyPr>
          <a:lstStyle/>
          <a:p>
            <a:pPr algn="l">
              <a:spcAft>
                <a:spcPts val="300"/>
              </a:spcAft>
            </a:pPr>
            <a:r>
              <a:rPr sz="1200" b="1">
                <a:solidFill>
                  <a:srgbClr val="1F6FEB"/>
                </a:solidFill>
                <a:latin typeface="Arial"/>
              </a:rPr>
              <a:t>OFFICIAL OBJECTIVE · DOMAIN 1</a:t>
            </a:r>
          </a:p>
        </p:txBody>
      </p:sp>
      <p:sp>
        <p:nvSpPr>
          <p:cNvPr id="5" name="TextBox 4"/>
          <p:cNvSpPr txBox="1"/>
          <p:nvPr/>
        </p:nvSpPr>
        <p:spPr>
          <a:xfrm>
            <a:off x="749808" y="713232"/>
            <a:ext cx="10744200" cy="731520"/>
          </a:xfrm>
          <a:prstGeom prst="rect">
            <a:avLst/>
          </a:prstGeom>
          <a:noFill/>
        </p:spPr>
        <p:txBody>
          <a:bodyPr wrap="square" anchor="ctr" lIns="54864" rIns="54864" tIns="54864" bIns="54864">
            <a:spAutoFit/>
          </a:bodyPr>
          <a:lstStyle/>
          <a:p>
            <a:pPr algn="l">
              <a:spcAft>
                <a:spcPts val="300"/>
              </a:spcAft>
            </a:pPr>
            <a:r>
              <a:rPr sz="2700" b="1">
                <a:solidFill>
                  <a:srgbClr val="161B26"/>
                </a:solidFill>
                <a:latin typeface="Arial"/>
              </a:rPr>
              <a:t>1.4.8 · Pivot columns to rows</a:t>
            </a:r>
          </a:p>
        </p:txBody>
      </p:sp>
      <p:sp>
        <p:nvSpPr>
          <p:cNvPr id="6" name="Rectangle 5"/>
          <p:cNvSpPr/>
          <p:nvPr/>
        </p:nvSpPr>
        <p:spPr>
          <a:xfrm>
            <a:off x="749808" y="1536192"/>
            <a:ext cx="106984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8096"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68096" y="1764792"/>
            <a:ext cx="82296" cy="206197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96695" y="2548890"/>
            <a:ext cx="493776" cy="49377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5"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1</a:t>
            </a:r>
          </a:p>
        </p:txBody>
      </p:sp>
      <p:sp>
        <p:nvSpPr>
          <p:cNvPr id="11" name="TextBox 10"/>
          <p:cNvSpPr txBox="1"/>
          <p:nvPr/>
        </p:nvSpPr>
        <p:spPr>
          <a:xfrm>
            <a:off x="1664207"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What it means</a:t>
            </a:r>
          </a:p>
          <a:p>
            <a:pPr algn="l">
              <a:spcAft>
                <a:spcPts val="300"/>
              </a:spcAft>
            </a:pPr>
            <a:r>
              <a:rPr sz="1200" b="0">
                <a:solidFill>
                  <a:srgbClr val="5B6372"/>
                </a:solidFill>
                <a:latin typeface="Arial"/>
              </a:rPr>
              <a:t>A Pivot step converts wide month or category columns into a tidy field-and-value pair.</a:t>
            </a:r>
          </a:p>
        </p:txBody>
      </p:sp>
      <p:sp>
        <p:nvSpPr>
          <p:cNvPr id="12" name="Rectangle 11"/>
          <p:cNvSpPr/>
          <p:nvPr/>
        </p:nvSpPr>
        <p:spPr>
          <a:xfrm>
            <a:off x="6222492"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22492" y="1764792"/>
            <a:ext cx="82296" cy="206197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51092" y="2548890"/>
            <a:ext cx="493776" cy="49377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51092"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2</a:t>
            </a:r>
          </a:p>
        </p:txBody>
      </p:sp>
      <p:sp>
        <p:nvSpPr>
          <p:cNvPr id="16" name="TextBox 15"/>
          <p:cNvSpPr txBox="1"/>
          <p:nvPr/>
        </p:nvSpPr>
        <p:spPr>
          <a:xfrm>
            <a:off x="7118604"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Use it when</a:t>
            </a:r>
          </a:p>
          <a:p>
            <a:pPr algn="l">
              <a:spcAft>
                <a:spcPts val="300"/>
              </a:spcAft>
            </a:pPr>
            <a:r>
              <a:rPr sz="1200" b="0">
                <a:solidFill>
                  <a:srgbClr val="5B6372"/>
                </a:solidFill>
                <a:latin typeface="Arial"/>
              </a:rPr>
              <a:t>Use when each period sits in its own column instead of its own row.</a:t>
            </a:r>
          </a:p>
        </p:txBody>
      </p:sp>
      <p:sp>
        <p:nvSpPr>
          <p:cNvPr id="17" name="Rectangle 16"/>
          <p:cNvSpPr/>
          <p:nvPr/>
        </p:nvSpPr>
        <p:spPr>
          <a:xfrm>
            <a:off x="768096"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68096" y="4046220"/>
            <a:ext cx="82296" cy="206197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96695" y="4830318"/>
            <a:ext cx="493776" cy="49377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96695"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3</a:t>
            </a:r>
          </a:p>
        </p:txBody>
      </p:sp>
      <p:sp>
        <p:nvSpPr>
          <p:cNvPr id="21" name="TextBox 20"/>
          <p:cNvSpPr txBox="1"/>
          <p:nvPr/>
        </p:nvSpPr>
        <p:spPr>
          <a:xfrm>
            <a:off x="1664207"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Exam clue</a:t>
            </a:r>
          </a:p>
          <a:p>
            <a:pPr algn="l">
              <a:spcAft>
                <a:spcPts val="300"/>
              </a:spcAft>
            </a:pPr>
            <a:r>
              <a:rPr sz="1200" b="0">
                <a:solidFill>
                  <a:srgbClr val="5B6372"/>
                </a:solidFill>
                <a:latin typeface="Arial"/>
              </a:rPr>
              <a:t>Pivoted output creates one row per original column value.</a:t>
            </a:r>
          </a:p>
        </p:txBody>
      </p:sp>
      <p:sp>
        <p:nvSpPr>
          <p:cNvPr id="22" name="Rectangle 21"/>
          <p:cNvSpPr/>
          <p:nvPr/>
        </p:nvSpPr>
        <p:spPr>
          <a:xfrm>
            <a:off x="6222492"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22492" y="4046220"/>
            <a:ext cx="82296" cy="206197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51092" y="4830318"/>
            <a:ext cx="493776" cy="49377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51092"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4</a:t>
            </a:r>
          </a:p>
        </p:txBody>
      </p:sp>
      <p:sp>
        <p:nvSpPr>
          <p:cNvPr id="26" name="TextBox 25"/>
          <p:cNvSpPr txBox="1"/>
          <p:nvPr/>
        </p:nvSpPr>
        <p:spPr>
          <a:xfrm>
            <a:off x="7118604"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Common pitfall</a:t>
            </a:r>
          </a:p>
          <a:p>
            <a:pPr algn="l">
              <a:spcAft>
                <a:spcPts val="300"/>
              </a:spcAft>
            </a:pPr>
            <a:r>
              <a:rPr sz="1200" b="0">
                <a:solidFill>
                  <a:srgbClr val="5B6372"/>
                </a:solidFill>
                <a:latin typeface="Arial"/>
              </a:rPr>
              <a:t>Leaving data wide forces one calculation per column and breaks date logic.</a:t>
            </a:r>
          </a:p>
        </p:txBody>
      </p:sp>
      <p:sp>
        <p:nvSpPr>
          <p:cNvPr id="27" name="TextBox 26"/>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28" name="TextBox 27"/>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29" name="TextBox 28"/>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52</a:t>
            </a:r>
          </a:p>
        </p:txBody>
      </p:sp>
    </p:spTree>
  </p:cSld>
  <p:clrMapOvr>
    <a:masterClrMapping/>
  </p:clrMapOvr>
  <p:transition spd="fast">
    <p:fade/>
  </p:transition>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37744"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47472"/>
            <a:ext cx="10698480" cy="292608"/>
          </a:xfrm>
          <a:prstGeom prst="rect">
            <a:avLst/>
          </a:prstGeom>
          <a:noFill/>
        </p:spPr>
        <p:txBody>
          <a:bodyPr wrap="square" anchor="t" lIns="54864" rIns="54864" tIns="54864" bIns="54864">
            <a:spAutoFit/>
          </a:bodyPr>
          <a:lstStyle/>
          <a:p>
            <a:pPr algn="l">
              <a:spcAft>
                <a:spcPts val="300"/>
              </a:spcAft>
            </a:pPr>
            <a:r>
              <a:rPr sz="1200" b="1">
                <a:solidFill>
                  <a:srgbClr val="1F6FEB"/>
                </a:solidFill>
                <a:latin typeface="Arial"/>
              </a:rPr>
              <a:t>OFFICIAL OBJECTIVE · DOMAIN 1</a:t>
            </a:r>
          </a:p>
        </p:txBody>
      </p:sp>
      <p:sp>
        <p:nvSpPr>
          <p:cNvPr id="5" name="TextBox 4"/>
          <p:cNvSpPr txBox="1"/>
          <p:nvPr/>
        </p:nvSpPr>
        <p:spPr>
          <a:xfrm>
            <a:off x="749808" y="713232"/>
            <a:ext cx="10744200" cy="731520"/>
          </a:xfrm>
          <a:prstGeom prst="rect">
            <a:avLst/>
          </a:prstGeom>
          <a:noFill/>
        </p:spPr>
        <p:txBody>
          <a:bodyPr wrap="square" anchor="ctr" lIns="54864" rIns="54864" tIns="54864" bIns="54864">
            <a:spAutoFit/>
          </a:bodyPr>
          <a:lstStyle/>
          <a:p>
            <a:pPr algn="l">
              <a:spcAft>
                <a:spcPts val="300"/>
              </a:spcAft>
            </a:pPr>
            <a:r>
              <a:rPr sz="2700" b="1">
                <a:solidFill>
                  <a:srgbClr val="161B26"/>
                </a:solidFill>
                <a:latin typeface="Arial"/>
              </a:rPr>
              <a:t>1.4.9 · Union, join and aggregate in a flow</a:t>
            </a:r>
          </a:p>
        </p:txBody>
      </p:sp>
      <p:sp>
        <p:nvSpPr>
          <p:cNvPr id="6" name="Rectangle 5"/>
          <p:cNvSpPr/>
          <p:nvPr/>
        </p:nvSpPr>
        <p:spPr>
          <a:xfrm>
            <a:off x="749808" y="1536192"/>
            <a:ext cx="106984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8096"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68096" y="1764792"/>
            <a:ext cx="82296" cy="206197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96695" y="2548890"/>
            <a:ext cx="493776" cy="49377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5"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1</a:t>
            </a:r>
          </a:p>
        </p:txBody>
      </p:sp>
      <p:sp>
        <p:nvSpPr>
          <p:cNvPr id="11" name="TextBox 10"/>
          <p:cNvSpPr txBox="1"/>
          <p:nvPr/>
        </p:nvSpPr>
        <p:spPr>
          <a:xfrm>
            <a:off x="1664207"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What it means</a:t>
            </a:r>
          </a:p>
          <a:p>
            <a:pPr algn="l">
              <a:spcAft>
                <a:spcPts val="300"/>
              </a:spcAft>
            </a:pPr>
            <a:r>
              <a:rPr sz="1200" b="0">
                <a:solidFill>
                  <a:srgbClr val="5B6372"/>
                </a:solidFill>
                <a:latin typeface="Arial"/>
              </a:rPr>
              <a:t>Union appends compatible files; Join matches on keys; Aggregate rolls rows to a coarser grain.</a:t>
            </a:r>
          </a:p>
        </p:txBody>
      </p:sp>
      <p:sp>
        <p:nvSpPr>
          <p:cNvPr id="12" name="Rectangle 11"/>
          <p:cNvSpPr/>
          <p:nvPr/>
        </p:nvSpPr>
        <p:spPr>
          <a:xfrm>
            <a:off x="6222492"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22492" y="1764792"/>
            <a:ext cx="82296" cy="206197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51092" y="2548890"/>
            <a:ext cx="493776" cy="49377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51092"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2</a:t>
            </a:r>
          </a:p>
        </p:txBody>
      </p:sp>
      <p:sp>
        <p:nvSpPr>
          <p:cNvPr id="16" name="TextBox 15"/>
          <p:cNvSpPr txBox="1"/>
          <p:nvPr/>
        </p:nvSpPr>
        <p:spPr>
          <a:xfrm>
            <a:off x="7118604"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Use it when</a:t>
            </a:r>
          </a:p>
          <a:p>
            <a:pPr algn="l">
              <a:spcAft>
                <a:spcPts val="300"/>
              </a:spcAft>
            </a:pPr>
            <a:r>
              <a:rPr sz="1200" b="0">
                <a:solidFill>
                  <a:srgbClr val="5B6372"/>
                </a:solidFill>
                <a:latin typeface="Arial"/>
              </a:rPr>
              <a:t>Use to combine monthly or country files and attach lookup attributes.</a:t>
            </a:r>
          </a:p>
        </p:txBody>
      </p:sp>
      <p:sp>
        <p:nvSpPr>
          <p:cNvPr id="17" name="Rectangle 16"/>
          <p:cNvSpPr/>
          <p:nvPr/>
        </p:nvSpPr>
        <p:spPr>
          <a:xfrm>
            <a:off x="768096"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68096" y="4046220"/>
            <a:ext cx="82296" cy="206197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96695" y="4830318"/>
            <a:ext cx="493776" cy="49377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96695"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3</a:t>
            </a:r>
          </a:p>
        </p:txBody>
      </p:sp>
      <p:sp>
        <p:nvSpPr>
          <p:cNvPr id="21" name="TextBox 20"/>
          <p:cNvSpPr txBox="1"/>
          <p:nvPr/>
        </p:nvSpPr>
        <p:spPr>
          <a:xfrm>
            <a:off x="1664207"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Exam clue</a:t>
            </a:r>
          </a:p>
          <a:p>
            <a:pPr algn="l">
              <a:spcAft>
                <a:spcPts val="300"/>
              </a:spcAft>
            </a:pPr>
            <a:r>
              <a:rPr sz="1200" b="0">
                <a:solidFill>
                  <a:srgbClr val="5B6372"/>
                </a:solidFill>
                <a:latin typeface="Arial"/>
              </a:rPr>
              <a:t>Mismatched field names appear in the union as separate columns until merged.</a:t>
            </a:r>
          </a:p>
        </p:txBody>
      </p:sp>
      <p:sp>
        <p:nvSpPr>
          <p:cNvPr id="22" name="Rectangle 21"/>
          <p:cNvSpPr/>
          <p:nvPr/>
        </p:nvSpPr>
        <p:spPr>
          <a:xfrm>
            <a:off x="6222492"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22492" y="4046220"/>
            <a:ext cx="82296" cy="206197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51092" y="4830318"/>
            <a:ext cx="493776" cy="49377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51092"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4</a:t>
            </a:r>
          </a:p>
        </p:txBody>
      </p:sp>
      <p:sp>
        <p:nvSpPr>
          <p:cNvPr id="26" name="TextBox 25"/>
          <p:cNvSpPr txBox="1"/>
          <p:nvPr/>
        </p:nvSpPr>
        <p:spPr>
          <a:xfrm>
            <a:off x="7118604"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Common pitfall</a:t>
            </a:r>
          </a:p>
          <a:p>
            <a:pPr algn="l">
              <a:spcAft>
                <a:spcPts val="300"/>
              </a:spcAft>
            </a:pPr>
            <a:r>
              <a:rPr sz="1200" b="0">
                <a:solidFill>
                  <a:srgbClr val="5B6372"/>
                </a:solidFill>
                <a:latin typeface="Arial"/>
              </a:rPr>
              <a:t>A join in Prep multiplies rows the same way a join in Desktop does.</a:t>
            </a:r>
          </a:p>
        </p:txBody>
      </p:sp>
      <p:sp>
        <p:nvSpPr>
          <p:cNvPr id="27" name="TextBox 26"/>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28" name="TextBox 27"/>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29" name="TextBox 28"/>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53</a:t>
            </a:r>
          </a:p>
        </p:txBody>
      </p:sp>
    </p:spTree>
  </p:cSld>
  <p:clrMapOvr>
    <a:masterClrMapping/>
  </p:clrMapOvr>
  <p:transition spd="fast">
    <p:fade/>
  </p:transition>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37744"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47472"/>
            <a:ext cx="10698480" cy="292608"/>
          </a:xfrm>
          <a:prstGeom prst="rect">
            <a:avLst/>
          </a:prstGeom>
          <a:noFill/>
        </p:spPr>
        <p:txBody>
          <a:bodyPr wrap="square" anchor="t" lIns="54864" rIns="54864" tIns="54864" bIns="54864">
            <a:spAutoFit/>
          </a:bodyPr>
          <a:lstStyle/>
          <a:p>
            <a:pPr algn="l">
              <a:spcAft>
                <a:spcPts val="300"/>
              </a:spcAft>
            </a:pPr>
            <a:r>
              <a:rPr sz="1200" b="1">
                <a:solidFill>
                  <a:srgbClr val="1F6FEB"/>
                </a:solidFill>
                <a:latin typeface="Arial"/>
              </a:rPr>
              <a:t>OFFICIAL OBJECTIVE · DOMAIN 1</a:t>
            </a:r>
          </a:p>
        </p:txBody>
      </p:sp>
      <p:sp>
        <p:nvSpPr>
          <p:cNvPr id="5" name="TextBox 4"/>
          <p:cNvSpPr txBox="1"/>
          <p:nvPr/>
        </p:nvSpPr>
        <p:spPr>
          <a:xfrm>
            <a:off x="749808" y="713232"/>
            <a:ext cx="10744200" cy="731520"/>
          </a:xfrm>
          <a:prstGeom prst="rect">
            <a:avLst/>
          </a:prstGeom>
          <a:noFill/>
        </p:spPr>
        <p:txBody>
          <a:bodyPr wrap="square" anchor="ctr" lIns="54864" rIns="54864" tIns="54864" bIns="54864">
            <a:spAutoFit/>
          </a:bodyPr>
          <a:lstStyle/>
          <a:p>
            <a:pPr algn="l">
              <a:spcAft>
                <a:spcPts val="300"/>
              </a:spcAft>
            </a:pPr>
            <a:r>
              <a:rPr sz="2700" b="1">
                <a:solidFill>
                  <a:srgbClr val="161B26"/>
                </a:solidFill>
                <a:latin typeface="Arial"/>
              </a:rPr>
              <a:t>1.4.10 · Create calculated fields and output the flow</a:t>
            </a:r>
          </a:p>
        </p:txBody>
      </p:sp>
      <p:sp>
        <p:nvSpPr>
          <p:cNvPr id="6" name="Rectangle 5"/>
          <p:cNvSpPr/>
          <p:nvPr/>
        </p:nvSpPr>
        <p:spPr>
          <a:xfrm>
            <a:off x="749808" y="1536192"/>
            <a:ext cx="106984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8096"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68096" y="1764792"/>
            <a:ext cx="82296" cy="206197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96695" y="2548890"/>
            <a:ext cx="493776" cy="49377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5"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1</a:t>
            </a:r>
          </a:p>
        </p:txBody>
      </p:sp>
      <p:sp>
        <p:nvSpPr>
          <p:cNvPr id="11" name="TextBox 10"/>
          <p:cNvSpPr txBox="1"/>
          <p:nvPr/>
        </p:nvSpPr>
        <p:spPr>
          <a:xfrm>
            <a:off x="1664207"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What it means</a:t>
            </a:r>
          </a:p>
          <a:p>
            <a:pPr algn="l">
              <a:spcAft>
                <a:spcPts val="300"/>
              </a:spcAft>
            </a:pPr>
            <a:r>
              <a:rPr sz="1200" b="0">
                <a:solidFill>
                  <a:srgbClr val="5B6372"/>
                </a:solidFill>
                <a:latin typeface="Arial"/>
              </a:rPr>
              <a:t>Prep calculations derive new columns; Output writes a CSV, Excel, .hyper extract or published data source.</a:t>
            </a:r>
          </a:p>
        </p:txBody>
      </p:sp>
      <p:sp>
        <p:nvSpPr>
          <p:cNvPr id="12" name="Rectangle 11"/>
          <p:cNvSpPr/>
          <p:nvPr/>
        </p:nvSpPr>
        <p:spPr>
          <a:xfrm>
            <a:off x="6222492"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22492" y="1764792"/>
            <a:ext cx="82296" cy="206197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51092" y="2548890"/>
            <a:ext cx="493776" cy="49377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51092"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2</a:t>
            </a:r>
          </a:p>
        </p:txBody>
      </p:sp>
      <p:sp>
        <p:nvSpPr>
          <p:cNvPr id="16" name="TextBox 15"/>
          <p:cNvSpPr txBox="1"/>
          <p:nvPr/>
        </p:nvSpPr>
        <p:spPr>
          <a:xfrm>
            <a:off x="7118604"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Use it when</a:t>
            </a:r>
          </a:p>
          <a:p>
            <a:pPr algn="l">
              <a:spcAft>
                <a:spcPts val="300"/>
              </a:spcAft>
            </a:pPr>
            <a:r>
              <a:rPr sz="1200" b="0">
                <a:solidFill>
                  <a:srgbClr val="5B6372"/>
                </a:solidFill>
                <a:latin typeface="Arial"/>
              </a:rPr>
              <a:t>Use to compute derived measures and publish a governed, refreshable clean table.</a:t>
            </a:r>
          </a:p>
        </p:txBody>
      </p:sp>
      <p:sp>
        <p:nvSpPr>
          <p:cNvPr id="17" name="Rectangle 16"/>
          <p:cNvSpPr/>
          <p:nvPr/>
        </p:nvSpPr>
        <p:spPr>
          <a:xfrm>
            <a:off x="768096"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68096" y="4046220"/>
            <a:ext cx="82296" cy="206197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96695" y="4830318"/>
            <a:ext cx="493776" cy="49377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96695"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3</a:t>
            </a:r>
          </a:p>
        </p:txBody>
      </p:sp>
      <p:sp>
        <p:nvSpPr>
          <p:cNvPr id="21" name="TextBox 20"/>
          <p:cNvSpPr txBox="1"/>
          <p:nvPr/>
        </p:nvSpPr>
        <p:spPr>
          <a:xfrm>
            <a:off x="1664207"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Exam clue</a:t>
            </a:r>
          </a:p>
          <a:p>
            <a:pPr algn="l">
              <a:spcAft>
                <a:spcPts val="300"/>
              </a:spcAft>
            </a:pPr>
            <a:r>
              <a:rPr sz="1200" b="0">
                <a:solidFill>
                  <a:srgbClr val="5B6372"/>
                </a:solidFill>
                <a:latin typeface="Arial"/>
              </a:rPr>
              <a:t>Running the flow re-executes every step in order against current input.</a:t>
            </a:r>
          </a:p>
        </p:txBody>
      </p:sp>
      <p:sp>
        <p:nvSpPr>
          <p:cNvPr id="22" name="Rectangle 21"/>
          <p:cNvSpPr/>
          <p:nvPr/>
        </p:nvSpPr>
        <p:spPr>
          <a:xfrm>
            <a:off x="6222492"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22492" y="4046220"/>
            <a:ext cx="82296" cy="206197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51092" y="4830318"/>
            <a:ext cx="493776" cy="49377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51092"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4</a:t>
            </a:r>
          </a:p>
        </p:txBody>
      </p:sp>
      <p:sp>
        <p:nvSpPr>
          <p:cNvPr id="26" name="TextBox 25"/>
          <p:cNvSpPr txBox="1"/>
          <p:nvPr/>
        </p:nvSpPr>
        <p:spPr>
          <a:xfrm>
            <a:off x="7118604"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Common pitfall</a:t>
            </a:r>
          </a:p>
          <a:p>
            <a:pPr algn="l">
              <a:spcAft>
                <a:spcPts val="300"/>
              </a:spcAft>
            </a:pPr>
            <a:r>
              <a:rPr sz="1200" b="0">
                <a:solidFill>
                  <a:srgbClr val="5B6372"/>
                </a:solidFill>
                <a:latin typeface="Arial"/>
              </a:rPr>
              <a:t>Outputting without re-running the flow ships stale results.</a:t>
            </a:r>
          </a:p>
        </p:txBody>
      </p:sp>
      <p:sp>
        <p:nvSpPr>
          <p:cNvPr id="27" name="TextBox 26"/>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28" name="TextBox 27"/>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29" name="TextBox 28"/>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54</a:t>
            </a:r>
          </a:p>
        </p:txBody>
      </p:sp>
    </p:spTree>
  </p:cSld>
  <p:clrMapOvr>
    <a:masterClrMapping/>
  </p:clrMapOvr>
  <p:transition spd="fast">
    <p:fade/>
  </p:transition>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37744"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47472"/>
            <a:ext cx="10698480" cy="292608"/>
          </a:xfrm>
          <a:prstGeom prst="rect">
            <a:avLst/>
          </a:prstGeom>
          <a:noFill/>
        </p:spPr>
        <p:txBody>
          <a:bodyPr wrap="square" anchor="t" lIns="54864" rIns="54864" tIns="54864" bIns="54864">
            <a:spAutoFit/>
          </a:bodyPr>
          <a:lstStyle/>
          <a:p>
            <a:pPr algn="l">
              <a:spcAft>
                <a:spcPts val="300"/>
              </a:spcAft>
            </a:pPr>
            <a:r>
              <a:rPr sz="1200" b="1">
                <a:solidFill>
                  <a:srgbClr val="10B981"/>
                </a:solidFill>
                <a:latin typeface="Arial"/>
              </a:rPr>
              <a:t>LAB 01 · TOPIC 01 · OVERVIEW ONLY</a:t>
            </a:r>
          </a:p>
        </p:txBody>
      </p:sp>
      <p:sp>
        <p:nvSpPr>
          <p:cNvPr id="5" name="TextBox 4"/>
          <p:cNvSpPr txBox="1"/>
          <p:nvPr/>
        </p:nvSpPr>
        <p:spPr>
          <a:xfrm>
            <a:off x="749808" y="713232"/>
            <a:ext cx="10744200" cy="731520"/>
          </a:xfrm>
          <a:prstGeom prst="rect">
            <a:avLst/>
          </a:prstGeom>
          <a:noFill/>
        </p:spPr>
        <p:txBody>
          <a:bodyPr wrap="square" anchor="ctr" lIns="54864" rIns="54864" tIns="54864" bIns="54864">
            <a:spAutoFit/>
          </a:bodyPr>
          <a:lstStyle/>
          <a:p>
            <a:pPr algn="l">
              <a:spcAft>
                <a:spcPts val="300"/>
              </a:spcAft>
            </a:pPr>
            <a:r>
              <a:rPr sz="2700" b="1">
                <a:solidFill>
                  <a:srgbClr val="161B26"/>
                </a:solidFill>
                <a:latin typeface="Arial"/>
              </a:rPr>
              <a:t>Audit a Retail Sales Connection and Extract</a:t>
            </a:r>
          </a:p>
        </p:txBody>
      </p:sp>
      <p:sp>
        <p:nvSpPr>
          <p:cNvPr id="6" name="Rectangle 5"/>
          <p:cNvSpPr/>
          <p:nvPr/>
        </p:nvSpPr>
        <p:spPr>
          <a:xfrm>
            <a:off x="749808" y="1536192"/>
            <a:ext cx="106984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64792"/>
            <a:ext cx="10652760" cy="749808"/>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87552" y="1847088"/>
            <a:ext cx="10241280" cy="566928"/>
          </a:xfrm>
          <a:prstGeom prst="rect">
            <a:avLst/>
          </a:prstGeom>
          <a:noFill/>
        </p:spPr>
        <p:txBody>
          <a:bodyPr wrap="square" anchor="ctr" lIns="54864" rIns="54864" tIns="54864" bIns="54864">
            <a:spAutoFit/>
          </a:bodyPr>
          <a:lstStyle/>
          <a:p>
            <a:pPr algn="l">
              <a:spcAft>
                <a:spcPts val="300"/>
              </a:spcAft>
            </a:pPr>
            <a:r>
              <a:rPr sz="1400" b="0">
                <a:solidFill>
                  <a:srgbClr val="161B26"/>
                </a:solidFill>
                <a:latin typeface="Arial"/>
              </a:rPr>
              <a:t>Northstar Retail needs a trustworthy weekly sales source before analysts build regional reporting.</a:t>
            </a:r>
          </a:p>
        </p:txBody>
      </p:sp>
      <p:sp>
        <p:nvSpPr>
          <p:cNvPr id="9" name="Rectangle 8"/>
          <p:cNvSpPr/>
          <p:nvPr/>
        </p:nvSpPr>
        <p:spPr>
          <a:xfrm>
            <a:off x="777240" y="2788920"/>
            <a:ext cx="1998878" cy="11704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2788920"/>
            <a:ext cx="1998878"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2971800"/>
            <a:ext cx="1815998" cy="713232"/>
          </a:xfrm>
          <a:prstGeom prst="rect">
            <a:avLst/>
          </a:prstGeom>
          <a:noFill/>
        </p:spPr>
        <p:txBody>
          <a:bodyPr wrap="square" anchor="ctr" lIns="54864" rIns="54864" tIns="54864" bIns="54864">
            <a:spAutoFit/>
          </a:bodyPr>
          <a:lstStyle/>
          <a:p>
            <a:pPr algn="ctr">
              <a:spcAft>
                <a:spcPts val="300"/>
              </a:spcAft>
            </a:pPr>
            <a:r>
              <a:rPr sz="1250" b="1">
                <a:solidFill>
                  <a:srgbClr val="161B26"/>
                </a:solidFill>
                <a:latin typeface="Arial"/>
              </a:rPr>
              <a:t>1. Connect workbook</a:t>
            </a:r>
          </a:p>
        </p:txBody>
      </p:sp>
      <p:sp>
        <p:nvSpPr>
          <p:cNvPr id="12" name="Rectangle 11"/>
          <p:cNvSpPr/>
          <p:nvPr/>
        </p:nvSpPr>
        <p:spPr>
          <a:xfrm>
            <a:off x="2940710" y="2788920"/>
            <a:ext cx="1998878" cy="11704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940710" y="2788920"/>
            <a:ext cx="199887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032150" y="2971800"/>
            <a:ext cx="1815998" cy="713232"/>
          </a:xfrm>
          <a:prstGeom prst="rect">
            <a:avLst/>
          </a:prstGeom>
          <a:noFill/>
        </p:spPr>
        <p:txBody>
          <a:bodyPr wrap="square" anchor="ctr" lIns="54864" rIns="54864" tIns="54864" bIns="54864">
            <a:spAutoFit/>
          </a:bodyPr>
          <a:lstStyle/>
          <a:p>
            <a:pPr algn="ctr">
              <a:spcAft>
                <a:spcPts val="300"/>
              </a:spcAft>
            </a:pPr>
            <a:r>
              <a:rPr sz="1250" b="1">
                <a:solidFill>
                  <a:srgbClr val="161B26"/>
                </a:solidFill>
                <a:latin typeface="Arial"/>
              </a:rPr>
              <a:t>2. Audit types</a:t>
            </a:r>
          </a:p>
        </p:txBody>
      </p:sp>
      <p:sp>
        <p:nvSpPr>
          <p:cNvPr id="15" name="Rectangle 14"/>
          <p:cNvSpPr/>
          <p:nvPr/>
        </p:nvSpPr>
        <p:spPr>
          <a:xfrm>
            <a:off x="5104180" y="2788920"/>
            <a:ext cx="1998878" cy="11704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104180" y="2788920"/>
            <a:ext cx="1998878"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195620" y="2971800"/>
            <a:ext cx="1815998" cy="713232"/>
          </a:xfrm>
          <a:prstGeom prst="rect">
            <a:avLst/>
          </a:prstGeom>
          <a:noFill/>
        </p:spPr>
        <p:txBody>
          <a:bodyPr wrap="square" anchor="ctr" lIns="54864" rIns="54864" tIns="54864" bIns="54864">
            <a:spAutoFit/>
          </a:bodyPr>
          <a:lstStyle/>
          <a:p>
            <a:pPr algn="ctr">
              <a:spcAft>
                <a:spcPts val="300"/>
              </a:spcAft>
            </a:pPr>
            <a:r>
              <a:rPr sz="1250" b="1">
                <a:solidFill>
                  <a:srgbClr val="161B26"/>
                </a:solidFill>
                <a:latin typeface="Arial"/>
              </a:rPr>
              <a:t>3. Set roles</a:t>
            </a:r>
          </a:p>
        </p:txBody>
      </p:sp>
      <p:sp>
        <p:nvSpPr>
          <p:cNvPr id="18" name="Rectangle 17"/>
          <p:cNvSpPr/>
          <p:nvPr/>
        </p:nvSpPr>
        <p:spPr>
          <a:xfrm>
            <a:off x="7267651" y="2788920"/>
            <a:ext cx="1998878" cy="11704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267651" y="2788920"/>
            <a:ext cx="1998878"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59091" y="2971800"/>
            <a:ext cx="1815998" cy="713232"/>
          </a:xfrm>
          <a:prstGeom prst="rect">
            <a:avLst/>
          </a:prstGeom>
          <a:noFill/>
        </p:spPr>
        <p:txBody>
          <a:bodyPr wrap="square" anchor="ctr" lIns="54864" rIns="54864" tIns="54864" bIns="54864">
            <a:spAutoFit/>
          </a:bodyPr>
          <a:lstStyle/>
          <a:p>
            <a:pPr algn="ctr">
              <a:spcAft>
                <a:spcPts val="300"/>
              </a:spcAft>
            </a:pPr>
            <a:r>
              <a:rPr sz="1250" b="1">
                <a:solidFill>
                  <a:srgbClr val="161B26"/>
                </a:solidFill>
                <a:latin typeface="Arial"/>
              </a:rPr>
              <a:t>4. Create extract</a:t>
            </a:r>
          </a:p>
        </p:txBody>
      </p:sp>
      <p:sp>
        <p:nvSpPr>
          <p:cNvPr id="21" name="Rectangle 20"/>
          <p:cNvSpPr/>
          <p:nvPr/>
        </p:nvSpPr>
        <p:spPr>
          <a:xfrm>
            <a:off x="9431121" y="2788920"/>
            <a:ext cx="1998878" cy="11704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431121" y="2788920"/>
            <a:ext cx="1998878"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522561" y="2971800"/>
            <a:ext cx="1815998" cy="713232"/>
          </a:xfrm>
          <a:prstGeom prst="rect">
            <a:avLst/>
          </a:prstGeom>
          <a:noFill/>
        </p:spPr>
        <p:txBody>
          <a:bodyPr wrap="square" anchor="ctr" lIns="54864" rIns="54864" tIns="54864" bIns="54864">
            <a:spAutoFit/>
          </a:bodyPr>
          <a:lstStyle/>
          <a:p>
            <a:pPr algn="ctr">
              <a:spcAft>
                <a:spcPts val="300"/>
              </a:spcAft>
            </a:pPr>
            <a:r>
              <a:rPr sz="1250" b="1">
                <a:solidFill>
                  <a:srgbClr val="161B26"/>
                </a:solidFill>
                <a:latin typeface="Arial"/>
              </a:rPr>
              <a:t>5. Validate refresh</a:t>
            </a:r>
          </a:p>
        </p:txBody>
      </p:sp>
      <p:sp>
        <p:nvSpPr>
          <p:cNvPr id="24" name="Rectangle 23"/>
          <p:cNvSpPr/>
          <p:nvPr/>
        </p:nvSpPr>
        <p:spPr>
          <a:xfrm>
            <a:off x="777240" y="4279392"/>
            <a:ext cx="10652760"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87552" y="4370832"/>
            <a:ext cx="10195560" cy="777240"/>
          </a:xfrm>
          <a:prstGeom prst="rect">
            <a:avLst/>
          </a:prstGeom>
          <a:noFill/>
        </p:spPr>
        <p:txBody>
          <a:bodyPr wrap="square" anchor="ctr" lIns="54864" rIns="54864" tIns="54864" bIns="54864">
            <a:spAutoFit/>
          </a:bodyPr>
          <a:lstStyle/>
          <a:p>
            <a:pPr algn="l">
              <a:spcAft>
                <a:spcPts val="300"/>
              </a:spcAft>
            </a:pPr>
            <a:r>
              <a:rPr sz="1100" b="1">
                <a:solidFill>
                  <a:srgbClr val="10B981"/>
                </a:solidFill>
                <a:latin typeface="Arial"/>
              </a:rPr>
              <a:t>OUTPUT  </a:t>
            </a:r>
            <a:r>
              <a:rPr sz="1300" b="0">
                <a:solidFill>
                  <a:srgbClr val="161B26"/>
                </a:solidFill>
                <a:latin typeface="Arial"/>
              </a:rPr>
              <a:t>A validated Tableau data source, field-role audit, live/extract decision and refreshed .hyper extract</a:t>
            </a:r>
          </a:p>
        </p:txBody>
      </p:sp>
      <p:sp>
        <p:nvSpPr>
          <p:cNvPr id="26" name="TextBox 25"/>
          <p:cNvSpPr txBox="1"/>
          <p:nvPr/>
        </p:nvSpPr>
        <p:spPr>
          <a:xfrm>
            <a:off x="822960" y="5504688"/>
            <a:ext cx="10515600" cy="457200"/>
          </a:xfrm>
          <a:prstGeom prst="rect">
            <a:avLst/>
          </a:prstGeom>
          <a:noFill/>
        </p:spPr>
        <p:txBody>
          <a:bodyPr wrap="square" anchor="t" lIns="54864" rIns="54864" tIns="54864" bIns="54864">
            <a:spAutoFit/>
          </a:bodyPr>
          <a:lstStyle/>
          <a:p>
            <a:pPr algn="ctr">
              <a:spcAft>
                <a:spcPts val="300"/>
              </a:spcAft>
            </a:pPr>
            <a:r>
              <a:rPr sz="1100" b="0">
                <a:solidFill>
                  <a:srgbClr val="5B6372"/>
                </a:solidFill>
                <a:latin typeface="Arial"/>
              </a:rPr>
              <a:t>Detailed click-by-click procedure: Learner Guide and this lab folder · Tools: </a:t>
            </a:r>
            <a:r>
              <a:rPr sz="1100" b="1">
                <a:solidFill>
                  <a:srgbClr val="5B6372"/>
                </a:solidFill>
                <a:latin typeface="Arial"/>
              </a:rPr>
              <a:t>Tableau Desktop · Excel · live connection · extract · metadata</a:t>
            </a:r>
          </a:p>
        </p:txBody>
      </p:sp>
      <p:sp>
        <p:nvSpPr>
          <p:cNvPr id="27" name="TextBox 26"/>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28" name="TextBox 27"/>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29" name="TextBox 28"/>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55</a:t>
            </a:r>
          </a:p>
        </p:txBody>
      </p:sp>
    </p:spTree>
  </p:cSld>
  <p:clrMapOvr>
    <a:masterClrMapping/>
  </p:clrMapOvr>
  <p:transition spd="fast">
    <p:fade/>
  </p:transition>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37744"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47472"/>
            <a:ext cx="10698480" cy="292608"/>
          </a:xfrm>
          <a:prstGeom prst="rect">
            <a:avLst/>
          </a:prstGeom>
          <a:noFill/>
        </p:spPr>
        <p:txBody>
          <a:bodyPr wrap="square" anchor="t" lIns="54864" rIns="54864" tIns="54864" bIns="54864">
            <a:spAutoFit/>
          </a:bodyPr>
          <a:lstStyle/>
          <a:p>
            <a:pPr algn="l">
              <a:spcAft>
                <a:spcPts val="300"/>
              </a:spcAft>
            </a:pPr>
            <a:r>
              <a:rPr sz="1200" b="1">
                <a:solidFill>
                  <a:srgbClr val="10B981"/>
                </a:solidFill>
                <a:latin typeface="Arial"/>
              </a:rPr>
              <a:t>VERIFY THE OUTCOME</a:t>
            </a:r>
          </a:p>
        </p:txBody>
      </p:sp>
      <p:sp>
        <p:nvSpPr>
          <p:cNvPr id="5" name="TextBox 4"/>
          <p:cNvSpPr txBox="1"/>
          <p:nvPr/>
        </p:nvSpPr>
        <p:spPr>
          <a:xfrm>
            <a:off x="749808" y="713232"/>
            <a:ext cx="10744200" cy="731520"/>
          </a:xfrm>
          <a:prstGeom prst="rect">
            <a:avLst/>
          </a:prstGeom>
          <a:noFill/>
        </p:spPr>
        <p:txBody>
          <a:bodyPr wrap="square" anchor="ctr" lIns="54864" rIns="54864" tIns="54864" bIns="54864">
            <a:spAutoFit/>
          </a:bodyPr>
          <a:lstStyle/>
          <a:p>
            <a:pPr algn="l">
              <a:spcAft>
                <a:spcPts val="300"/>
              </a:spcAft>
            </a:pPr>
            <a:r>
              <a:rPr sz="2700" b="1">
                <a:solidFill>
                  <a:srgbClr val="161B26"/>
                </a:solidFill>
                <a:latin typeface="Arial"/>
              </a:rPr>
              <a:t>Lab 01 — Acceptance Test</a:t>
            </a:r>
          </a:p>
        </p:txBody>
      </p:sp>
      <p:sp>
        <p:nvSpPr>
          <p:cNvPr id="6" name="Rectangle 5"/>
          <p:cNvSpPr/>
          <p:nvPr/>
        </p:nvSpPr>
        <p:spPr>
          <a:xfrm>
            <a:off x="749808" y="1536192"/>
            <a:ext cx="106984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965960"/>
            <a:ext cx="10652760" cy="228600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240280"/>
            <a:ext cx="9966960" cy="457200"/>
          </a:xfrm>
          <a:prstGeom prst="rect">
            <a:avLst/>
          </a:prstGeom>
          <a:noFill/>
        </p:spPr>
        <p:txBody>
          <a:bodyPr wrap="square" anchor="t" lIns="54864" rIns="54864" tIns="54864" bIns="54864">
            <a:spAutoFit/>
          </a:bodyPr>
          <a:lstStyle/>
          <a:p>
            <a:pPr algn="l">
              <a:spcAft>
                <a:spcPts val="300"/>
              </a:spcAft>
            </a:pPr>
            <a:r>
              <a:rPr sz="1900" b="1">
                <a:solidFill>
                  <a:srgbClr val="127A3E"/>
                </a:solidFill>
                <a:latin typeface="Arial"/>
              </a:rPr>
              <a:t>✓  Evidence standard</a:t>
            </a:r>
          </a:p>
        </p:txBody>
      </p:sp>
      <p:sp>
        <p:nvSpPr>
          <p:cNvPr id="9" name="TextBox 8"/>
          <p:cNvSpPr txBox="1"/>
          <p:nvPr/>
        </p:nvSpPr>
        <p:spPr>
          <a:xfrm>
            <a:off x="1097280" y="2880360"/>
            <a:ext cx="9875520" cy="1051560"/>
          </a:xfrm>
          <a:prstGeom prst="rect">
            <a:avLst/>
          </a:prstGeom>
          <a:noFill/>
        </p:spPr>
        <p:txBody>
          <a:bodyPr wrap="square" anchor="ctr" lIns="54864" rIns="54864" tIns="54864" bIns="54864">
            <a:spAutoFit/>
          </a:bodyPr>
          <a:lstStyle/>
          <a:p>
            <a:pPr algn="l">
              <a:spcAft>
                <a:spcPts val="300"/>
              </a:spcAft>
            </a:pPr>
            <a:r>
              <a:rPr sz="1600" b="0">
                <a:solidFill>
                  <a:srgbClr val="161B26"/>
                </a:solidFill>
                <a:latin typeface="Arial"/>
              </a:rPr>
              <a:t>The source has the expected row count and date range, geographic fields are recognised, currency/percentage defaults are correct, and the extract refreshes without errors.</a:t>
            </a:r>
          </a:p>
        </p:txBody>
      </p:sp>
      <p:sp>
        <p:nvSpPr>
          <p:cNvPr id="10" name="TextBox 9"/>
          <p:cNvSpPr txBox="1"/>
          <p:nvPr/>
        </p:nvSpPr>
        <p:spPr>
          <a:xfrm>
            <a:off x="868680" y="4754880"/>
            <a:ext cx="10424160" cy="640080"/>
          </a:xfrm>
          <a:prstGeom prst="rect">
            <a:avLst/>
          </a:prstGeom>
          <a:noFill/>
        </p:spPr>
        <p:txBody>
          <a:bodyPr wrap="square" anchor="t" lIns="54864" rIns="54864" tIns="54864" bIns="54864">
            <a:spAutoFit/>
          </a:bodyPr>
          <a:lstStyle/>
          <a:p>
            <a:pPr algn="ctr">
              <a:spcAft>
                <a:spcPts val="300"/>
              </a:spcAft>
            </a:pPr>
            <a:r>
              <a:rPr sz="1300" b="0">
                <a:solidFill>
                  <a:srgbClr val="5B6372"/>
                </a:solidFill>
                <a:latin typeface="Arial"/>
              </a:rPr>
              <a:t>Submit the Tableau workbook, requested screenshots/exports and completed acceptance-checklist.md from the lab folder.</a:t>
            </a:r>
          </a:p>
        </p:txBody>
      </p:sp>
      <p:sp>
        <p:nvSpPr>
          <p:cNvPr id="11" name="TextBox 10"/>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12" name="TextBox 11"/>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13" name="TextBox 12"/>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56</a:t>
            </a:r>
          </a:p>
        </p:txBody>
      </p:sp>
    </p:spTree>
  </p:cSld>
  <p:clrMapOvr>
    <a:masterClrMapping/>
  </p:clrMapOvr>
  <p:transition spd="fast">
    <p:fade/>
  </p:transition>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37744"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47472"/>
            <a:ext cx="10698480" cy="292608"/>
          </a:xfrm>
          <a:prstGeom prst="rect">
            <a:avLst/>
          </a:prstGeom>
          <a:noFill/>
        </p:spPr>
        <p:txBody>
          <a:bodyPr wrap="square" anchor="t" lIns="54864" rIns="54864" tIns="54864" bIns="54864">
            <a:spAutoFit/>
          </a:bodyPr>
          <a:lstStyle/>
          <a:p>
            <a:pPr algn="l">
              <a:spcAft>
                <a:spcPts val="300"/>
              </a:spcAft>
            </a:pPr>
            <a:r>
              <a:rPr sz="1200" b="1">
                <a:solidFill>
                  <a:srgbClr val="10B981"/>
                </a:solidFill>
                <a:latin typeface="Arial"/>
              </a:rPr>
              <a:t>LAB 02 · TOPIC 01 · OVERVIEW ONLY</a:t>
            </a:r>
          </a:p>
        </p:txBody>
      </p:sp>
      <p:sp>
        <p:nvSpPr>
          <p:cNvPr id="5" name="TextBox 4"/>
          <p:cNvSpPr txBox="1"/>
          <p:nvPr/>
        </p:nvSpPr>
        <p:spPr>
          <a:xfrm>
            <a:off x="749808" y="713232"/>
            <a:ext cx="10744200" cy="731520"/>
          </a:xfrm>
          <a:prstGeom prst="rect">
            <a:avLst/>
          </a:prstGeom>
          <a:noFill/>
        </p:spPr>
        <p:txBody>
          <a:bodyPr wrap="square" anchor="ctr" lIns="54864" rIns="54864" tIns="54864" bIns="54864">
            <a:spAutoFit/>
          </a:bodyPr>
          <a:lstStyle/>
          <a:p>
            <a:pPr algn="l">
              <a:spcAft>
                <a:spcPts val="300"/>
              </a:spcAft>
            </a:pPr>
            <a:r>
              <a:rPr sz="2700" b="1">
                <a:solidFill>
                  <a:srgbClr val="161B26"/>
                </a:solidFill>
                <a:latin typeface="Arial"/>
              </a:rPr>
              <a:t>Model Orders, Returns, Products and Targets</a:t>
            </a:r>
          </a:p>
        </p:txBody>
      </p:sp>
      <p:sp>
        <p:nvSpPr>
          <p:cNvPr id="6" name="Rectangle 5"/>
          <p:cNvSpPr/>
          <p:nvPr/>
        </p:nvSpPr>
        <p:spPr>
          <a:xfrm>
            <a:off x="749808" y="1536192"/>
            <a:ext cx="106984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64792"/>
            <a:ext cx="10652760" cy="749808"/>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87552" y="1847088"/>
            <a:ext cx="10241280" cy="566928"/>
          </a:xfrm>
          <a:prstGeom prst="rect">
            <a:avLst/>
          </a:prstGeom>
          <a:noFill/>
        </p:spPr>
        <p:txBody>
          <a:bodyPr wrap="square" anchor="ctr" lIns="54864" rIns="54864" tIns="54864" bIns="54864">
            <a:spAutoFit/>
          </a:bodyPr>
          <a:lstStyle/>
          <a:p>
            <a:pPr algn="l">
              <a:spcAft>
                <a:spcPts val="300"/>
              </a:spcAft>
            </a:pPr>
            <a:r>
              <a:rPr sz="1400" b="0">
                <a:solidFill>
                  <a:srgbClr val="161B26"/>
                </a:solidFill>
                <a:latin typeface="Arial"/>
              </a:rPr>
              <a:t>GreenBasket Grocers wants sales, returns and monthly targets analysed without duplicating measures across different table grains.</a:t>
            </a:r>
          </a:p>
        </p:txBody>
      </p:sp>
      <p:sp>
        <p:nvSpPr>
          <p:cNvPr id="9" name="Rectangle 8"/>
          <p:cNvSpPr/>
          <p:nvPr/>
        </p:nvSpPr>
        <p:spPr>
          <a:xfrm>
            <a:off x="777240" y="2788920"/>
            <a:ext cx="1998878" cy="11704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2788920"/>
            <a:ext cx="1998878"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2971800"/>
            <a:ext cx="1815998" cy="713232"/>
          </a:xfrm>
          <a:prstGeom prst="rect">
            <a:avLst/>
          </a:prstGeom>
          <a:noFill/>
        </p:spPr>
        <p:txBody>
          <a:bodyPr wrap="square" anchor="ctr" lIns="54864" rIns="54864" tIns="54864" bIns="54864">
            <a:spAutoFit/>
          </a:bodyPr>
          <a:lstStyle/>
          <a:p>
            <a:pPr algn="ctr">
              <a:spcAft>
                <a:spcPts val="300"/>
              </a:spcAft>
            </a:pPr>
            <a:r>
              <a:rPr sz="1250" b="1">
                <a:solidFill>
                  <a:srgbClr val="161B26"/>
                </a:solidFill>
                <a:latin typeface="Arial"/>
              </a:rPr>
              <a:t>1. Inspect grains</a:t>
            </a:r>
          </a:p>
        </p:txBody>
      </p:sp>
      <p:sp>
        <p:nvSpPr>
          <p:cNvPr id="12" name="Rectangle 11"/>
          <p:cNvSpPr/>
          <p:nvPr/>
        </p:nvSpPr>
        <p:spPr>
          <a:xfrm>
            <a:off x="2940710" y="2788920"/>
            <a:ext cx="1998878" cy="11704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940710" y="2788920"/>
            <a:ext cx="199887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032150" y="2971800"/>
            <a:ext cx="1815998" cy="713232"/>
          </a:xfrm>
          <a:prstGeom prst="rect">
            <a:avLst/>
          </a:prstGeom>
          <a:noFill/>
        </p:spPr>
        <p:txBody>
          <a:bodyPr wrap="square" anchor="ctr" lIns="54864" rIns="54864" tIns="54864" bIns="54864">
            <a:spAutoFit/>
          </a:bodyPr>
          <a:lstStyle/>
          <a:p>
            <a:pPr algn="ctr">
              <a:spcAft>
                <a:spcPts val="300"/>
              </a:spcAft>
            </a:pPr>
            <a:r>
              <a:rPr sz="1250" b="1">
                <a:solidFill>
                  <a:srgbClr val="161B26"/>
                </a:solidFill>
                <a:latin typeface="Arial"/>
              </a:rPr>
              <a:t>2. Relate tables</a:t>
            </a:r>
          </a:p>
        </p:txBody>
      </p:sp>
      <p:sp>
        <p:nvSpPr>
          <p:cNvPr id="15" name="Rectangle 14"/>
          <p:cNvSpPr/>
          <p:nvPr/>
        </p:nvSpPr>
        <p:spPr>
          <a:xfrm>
            <a:off x="5104180" y="2788920"/>
            <a:ext cx="1998878" cy="11704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104180" y="2788920"/>
            <a:ext cx="1998878"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195620" y="2971800"/>
            <a:ext cx="1815998" cy="713232"/>
          </a:xfrm>
          <a:prstGeom prst="rect">
            <a:avLst/>
          </a:prstGeom>
          <a:noFill/>
        </p:spPr>
        <p:txBody>
          <a:bodyPr wrap="square" anchor="ctr" lIns="54864" rIns="54864" tIns="54864" bIns="54864">
            <a:spAutoFit/>
          </a:bodyPr>
          <a:lstStyle/>
          <a:p>
            <a:pPr algn="ctr">
              <a:spcAft>
                <a:spcPts val="300"/>
              </a:spcAft>
            </a:pPr>
            <a:r>
              <a:rPr sz="1250" b="1">
                <a:solidFill>
                  <a:srgbClr val="161B26"/>
                </a:solidFill>
                <a:latin typeface="Arial"/>
              </a:rPr>
              <a:t>3. Validate keys</a:t>
            </a:r>
          </a:p>
        </p:txBody>
      </p:sp>
      <p:sp>
        <p:nvSpPr>
          <p:cNvPr id="18" name="Rectangle 17"/>
          <p:cNvSpPr/>
          <p:nvPr/>
        </p:nvSpPr>
        <p:spPr>
          <a:xfrm>
            <a:off x="7267651" y="2788920"/>
            <a:ext cx="1998878" cy="11704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267651" y="2788920"/>
            <a:ext cx="1998878"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59091" y="2971800"/>
            <a:ext cx="1815998" cy="713232"/>
          </a:xfrm>
          <a:prstGeom prst="rect">
            <a:avLst/>
          </a:prstGeom>
          <a:noFill/>
        </p:spPr>
        <p:txBody>
          <a:bodyPr wrap="square" anchor="ctr" lIns="54864" rIns="54864" tIns="54864" bIns="54864">
            <a:spAutoFit/>
          </a:bodyPr>
          <a:lstStyle/>
          <a:p>
            <a:pPr algn="ctr">
              <a:spcAft>
                <a:spcPts val="300"/>
              </a:spcAft>
            </a:pPr>
            <a:r>
              <a:rPr sz="1250" b="1">
                <a:solidFill>
                  <a:srgbClr val="161B26"/>
                </a:solidFill>
                <a:latin typeface="Arial"/>
              </a:rPr>
              <a:t>4. Compare join</a:t>
            </a:r>
          </a:p>
        </p:txBody>
      </p:sp>
      <p:sp>
        <p:nvSpPr>
          <p:cNvPr id="21" name="Rectangle 20"/>
          <p:cNvSpPr/>
          <p:nvPr/>
        </p:nvSpPr>
        <p:spPr>
          <a:xfrm>
            <a:off x="9431121" y="2788920"/>
            <a:ext cx="1998878" cy="11704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431121" y="2788920"/>
            <a:ext cx="1998878"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522561" y="2971800"/>
            <a:ext cx="1815998" cy="713232"/>
          </a:xfrm>
          <a:prstGeom prst="rect">
            <a:avLst/>
          </a:prstGeom>
          <a:noFill/>
        </p:spPr>
        <p:txBody>
          <a:bodyPr wrap="square" anchor="ctr" lIns="54864" rIns="54864" tIns="54864" bIns="54864">
            <a:spAutoFit/>
          </a:bodyPr>
          <a:lstStyle/>
          <a:p>
            <a:pPr algn="ctr">
              <a:spcAft>
                <a:spcPts val="300"/>
              </a:spcAft>
            </a:pPr>
            <a:r>
              <a:rPr sz="1250" b="1">
                <a:solidFill>
                  <a:srgbClr val="161B26"/>
                </a:solidFill>
                <a:latin typeface="Arial"/>
              </a:rPr>
              <a:t>5. Prove totals</a:t>
            </a:r>
          </a:p>
        </p:txBody>
      </p:sp>
      <p:sp>
        <p:nvSpPr>
          <p:cNvPr id="24" name="Rectangle 23"/>
          <p:cNvSpPr/>
          <p:nvPr/>
        </p:nvSpPr>
        <p:spPr>
          <a:xfrm>
            <a:off x="777240" y="4279392"/>
            <a:ext cx="10652760"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87552" y="4370832"/>
            <a:ext cx="10195560" cy="777240"/>
          </a:xfrm>
          <a:prstGeom prst="rect">
            <a:avLst/>
          </a:prstGeom>
          <a:noFill/>
        </p:spPr>
        <p:txBody>
          <a:bodyPr wrap="square" anchor="ctr" lIns="54864" rIns="54864" tIns="54864" bIns="54864">
            <a:spAutoFit/>
          </a:bodyPr>
          <a:lstStyle/>
          <a:p>
            <a:pPr algn="l">
              <a:spcAft>
                <a:spcPts val="300"/>
              </a:spcAft>
            </a:pPr>
            <a:r>
              <a:rPr sz="1100" b="1">
                <a:solidFill>
                  <a:srgbClr val="10B981"/>
                </a:solidFill>
                <a:latin typeface="Arial"/>
              </a:rPr>
              <a:t>OUTPUT  </a:t>
            </a:r>
            <a:r>
              <a:rPr sz="1300" b="0">
                <a:solidFill>
                  <a:srgbClr val="161B26"/>
                </a:solidFill>
                <a:latin typeface="Arial"/>
              </a:rPr>
              <a:t>A four-table logical model with validated cardinality, unmatched-key checks and a join-risk comparison</a:t>
            </a:r>
          </a:p>
        </p:txBody>
      </p:sp>
      <p:sp>
        <p:nvSpPr>
          <p:cNvPr id="26" name="TextBox 25"/>
          <p:cNvSpPr txBox="1"/>
          <p:nvPr/>
        </p:nvSpPr>
        <p:spPr>
          <a:xfrm>
            <a:off x="822960" y="5504688"/>
            <a:ext cx="10515600" cy="457200"/>
          </a:xfrm>
          <a:prstGeom prst="rect">
            <a:avLst/>
          </a:prstGeom>
          <a:noFill/>
        </p:spPr>
        <p:txBody>
          <a:bodyPr wrap="square" anchor="t" lIns="54864" rIns="54864" tIns="54864" bIns="54864">
            <a:spAutoFit/>
          </a:bodyPr>
          <a:lstStyle/>
          <a:p>
            <a:pPr algn="ctr">
              <a:spcAft>
                <a:spcPts val="300"/>
              </a:spcAft>
            </a:pPr>
            <a:r>
              <a:rPr sz="1100" b="0">
                <a:solidFill>
                  <a:srgbClr val="5B6372"/>
                </a:solidFill>
                <a:latin typeface="Arial"/>
              </a:rPr>
              <a:t>Detailed click-by-click procedure: Learner Guide and this lab folder · Tools: </a:t>
            </a:r>
            <a:r>
              <a:rPr sz="1100" b="1">
                <a:solidFill>
                  <a:srgbClr val="5B6372"/>
                </a:solidFill>
                <a:latin typeface="Arial"/>
              </a:rPr>
              <a:t>Tableau Desktop · relationships · joins · referential integrity · grain validation</a:t>
            </a:r>
          </a:p>
        </p:txBody>
      </p:sp>
      <p:sp>
        <p:nvSpPr>
          <p:cNvPr id="27" name="TextBox 26"/>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28" name="TextBox 27"/>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29" name="TextBox 28"/>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57</a:t>
            </a:r>
          </a:p>
        </p:txBody>
      </p:sp>
    </p:spTree>
  </p:cSld>
  <p:clrMapOvr>
    <a:masterClrMapping/>
  </p:clrMapOvr>
  <p:transition spd="fast">
    <p:fade/>
  </p:transition>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37744"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47472"/>
            <a:ext cx="10698480" cy="292608"/>
          </a:xfrm>
          <a:prstGeom prst="rect">
            <a:avLst/>
          </a:prstGeom>
          <a:noFill/>
        </p:spPr>
        <p:txBody>
          <a:bodyPr wrap="square" anchor="t" lIns="54864" rIns="54864" tIns="54864" bIns="54864">
            <a:spAutoFit/>
          </a:bodyPr>
          <a:lstStyle/>
          <a:p>
            <a:pPr algn="l">
              <a:spcAft>
                <a:spcPts val="300"/>
              </a:spcAft>
            </a:pPr>
            <a:r>
              <a:rPr sz="1200" b="1">
                <a:solidFill>
                  <a:srgbClr val="10B981"/>
                </a:solidFill>
                <a:latin typeface="Arial"/>
              </a:rPr>
              <a:t>VERIFY THE OUTCOME</a:t>
            </a:r>
          </a:p>
        </p:txBody>
      </p:sp>
      <p:sp>
        <p:nvSpPr>
          <p:cNvPr id="5" name="TextBox 4"/>
          <p:cNvSpPr txBox="1"/>
          <p:nvPr/>
        </p:nvSpPr>
        <p:spPr>
          <a:xfrm>
            <a:off x="749808" y="713232"/>
            <a:ext cx="10744200" cy="731520"/>
          </a:xfrm>
          <a:prstGeom prst="rect">
            <a:avLst/>
          </a:prstGeom>
          <a:noFill/>
        </p:spPr>
        <p:txBody>
          <a:bodyPr wrap="square" anchor="ctr" lIns="54864" rIns="54864" tIns="54864" bIns="54864">
            <a:spAutoFit/>
          </a:bodyPr>
          <a:lstStyle/>
          <a:p>
            <a:pPr algn="l">
              <a:spcAft>
                <a:spcPts val="300"/>
              </a:spcAft>
            </a:pPr>
            <a:r>
              <a:rPr sz="2700" b="1">
                <a:solidFill>
                  <a:srgbClr val="161B26"/>
                </a:solidFill>
                <a:latin typeface="Arial"/>
              </a:rPr>
              <a:t>Lab 02 — Acceptance Test</a:t>
            </a:r>
          </a:p>
        </p:txBody>
      </p:sp>
      <p:sp>
        <p:nvSpPr>
          <p:cNvPr id="6" name="Rectangle 5"/>
          <p:cNvSpPr/>
          <p:nvPr/>
        </p:nvSpPr>
        <p:spPr>
          <a:xfrm>
            <a:off x="749808" y="1536192"/>
            <a:ext cx="106984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965960"/>
            <a:ext cx="10652760" cy="228600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240280"/>
            <a:ext cx="9966960" cy="457200"/>
          </a:xfrm>
          <a:prstGeom prst="rect">
            <a:avLst/>
          </a:prstGeom>
          <a:noFill/>
        </p:spPr>
        <p:txBody>
          <a:bodyPr wrap="square" anchor="t" lIns="54864" rIns="54864" tIns="54864" bIns="54864">
            <a:spAutoFit/>
          </a:bodyPr>
          <a:lstStyle/>
          <a:p>
            <a:pPr algn="l">
              <a:spcAft>
                <a:spcPts val="300"/>
              </a:spcAft>
            </a:pPr>
            <a:r>
              <a:rPr sz="1900" b="1">
                <a:solidFill>
                  <a:srgbClr val="127A3E"/>
                </a:solidFill>
                <a:latin typeface="Arial"/>
              </a:rPr>
              <a:t>✓  Evidence standard</a:t>
            </a:r>
          </a:p>
        </p:txBody>
      </p:sp>
      <p:sp>
        <p:nvSpPr>
          <p:cNvPr id="9" name="TextBox 8"/>
          <p:cNvSpPr txBox="1"/>
          <p:nvPr/>
        </p:nvSpPr>
        <p:spPr>
          <a:xfrm>
            <a:off x="1097280" y="2880360"/>
            <a:ext cx="9875520" cy="1051560"/>
          </a:xfrm>
          <a:prstGeom prst="rect">
            <a:avLst/>
          </a:prstGeom>
          <a:noFill/>
        </p:spPr>
        <p:txBody>
          <a:bodyPr wrap="square" anchor="ctr" lIns="54864" rIns="54864" tIns="54864" bIns="54864">
            <a:spAutoFit/>
          </a:bodyPr>
          <a:lstStyle/>
          <a:p>
            <a:pPr algn="l">
              <a:spcAft>
                <a:spcPts val="300"/>
              </a:spcAft>
            </a:pPr>
            <a:r>
              <a:rPr sz="1600" b="0">
                <a:solidFill>
                  <a:srgbClr val="161B26"/>
                </a:solidFill>
                <a:latin typeface="Arial"/>
              </a:rPr>
              <a:t>Sales matches the control total, Return Count matches the Returns table, targets do not duplicate, and the learner can explain why relationships are safer for the mixed-grain model.</a:t>
            </a:r>
          </a:p>
        </p:txBody>
      </p:sp>
      <p:sp>
        <p:nvSpPr>
          <p:cNvPr id="10" name="TextBox 9"/>
          <p:cNvSpPr txBox="1"/>
          <p:nvPr/>
        </p:nvSpPr>
        <p:spPr>
          <a:xfrm>
            <a:off x="868680" y="4754880"/>
            <a:ext cx="10424160" cy="640080"/>
          </a:xfrm>
          <a:prstGeom prst="rect">
            <a:avLst/>
          </a:prstGeom>
          <a:noFill/>
        </p:spPr>
        <p:txBody>
          <a:bodyPr wrap="square" anchor="t" lIns="54864" rIns="54864" tIns="54864" bIns="54864">
            <a:spAutoFit/>
          </a:bodyPr>
          <a:lstStyle/>
          <a:p>
            <a:pPr algn="ctr">
              <a:spcAft>
                <a:spcPts val="300"/>
              </a:spcAft>
            </a:pPr>
            <a:r>
              <a:rPr sz="1300" b="0">
                <a:solidFill>
                  <a:srgbClr val="5B6372"/>
                </a:solidFill>
                <a:latin typeface="Arial"/>
              </a:rPr>
              <a:t>Submit the Tableau workbook, requested screenshots/exports and completed acceptance-checklist.md from the lab folder.</a:t>
            </a:r>
          </a:p>
        </p:txBody>
      </p:sp>
      <p:sp>
        <p:nvSpPr>
          <p:cNvPr id="11" name="TextBox 10"/>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12" name="TextBox 11"/>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13" name="TextBox 12"/>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58</a:t>
            </a:r>
          </a:p>
        </p:txBody>
      </p:sp>
    </p:spTree>
  </p:cSld>
  <p:clrMapOvr>
    <a:masterClrMapping/>
  </p:clrMapOvr>
  <p:transition spd="fast">
    <p:fade/>
  </p:transition>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37744"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47472"/>
            <a:ext cx="10698480" cy="292608"/>
          </a:xfrm>
          <a:prstGeom prst="rect">
            <a:avLst/>
          </a:prstGeom>
          <a:noFill/>
        </p:spPr>
        <p:txBody>
          <a:bodyPr wrap="square" anchor="t" lIns="54864" rIns="54864" tIns="54864" bIns="54864">
            <a:spAutoFit/>
          </a:bodyPr>
          <a:lstStyle/>
          <a:p>
            <a:pPr algn="l">
              <a:spcAft>
                <a:spcPts val="300"/>
              </a:spcAft>
            </a:pPr>
            <a:r>
              <a:rPr sz="1200" b="1">
                <a:solidFill>
                  <a:srgbClr val="10B981"/>
                </a:solidFill>
                <a:latin typeface="Arial"/>
              </a:rPr>
              <a:t>LAB 03 · TOPIC 01 · OVERVIEW ONLY</a:t>
            </a:r>
          </a:p>
        </p:txBody>
      </p:sp>
      <p:sp>
        <p:nvSpPr>
          <p:cNvPr id="5" name="TextBox 4"/>
          <p:cNvSpPr txBox="1"/>
          <p:nvPr/>
        </p:nvSpPr>
        <p:spPr>
          <a:xfrm>
            <a:off x="749808" y="713232"/>
            <a:ext cx="10744200" cy="731520"/>
          </a:xfrm>
          <a:prstGeom prst="rect">
            <a:avLst/>
          </a:prstGeom>
          <a:noFill/>
        </p:spPr>
        <p:txBody>
          <a:bodyPr wrap="square" anchor="ctr" lIns="54864" rIns="54864" tIns="54864" bIns="54864">
            <a:spAutoFit/>
          </a:bodyPr>
          <a:lstStyle/>
          <a:p>
            <a:pPr algn="l">
              <a:spcAft>
                <a:spcPts val="300"/>
              </a:spcAft>
            </a:pPr>
            <a:r>
              <a:rPr sz="2700" b="1">
                <a:solidFill>
                  <a:srgbClr val="161B26"/>
                </a:solidFill>
                <a:latin typeface="Arial"/>
              </a:rPr>
              <a:t>Union Monthly Files and Join Store Attributes</a:t>
            </a:r>
          </a:p>
        </p:txBody>
      </p:sp>
      <p:sp>
        <p:nvSpPr>
          <p:cNvPr id="6" name="Rectangle 5"/>
          <p:cNvSpPr/>
          <p:nvPr/>
        </p:nvSpPr>
        <p:spPr>
          <a:xfrm>
            <a:off x="749808" y="1536192"/>
            <a:ext cx="106984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64792"/>
            <a:ext cx="10652760" cy="749808"/>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87552" y="1847088"/>
            <a:ext cx="10241280" cy="566928"/>
          </a:xfrm>
          <a:prstGeom prst="rect">
            <a:avLst/>
          </a:prstGeom>
          <a:noFill/>
        </p:spPr>
        <p:txBody>
          <a:bodyPr wrap="square" anchor="ctr" lIns="54864" rIns="54864" tIns="54864" bIns="54864">
            <a:spAutoFit/>
          </a:bodyPr>
          <a:lstStyle/>
          <a:p>
            <a:pPr algn="l">
              <a:spcAft>
                <a:spcPts val="300"/>
              </a:spcAft>
            </a:pPr>
            <a:r>
              <a:rPr sz="1400" b="0">
                <a:solidFill>
                  <a:srgbClr val="161B26"/>
                </a:solidFill>
                <a:latin typeface="Arial"/>
              </a:rPr>
              <a:t>MetroMart receives separate monthly transaction tabs plus a store master and needs one analysis-ready source.</a:t>
            </a:r>
          </a:p>
        </p:txBody>
      </p:sp>
      <p:sp>
        <p:nvSpPr>
          <p:cNvPr id="9" name="Rectangle 8"/>
          <p:cNvSpPr/>
          <p:nvPr/>
        </p:nvSpPr>
        <p:spPr>
          <a:xfrm>
            <a:off x="777240" y="2788920"/>
            <a:ext cx="1998878" cy="11704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2788920"/>
            <a:ext cx="1998878"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2971800"/>
            <a:ext cx="1815998" cy="713232"/>
          </a:xfrm>
          <a:prstGeom prst="rect">
            <a:avLst/>
          </a:prstGeom>
          <a:noFill/>
        </p:spPr>
        <p:txBody>
          <a:bodyPr wrap="square" anchor="ctr" lIns="54864" rIns="54864" tIns="54864" bIns="54864">
            <a:spAutoFit/>
          </a:bodyPr>
          <a:lstStyle/>
          <a:p>
            <a:pPr algn="ctr">
              <a:spcAft>
                <a:spcPts val="300"/>
              </a:spcAft>
            </a:pPr>
            <a:r>
              <a:rPr sz="1250" b="1">
                <a:solidFill>
                  <a:srgbClr val="161B26"/>
                </a:solidFill>
                <a:latin typeface="Arial"/>
              </a:rPr>
              <a:t>1. Union months</a:t>
            </a:r>
          </a:p>
        </p:txBody>
      </p:sp>
      <p:sp>
        <p:nvSpPr>
          <p:cNvPr id="12" name="Rectangle 11"/>
          <p:cNvSpPr/>
          <p:nvPr/>
        </p:nvSpPr>
        <p:spPr>
          <a:xfrm>
            <a:off x="2940710" y="2788920"/>
            <a:ext cx="1998878" cy="11704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940710" y="2788920"/>
            <a:ext cx="199887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032150" y="2971800"/>
            <a:ext cx="1815998" cy="713232"/>
          </a:xfrm>
          <a:prstGeom prst="rect">
            <a:avLst/>
          </a:prstGeom>
          <a:noFill/>
        </p:spPr>
        <p:txBody>
          <a:bodyPr wrap="square" anchor="ctr" lIns="54864" rIns="54864" tIns="54864" bIns="54864">
            <a:spAutoFit/>
          </a:bodyPr>
          <a:lstStyle/>
          <a:p>
            <a:pPr algn="ctr">
              <a:spcAft>
                <a:spcPts val="300"/>
              </a:spcAft>
            </a:pPr>
            <a:r>
              <a:rPr sz="1250" b="1">
                <a:solidFill>
                  <a:srgbClr val="161B26"/>
                </a:solidFill>
                <a:latin typeface="Arial"/>
              </a:rPr>
              <a:t>2. Inspect mismatch</a:t>
            </a:r>
          </a:p>
        </p:txBody>
      </p:sp>
      <p:sp>
        <p:nvSpPr>
          <p:cNvPr id="15" name="Rectangle 14"/>
          <p:cNvSpPr/>
          <p:nvPr/>
        </p:nvSpPr>
        <p:spPr>
          <a:xfrm>
            <a:off x="5104180" y="2788920"/>
            <a:ext cx="1998878" cy="11704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104180" y="2788920"/>
            <a:ext cx="1998878"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195620" y="2971800"/>
            <a:ext cx="1815998" cy="713232"/>
          </a:xfrm>
          <a:prstGeom prst="rect">
            <a:avLst/>
          </a:prstGeom>
          <a:noFill/>
        </p:spPr>
        <p:txBody>
          <a:bodyPr wrap="square" anchor="ctr" lIns="54864" rIns="54864" tIns="54864" bIns="54864">
            <a:spAutoFit/>
          </a:bodyPr>
          <a:lstStyle/>
          <a:p>
            <a:pPr algn="ctr">
              <a:spcAft>
                <a:spcPts val="300"/>
              </a:spcAft>
            </a:pPr>
            <a:r>
              <a:rPr sz="1250" b="1">
                <a:solidFill>
                  <a:srgbClr val="161B26"/>
                </a:solidFill>
                <a:latin typeface="Arial"/>
              </a:rPr>
              <a:t>3. Merge fields</a:t>
            </a:r>
          </a:p>
        </p:txBody>
      </p:sp>
      <p:sp>
        <p:nvSpPr>
          <p:cNvPr id="18" name="Rectangle 17"/>
          <p:cNvSpPr/>
          <p:nvPr/>
        </p:nvSpPr>
        <p:spPr>
          <a:xfrm>
            <a:off x="7267651" y="2788920"/>
            <a:ext cx="1998878" cy="11704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267651" y="2788920"/>
            <a:ext cx="1998878"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59091" y="2971800"/>
            <a:ext cx="1815998" cy="713232"/>
          </a:xfrm>
          <a:prstGeom prst="rect">
            <a:avLst/>
          </a:prstGeom>
          <a:noFill/>
        </p:spPr>
        <p:txBody>
          <a:bodyPr wrap="square" anchor="ctr" lIns="54864" rIns="54864" tIns="54864" bIns="54864">
            <a:spAutoFit/>
          </a:bodyPr>
          <a:lstStyle/>
          <a:p>
            <a:pPr algn="ctr">
              <a:spcAft>
                <a:spcPts val="300"/>
              </a:spcAft>
            </a:pPr>
            <a:r>
              <a:rPr sz="1250" b="1">
                <a:solidFill>
                  <a:srgbClr val="161B26"/>
                </a:solidFill>
                <a:latin typeface="Arial"/>
              </a:rPr>
              <a:t>4. Join stores</a:t>
            </a:r>
          </a:p>
        </p:txBody>
      </p:sp>
      <p:sp>
        <p:nvSpPr>
          <p:cNvPr id="21" name="Rectangle 20"/>
          <p:cNvSpPr/>
          <p:nvPr/>
        </p:nvSpPr>
        <p:spPr>
          <a:xfrm>
            <a:off x="9431121" y="2788920"/>
            <a:ext cx="1998878" cy="11704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431121" y="2788920"/>
            <a:ext cx="1998878"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522561" y="2971800"/>
            <a:ext cx="1815998" cy="713232"/>
          </a:xfrm>
          <a:prstGeom prst="rect">
            <a:avLst/>
          </a:prstGeom>
          <a:noFill/>
        </p:spPr>
        <p:txBody>
          <a:bodyPr wrap="square" anchor="ctr" lIns="54864" rIns="54864" tIns="54864" bIns="54864">
            <a:spAutoFit/>
          </a:bodyPr>
          <a:lstStyle/>
          <a:p>
            <a:pPr algn="ctr">
              <a:spcAft>
                <a:spcPts val="300"/>
              </a:spcAft>
            </a:pPr>
            <a:r>
              <a:rPr sz="1250" b="1">
                <a:solidFill>
                  <a:srgbClr val="161B26"/>
                </a:solidFill>
                <a:latin typeface="Arial"/>
              </a:rPr>
              <a:t>5. Save metadata</a:t>
            </a:r>
          </a:p>
        </p:txBody>
      </p:sp>
      <p:sp>
        <p:nvSpPr>
          <p:cNvPr id="24" name="Rectangle 23"/>
          <p:cNvSpPr/>
          <p:nvPr/>
        </p:nvSpPr>
        <p:spPr>
          <a:xfrm>
            <a:off x="777240" y="4279392"/>
            <a:ext cx="10652760"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87552" y="4370832"/>
            <a:ext cx="10195560" cy="777240"/>
          </a:xfrm>
          <a:prstGeom prst="rect">
            <a:avLst/>
          </a:prstGeom>
          <a:noFill/>
        </p:spPr>
        <p:txBody>
          <a:bodyPr wrap="square" anchor="ctr" lIns="54864" rIns="54864" tIns="54864" bIns="54864">
            <a:spAutoFit/>
          </a:bodyPr>
          <a:lstStyle/>
          <a:p>
            <a:pPr algn="l">
              <a:spcAft>
                <a:spcPts val="300"/>
              </a:spcAft>
            </a:pPr>
            <a:r>
              <a:rPr sz="1100" b="1">
                <a:solidFill>
                  <a:srgbClr val="10B981"/>
                </a:solidFill>
                <a:latin typeface="Arial"/>
              </a:rPr>
              <a:t>OUTPUT  </a:t>
            </a:r>
            <a:r>
              <a:rPr sz="1300" b="0">
                <a:solidFill>
                  <a:srgbClr val="161B26"/>
                </a:solidFill>
                <a:latin typeface="Arial"/>
              </a:rPr>
              <a:t>A three-month union with provenance fields, merged columns, a validated store join and saved data-source metadata</a:t>
            </a:r>
          </a:p>
        </p:txBody>
      </p:sp>
      <p:sp>
        <p:nvSpPr>
          <p:cNvPr id="26" name="TextBox 25"/>
          <p:cNvSpPr txBox="1"/>
          <p:nvPr/>
        </p:nvSpPr>
        <p:spPr>
          <a:xfrm>
            <a:off x="822960" y="5504688"/>
            <a:ext cx="10515600" cy="457200"/>
          </a:xfrm>
          <a:prstGeom prst="rect">
            <a:avLst/>
          </a:prstGeom>
          <a:noFill/>
        </p:spPr>
        <p:txBody>
          <a:bodyPr wrap="square" anchor="t" lIns="54864" rIns="54864" tIns="54864" bIns="54864">
            <a:spAutoFit/>
          </a:bodyPr>
          <a:lstStyle/>
          <a:p>
            <a:pPr algn="ctr">
              <a:spcAft>
                <a:spcPts val="300"/>
              </a:spcAft>
            </a:pPr>
            <a:r>
              <a:rPr sz="1100" b="0">
                <a:solidFill>
                  <a:srgbClr val="5B6372"/>
                </a:solidFill>
                <a:latin typeface="Arial"/>
              </a:rPr>
              <a:t>Detailed click-by-click procedure: Learner Guide and this lab folder · Tools: </a:t>
            </a:r>
            <a:r>
              <a:rPr sz="1100" b="1">
                <a:solidFill>
                  <a:srgbClr val="5B6372"/>
                </a:solidFill>
                <a:latin typeface="Arial"/>
              </a:rPr>
              <a:t>Tableau Desktop · unions · wildcard patterns · joins · aliases · .tds/.tdsx</a:t>
            </a:r>
          </a:p>
        </p:txBody>
      </p:sp>
      <p:sp>
        <p:nvSpPr>
          <p:cNvPr id="27" name="TextBox 26"/>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28" name="TextBox 27"/>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29" name="TextBox 28"/>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59</a:t>
            </a:r>
          </a:p>
        </p:txBody>
      </p:sp>
    </p:spTree>
  </p:cSld>
  <p:clrMapOvr>
    <a:masterClrMapping/>
  </p:clrMapOvr>
  <p:transition spd="fast">
    <p:fade/>
  </p:transition>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37744"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47472"/>
            <a:ext cx="10698480" cy="292608"/>
          </a:xfrm>
          <a:prstGeom prst="rect">
            <a:avLst/>
          </a:prstGeom>
          <a:noFill/>
        </p:spPr>
        <p:txBody>
          <a:bodyPr wrap="square" anchor="t" lIns="54864" rIns="54864" tIns="54864" bIns="54864">
            <a:spAutoFit/>
          </a:bodyPr>
          <a:lstStyle/>
          <a:p>
            <a:pPr algn="l">
              <a:spcAft>
                <a:spcPts val="300"/>
              </a:spcAft>
            </a:pPr>
            <a:r>
              <a:rPr sz="1200" b="1">
                <a:solidFill>
                  <a:srgbClr val="10B981"/>
                </a:solidFill>
                <a:latin typeface="Arial"/>
              </a:rPr>
              <a:t>VERIFY THE OUTCOME</a:t>
            </a:r>
          </a:p>
        </p:txBody>
      </p:sp>
      <p:sp>
        <p:nvSpPr>
          <p:cNvPr id="5" name="TextBox 4"/>
          <p:cNvSpPr txBox="1"/>
          <p:nvPr/>
        </p:nvSpPr>
        <p:spPr>
          <a:xfrm>
            <a:off x="749808" y="713232"/>
            <a:ext cx="10744200" cy="731520"/>
          </a:xfrm>
          <a:prstGeom prst="rect">
            <a:avLst/>
          </a:prstGeom>
          <a:noFill/>
        </p:spPr>
        <p:txBody>
          <a:bodyPr wrap="square" anchor="ctr" lIns="54864" rIns="54864" tIns="54864" bIns="54864">
            <a:spAutoFit/>
          </a:bodyPr>
          <a:lstStyle/>
          <a:p>
            <a:pPr algn="l">
              <a:spcAft>
                <a:spcPts val="300"/>
              </a:spcAft>
            </a:pPr>
            <a:r>
              <a:rPr sz="2700" b="1">
                <a:solidFill>
                  <a:srgbClr val="161B26"/>
                </a:solidFill>
                <a:latin typeface="Arial"/>
              </a:rPr>
              <a:t>Lab 03 — Acceptance Test</a:t>
            </a:r>
          </a:p>
        </p:txBody>
      </p:sp>
      <p:sp>
        <p:nvSpPr>
          <p:cNvPr id="6" name="Rectangle 5"/>
          <p:cNvSpPr/>
          <p:nvPr/>
        </p:nvSpPr>
        <p:spPr>
          <a:xfrm>
            <a:off x="749808" y="1536192"/>
            <a:ext cx="106984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965960"/>
            <a:ext cx="10652760" cy="228600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240280"/>
            <a:ext cx="9966960" cy="457200"/>
          </a:xfrm>
          <a:prstGeom prst="rect">
            <a:avLst/>
          </a:prstGeom>
          <a:noFill/>
        </p:spPr>
        <p:txBody>
          <a:bodyPr wrap="square" anchor="t" lIns="54864" rIns="54864" tIns="54864" bIns="54864">
            <a:spAutoFit/>
          </a:bodyPr>
          <a:lstStyle/>
          <a:p>
            <a:pPr algn="l">
              <a:spcAft>
                <a:spcPts val="300"/>
              </a:spcAft>
            </a:pPr>
            <a:r>
              <a:rPr sz="1900" b="1">
                <a:solidFill>
                  <a:srgbClr val="127A3E"/>
                </a:solidFill>
                <a:latin typeface="Arial"/>
              </a:rPr>
              <a:t>✓  Evidence standard</a:t>
            </a:r>
          </a:p>
        </p:txBody>
      </p:sp>
      <p:sp>
        <p:nvSpPr>
          <p:cNvPr id="9" name="TextBox 8"/>
          <p:cNvSpPr txBox="1"/>
          <p:nvPr/>
        </p:nvSpPr>
        <p:spPr>
          <a:xfrm>
            <a:off x="1097280" y="2880360"/>
            <a:ext cx="9875520" cy="1051560"/>
          </a:xfrm>
          <a:prstGeom prst="rect">
            <a:avLst/>
          </a:prstGeom>
          <a:noFill/>
        </p:spPr>
        <p:txBody>
          <a:bodyPr wrap="square" anchor="ctr" lIns="54864" rIns="54864" tIns="54864" bIns="54864">
            <a:spAutoFit/>
          </a:bodyPr>
          <a:lstStyle/>
          <a:p>
            <a:pPr algn="l">
              <a:spcAft>
                <a:spcPts val="300"/>
              </a:spcAft>
            </a:pPr>
            <a:r>
              <a:rPr sz="1600" b="0">
                <a:solidFill>
                  <a:srgbClr val="161B26"/>
                </a:solidFill>
                <a:latin typeface="Arial"/>
              </a:rPr>
              <a:t>All three months appear, merged sales has no avoidable nulls, record counts match Control, the left join preserves transactions, and the saved source opens with metadata intact.</a:t>
            </a:r>
          </a:p>
        </p:txBody>
      </p:sp>
      <p:sp>
        <p:nvSpPr>
          <p:cNvPr id="10" name="TextBox 9"/>
          <p:cNvSpPr txBox="1"/>
          <p:nvPr/>
        </p:nvSpPr>
        <p:spPr>
          <a:xfrm>
            <a:off x="868680" y="4754880"/>
            <a:ext cx="10424160" cy="640080"/>
          </a:xfrm>
          <a:prstGeom prst="rect">
            <a:avLst/>
          </a:prstGeom>
          <a:noFill/>
        </p:spPr>
        <p:txBody>
          <a:bodyPr wrap="square" anchor="t" lIns="54864" rIns="54864" tIns="54864" bIns="54864">
            <a:spAutoFit/>
          </a:bodyPr>
          <a:lstStyle/>
          <a:p>
            <a:pPr algn="ctr">
              <a:spcAft>
                <a:spcPts val="300"/>
              </a:spcAft>
            </a:pPr>
            <a:r>
              <a:rPr sz="1300" b="0">
                <a:solidFill>
                  <a:srgbClr val="5B6372"/>
                </a:solidFill>
                <a:latin typeface="Arial"/>
              </a:rPr>
              <a:t>Submit the Tableau workbook, requested screenshots/exports and completed acceptance-checklist.md from the lab folder.</a:t>
            </a:r>
          </a:p>
        </p:txBody>
      </p:sp>
      <p:sp>
        <p:nvSpPr>
          <p:cNvPr id="11" name="TextBox 10"/>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12" name="TextBox 11"/>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13" name="TextBox 12"/>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60</a:t>
            </a:r>
          </a:p>
        </p:txBody>
      </p:sp>
    </p:spTree>
  </p:cSld>
  <p:clrMapOvr>
    <a:masterClrMapping/>
  </p:clrMapOvr>
  <p:transition spd="fast">
    <p:fade/>
  </p:transition>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37744"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47472"/>
            <a:ext cx="10698480" cy="292608"/>
          </a:xfrm>
          <a:prstGeom prst="rect">
            <a:avLst/>
          </a:prstGeom>
          <a:noFill/>
        </p:spPr>
        <p:txBody>
          <a:bodyPr wrap="square" anchor="t" lIns="54864" rIns="54864" tIns="54864" bIns="54864">
            <a:spAutoFit/>
          </a:bodyPr>
          <a:lstStyle/>
          <a:p>
            <a:pPr algn="l">
              <a:spcAft>
                <a:spcPts val="300"/>
              </a:spcAft>
            </a:pPr>
            <a:r>
              <a:rPr sz="1200" b="1">
                <a:solidFill>
                  <a:srgbClr val="10B981"/>
                </a:solidFill>
                <a:latin typeface="Arial"/>
              </a:rPr>
              <a:t>LAB 11 · TOPIC 01 · OVERVIEW ONLY</a:t>
            </a:r>
          </a:p>
        </p:txBody>
      </p:sp>
      <p:sp>
        <p:nvSpPr>
          <p:cNvPr id="5" name="TextBox 4"/>
          <p:cNvSpPr txBox="1"/>
          <p:nvPr/>
        </p:nvSpPr>
        <p:spPr>
          <a:xfrm>
            <a:off x="749808" y="713232"/>
            <a:ext cx="10744200" cy="731520"/>
          </a:xfrm>
          <a:prstGeom prst="rect">
            <a:avLst/>
          </a:prstGeom>
          <a:noFill/>
        </p:spPr>
        <p:txBody>
          <a:bodyPr wrap="square" anchor="ctr" lIns="54864" rIns="54864" tIns="54864" bIns="54864">
            <a:spAutoFit/>
          </a:bodyPr>
          <a:lstStyle/>
          <a:p>
            <a:pPr algn="l">
              <a:spcAft>
                <a:spcPts val="300"/>
              </a:spcAft>
            </a:pPr>
            <a:r>
              <a:rPr sz="2300" b="1">
                <a:solidFill>
                  <a:srgbClr val="161B26"/>
                </a:solidFill>
                <a:latin typeface="Arial"/>
              </a:rPr>
              <a:t>Cleanse a Messy Sales Extract with Tableau Prep Builder</a:t>
            </a:r>
          </a:p>
        </p:txBody>
      </p:sp>
      <p:sp>
        <p:nvSpPr>
          <p:cNvPr id="6" name="Rectangle 5"/>
          <p:cNvSpPr/>
          <p:nvPr/>
        </p:nvSpPr>
        <p:spPr>
          <a:xfrm>
            <a:off x="749808" y="1536192"/>
            <a:ext cx="106984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64792"/>
            <a:ext cx="10652760" cy="749808"/>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87552" y="1847088"/>
            <a:ext cx="10241280" cy="566928"/>
          </a:xfrm>
          <a:prstGeom prst="rect">
            <a:avLst/>
          </a:prstGeom>
          <a:noFill/>
        </p:spPr>
        <p:txBody>
          <a:bodyPr wrap="square" anchor="ctr" lIns="54864" rIns="54864" tIns="54864" bIns="54864">
            <a:spAutoFit/>
          </a:bodyPr>
          <a:lstStyle/>
          <a:p>
            <a:pPr algn="l">
              <a:spcAft>
                <a:spcPts val="300"/>
              </a:spcAft>
            </a:pPr>
            <a:r>
              <a:rPr sz="1400" b="0">
                <a:solidFill>
                  <a:srgbClr val="161B26"/>
                </a:solidFill>
                <a:latin typeface="Arial"/>
              </a:rPr>
              <a:t>Harbourfront Trading exports raw transactions with currency text, inconsistent city spellings, split name fields, duplicate rows and wide monthly budget columns. Analysts need one governed, refreshable clean table before any Tableau Desktop analysis.</a:t>
            </a:r>
          </a:p>
        </p:txBody>
      </p:sp>
      <p:sp>
        <p:nvSpPr>
          <p:cNvPr id="9" name="Rectangle 8"/>
          <p:cNvSpPr/>
          <p:nvPr/>
        </p:nvSpPr>
        <p:spPr>
          <a:xfrm>
            <a:off x="777240" y="2788920"/>
            <a:ext cx="1638300" cy="11704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2788920"/>
            <a:ext cx="1638300"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2971800"/>
            <a:ext cx="1455420" cy="713232"/>
          </a:xfrm>
          <a:prstGeom prst="rect">
            <a:avLst/>
          </a:prstGeom>
          <a:noFill/>
        </p:spPr>
        <p:txBody>
          <a:bodyPr wrap="square" anchor="ctr" lIns="54864" rIns="54864" tIns="54864" bIns="54864">
            <a:spAutoFit/>
          </a:bodyPr>
          <a:lstStyle/>
          <a:p>
            <a:pPr algn="ctr">
              <a:spcAft>
                <a:spcPts val="300"/>
              </a:spcAft>
            </a:pPr>
            <a:r>
              <a:rPr sz="1250" b="1">
                <a:solidFill>
                  <a:srgbClr val="161B26"/>
                </a:solidFill>
                <a:latin typeface="Arial"/>
              </a:rPr>
              <a:t>1. Profile input</a:t>
            </a:r>
          </a:p>
        </p:txBody>
      </p:sp>
      <p:sp>
        <p:nvSpPr>
          <p:cNvPr id="12" name="Rectangle 11"/>
          <p:cNvSpPr/>
          <p:nvPr/>
        </p:nvSpPr>
        <p:spPr>
          <a:xfrm>
            <a:off x="2580132" y="2788920"/>
            <a:ext cx="1638300" cy="11704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580132" y="2788920"/>
            <a:ext cx="163830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671572" y="2971800"/>
            <a:ext cx="1455420" cy="713232"/>
          </a:xfrm>
          <a:prstGeom prst="rect">
            <a:avLst/>
          </a:prstGeom>
          <a:noFill/>
        </p:spPr>
        <p:txBody>
          <a:bodyPr wrap="square" anchor="ctr" lIns="54864" rIns="54864" tIns="54864" bIns="54864">
            <a:spAutoFit/>
          </a:bodyPr>
          <a:lstStyle/>
          <a:p>
            <a:pPr algn="ctr">
              <a:spcAft>
                <a:spcPts val="300"/>
              </a:spcAft>
            </a:pPr>
            <a:r>
              <a:rPr sz="1250" b="1">
                <a:solidFill>
                  <a:srgbClr val="161B26"/>
                </a:solidFill>
                <a:latin typeface="Arial"/>
              </a:rPr>
              <a:t>2. Fix types</a:t>
            </a:r>
          </a:p>
        </p:txBody>
      </p:sp>
      <p:sp>
        <p:nvSpPr>
          <p:cNvPr id="15" name="Rectangle 14"/>
          <p:cNvSpPr/>
          <p:nvPr/>
        </p:nvSpPr>
        <p:spPr>
          <a:xfrm>
            <a:off x="4383024" y="2788920"/>
            <a:ext cx="1638300" cy="11704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83024" y="2788920"/>
            <a:ext cx="1638300"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74463" y="2971800"/>
            <a:ext cx="1455420" cy="713232"/>
          </a:xfrm>
          <a:prstGeom prst="rect">
            <a:avLst/>
          </a:prstGeom>
          <a:noFill/>
        </p:spPr>
        <p:txBody>
          <a:bodyPr wrap="square" anchor="ctr" lIns="54864" rIns="54864" tIns="54864" bIns="54864">
            <a:spAutoFit/>
          </a:bodyPr>
          <a:lstStyle/>
          <a:p>
            <a:pPr algn="ctr">
              <a:spcAft>
                <a:spcPts val="300"/>
              </a:spcAft>
            </a:pPr>
            <a:r>
              <a:rPr sz="1250" b="1">
                <a:solidFill>
                  <a:srgbClr val="161B26"/>
                </a:solidFill>
                <a:latin typeface="Arial"/>
              </a:rPr>
              <a:t>3. Clean and split</a:t>
            </a:r>
          </a:p>
        </p:txBody>
      </p:sp>
      <p:sp>
        <p:nvSpPr>
          <p:cNvPr id="18" name="Rectangle 17"/>
          <p:cNvSpPr/>
          <p:nvPr/>
        </p:nvSpPr>
        <p:spPr>
          <a:xfrm>
            <a:off x="6185916" y="2788920"/>
            <a:ext cx="1638300" cy="11704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85916" y="2788920"/>
            <a:ext cx="1638300"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77355" y="2971800"/>
            <a:ext cx="1455420" cy="713232"/>
          </a:xfrm>
          <a:prstGeom prst="rect">
            <a:avLst/>
          </a:prstGeom>
          <a:noFill/>
        </p:spPr>
        <p:txBody>
          <a:bodyPr wrap="square" anchor="ctr" lIns="54864" rIns="54864" tIns="54864" bIns="54864">
            <a:spAutoFit/>
          </a:bodyPr>
          <a:lstStyle/>
          <a:p>
            <a:pPr algn="ctr">
              <a:spcAft>
                <a:spcPts val="300"/>
              </a:spcAft>
            </a:pPr>
            <a:r>
              <a:rPr sz="1250" b="1">
                <a:solidFill>
                  <a:srgbClr val="161B26"/>
                </a:solidFill>
                <a:latin typeface="Arial"/>
              </a:rPr>
              <a:t>4. Group members</a:t>
            </a:r>
          </a:p>
        </p:txBody>
      </p:sp>
      <p:sp>
        <p:nvSpPr>
          <p:cNvPr id="21" name="Rectangle 20"/>
          <p:cNvSpPr/>
          <p:nvPr/>
        </p:nvSpPr>
        <p:spPr>
          <a:xfrm>
            <a:off x="7988808" y="2788920"/>
            <a:ext cx="1638300" cy="11704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988808" y="2788920"/>
            <a:ext cx="1638300"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080247" y="2971800"/>
            <a:ext cx="1455420" cy="713232"/>
          </a:xfrm>
          <a:prstGeom prst="rect">
            <a:avLst/>
          </a:prstGeom>
          <a:noFill/>
        </p:spPr>
        <p:txBody>
          <a:bodyPr wrap="square" anchor="ctr" lIns="54864" rIns="54864" tIns="54864" bIns="54864">
            <a:spAutoFit/>
          </a:bodyPr>
          <a:lstStyle/>
          <a:p>
            <a:pPr algn="ctr">
              <a:spcAft>
                <a:spcPts val="300"/>
              </a:spcAft>
            </a:pPr>
            <a:r>
              <a:rPr sz="1250" b="1">
                <a:solidFill>
                  <a:srgbClr val="161B26"/>
                </a:solidFill>
                <a:latin typeface="Arial"/>
              </a:rPr>
              <a:t>5. Pivot and join</a:t>
            </a:r>
          </a:p>
        </p:txBody>
      </p:sp>
      <p:sp>
        <p:nvSpPr>
          <p:cNvPr id="24" name="Rectangle 23"/>
          <p:cNvSpPr/>
          <p:nvPr/>
        </p:nvSpPr>
        <p:spPr>
          <a:xfrm>
            <a:off x="9791700" y="2788920"/>
            <a:ext cx="1638300" cy="11704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791700" y="2788920"/>
            <a:ext cx="163830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883140" y="2971800"/>
            <a:ext cx="1455420" cy="713232"/>
          </a:xfrm>
          <a:prstGeom prst="rect">
            <a:avLst/>
          </a:prstGeom>
          <a:noFill/>
        </p:spPr>
        <p:txBody>
          <a:bodyPr wrap="square" anchor="ctr" lIns="54864" rIns="54864" tIns="54864" bIns="54864">
            <a:spAutoFit/>
          </a:bodyPr>
          <a:lstStyle/>
          <a:p>
            <a:pPr algn="ctr">
              <a:spcAft>
                <a:spcPts val="300"/>
              </a:spcAft>
            </a:pPr>
            <a:r>
              <a:rPr sz="1250" b="1">
                <a:solidFill>
                  <a:srgbClr val="161B26"/>
                </a:solidFill>
                <a:latin typeface="Arial"/>
              </a:rPr>
              <a:t>6. Output flow</a:t>
            </a:r>
          </a:p>
        </p:txBody>
      </p:sp>
      <p:sp>
        <p:nvSpPr>
          <p:cNvPr id="27" name="Rectangle 26"/>
          <p:cNvSpPr/>
          <p:nvPr/>
        </p:nvSpPr>
        <p:spPr>
          <a:xfrm>
            <a:off x="777240" y="4279392"/>
            <a:ext cx="10652760"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87552" y="4370832"/>
            <a:ext cx="10195560" cy="777240"/>
          </a:xfrm>
          <a:prstGeom prst="rect">
            <a:avLst/>
          </a:prstGeom>
          <a:noFill/>
        </p:spPr>
        <p:txBody>
          <a:bodyPr wrap="square" anchor="ctr" lIns="54864" rIns="54864" tIns="54864" bIns="54864">
            <a:spAutoFit/>
          </a:bodyPr>
          <a:lstStyle/>
          <a:p>
            <a:pPr algn="l">
              <a:spcAft>
                <a:spcPts val="300"/>
              </a:spcAft>
            </a:pPr>
            <a:r>
              <a:rPr sz="1100" b="1">
                <a:solidFill>
                  <a:srgbClr val="10B981"/>
                </a:solidFill>
                <a:latin typeface="Arial"/>
              </a:rPr>
              <a:t>OUTPUT  </a:t>
            </a:r>
            <a:r>
              <a:rPr sz="1300" b="0">
                <a:solidFill>
                  <a:srgbClr val="161B26"/>
                </a:solidFill>
                <a:latin typeface="Arial"/>
              </a:rPr>
              <a:t>A saved Tableau Prep flow (.tfl) with Input, Clean, Split, Group and Replace, Pivot, Union, Join and Output steps, plus a cleaned .hyper or CSV output and a documented change list</a:t>
            </a:r>
          </a:p>
        </p:txBody>
      </p:sp>
      <p:sp>
        <p:nvSpPr>
          <p:cNvPr id="29" name="TextBox 28"/>
          <p:cNvSpPr txBox="1"/>
          <p:nvPr/>
        </p:nvSpPr>
        <p:spPr>
          <a:xfrm>
            <a:off x="822960" y="5504688"/>
            <a:ext cx="10515600" cy="457200"/>
          </a:xfrm>
          <a:prstGeom prst="rect">
            <a:avLst/>
          </a:prstGeom>
          <a:noFill/>
        </p:spPr>
        <p:txBody>
          <a:bodyPr wrap="square" anchor="t" lIns="54864" rIns="54864" tIns="54864" bIns="54864">
            <a:spAutoFit/>
          </a:bodyPr>
          <a:lstStyle/>
          <a:p>
            <a:pPr algn="ctr">
              <a:spcAft>
                <a:spcPts val="300"/>
              </a:spcAft>
            </a:pPr>
            <a:r>
              <a:rPr sz="1100" b="0">
                <a:solidFill>
                  <a:srgbClr val="5B6372"/>
                </a:solidFill>
                <a:latin typeface="Arial"/>
              </a:rPr>
              <a:t>Detailed click-by-click procedure: Learner Guide and this lab folder · Tools: </a:t>
            </a:r>
            <a:r>
              <a:rPr sz="1100" b="1">
                <a:solidFill>
                  <a:srgbClr val="5B6372"/>
                </a:solidFill>
                <a:latin typeface="Arial"/>
              </a:rPr>
              <a:t>Tableau Prep Builder · profile pane · clean step · split · group and replace · pivot · union · join · output</a:t>
            </a:r>
          </a:p>
        </p:txBody>
      </p:sp>
      <p:sp>
        <p:nvSpPr>
          <p:cNvPr id="30" name="TextBox 29"/>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31" name="TextBox 30"/>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32" name="TextBox 31"/>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61</a:t>
            </a:r>
          </a:p>
        </p:txBody>
      </p:sp>
    </p:spTree>
  </p:cSld>
  <p:clrMapOvr>
    <a:masterClrMapping/>
  </p:clrMapOvr>
  <p:transition spd="fast">
    <p:fade/>
  </p:transition>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37744"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47472"/>
            <a:ext cx="10698480" cy="292608"/>
          </a:xfrm>
          <a:prstGeom prst="rect">
            <a:avLst/>
          </a:prstGeom>
          <a:noFill/>
        </p:spPr>
        <p:txBody>
          <a:bodyPr wrap="square" anchor="t" lIns="54864" rIns="54864" tIns="54864" bIns="54864">
            <a:spAutoFit/>
          </a:bodyPr>
          <a:lstStyle/>
          <a:p>
            <a:pPr algn="l">
              <a:spcAft>
                <a:spcPts val="300"/>
              </a:spcAft>
            </a:pPr>
            <a:r>
              <a:rPr sz="1200" b="1">
                <a:solidFill>
                  <a:srgbClr val="10B981"/>
                </a:solidFill>
                <a:latin typeface="Arial"/>
              </a:rPr>
              <a:t>VERIFY THE OUTCOME</a:t>
            </a:r>
          </a:p>
        </p:txBody>
      </p:sp>
      <p:sp>
        <p:nvSpPr>
          <p:cNvPr id="5" name="TextBox 4"/>
          <p:cNvSpPr txBox="1"/>
          <p:nvPr/>
        </p:nvSpPr>
        <p:spPr>
          <a:xfrm>
            <a:off x="749808" y="713232"/>
            <a:ext cx="10744200" cy="731520"/>
          </a:xfrm>
          <a:prstGeom prst="rect">
            <a:avLst/>
          </a:prstGeom>
          <a:noFill/>
        </p:spPr>
        <p:txBody>
          <a:bodyPr wrap="square" anchor="ctr" lIns="54864" rIns="54864" tIns="54864" bIns="54864">
            <a:spAutoFit/>
          </a:bodyPr>
          <a:lstStyle/>
          <a:p>
            <a:pPr algn="l">
              <a:spcAft>
                <a:spcPts val="300"/>
              </a:spcAft>
            </a:pPr>
            <a:r>
              <a:rPr sz="2700" b="1">
                <a:solidFill>
                  <a:srgbClr val="161B26"/>
                </a:solidFill>
                <a:latin typeface="Arial"/>
              </a:rPr>
              <a:t>Lab 11 — Acceptance Test</a:t>
            </a:r>
          </a:p>
        </p:txBody>
      </p:sp>
      <p:sp>
        <p:nvSpPr>
          <p:cNvPr id="6" name="Rectangle 5"/>
          <p:cNvSpPr/>
          <p:nvPr/>
        </p:nvSpPr>
        <p:spPr>
          <a:xfrm>
            <a:off x="749808" y="1536192"/>
            <a:ext cx="106984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965960"/>
            <a:ext cx="10652760" cy="228600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240280"/>
            <a:ext cx="9966960" cy="457200"/>
          </a:xfrm>
          <a:prstGeom prst="rect">
            <a:avLst/>
          </a:prstGeom>
          <a:noFill/>
        </p:spPr>
        <p:txBody>
          <a:bodyPr wrap="square" anchor="t" lIns="54864" rIns="54864" tIns="54864" bIns="54864">
            <a:spAutoFit/>
          </a:bodyPr>
          <a:lstStyle/>
          <a:p>
            <a:pPr algn="l">
              <a:spcAft>
                <a:spcPts val="300"/>
              </a:spcAft>
            </a:pPr>
            <a:r>
              <a:rPr sz="1900" b="1">
                <a:solidFill>
                  <a:srgbClr val="127A3E"/>
                </a:solidFill>
                <a:latin typeface="Arial"/>
              </a:rPr>
              <a:t>✓  Evidence standard</a:t>
            </a:r>
          </a:p>
        </p:txBody>
      </p:sp>
      <p:sp>
        <p:nvSpPr>
          <p:cNvPr id="9" name="TextBox 8"/>
          <p:cNvSpPr txBox="1"/>
          <p:nvPr/>
        </p:nvSpPr>
        <p:spPr>
          <a:xfrm>
            <a:off x="1097280" y="2880360"/>
            <a:ext cx="9875520" cy="1051560"/>
          </a:xfrm>
          <a:prstGeom prst="rect">
            <a:avLst/>
          </a:prstGeom>
          <a:noFill/>
        </p:spPr>
        <p:txBody>
          <a:bodyPr wrap="square" anchor="ctr" lIns="54864" rIns="54864" tIns="54864" bIns="54864">
            <a:spAutoFit/>
          </a:bodyPr>
          <a:lstStyle/>
          <a:p>
            <a:pPr algn="l">
              <a:spcAft>
                <a:spcPts val="300"/>
              </a:spcAft>
            </a:pPr>
            <a:r>
              <a:rPr sz="1600" b="0">
                <a:solidFill>
                  <a:srgbClr val="161B26"/>
                </a:solidFill>
                <a:latin typeface="Arial"/>
              </a:rPr>
              <a:t>The flow runs end to end without errors; Price Paid is numeric, duplicates and invalid rows are removed, city members are standardised, budgets are pivoted long, the union has no avoidable nulls, the join does not multiply rows, and the output reconciles to the Control sheet.</a:t>
            </a:r>
          </a:p>
        </p:txBody>
      </p:sp>
      <p:sp>
        <p:nvSpPr>
          <p:cNvPr id="10" name="TextBox 9"/>
          <p:cNvSpPr txBox="1"/>
          <p:nvPr/>
        </p:nvSpPr>
        <p:spPr>
          <a:xfrm>
            <a:off x="868680" y="4754880"/>
            <a:ext cx="10424160" cy="640080"/>
          </a:xfrm>
          <a:prstGeom prst="rect">
            <a:avLst/>
          </a:prstGeom>
          <a:noFill/>
        </p:spPr>
        <p:txBody>
          <a:bodyPr wrap="square" anchor="t" lIns="54864" rIns="54864" tIns="54864" bIns="54864">
            <a:spAutoFit/>
          </a:bodyPr>
          <a:lstStyle/>
          <a:p>
            <a:pPr algn="ctr">
              <a:spcAft>
                <a:spcPts val="300"/>
              </a:spcAft>
            </a:pPr>
            <a:r>
              <a:rPr sz="1300" b="0">
                <a:solidFill>
                  <a:srgbClr val="5B6372"/>
                </a:solidFill>
                <a:latin typeface="Arial"/>
              </a:rPr>
              <a:t>Submit the Tableau workbook, requested screenshots/exports and completed acceptance-checklist.md from the lab folder.</a:t>
            </a:r>
          </a:p>
        </p:txBody>
      </p:sp>
      <p:sp>
        <p:nvSpPr>
          <p:cNvPr id="11" name="TextBox 10"/>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12" name="TextBox 11"/>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13" name="TextBox 12"/>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62</a:t>
            </a:r>
          </a:p>
        </p:txBody>
      </p:sp>
    </p:spTree>
  </p:cSld>
  <p:clrMapOvr>
    <a:masterClrMapping/>
  </p:clrMapOvr>
  <p:transition spd="fast">
    <p:fade/>
  </p:transition>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37744"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47472"/>
            <a:ext cx="10698480" cy="292608"/>
          </a:xfrm>
          <a:prstGeom prst="rect">
            <a:avLst/>
          </a:prstGeom>
          <a:noFill/>
        </p:spPr>
        <p:txBody>
          <a:bodyPr wrap="square" anchor="t" lIns="54864" rIns="54864" tIns="54864" bIns="54864">
            <a:spAutoFit/>
          </a:bodyPr>
          <a:lstStyle/>
          <a:p>
            <a:pPr algn="l">
              <a:spcAft>
                <a:spcPts val="300"/>
              </a:spcAft>
            </a:pPr>
            <a:r>
              <a:rPr sz="1200" b="1">
                <a:solidFill>
                  <a:srgbClr val="1F6FEB"/>
                </a:solidFill>
                <a:latin typeface="Arial"/>
              </a:rPr>
              <a:t>RECAP</a:t>
            </a:r>
          </a:p>
        </p:txBody>
      </p:sp>
      <p:sp>
        <p:nvSpPr>
          <p:cNvPr id="5" name="TextBox 4"/>
          <p:cNvSpPr txBox="1"/>
          <p:nvPr/>
        </p:nvSpPr>
        <p:spPr>
          <a:xfrm>
            <a:off x="749808" y="713232"/>
            <a:ext cx="10744200" cy="731520"/>
          </a:xfrm>
          <a:prstGeom prst="rect">
            <a:avLst/>
          </a:prstGeom>
          <a:noFill/>
        </p:spPr>
        <p:txBody>
          <a:bodyPr wrap="square" anchor="ctr" lIns="54864" rIns="54864" tIns="54864" bIns="54864">
            <a:spAutoFit/>
          </a:bodyPr>
          <a:lstStyle/>
          <a:p>
            <a:pPr algn="l">
              <a:spcAft>
                <a:spcPts val="300"/>
              </a:spcAft>
            </a:pPr>
            <a:r>
              <a:rPr sz="2700" b="1">
                <a:solidFill>
                  <a:srgbClr val="161B26"/>
                </a:solidFill>
                <a:latin typeface="Arial"/>
              </a:rPr>
              <a:t>Topic 01 — Exam Check</a:t>
            </a:r>
          </a:p>
        </p:txBody>
      </p:sp>
      <p:sp>
        <p:nvSpPr>
          <p:cNvPr id="6" name="Rectangle 5"/>
          <p:cNvSpPr/>
          <p:nvPr/>
        </p:nvSpPr>
        <p:spPr>
          <a:xfrm>
            <a:off x="749808" y="1536192"/>
            <a:ext cx="106984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8096"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68096" y="1764792"/>
            <a:ext cx="82296" cy="206197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96695" y="2548890"/>
            <a:ext cx="493776" cy="49377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5"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1</a:t>
            </a:r>
          </a:p>
        </p:txBody>
      </p:sp>
      <p:sp>
        <p:nvSpPr>
          <p:cNvPr id="11" name="TextBox 10"/>
          <p:cNvSpPr txBox="1"/>
          <p:nvPr/>
        </p:nvSpPr>
        <p:spPr>
          <a:xfrm>
            <a:off x="1664207"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Explain</a:t>
            </a:r>
          </a:p>
          <a:p>
            <a:pPr algn="l">
              <a:spcAft>
                <a:spcPts val="300"/>
              </a:spcAft>
            </a:pPr>
            <a:r>
              <a:rPr sz="1200" b="0">
                <a:solidFill>
                  <a:srgbClr val="5B6372"/>
                </a:solidFill>
                <a:latin typeface="Arial"/>
              </a:rPr>
              <a:t>Define the key ideas in connecting to and preparing data in tableau desktop.</a:t>
            </a:r>
          </a:p>
        </p:txBody>
      </p:sp>
      <p:sp>
        <p:nvSpPr>
          <p:cNvPr id="12" name="Rectangle 11"/>
          <p:cNvSpPr/>
          <p:nvPr/>
        </p:nvSpPr>
        <p:spPr>
          <a:xfrm>
            <a:off x="6222492"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22492" y="1764792"/>
            <a:ext cx="82296" cy="206197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51092" y="2548890"/>
            <a:ext cx="493776" cy="49377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51092"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2</a:t>
            </a:r>
          </a:p>
        </p:txBody>
      </p:sp>
      <p:sp>
        <p:nvSpPr>
          <p:cNvPr id="16" name="TextBox 15"/>
          <p:cNvSpPr txBox="1"/>
          <p:nvPr/>
        </p:nvSpPr>
        <p:spPr>
          <a:xfrm>
            <a:off x="7118604"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Choose</a:t>
            </a:r>
          </a:p>
          <a:p>
            <a:pPr algn="l">
              <a:spcAft>
                <a:spcPts val="300"/>
              </a:spcAft>
            </a:pPr>
            <a:r>
              <a:rPr sz="1200" b="0">
                <a:solidFill>
                  <a:srgbClr val="5B6372"/>
                </a:solidFill>
                <a:latin typeface="Arial"/>
              </a:rPr>
              <a:t>Select the right feature from a short business scenario.</a:t>
            </a:r>
          </a:p>
        </p:txBody>
      </p:sp>
      <p:sp>
        <p:nvSpPr>
          <p:cNvPr id="17" name="Rectangle 16"/>
          <p:cNvSpPr/>
          <p:nvPr/>
        </p:nvSpPr>
        <p:spPr>
          <a:xfrm>
            <a:off x="768096"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68096" y="4046220"/>
            <a:ext cx="82296" cy="206197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96695" y="4830318"/>
            <a:ext cx="493776" cy="49377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96695"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3</a:t>
            </a:r>
          </a:p>
        </p:txBody>
      </p:sp>
      <p:sp>
        <p:nvSpPr>
          <p:cNvPr id="21" name="TextBox 20"/>
          <p:cNvSpPr txBox="1"/>
          <p:nvPr/>
        </p:nvSpPr>
        <p:spPr>
          <a:xfrm>
            <a:off x="1664207"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Predict</a:t>
            </a:r>
          </a:p>
          <a:p>
            <a:pPr algn="l">
              <a:spcAft>
                <a:spcPts val="300"/>
              </a:spcAft>
            </a:pPr>
            <a:r>
              <a:rPr sz="1200" b="0">
                <a:solidFill>
                  <a:srgbClr val="5B6372"/>
                </a:solidFill>
                <a:latin typeface="Arial"/>
              </a:rPr>
              <a:t>Reason about the result of shelf, model or formatting changes.</a:t>
            </a:r>
          </a:p>
        </p:txBody>
      </p:sp>
      <p:sp>
        <p:nvSpPr>
          <p:cNvPr id="22" name="Rectangle 21"/>
          <p:cNvSpPr/>
          <p:nvPr/>
        </p:nvSpPr>
        <p:spPr>
          <a:xfrm>
            <a:off x="6222492"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22492" y="4046220"/>
            <a:ext cx="82296" cy="206197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51092" y="4830318"/>
            <a:ext cx="493776" cy="49377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51092"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4</a:t>
            </a:r>
          </a:p>
        </p:txBody>
      </p:sp>
      <p:sp>
        <p:nvSpPr>
          <p:cNvPr id="26" name="TextBox 25"/>
          <p:cNvSpPr txBox="1"/>
          <p:nvPr/>
        </p:nvSpPr>
        <p:spPr>
          <a:xfrm>
            <a:off x="7118604"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Prove</a:t>
            </a:r>
          </a:p>
          <a:p>
            <a:pPr algn="l">
              <a:spcAft>
                <a:spcPts val="300"/>
              </a:spcAft>
            </a:pPr>
            <a:r>
              <a:rPr sz="1200" b="0">
                <a:solidFill>
                  <a:srgbClr val="5B6372"/>
                </a:solidFill>
                <a:latin typeface="Arial"/>
              </a:rPr>
              <a:t>Use the lab workbook and acceptance evidence to validate the outcome.</a:t>
            </a:r>
          </a:p>
        </p:txBody>
      </p:sp>
      <p:sp>
        <p:nvSpPr>
          <p:cNvPr id="27" name="TextBox 26"/>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28" name="TextBox 27"/>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29" name="TextBox 28"/>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63</a:t>
            </a:r>
          </a:p>
        </p:txBody>
      </p:sp>
    </p:spTree>
  </p:cSld>
  <p:clrMapOvr>
    <a:masterClrMapping/>
  </p:clrMapOvr>
  <p:transition spd="fast">
    <p:fade/>
  </p:transition>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148840"/>
            <a:ext cx="109728" cy="19659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148840"/>
            <a:ext cx="9601200" cy="365760"/>
          </a:xfrm>
          <a:prstGeom prst="rect">
            <a:avLst/>
          </a:prstGeom>
          <a:noFill/>
        </p:spPr>
        <p:txBody>
          <a:bodyPr wrap="square" anchor="t" lIns="54864" rIns="54864" tIns="54864" bIns="54864">
            <a:spAutoFit/>
          </a:bodyPr>
          <a:lstStyle/>
          <a:p>
            <a:pPr algn="l">
              <a:spcAft>
                <a:spcPts val="300"/>
              </a:spcAft>
            </a:pPr>
            <a:r>
              <a:rPr sz="1600" b="1">
                <a:solidFill>
                  <a:srgbClr val="1F6FEB"/>
                </a:solidFill>
                <a:latin typeface="Arial"/>
              </a:rPr>
              <a:t>TOPIC 02</a:t>
            </a:r>
          </a:p>
        </p:txBody>
      </p:sp>
      <p:sp>
        <p:nvSpPr>
          <p:cNvPr id="6" name="TextBox 5"/>
          <p:cNvSpPr txBox="1"/>
          <p:nvPr/>
        </p:nvSpPr>
        <p:spPr>
          <a:xfrm>
            <a:off x="1143000" y="2560320"/>
            <a:ext cx="9875520" cy="1463040"/>
          </a:xfrm>
          <a:prstGeom prst="rect">
            <a:avLst/>
          </a:prstGeom>
          <a:noFill/>
        </p:spPr>
        <p:txBody>
          <a:bodyPr wrap="square" anchor="ctr" lIns="54864" rIns="54864" tIns="54864" bIns="54864">
            <a:spAutoFit/>
          </a:bodyPr>
          <a:lstStyle/>
          <a:p>
            <a:pPr algn="l">
              <a:spcAft>
                <a:spcPts val="300"/>
              </a:spcAft>
            </a:pPr>
            <a:r>
              <a:rPr sz="3500" b="1">
                <a:solidFill>
                  <a:srgbClr val="161B26"/>
                </a:solidFill>
                <a:latin typeface="Arial"/>
              </a:rPr>
              <a:t>Exploring and Analyzing Data in Tableau Desktop</a:t>
            </a:r>
          </a:p>
        </p:txBody>
      </p:sp>
      <p:sp>
        <p:nvSpPr>
          <p:cNvPr id="7" name="TextBox 6"/>
          <p:cNvSpPr txBox="1"/>
          <p:nvPr/>
        </p:nvSpPr>
        <p:spPr>
          <a:xfrm>
            <a:off x="1161288" y="4160520"/>
            <a:ext cx="9692640" cy="640080"/>
          </a:xfrm>
          <a:prstGeom prst="rect">
            <a:avLst/>
          </a:prstGeom>
          <a:noFill/>
        </p:spPr>
        <p:txBody>
          <a:bodyPr wrap="square" anchor="t" lIns="54864" rIns="54864" tIns="54864" bIns="54864">
            <a:spAutoFit/>
          </a:bodyPr>
          <a:lstStyle/>
          <a:p>
            <a:pPr algn="l">
              <a:spcAft>
                <a:spcPts val="300"/>
              </a:spcAft>
            </a:pPr>
            <a:r>
              <a:rPr sz="1500" b="0">
                <a:solidFill>
                  <a:srgbClr val="5B6372"/>
                </a:solidFill>
                <a:latin typeface="Arial"/>
              </a:rPr>
              <a:t>Official exam weighting 37% · Charts · groups · sets · hierarchies · filters · analytics · calculations</a:t>
            </a:r>
          </a:p>
        </p:txBody>
      </p:sp>
      <p:sp>
        <p:nvSpPr>
          <p:cNvPr id="8" name="TextBox 7"/>
          <p:cNvSpPr txBox="1"/>
          <p:nvPr/>
        </p:nvSpPr>
        <p:spPr>
          <a:xfrm>
            <a:off x="9235440" y="594360"/>
            <a:ext cx="2286000" cy="1371600"/>
          </a:xfrm>
          <a:prstGeom prst="rect">
            <a:avLst/>
          </a:prstGeom>
          <a:noFill/>
        </p:spPr>
        <p:txBody>
          <a:bodyPr wrap="square" anchor="t" lIns="54864" rIns="54864" tIns="54864" bIns="54864">
            <a:spAutoFit/>
          </a:bodyPr>
          <a:lstStyle/>
          <a:p>
            <a:pPr algn="r">
              <a:spcAft>
                <a:spcPts val="300"/>
              </a:spcAft>
            </a:pPr>
            <a:r>
              <a:rPr sz="6400" b="1">
                <a:solidFill>
                  <a:srgbClr val="E2E8F0"/>
                </a:solidFill>
                <a:latin typeface="Arial"/>
              </a:rPr>
              <a:t>02</a:t>
            </a:r>
          </a:p>
        </p:txBody>
      </p:sp>
      <p:sp>
        <p:nvSpPr>
          <p:cNvPr id="9" name="TextBox 8"/>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10" name="TextBox 9"/>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11" name="TextBox 10"/>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64</a:t>
            </a:r>
          </a:p>
        </p:txBody>
      </p:sp>
    </p:spTree>
  </p:cSld>
  <p:clrMapOvr>
    <a:masterClrMapping/>
  </p:clrMapOvr>
  <p:transition spd="fast">
    <p:fade/>
  </p:transition>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37744"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47472"/>
            <a:ext cx="10698480" cy="292608"/>
          </a:xfrm>
          <a:prstGeom prst="rect">
            <a:avLst/>
          </a:prstGeom>
          <a:noFill/>
        </p:spPr>
        <p:txBody>
          <a:bodyPr wrap="square" anchor="t" lIns="54864" rIns="54864" tIns="54864" bIns="54864">
            <a:spAutoFit/>
          </a:bodyPr>
          <a:lstStyle/>
          <a:p>
            <a:pPr algn="l">
              <a:spcAft>
                <a:spcPts val="300"/>
              </a:spcAft>
            </a:pPr>
            <a:r>
              <a:rPr sz="1200" b="1">
                <a:solidFill>
                  <a:srgbClr val="10B981"/>
                </a:solidFill>
                <a:latin typeface="Arial"/>
              </a:rPr>
              <a:t>EXAM WEIGHTING 37%</a:t>
            </a:r>
          </a:p>
        </p:txBody>
      </p:sp>
      <p:sp>
        <p:nvSpPr>
          <p:cNvPr id="5" name="TextBox 4"/>
          <p:cNvSpPr txBox="1"/>
          <p:nvPr/>
        </p:nvSpPr>
        <p:spPr>
          <a:xfrm>
            <a:off x="749808" y="713232"/>
            <a:ext cx="10744200" cy="731520"/>
          </a:xfrm>
          <a:prstGeom prst="rect">
            <a:avLst/>
          </a:prstGeom>
          <a:noFill/>
        </p:spPr>
        <p:txBody>
          <a:bodyPr wrap="square" anchor="ctr" lIns="54864" rIns="54864" tIns="54864" bIns="54864">
            <a:spAutoFit/>
          </a:bodyPr>
          <a:lstStyle/>
          <a:p>
            <a:pPr algn="l">
              <a:spcAft>
                <a:spcPts val="300"/>
              </a:spcAft>
            </a:pPr>
            <a:r>
              <a:rPr sz="2700" b="1">
                <a:solidFill>
                  <a:srgbClr val="161B26"/>
                </a:solidFill>
                <a:latin typeface="Arial"/>
              </a:rPr>
              <a:t>Topic 02 — Core Ideas</a:t>
            </a:r>
          </a:p>
        </p:txBody>
      </p:sp>
      <p:sp>
        <p:nvSpPr>
          <p:cNvPr id="6" name="Rectangle 5"/>
          <p:cNvSpPr/>
          <p:nvPr/>
        </p:nvSpPr>
        <p:spPr>
          <a:xfrm>
            <a:off x="749808" y="1536192"/>
            <a:ext cx="106984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8096"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68096" y="1764792"/>
            <a:ext cx="82296" cy="206197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96695" y="2548890"/>
            <a:ext cx="493776" cy="49377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5"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1</a:t>
            </a:r>
          </a:p>
        </p:txBody>
      </p:sp>
      <p:sp>
        <p:nvSpPr>
          <p:cNvPr id="11" name="TextBox 10"/>
          <p:cNvSpPr txBox="1"/>
          <p:nvPr/>
        </p:nvSpPr>
        <p:spPr>
          <a:xfrm>
            <a:off x="1664207"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Question before chart</a:t>
            </a:r>
          </a:p>
          <a:p>
            <a:pPr algn="l">
              <a:spcAft>
                <a:spcPts val="300"/>
              </a:spcAft>
            </a:pPr>
            <a:r>
              <a:rPr sz="1200" b="0">
                <a:solidFill>
                  <a:srgbClr val="5B6372"/>
                </a:solidFill>
                <a:latin typeface="Arial"/>
              </a:rPr>
              <a:t>Bars compare, lines show time, scatterplots show relationships and maps show location.</a:t>
            </a:r>
          </a:p>
        </p:txBody>
      </p:sp>
      <p:sp>
        <p:nvSpPr>
          <p:cNvPr id="12" name="Rectangle 11"/>
          <p:cNvSpPr/>
          <p:nvPr/>
        </p:nvSpPr>
        <p:spPr>
          <a:xfrm>
            <a:off x="6222492"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22492" y="1764792"/>
            <a:ext cx="82296" cy="206197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51092" y="2548890"/>
            <a:ext cx="493776" cy="49377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51092"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2</a:t>
            </a:r>
          </a:p>
        </p:txBody>
      </p:sp>
      <p:sp>
        <p:nvSpPr>
          <p:cNvPr id="16" name="TextBox 15"/>
          <p:cNvSpPr txBox="1"/>
          <p:nvPr/>
        </p:nvSpPr>
        <p:spPr>
          <a:xfrm>
            <a:off x="7118604"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Structure narrows meaning</a:t>
            </a:r>
          </a:p>
          <a:p>
            <a:pPr algn="l">
              <a:spcAft>
                <a:spcPts val="300"/>
              </a:spcAft>
            </a:pPr>
            <a:r>
              <a:rPr sz="1200" b="0">
                <a:solidFill>
                  <a:srgbClr val="5B6372"/>
                </a:solidFill>
                <a:latin typeface="Arial"/>
              </a:rPr>
              <a:t>Groups, sets, hierarchies, sorts and filters determine the population compared.</a:t>
            </a:r>
          </a:p>
        </p:txBody>
      </p:sp>
      <p:sp>
        <p:nvSpPr>
          <p:cNvPr id="17" name="Rectangle 16"/>
          <p:cNvSpPr/>
          <p:nvPr/>
        </p:nvSpPr>
        <p:spPr>
          <a:xfrm>
            <a:off x="768096"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68096" y="4046220"/>
            <a:ext cx="82296" cy="206197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96695" y="4830318"/>
            <a:ext cx="493776" cy="49377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96695"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3</a:t>
            </a:r>
          </a:p>
        </p:txBody>
      </p:sp>
      <p:sp>
        <p:nvSpPr>
          <p:cNvPr id="21" name="TextBox 20"/>
          <p:cNvSpPr txBox="1"/>
          <p:nvPr/>
        </p:nvSpPr>
        <p:spPr>
          <a:xfrm>
            <a:off x="1664207"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Analytics adds context</a:t>
            </a:r>
          </a:p>
          <a:p>
            <a:pPr algn="l">
              <a:spcAft>
                <a:spcPts val="300"/>
              </a:spcAft>
            </a:pPr>
            <a:r>
              <a:rPr sz="1200" b="0">
                <a:solidFill>
                  <a:srgbClr val="5B6372"/>
                </a:solidFill>
                <a:latin typeface="Arial"/>
              </a:rPr>
              <a:t>Lines, totals, bins, calculations and parameters turn marks into evidence.</a:t>
            </a:r>
          </a:p>
        </p:txBody>
      </p:sp>
      <p:sp>
        <p:nvSpPr>
          <p:cNvPr id="22" name="Rectangle 21"/>
          <p:cNvSpPr/>
          <p:nvPr/>
        </p:nvSpPr>
        <p:spPr>
          <a:xfrm>
            <a:off x="6222492"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22492" y="4046220"/>
            <a:ext cx="82296" cy="206197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51092" y="4830318"/>
            <a:ext cx="493776" cy="49377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51092"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4</a:t>
            </a:r>
          </a:p>
        </p:txBody>
      </p:sp>
      <p:sp>
        <p:nvSpPr>
          <p:cNvPr id="26" name="TextBox 25"/>
          <p:cNvSpPr txBox="1"/>
          <p:nvPr/>
        </p:nvSpPr>
        <p:spPr>
          <a:xfrm>
            <a:off x="7118604"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Order matters</a:t>
            </a:r>
          </a:p>
          <a:p>
            <a:pPr algn="l">
              <a:spcAft>
                <a:spcPts val="300"/>
              </a:spcAft>
            </a:pPr>
            <a:r>
              <a:rPr sz="1200" b="0">
                <a:solidFill>
                  <a:srgbClr val="5B6372"/>
                </a:solidFill>
                <a:latin typeface="Arial"/>
              </a:rPr>
              <a:t>Context, dimension, measure and table-calculation filters execute at different stages.</a:t>
            </a:r>
          </a:p>
        </p:txBody>
      </p:sp>
      <p:sp>
        <p:nvSpPr>
          <p:cNvPr id="27" name="TextBox 26"/>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28" name="TextBox 27"/>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29" name="TextBox 28"/>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65</a:t>
            </a:r>
          </a:p>
        </p:txBody>
      </p:sp>
    </p:spTree>
  </p:cSld>
  <p:clrMapOvr>
    <a:masterClrMapping/>
  </p:clrMapOvr>
  <p:transition spd="fast">
    <p:fade/>
  </p:transition>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37744"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47472"/>
            <a:ext cx="10698480" cy="292608"/>
          </a:xfrm>
          <a:prstGeom prst="rect">
            <a:avLst/>
          </a:prstGeom>
          <a:noFill/>
        </p:spPr>
        <p:txBody>
          <a:bodyPr wrap="square" anchor="t" lIns="54864" rIns="54864" tIns="54864" bIns="54864">
            <a:spAutoFit/>
          </a:bodyPr>
          <a:lstStyle/>
          <a:p>
            <a:pPr algn="l">
              <a:spcAft>
                <a:spcPts val="300"/>
              </a:spcAft>
            </a:pPr>
            <a:r>
              <a:rPr sz="1200" b="1">
                <a:solidFill>
                  <a:srgbClr val="10B981"/>
                </a:solidFill>
                <a:latin typeface="Arial"/>
              </a:rPr>
              <a:t>OFFICIAL SCOPE</a:t>
            </a:r>
          </a:p>
        </p:txBody>
      </p:sp>
      <p:sp>
        <p:nvSpPr>
          <p:cNvPr id="5" name="TextBox 4"/>
          <p:cNvSpPr txBox="1"/>
          <p:nvPr/>
        </p:nvSpPr>
        <p:spPr>
          <a:xfrm>
            <a:off x="749808" y="713232"/>
            <a:ext cx="10744200" cy="731520"/>
          </a:xfrm>
          <a:prstGeom prst="rect">
            <a:avLst/>
          </a:prstGeom>
          <a:noFill/>
        </p:spPr>
        <p:txBody>
          <a:bodyPr wrap="square" anchor="ctr" lIns="54864" rIns="54864" tIns="54864" bIns="54864">
            <a:spAutoFit/>
          </a:bodyPr>
          <a:lstStyle/>
          <a:p>
            <a:pPr algn="l">
              <a:spcAft>
                <a:spcPts val="300"/>
              </a:spcAft>
            </a:pPr>
            <a:r>
              <a:rPr sz="2700" b="1">
                <a:solidFill>
                  <a:srgbClr val="161B26"/>
                </a:solidFill>
                <a:latin typeface="Arial"/>
              </a:rPr>
              <a:t>Topic 02 Blueprint</a:t>
            </a:r>
          </a:p>
        </p:txBody>
      </p:sp>
      <p:sp>
        <p:nvSpPr>
          <p:cNvPr id="6" name="Rectangle 5"/>
          <p:cNvSpPr/>
          <p:nvPr/>
        </p:nvSpPr>
        <p:spPr>
          <a:xfrm>
            <a:off x="749808" y="1536192"/>
            <a:ext cx="106984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8096" y="1783080"/>
            <a:ext cx="3550920" cy="108585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1801368"/>
            <a:ext cx="3477768" cy="1049274"/>
          </a:xfrm>
          <a:prstGeom prst="rect">
            <a:avLst/>
          </a:prstGeom>
          <a:noFill/>
        </p:spPr>
        <p:txBody>
          <a:bodyPr wrap="square" anchor="ctr" lIns="54864" rIns="54864" tIns="54864" bIns="54864">
            <a:spAutoFit/>
          </a:bodyPr>
          <a:lstStyle/>
          <a:p>
            <a:pPr algn="ctr">
              <a:spcAft>
                <a:spcPts val="300"/>
              </a:spcAft>
            </a:pPr>
            <a:r>
              <a:rPr sz="1150" b="1">
                <a:solidFill>
                  <a:srgbClr val="FFFFFF"/>
                </a:solidFill>
                <a:latin typeface="Arial"/>
              </a:rPr>
              <a:t>Objective group</a:t>
            </a:r>
          </a:p>
        </p:txBody>
      </p:sp>
      <p:sp>
        <p:nvSpPr>
          <p:cNvPr id="9" name="Rectangle 8"/>
          <p:cNvSpPr/>
          <p:nvPr/>
        </p:nvSpPr>
        <p:spPr>
          <a:xfrm>
            <a:off x="4319016" y="1783080"/>
            <a:ext cx="3550920" cy="108585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355592" y="1801368"/>
            <a:ext cx="3477768" cy="1049274"/>
          </a:xfrm>
          <a:prstGeom prst="rect">
            <a:avLst/>
          </a:prstGeom>
          <a:noFill/>
        </p:spPr>
        <p:txBody>
          <a:bodyPr wrap="square" anchor="ctr" lIns="54864" rIns="54864" tIns="54864" bIns="54864">
            <a:spAutoFit/>
          </a:bodyPr>
          <a:lstStyle/>
          <a:p>
            <a:pPr algn="ctr">
              <a:spcAft>
                <a:spcPts val="300"/>
              </a:spcAft>
            </a:pPr>
            <a:r>
              <a:rPr sz="1150" b="1">
                <a:solidFill>
                  <a:srgbClr val="FFFFFF"/>
                </a:solidFill>
                <a:latin typeface="Arial"/>
              </a:rPr>
              <a:t>Codes</a:t>
            </a:r>
          </a:p>
        </p:txBody>
      </p:sp>
      <p:sp>
        <p:nvSpPr>
          <p:cNvPr id="11" name="Rectangle 10"/>
          <p:cNvSpPr/>
          <p:nvPr/>
        </p:nvSpPr>
        <p:spPr>
          <a:xfrm>
            <a:off x="7869936" y="1783080"/>
            <a:ext cx="3550920" cy="108585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906512" y="1801368"/>
            <a:ext cx="3477768" cy="1049274"/>
          </a:xfrm>
          <a:prstGeom prst="rect">
            <a:avLst/>
          </a:prstGeom>
          <a:noFill/>
        </p:spPr>
        <p:txBody>
          <a:bodyPr wrap="square" anchor="ctr" lIns="54864" rIns="54864" tIns="54864" bIns="54864">
            <a:spAutoFit/>
          </a:bodyPr>
          <a:lstStyle/>
          <a:p>
            <a:pPr algn="ctr">
              <a:spcAft>
                <a:spcPts val="300"/>
              </a:spcAft>
            </a:pPr>
            <a:r>
              <a:rPr sz="1150" b="1">
                <a:solidFill>
                  <a:srgbClr val="FFFFFF"/>
                </a:solidFill>
                <a:latin typeface="Arial"/>
              </a:rPr>
              <a:t>Objectives</a:t>
            </a:r>
          </a:p>
        </p:txBody>
      </p:sp>
      <p:sp>
        <p:nvSpPr>
          <p:cNvPr id="13" name="Rectangle 12"/>
          <p:cNvSpPr/>
          <p:nvPr/>
        </p:nvSpPr>
        <p:spPr>
          <a:xfrm>
            <a:off x="768096" y="2868930"/>
            <a:ext cx="3550920" cy="108585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 y="2887218"/>
            <a:ext cx="3441192" cy="1049274"/>
          </a:xfrm>
          <a:prstGeom prst="rect">
            <a:avLst/>
          </a:prstGeom>
          <a:noFill/>
        </p:spPr>
        <p:txBody>
          <a:bodyPr wrap="square" anchor="ctr" lIns="54864" rIns="54864" tIns="54864" bIns="54864">
            <a:spAutoFit/>
          </a:bodyPr>
          <a:lstStyle/>
          <a:p>
            <a:pPr algn="l">
              <a:spcAft>
                <a:spcPts val="300"/>
              </a:spcAft>
            </a:pPr>
            <a:r>
              <a:rPr sz="1050" b="1">
                <a:solidFill>
                  <a:srgbClr val="161B26"/>
                </a:solidFill>
                <a:latin typeface="Arial"/>
              </a:rPr>
              <a:t>Create basic charts</a:t>
            </a:r>
          </a:p>
        </p:txBody>
      </p:sp>
      <p:sp>
        <p:nvSpPr>
          <p:cNvPr id="15" name="Rectangle 14"/>
          <p:cNvSpPr/>
          <p:nvPr/>
        </p:nvSpPr>
        <p:spPr>
          <a:xfrm>
            <a:off x="4319016" y="2868930"/>
            <a:ext cx="3550920" cy="108585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73880" y="2887218"/>
            <a:ext cx="3441192" cy="1049274"/>
          </a:xfrm>
          <a:prstGeom prst="rect">
            <a:avLst/>
          </a:prstGeom>
          <a:noFill/>
        </p:spPr>
        <p:txBody>
          <a:bodyPr wrap="square" anchor="ctr" lIns="54864" rIns="54864" tIns="54864" bIns="54864">
            <a:spAutoFit/>
          </a:bodyPr>
          <a:lstStyle/>
          <a:p>
            <a:pPr algn="l">
              <a:spcAft>
                <a:spcPts val="300"/>
              </a:spcAft>
            </a:pPr>
            <a:r>
              <a:rPr sz="1050" b="0">
                <a:solidFill>
                  <a:srgbClr val="161B26"/>
                </a:solidFill>
                <a:latin typeface="Arial"/>
              </a:rPr>
              <a:t>2.1.1–2.1.9</a:t>
            </a:r>
          </a:p>
        </p:txBody>
      </p:sp>
      <p:sp>
        <p:nvSpPr>
          <p:cNvPr id="17" name="Rectangle 16"/>
          <p:cNvSpPr/>
          <p:nvPr/>
        </p:nvSpPr>
        <p:spPr>
          <a:xfrm>
            <a:off x="7869936" y="2868930"/>
            <a:ext cx="3550920" cy="108585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24799" y="2887218"/>
            <a:ext cx="3441192" cy="1049274"/>
          </a:xfrm>
          <a:prstGeom prst="rect">
            <a:avLst/>
          </a:prstGeom>
          <a:noFill/>
        </p:spPr>
        <p:txBody>
          <a:bodyPr wrap="square" anchor="ctr" lIns="54864" rIns="54864" tIns="54864" bIns="54864">
            <a:spAutoFit/>
          </a:bodyPr>
          <a:lstStyle/>
          <a:p>
            <a:pPr algn="l">
              <a:spcAft>
                <a:spcPts val="300"/>
              </a:spcAft>
            </a:pPr>
            <a:r>
              <a:rPr sz="1050" b="0">
                <a:solidFill>
                  <a:srgbClr val="161B26"/>
                </a:solidFill>
                <a:latin typeface="Arial"/>
              </a:rPr>
              <a:t>9</a:t>
            </a:r>
          </a:p>
        </p:txBody>
      </p:sp>
      <p:sp>
        <p:nvSpPr>
          <p:cNvPr id="19" name="Rectangle 18"/>
          <p:cNvSpPr/>
          <p:nvPr/>
        </p:nvSpPr>
        <p:spPr>
          <a:xfrm>
            <a:off x="768096" y="3954780"/>
            <a:ext cx="3550920" cy="108585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60" y="3973068"/>
            <a:ext cx="3441192" cy="1049274"/>
          </a:xfrm>
          <a:prstGeom prst="rect">
            <a:avLst/>
          </a:prstGeom>
          <a:noFill/>
        </p:spPr>
        <p:txBody>
          <a:bodyPr wrap="square" anchor="ctr" lIns="54864" rIns="54864" tIns="54864" bIns="54864">
            <a:spAutoFit/>
          </a:bodyPr>
          <a:lstStyle/>
          <a:p>
            <a:pPr algn="l">
              <a:spcAft>
                <a:spcPts val="300"/>
              </a:spcAft>
            </a:pPr>
            <a:r>
              <a:rPr sz="1050" b="1">
                <a:solidFill>
                  <a:srgbClr val="161B26"/>
                </a:solidFill>
                <a:latin typeface="Arial"/>
              </a:rPr>
              <a:t>Organise data and apply filters</a:t>
            </a:r>
          </a:p>
        </p:txBody>
      </p:sp>
      <p:sp>
        <p:nvSpPr>
          <p:cNvPr id="21" name="Rectangle 20"/>
          <p:cNvSpPr/>
          <p:nvPr/>
        </p:nvSpPr>
        <p:spPr>
          <a:xfrm>
            <a:off x="4319016" y="3954780"/>
            <a:ext cx="3550920" cy="108585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373880" y="3973068"/>
            <a:ext cx="3441192" cy="1049274"/>
          </a:xfrm>
          <a:prstGeom prst="rect">
            <a:avLst/>
          </a:prstGeom>
          <a:noFill/>
        </p:spPr>
        <p:txBody>
          <a:bodyPr wrap="square" anchor="ctr" lIns="54864" rIns="54864" tIns="54864" bIns="54864">
            <a:spAutoFit/>
          </a:bodyPr>
          <a:lstStyle/>
          <a:p>
            <a:pPr algn="l">
              <a:spcAft>
                <a:spcPts val="300"/>
              </a:spcAft>
            </a:pPr>
            <a:r>
              <a:rPr sz="1050" b="0">
                <a:solidFill>
                  <a:srgbClr val="161B26"/>
                </a:solidFill>
                <a:latin typeface="Arial"/>
              </a:rPr>
              <a:t>2.2.1–2.2.5</a:t>
            </a:r>
          </a:p>
        </p:txBody>
      </p:sp>
      <p:sp>
        <p:nvSpPr>
          <p:cNvPr id="23" name="Rectangle 22"/>
          <p:cNvSpPr/>
          <p:nvPr/>
        </p:nvSpPr>
        <p:spPr>
          <a:xfrm>
            <a:off x="7869936" y="3954780"/>
            <a:ext cx="3550920" cy="108585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924799" y="3973068"/>
            <a:ext cx="3441192" cy="1049274"/>
          </a:xfrm>
          <a:prstGeom prst="rect">
            <a:avLst/>
          </a:prstGeom>
          <a:noFill/>
        </p:spPr>
        <p:txBody>
          <a:bodyPr wrap="square" anchor="ctr" lIns="54864" rIns="54864" tIns="54864" bIns="54864">
            <a:spAutoFit/>
          </a:bodyPr>
          <a:lstStyle/>
          <a:p>
            <a:pPr algn="l">
              <a:spcAft>
                <a:spcPts val="300"/>
              </a:spcAft>
            </a:pPr>
            <a:r>
              <a:rPr sz="1050" b="0">
                <a:solidFill>
                  <a:srgbClr val="161B26"/>
                </a:solidFill>
                <a:latin typeface="Arial"/>
              </a:rPr>
              <a:t>5</a:t>
            </a:r>
          </a:p>
        </p:txBody>
      </p:sp>
      <p:sp>
        <p:nvSpPr>
          <p:cNvPr id="25" name="Rectangle 24"/>
          <p:cNvSpPr/>
          <p:nvPr/>
        </p:nvSpPr>
        <p:spPr>
          <a:xfrm>
            <a:off x="768096" y="5040630"/>
            <a:ext cx="3550920" cy="108585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2960" y="5058918"/>
            <a:ext cx="3441192" cy="1049274"/>
          </a:xfrm>
          <a:prstGeom prst="rect">
            <a:avLst/>
          </a:prstGeom>
          <a:noFill/>
        </p:spPr>
        <p:txBody>
          <a:bodyPr wrap="square" anchor="ctr" lIns="54864" rIns="54864" tIns="54864" bIns="54864">
            <a:spAutoFit/>
          </a:bodyPr>
          <a:lstStyle/>
          <a:p>
            <a:pPr algn="l">
              <a:spcAft>
                <a:spcPts val="300"/>
              </a:spcAft>
            </a:pPr>
            <a:r>
              <a:rPr sz="1050" b="1">
                <a:solidFill>
                  <a:srgbClr val="161B26"/>
                </a:solidFill>
                <a:latin typeface="Arial"/>
              </a:rPr>
              <a:t>Apply analytics to a worksheet</a:t>
            </a:r>
          </a:p>
        </p:txBody>
      </p:sp>
      <p:sp>
        <p:nvSpPr>
          <p:cNvPr id="27" name="Rectangle 26"/>
          <p:cNvSpPr/>
          <p:nvPr/>
        </p:nvSpPr>
        <p:spPr>
          <a:xfrm>
            <a:off x="4319016" y="5040630"/>
            <a:ext cx="3550920" cy="108585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373880" y="5058918"/>
            <a:ext cx="3441192" cy="1049274"/>
          </a:xfrm>
          <a:prstGeom prst="rect">
            <a:avLst/>
          </a:prstGeom>
          <a:noFill/>
        </p:spPr>
        <p:txBody>
          <a:bodyPr wrap="square" anchor="ctr" lIns="54864" rIns="54864" tIns="54864" bIns="54864">
            <a:spAutoFit/>
          </a:bodyPr>
          <a:lstStyle/>
          <a:p>
            <a:pPr algn="l">
              <a:spcAft>
                <a:spcPts val="300"/>
              </a:spcAft>
            </a:pPr>
            <a:r>
              <a:rPr sz="1050" b="0">
                <a:solidFill>
                  <a:srgbClr val="161B26"/>
                </a:solidFill>
                <a:latin typeface="Arial"/>
              </a:rPr>
              <a:t>2.3.1–2.3.7</a:t>
            </a:r>
          </a:p>
        </p:txBody>
      </p:sp>
      <p:sp>
        <p:nvSpPr>
          <p:cNvPr id="29" name="Rectangle 28"/>
          <p:cNvSpPr/>
          <p:nvPr/>
        </p:nvSpPr>
        <p:spPr>
          <a:xfrm>
            <a:off x="7869936" y="5040630"/>
            <a:ext cx="3550920" cy="108585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924799" y="5058918"/>
            <a:ext cx="3441192" cy="1049274"/>
          </a:xfrm>
          <a:prstGeom prst="rect">
            <a:avLst/>
          </a:prstGeom>
          <a:noFill/>
        </p:spPr>
        <p:txBody>
          <a:bodyPr wrap="square" anchor="ctr" lIns="54864" rIns="54864" tIns="54864" bIns="54864">
            <a:spAutoFit/>
          </a:bodyPr>
          <a:lstStyle/>
          <a:p>
            <a:pPr algn="l">
              <a:spcAft>
                <a:spcPts val="300"/>
              </a:spcAft>
            </a:pPr>
            <a:r>
              <a:rPr sz="1050" b="0">
                <a:solidFill>
                  <a:srgbClr val="161B26"/>
                </a:solidFill>
                <a:latin typeface="Arial"/>
              </a:rPr>
              <a:t>7</a:t>
            </a:r>
          </a:p>
        </p:txBody>
      </p:sp>
      <p:sp>
        <p:nvSpPr>
          <p:cNvPr id="31" name="TextBox 30"/>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32" name="TextBox 31"/>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33" name="TextBox 32"/>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66</a:t>
            </a:r>
          </a:p>
        </p:txBody>
      </p:sp>
    </p:spTree>
  </p:cSld>
  <p:clrMapOvr>
    <a:masterClrMapping/>
  </p:clrMapOvr>
  <p:transition spd="fast">
    <p:fade/>
  </p:transition>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37744"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47472"/>
            <a:ext cx="10698480" cy="292608"/>
          </a:xfrm>
          <a:prstGeom prst="rect">
            <a:avLst/>
          </a:prstGeom>
          <a:noFill/>
        </p:spPr>
        <p:txBody>
          <a:bodyPr wrap="square" anchor="t" lIns="54864" rIns="54864" tIns="54864" bIns="54864">
            <a:spAutoFit/>
          </a:bodyPr>
          <a:lstStyle/>
          <a:p>
            <a:pPr algn="l">
              <a:spcAft>
                <a:spcPts val="300"/>
              </a:spcAft>
            </a:pPr>
            <a:r>
              <a:rPr sz="1200" b="1">
                <a:solidFill>
                  <a:srgbClr val="10B981"/>
                </a:solidFill>
                <a:latin typeface="Arial"/>
              </a:rPr>
              <a:t>EDITABLE POWERPOINT CHART · LAB PATTERN</a:t>
            </a:r>
          </a:p>
        </p:txBody>
      </p:sp>
      <p:sp>
        <p:nvSpPr>
          <p:cNvPr id="5" name="TextBox 4"/>
          <p:cNvSpPr txBox="1"/>
          <p:nvPr/>
        </p:nvSpPr>
        <p:spPr>
          <a:xfrm>
            <a:off x="749808" y="713232"/>
            <a:ext cx="10744200" cy="731520"/>
          </a:xfrm>
          <a:prstGeom prst="rect">
            <a:avLst/>
          </a:prstGeom>
          <a:noFill/>
        </p:spPr>
        <p:txBody>
          <a:bodyPr wrap="square" anchor="ctr" lIns="54864" rIns="54864" tIns="54864" bIns="54864">
            <a:spAutoFit/>
          </a:bodyPr>
          <a:lstStyle/>
          <a:p>
            <a:pPr algn="l">
              <a:spcAft>
                <a:spcPts val="300"/>
              </a:spcAft>
            </a:pPr>
            <a:r>
              <a:rPr sz="2700" b="1">
                <a:solidFill>
                  <a:srgbClr val="161B26"/>
                </a:solidFill>
                <a:latin typeface="Arial"/>
              </a:rPr>
              <a:t>Synthetic Monthly Sales and Profit</a:t>
            </a:r>
          </a:p>
        </p:txBody>
      </p:sp>
      <p:sp>
        <p:nvSpPr>
          <p:cNvPr id="6" name="Rectangle 5"/>
          <p:cNvSpPr/>
          <p:nvPr/>
        </p:nvSpPr>
        <p:spPr>
          <a:xfrm>
            <a:off x="749808" y="1536192"/>
            <a:ext cx="106984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Chart 6"/>
          <p:cNvGraphicFramePr>
            <a:graphicFrameLocks noGrp="1"/>
          </p:cNvGraphicFramePr>
          <p:nvPr/>
        </p:nvGraphicFramePr>
        <p:xfrm>
          <a:off x="914400" y="1828800"/>
          <a:ext cx="10332720" cy="3886200"/>
        </p:xfrm>
        <a:graphic>
          <a:graphicData uri="http://schemas.openxmlformats.org/drawingml/2006/chart">
            <c:chart xmlns:c="http://schemas.openxmlformats.org/drawingml/2006/chart" r:id="rId2"/>
          </a:graphicData>
        </a:graphic>
      </p:graphicFrame>
      <p:sp>
        <p:nvSpPr>
          <p:cNvPr id="8" name="TextBox 7"/>
          <p:cNvSpPr txBox="1"/>
          <p:nvPr/>
        </p:nvSpPr>
        <p:spPr>
          <a:xfrm>
            <a:off x="914400" y="5760720"/>
            <a:ext cx="10241280" cy="411480"/>
          </a:xfrm>
          <a:prstGeom prst="rect">
            <a:avLst/>
          </a:prstGeom>
          <a:noFill/>
        </p:spPr>
        <p:txBody>
          <a:bodyPr wrap="square" anchor="t" lIns="54864" rIns="54864" tIns="54864" bIns="54864">
            <a:spAutoFit/>
          </a:bodyPr>
          <a:lstStyle/>
          <a:p>
            <a:pPr algn="ctr">
              <a:spcAft>
                <a:spcPts val="300"/>
              </a:spcAft>
            </a:pPr>
            <a:r>
              <a:rPr sz="1150" b="0">
                <a:solidFill>
                  <a:srgbClr val="5B6372"/>
                </a:solidFill>
                <a:latin typeface="Arial"/>
              </a:rPr>
              <a:t>Synthetic SGD thousands — the chart demonstrates trend selection, not a real company result.</a:t>
            </a:r>
          </a:p>
        </p:txBody>
      </p:sp>
      <p:sp>
        <p:nvSpPr>
          <p:cNvPr id="9" name="TextBox 8"/>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10" name="TextBox 9"/>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11" name="TextBox 10"/>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67</a:t>
            </a:r>
          </a:p>
        </p:txBody>
      </p:sp>
    </p:spTree>
  </p:cSld>
  <p:clrMapOvr>
    <a:masterClrMapping/>
  </p:clrMapOvr>
  <p:transition spd="fast">
    <p:fade/>
  </p:transition>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37744"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47472"/>
            <a:ext cx="10698480" cy="292608"/>
          </a:xfrm>
          <a:prstGeom prst="rect">
            <a:avLst/>
          </a:prstGeom>
          <a:noFill/>
        </p:spPr>
        <p:txBody>
          <a:bodyPr wrap="square" anchor="t" lIns="54864" rIns="54864" tIns="54864" bIns="54864">
            <a:spAutoFit/>
          </a:bodyPr>
          <a:lstStyle/>
          <a:p>
            <a:pPr algn="l">
              <a:spcAft>
                <a:spcPts val="300"/>
              </a:spcAft>
            </a:pPr>
            <a:r>
              <a:rPr sz="1200" b="1">
                <a:solidFill>
                  <a:srgbClr val="10B981"/>
                </a:solidFill>
                <a:latin typeface="Arial"/>
              </a:rPr>
              <a:t>DOMAIN 2 · SECTION 1</a:t>
            </a:r>
          </a:p>
        </p:txBody>
      </p:sp>
      <p:sp>
        <p:nvSpPr>
          <p:cNvPr id="5" name="TextBox 4"/>
          <p:cNvSpPr txBox="1"/>
          <p:nvPr/>
        </p:nvSpPr>
        <p:spPr>
          <a:xfrm>
            <a:off x="749808" y="713232"/>
            <a:ext cx="10744200" cy="731520"/>
          </a:xfrm>
          <a:prstGeom prst="rect">
            <a:avLst/>
          </a:prstGeom>
          <a:noFill/>
        </p:spPr>
        <p:txBody>
          <a:bodyPr wrap="square" anchor="ctr" lIns="54864" rIns="54864" tIns="54864" bIns="54864">
            <a:spAutoFit/>
          </a:bodyPr>
          <a:lstStyle/>
          <a:p>
            <a:pPr algn="l">
              <a:spcAft>
                <a:spcPts val="300"/>
              </a:spcAft>
            </a:pPr>
            <a:r>
              <a:rPr sz="2700" b="1">
                <a:solidFill>
                  <a:srgbClr val="161B26"/>
                </a:solidFill>
                <a:latin typeface="Arial"/>
              </a:rPr>
              <a:t>Create basic charts</a:t>
            </a:r>
          </a:p>
        </p:txBody>
      </p:sp>
      <p:sp>
        <p:nvSpPr>
          <p:cNvPr id="6" name="Rectangle 5"/>
          <p:cNvSpPr/>
          <p:nvPr/>
        </p:nvSpPr>
        <p:spPr>
          <a:xfrm>
            <a:off x="749808" y="1536192"/>
            <a:ext cx="106984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8096"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68096" y="1764792"/>
            <a:ext cx="82296" cy="206197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96695" y="2548890"/>
            <a:ext cx="493776" cy="49377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5"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1</a:t>
            </a:r>
          </a:p>
        </p:txBody>
      </p:sp>
      <p:sp>
        <p:nvSpPr>
          <p:cNvPr id="11" name="TextBox 10"/>
          <p:cNvSpPr txBox="1"/>
          <p:nvPr/>
        </p:nvSpPr>
        <p:spPr>
          <a:xfrm>
            <a:off x="1664207"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Comparison</a:t>
            </a:r>
          </a:p>
          <a:p>
            <a:pPr algn="l">
              <a:spcAft>
                <a:spcPts val="300"/>
              </a:spcAft>
            </a:pPr>
            <a:r>
              <a:rPr sz="1200" b="0">
                <a:solidFill>
                  <a:srgbClr val="5B6372"/>
                </a:solidFill>
                <a:latin typeface="Arial"/>
              </a:rPr>
              <a:t>Bars and crosstabs expose magnitude and exact values.</a:t>
            </a:r>
          </a:p>
        </p:txBody>
      </p:sp>
      <p:sp>
        <p:nvSpPr>
          <p:cNvPr id="12" name="Rectangle 11"/>
          <p:cNvSpPr/>
          <p:nvPr/>
        </p:nvSpPr>
        <p:spPr>
          <a:xfrm>
            <a:off x="6222492"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22492" y="1764792"/>
            <a:ext cx="82296" cy="206197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51092" y="2548890"/>
            <a:ext cx="493776" cy="49377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51092"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2</a:t>
            </a:r>
          </a:p>
        </p:txBody>
      </p:sp>
      <p:sp>
        <p:nvSpPr>
          <p:cNvPr id="16" name="TextBox 15"/>
          <p:cNvSpPr txBox="1"/>
          <p:nvPr/>
        </p:nvSpPr>
        <p:spPr>
          <a:xfrm>
            <a:off x="7118604"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Trend</a:t>
            </a:r>
          </a:p>
          <a:p>
            <a:pPr algn="l">
              <a:spcAft>
                <a:spcPts val="300"/>
              </a:spcAft>
            </a:pPr>
            <a:r>
              <a:rPr sz="1200" b="0">
                <a:solidFill>
                  <a:srgbClr val="5B6372"/>
                </a:solidFill>
                <a:latin typeface="Arial"/>
              </a:rPr>
              <a:t>Lines show change across ordered time; continuous dates create axes.</a:t>
            </a:r>
          </a:p>
        </p:txBody>
      </p:sp>
      <p:sp>
        <p:nvSpPr>
          <p:cNvPr id="17" name="Rectangle 16"/>
          <p:cNvSpPr/>
          <p:nvPr/>
        </p:nvSpPr>
        <p:spPr>
          <a:xfrm>
            <a:off x="768096"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68096" y="4046220"/>
            <a:ext cx="82296" cy="206197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96695" y="4830318"/>
            <a:ext cx="493776" cy="49377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96695"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3</a:t>
            </a:r>
          </a:p>
        </p:txBody>
      </p:sp>
      <p:sp>
        <p:nvSpPr>
          <p:cNvPr id="21" name="TextBox 20"/>
          <p:cNvSpPr txBox="1"/>
          <p:nvPr/>
        </p:nvSpPr>
        <p:spPr>
          <a:xfrm>
            <a:off x="1664207"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Relationship</a:t>
            </a:r>
          </a:p>
          <a:p>
            <a:pPr algn="l">
              <a:spcAft>
                <a:spcPts val="300"/>
              </a:spcAft>
            </a:pPr>
            <a:r>
              <a:rPr sz="1200" b="0">
                <a:solidFill>
                  <a:srgbClr val="5B6372"/>
                </a:solidFill>
                <a:latin typeface="Arial"/>
              </a:rPr>
              <a:t>Scatterplots reveal association, clusters and outliers.</a:t>
            </a:r>
          </a:p>
        </p:txBody>
      </p:sp>
      <p:sp>
        <p:nvSpPr>
          <p:cNvPr id="22" name="Rectangle 21"/>
          <p:cNvSpPr/>
          <p:nvPr/>
        </p:nvSpPr>
        <p:spPr>
          <a:xfrm>
            <a:off x="6222492"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22492" y="4046220"/>
            <a:ext cx="82296" cy="206197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51092" y="4830318"/>
            <a:ext cx="493776" cy="49377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51092"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4</a:t>
            </a:r>
          </a:p>
        </p:txBody>
      </p:sp>
      <p:sp>
        <p:nvSpPr>
          <p:cNvPr id="26" name="TextBox 25"/>
          <p:cNvSpPr txBox="1"/>
          <p:nvPr/>
        </p:nvSpPr>
        <p:spPr>
          <a:xfrm>
            <a:off x="7118604"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Geography</a:t>
            </a:r>
          </a:p>
          <a:p>
            <a:pPr algn="l">
              <a:spcAft>
                <a:spcPts val="300"/>
              </a:spcAft>
            </a:pPr>
            <a:r>
              <a:rPr sz="1200" b="0">
                <a:solidFill>
                  <a:srgbClr val="5B6372"/>
                </a:solidFill>
                <a:latin typeface="Arial"/>
              </a:rPr>
              <a:t>Symbol, filled and density maps answer different spatial questions.</a:t>
            </a:r>
          </a:p>
        </p:txBody>
      </p:sp>
      <p:sp>
        <p:nvSpPr>
          <p:cNvPr id="27" name="TextBox 26"/>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28" name="TextBox 27"/>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29" name="TextBox 28"/>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68</a:t>
            </a:r>
          </a:p>
        </p:txBody>
      </p:sp>
    </p:spTree>
  </p:cSld>
  <p:clrMapOvr>
    <a:masterClrMapping/>
  </p:clrMapOvr>
  <p:transition spd="fast">
    <p:fade/>
  </p:transition>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37744"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47472"/>
            <a:ext cx="10698480" cy="292608"/>
          </a:xfrm>
          <a:prstGeom prst="rect">
            <a:avLst/>
          </a:prstGeom>
          <a:noFill/>
        </p:spPr>
        <p:txBody>
          <a:bodyPr wrap="square" anchor="t" lIns="54864" rIns="54864" tIns="54864" bIns="54864">
            <a:spAutoFit/>
          </a:bodyPr>
          <a:lstStyle/>
          <a:p>
            <a:pPr algn="l">
              <a:spcAft>
                <a:spcPts val="300"/>
              </a:spcAft>
            </a:pPr>
            <a:r>
              <a:rPr sz="1200" b="1">
                <a:solidFill>
                  <a:srgbClr val="10B981"/>
                </a:solidFill>
                <a:latin typeface="Arial"/>
              </a:rPr>
              <a:t>CONCEPTUAL DECISION FLOW</a:t>
            </a:r>
          </a:p>
        </p:txBody>
      </p:sp>
      <p:sp>
        <p:nvSpPr>
          <p:cNvPr id="5" name="TextBox 4"/>
          <p:cNvSpPr txBox="1"/>
          <p:nvPr/>
        </p:nvSpPr>
        <p:spPr>
          <a:xfrm>
            <a:off x="749808" y="713232"/>
            <a:ext cx="10744200" cy="731520"/>
          </a:xfrm>
          <a:prstGeom prst="rect">
            <a:avLst/>
          </a:prstGeom>
          <a:noFill/>
        </p:spPr>
        <p:txBody>
          <a:bodyPr wrap="square" anchor="ctr" lIns="54864" rIns="54864" tIns="54864" bIns="54864">
            <a:spAutoFit/>
          </a:bodyPr>
          <a:lstStyle/>
          <a:p>
            <a:pPr algn="l">
              <a:spcAft>
                <a:spcPts val="300"/>
              </a:spcAft>
            </a:pPr>
            <a:r>
              <a:rPr sz="2700" b="1">
                <a:solidFill>
                  <a:srgbClr val="161B26"/>
                </a:solidFill>
                <a:latin typeface="Arial"/>
              </a:rPr>
              <a:t>Reasoning Pattern — Create basic charts</a:t>
            </a:r>
          </a:p>
        </p:txBody>
      </p:sp>
      <p:sp>
        <p:nvSpPr>
          <p:cNvPr id="6" name="Rectangle 5"/>
          <p:cNvSpPr/>
          <p:nvPr/>
        </p:nvSpPr>
        <p:spPr>
          <a:xfrm>
            <a:off x="749808" y="1536192"/>
            <a:ext cx="106984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8096" y="2057400"/>
            <a:ext cx="1947672" cy="2971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68096" y="2057400"/>
            <a:ext cx="194767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76172" y="2423160"/>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6172" y="2423160"/>
            <a:ext cx="731520" cy="731520"/>
          </a:xfrm>
          <a:prstGeom prst="rect">
            <a:avLst/>
          </a:prstGeom>
          <a:noFill/>
        </p:spPr>
        <p:txBody>
          <a:bodyPr wrap="square" anchor="ctr" lIns="54864" rIns="54864" tIns="54864" bIns="54864">
            <a:spAutoFit/>
          </a:bodyPr>
          <a:lstStyle/>
          <a:p>
            <a:pPr algn="ctr">
              <a:spcAft>
                <a:spcPts val="300"/>
              </a:spcAft>
            </a:pPr>
            <a:r>
              <a:rPr sz="2400" b="1">
                <a:solidFill>
                  <a:srgbClr val="FFFFFF"/>
                </a:solidFill>
                <a:latin typeface="Arial"/>
              </a:rPr>
              <a:t>1</a:t>
            </a:r>
          </a:p>
        </p:txBody>
      </p:sp>
      <p:sp>
        <p:nvSpPr>
          <p:cNvPr id="11" name="TextBox 10"/>
          <p:cNvSpPr txBox="1"/>
          <p:nvPr/>
        </p:nvSpPr>
        <p:spPr>
          <a:xfrm>
            <a:off x="877824" y="3429000"/>
            <a:ext cx="1728216" cy="1143000"/>
          </a:xfrm>
          <a:prstGeom prst="rect">
            <a:avLst/>
          </a:prstGeom>
          <a:noFill/>
        </p:spPr>
        <p:txBody>
          <a:bodyPr wrap="square" anchor="ctr" lIns="54864" rIns="54864" tIns="54864" bIns="54864">
            <a:spAutoFit/>
          </a:bodyPr>
          <a:lstStyle/>
          <a:p>
            <a:pPr algn="ctr">
              <a:spcAft>
                <a:spcPts val="300"/>
              </a:spcAft>
            </a:pPr>
            <a:r>
              <a:rPr sz="1250" b="0">
                <a:solidFill>
                  <a:srgbClr val="161B26"/>
                </a:solidFill>
                <a:latin typeface="Arial"/>
              </a:rPr>
              <a:t>Comparison</a:t>
            </a:r>
          </a:p>
        </p:txBody>
      </p:sp>
      <p:sp>
        <p:nvSpPr>
          <p:cNvPr id="12" name="TextBox 11"/>
          <p:cNvSpPr txBox="1"/>
          <p:nvPr/>
        </p:nvSpPr>
        <p:spPr>
          <a:xfrm>
            <a:off x="2697479" y="3246120"/>
            <a:ext cx="274320" cy="365760"/>
          </a:xfrm>
          <a:prstGeom prst="rect">
            <a:avLst/>
          </a:prstGeom>
          <a:noFill/>
        </p:spPr>
        <p:txBody>
          <a:bodyPr wrap="square" anchor="t" lIns="54864" rIns="54864" tIns="54864" bIns="54864">
            <a:spAutoFit/>
          </a:bodyPr>
          <a:lstStyle/>
          <a:p>
            <a:pPr algn="ctr">
              <a:spcAft>
                <a:spcPts val="300"/>
              </a:spcAft>
            </a:pPr>
            <a:r>
              <a:rPr sz="1200" b="1">
                <a:solidFill>
                  <a:srgbClr val="10B981"/>
                </a:solidFill>
                <a:latin typeface="Arial"/>
              </a:rPr>
              <a:t>▶</a:t>
            </a:r>
          </a:p>
        </p:txBody>
      </p:sp>
      <p:sp>
        <p:nvSpPr>
          <p:cNvPr id="13" name="Rectangle 12"/>
          <p:cNvSpPr/>
          <p:nvPr/>
        </p:nvSpPr>
        <p:spPr>
          <a:xfrm>
            <a:off x="2944368" y="2057400"/>
            <a:ext cx="1947672" cy="2971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44368" y="2057400"/>
            <a:ext cx="194767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52444" y="2423160"/>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52444" y="2423160"/>
            <a:ext cx="731520" cy="731520"/>
          </a:xfrm>
          <a:prstGeom prst="rect">
            <a:avLst/>
          </a:prstGeom>
          <a:noFill/>
        </p:spPr>
        <p:txBody>
          <a:bodyPr wrap="square" anchor="ctr" lIns="54864" rIns="54864" tIns="54864" bIns="54864">
            <a:spAutoFit/>
          </a:bodyPr>
          <a:lstStyle/>
          <a:p>
            <a:pPr algn="ctr">
              <a:spcAft>
                <a:spcPts val="300"/>
              </a:spcAft>
            </a:pPr>
            <a:r>
              <a:rPr sz="2400" b="1">
                <a:solidFill>
                  <a:srgbClr val="FFFFFF"/>
                </a:solidFill>
                <a:latin typeface="Arial"/>
              </a:rPr>
              <a:t>2</a:t>
            </a:r>
          </a:p>
        </p:txBody>
      </p:sp>
      <p:sp>
        <p:nvSpPr>
          <p:cNvPr id="17" name="TextBox 16"/>
          <p:cNvSpPr txBox="1"/>
          <p:nvPr/>
        </p:nvSpPr>
        <p:spPr>
          <a:xfrm>
            <a:off x="3054096" y="3429000"/>
            <a:ext cx="1728216" cy="1143000"/>
          </a:xfrm>
          <a:prstGeom prst="rect">
            <a:avLst/>
          </a:prstGeom>
          <a:noFill/>
        </p:spPr>
        <p:txBody>
          <a:bodyPr wrap="square" anchor="ctr" lIns="54864" rIns="54864" tIns="54864" bIns="54864">
            <a:spAutoFit/>
          </a:bodyPr>
          <a:lstStyle/>
          <a:p>
            <a:pPr algn="ctr">
              <a:spcAft>
                <a:spcPts val="300"/>
              </a:spcAft>
            </a:pPr>
            <a:r>
              <a:rPr sz="1250" b="0">
                <a:solidFill>
                  <a:srgbClr val="161B26"/>
                </a:solidFill>
                <a:latin typeface="Arial"/>
              </a:rPr>
              <a:t>Trend</a:t>
            </a:r>
          </a:p>
        </p:txBody>
      </p:sp>
      <p:sp>
        <p:nvSpPr>
          <p:cNvPr id="18" name="TextBox 17"/>
          <p:cNvSpPr txBox="1"/>
          <p:nvPr/>
        </p:nvSpPr>
        <p:spPr>
          <a:xfrm>
            <a:off x="4873752" y="3246120"/>
            <a:ext cx="274320" cy="365760"/>
          </a:xfrm>
          <a:prstGeom prst="rect">
            <a:avLst/>
          </a:prstGeom>
          <a:noFill/>
        </p:spPr>
        <p:txBody>
          <a:bodyPr wrap="square" anchor="t" lIns="54864" rIns="54864" tIns="54864" bIns="54864">
            <a:spAutoFit/>
          </a:bodyPr>
          <a:lstStyle/>
          <a:p>
            <a:pPr algn="ctr">
              <a:spcAft>
                <a:spcPts val="300"/>
              </a:spcAft>
            </a:pPr>
            <a:r>
              <a:rPr sz="1200" b="1">
                <a:solidFill>
                  <a:srgbClr val="10B981"/>
                </a:solidFill>
                <a:latin typeface="Arial"/>
              </a:rPr>
              <a:t>▶</a:t>
            </a:r>
          </a:p>
        </p:txBody>
      </p:sp>
      <p:sp>
        <p:nvSpPr>
          <p:cNvPr id="19" name="Rectangle 18"/>
          <p:cNvSpPr/>
          <p:nvPr/>
        </p:nvSpPr>
        <p:spPr>
          <a:xfrm>
            <a:off x="5120640" y="2057400"/>
            <a:ext cx="1947672" cy="2971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0" y="2057400"/>
            <a:ext cx="194767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28715" y="2423160"/>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28715" y="2423160"/>
            <a:ext cx="731520" cy="731520"/>
          </a:xfrm>
          <a:prstGeom prst="rect">
            <a:avLst/>
          </a:prstGeom>
          <a:noFill/>
        </p:spPr>
        <p:txBody>
          <a:bodyPr wrap="square" anchor="ctr" lIns="54864" rIns="54864" tIns="54864" bIns="54864">
            <a:spAutoFit/>
          </a:bodyPr>
          <a:lstStyle/>
          <a:p>
            <a:pPr algn="ctr">
              <a:spcAft>
                <a:spcPts val="300"/>
              </a:spcAft>
            </a:pPr>
            <a:r>
              <a:rPr sz="2400" b="1">
                <a:solidFill>
                  <a:srgbClr val="FFFFFF"/>
                </a:solidFill>
                <a:latin typeface="Arial"/>
              </a:rPr>
              <a:t>3</a:t>
            </a:r>
          </a:p>
        </p:txBody>
      </p:sp>
      <p:sp>
        <p:nvSpPr>
          <p:cNvPr id="23" name="TextBox 22"/>
          <p:cNvSpPr txBox="1"/>
          <p:nvPr/>
        </p:nvSpPr>
        <p:spPr>
          <a:xfrm>
            <a:off x="5230368" y="3429000"/>
            <a:ext cx="1728216" cy="1143000"/>
          </a:xfrm>
          <a:prstGeom prst="rect">
            <a:avLst/>
          </a:prstGeom>
          <a:noFill/>
        </p:spPr>
        <p:txBody>
          <a:bodyPr wrap="square" anchor="ctr" lIns="54864" rIns="54864" tIns="54864" bIns="54864">
            <a:spAutoFit/>
          </a:bodyPr>
          <a:lstStyle/>
          <a:p>
            <a:pPr algn="ctr">
              <a:spcAft>
                <a:spcPts val="300"/>
              </a:spcAft>
            </a:pPr>
            <a:r>
              <a:rPr sz="1250" b="0">
                <a:solidFill>
                  <a:srgbClr val="161B26"/>
                </a:solidFill>
                <a:latin typeface="Arial"/>
              </a:rPr>
              <a:t>Relationship</a:t>
            </a:r>
          </a:p>
        </p:txBody>
      </p:sp>
      <p:sp>
        <p:nvSpPr>
          <p:cNvPr id="24" name="TextBox 23"/>
          <p:cNvSpPr txBox="1"/>
          <p:nvPr/>
        </p:nvSpPr>
        <p:spPr>
          <a:xfrm>
            <a:off x="7050024" y="3246120"/>
            <a:ext cx="274320" cy="365760"/>
          </a:xfrm>
          <a:prstGeom prst="rect">
            <a:avLst/>
          </a:prstGeom>
          <a:noFill/>
        </p:spPr>
        <p:txBody>
          <a:bodyPr wrap="square" anchor="t" lIns="54864" rIns="54864" tIns="54864" bIns="54864">
            <a:spAutoFit/>
          </a:bodyPr>
          <a:lstStyle/>
          <a:p>
            <a:pPr algn="ctr">
              <a:spcAft>
                <a:spcPts val="300"/>
              </a:spcAft>
            </a:pPr>
            <a:r>
              <a:rPr sz="1200" b="1">
                <a:solidFill>
                  <a:srgbClr val="10B981"/>
                </a:solidFill>
                <a:latin typeface="Arial"/>
              </a:rPr>
              <a:t>▶</a:t>
            </a:r>
          </a:p>
        </p:txBody>
      </p:sp>
      <p:sp>
        <p:nvSpPr>
          <p:cNvPr id="25" name="Rectangle 24"/>
          <p:cNvSpPr/>
          <p:nvPr/>
        </p:nvSpPr>
        <p:spPr>
          <a:xfrm>
            <a:off x="7296912" y="2057400"/>
            <a:ext cx="1947672" cy="2971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296912" y="2057400"/>
            <a:ext cx="194767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04988" y="2423160"/>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4988" y="2423160"/>
            <a:ext cx="731520" cy="731520"/>
          </a:xfrm>
          <a:prstGeom prst="rect">
            <a:avLst/>
          </a:prstGeom>
          <a:noFill/>
        </p:spPr>
        <p:txBody>
          <a:bodyPr wrap="square" anchor="ctr" lIns="54864" rIns="54864" tIns="54864" bIns="54864">
            <a:spAutoFit/>
          </a:bodyPr>
          <a:lstStyle/>
          <a:p>
            <a:pPr algn="ctr">
              <a:spcAft>
                <a:spcPts val="300"/>
              </a:spcAft>
            </a:pPr>
            <a:r>
              <a:rPr sz="2400" b="1">
                <a:solidFill>
                  <a:srgbClr val="FFFFFF"/>
                </a:solidFill>
                <a:latin typeface="Arial"/>
              </a:rPr>
              <a:t>4</a:t>
            </a:r>
          </a:p>
        </p:txBody>
      </p:sp>
      <p:sp>
        <p:nvSpPr>
          <p:cNvPr id="29" name="TextBox 28"/>
          <p:cNvSpPr txBox="1"/>
          <p:nvPr/>
        </p:nvSpPr>
        <p:spPr>
          <a:xfrm>
            <a:off x="7406640" y="3429000"/>
            <a:ext cx="1728216" cy="1143000"/>
          </a:xfrm>
          <a:prstGeom prst="rect">
            <a:avLst/>
          </a:prstGeom>
          <a:noFill/>
        </p:spPr>
        <p:txBody>
          <a:bodyPr wrap="square" anchor="ctr" lIns="54864" rIns="54864" tIns="54864" bIns="54864">
            <a:spAutoFit/>
          </a:bodyPr>
          <a:lstStyle/>
          <a:p>
            <a:pPr algn="ctr">
              <a:spcAft>
                <a:spcPts val="300"/>
              </a:spcAft>
            </a:pPr>
            <a:r>
              <a:rPr sz="1250" b="0">
                <a:solidFill>
                  <a:srgbClr val="161B26"/>
                </a:solidFill>
                <a:latin typeface="Arial"/>
              </a:rPr>
              <a:t>Geography</a:t>
            </a:r>
          </a:p>
        </p:txBody>
      </p:sp>
      <p:sp>
        <p:nvSpPr>
          <p:cNvPr id="30" name="TextBox 29"/>
          <p:cNvSpPr txBox="1"/>
          <p:nvPr/>
        </p:nvSpPr>
        <p:spPr>
          <a:xfrm>
            <a:off x="9226296" y="3246120"/>
            <a:ext cx="274320" cy="365760"/>
          </a:xfrm>
          <a:prstGeom prst="rect">
            <a:avLst/>
          </a:prstGeom>
          <a:noFill/>
        </p:spPr>
        <p:txBody>
          <a:bodyPr wrap="square" anchor="t" lIns="54864" rIns="54864" tIns="54864" bIns="54864">
            <a:spAutoFit/>
          </a:bodyPr>
          <a:lstStyle/>
          <a:p>
            <a:pPr algn="ctr">
              <a:spcAft>
                <a:spcPts val="300"/>
              </a:spcAft>
            </a:pPr>
            <a:r>
              <a:rPr sz="1200" b="1">
                <a:solidFill>
                  <a:srgbClr val="10B981"/>
                </a:solidFill>
                <a:latin typeface="Arial"/>
              </a:rPr>
              <a:t>▶</a:t>
            </a:r>
          </a:p>
        </p:txBody>
      </p:sp>
      <p:sp>
        <p:nvSpPr>
          <p:cNvPr id="31" name="Rectangle 30"/>
          <p:cNvSpPr/>
          <p:nvPr/>
        </p:nvSpPr>
        <p:spPr>
          <a:xfrm>
            <a:off x="9473184" y="2057400"/>
            <a:ext cx="1947672" cy="2971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473184" y="2057400"/>
            <a:ext cx="194767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81259" y="2423160"/>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81259" y="2423160"/>
            <a:ext cx="731520" cy="731520"/>
          </a:xfrm>
          <a:prstGeom prst="rect">
            <a:avLst/>
          </a:prstGeom>
          <a:noFill/>
        </p:spPr>
        <p:txBody>
          <a:bodyPr wrap="square" anchor="ctr" lIns="54864" rIns="54864" tIns="54864" bIns="54864">
            <a:spAutoFit/>
          </a:bodyPr>
          <a:lstStyle/>
          <a:p>
            <a:pPr algn="ctr">
              <a:spcAft>
                <a:spcPts val="300"/>
              </a:spcAft>
            </a:pPr>
            <a:r>
              <a:rPr sz="2400" b="1">
                <a:solidFill>
                  <a:srgbClr val="FFFFFF"/>
                </a:solidFill>
                <a:latin typeface="Arial"/>
              </a:rPr>
              <a:t>5</a:t>
            </a:r>
          </a:p>
        </p:txBody>
      </p:sp>
      <p:sp>
        <p:nvSpPr>
          <p:cNvPr id="35" name="TextBox 34"/>
          <p:cNvSpPr txBox="1"/>
          <p:nvPr/>
        </p:nvSpPr>
        <p:spPr>
          <a:xfrm>
            <a:off x="9582911" y="3429000"/>
            <a:ext cx="1728216" cy="1143000"/>
          </a:xfrm>
          <a:prstGeom prst="rect">
            <a:avLst/>
          </a:prstGeom>
          <a:noFill/>
        </p:spPr>
        <p:txBody>
          <a:bodyPr wrap="square" anchor="ctr" lIns="54864" rIns="54864" tIns="54864" bIns="54864">
            <a:spAutoFit/>
          </a:bodyPr>
          <a:lstStyle/>
          <a:p>
            <a:pPr algn="ctr">
              <a:spcAft>
                <a:spcPts val="300"/>
              </a:spcAft>
            </a:pPr>
            <a:r>
              <a:rPr sz="1250" b="0">
                <a:solidFill>
                  <a:srgbClr val="161B26"/>
                </a:solidFill>
                <a:latin typeface="Arial"/>
              </a:rPr>
              <a:t>Validate result</a:t>
            </a:r>
          </a:p>
        </p:txBody>
      </p:sp>
      <p:sp>
        <p:nvSpPr>
          <p:cNvPr id="36" name="TextBox 35"/>
          <p:cNvSpPr txBox="1"/>
          <p:nvPr/>
        </p:nvSpPr>
        <p:spPr>
          <a:xfrm>
            <a:off x="777240" y="5394960"/>
            <a:ext cx="10607040" cy="411480"/>
          </a:xfrm>
          <a:prstGeom prst="rect">
            <a:avLst/>
          </a:prstGeom>
          <a:noFill/>
        </p:spPr>
        <p:txBody>
          <a:bodyPr wrap="square" anchor="t" lIns="54864" rIns="54864" tIns="54864" bIns="54864">
            <a:spAutoFit/>
          </a:bodyPr>
          <a:lstStyle/>
          <a:p>
            <a:pPr algn="ctr">
              <a:spcAft>
                <a:spcPts val="300"/>
              </a:spcAft>
            </a:pPr>
            <a:r>
              <a:rPr sz="1250" b="0">
                <a:solidFill>
                  <a:srgbClr val="5B6372"/>
                </a:solidFill>
                <a:latin typeface="Arial"/>
              </a:rPr>
              <a:t>This is a reasoning map, not a click-by-click lab procedure.</a:t>
            </a:r>
          </a:p>
        </p:txBody>
      </p:sp>
      <p:sp>
        <p:nvSpPr>
          <p:cNvPr id="37" name="TextBox 36"/>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38" name="TextBox 37"/>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39" name="TextBox 38"/>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69</a:t>
            </a:r>
          </a:p>
        </p:txBody>
      </p:sp>
    </p:spTree>
  </p:cSld>
  <p:clrMapOvr>
    <a:masterClrMapping/>
  </p:clrMapOvr>
  <p:transition spd="fast">
    <p:fade/>
  </p:transition>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37744"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47472"/>
            <a:ext cx="10698480" cy="292608"/>
          </a:xfrm>
          <a:prstGeom prst="rect">
            <a:avLst/>
          </a:prstGeom>
          <a:noFill/>
        </p:spPr>
        <p:txBody>
          <a:bodyPr wrap="square" anchor="t" lIns="54864" rIns="54864" tIns="54864" bIns="54864">
            <a:spAutoFit/>
          </a:bodyPr>
          <a:lstStyle/>
          <a:p>
            <a:pPr algn="l">
              <a:spcAft>
                <a:spcPts val="300"/>
              </a:spcAft>
            </a:pPr>
            <a:r>
              <a:rPr sz="1200" b="1">
                <a:solidFill>
                  <a:srgbClr val="10B981"/>
                </a:solidFill>
                <a:latin typeface="Arial"/>
              </a:rPr>
              <a:t>OFFICIAL OBJECTIVE · DOMAIN 2</a:t>
            </a:r>
          </a:p>
        </p:txBody>
      </p:sp>
      <p:sp>
        <p:nvSpPr>
          <p:cNvPr id="5" name="TextBox 4"/>
          <p:cNvSpPr txBox="1"/>
          <p:nvPr/>
        </p:nvSpPr>
        <p:spPr>
          <a:xfrm>
            <a:off x="749808" y="713232"/>
            <a:ext cx="10744200" cy="731520"/>
          </a:xfrm>
          <a:prstGeom prst="rect">
            <a:avLst/>
          </a:prstGeom>
          <a:noFill/>
        </p:spPr>
        <p:txBody>
          <a:bodyPr wrap="square" anchor="ctr" lIns="54864" rIns="54864" tIns="54864" bIns="54864">
            <a:spAutoFit/>
          </a:bodyPr>
          <a:lstStyle/>
          <a:p>
            <a:pPr algn="l">
              <a:spcAft>
                <a:spcPts val="300"/>
              </a:spcAft>
            </a:pPr>
            <a:r>
              <a:rPr sz="2700" b="1">
                <a:solidFill>
                  <a:srgbClr val="161B26"/>
                </a:solidFill>
                <a:latin typeface="Arial"/>
              </a:rPr>
              <a:t>2.1.1 · Create a bar chart</a:t>
            </a:r>
          </a:p>
        </p:txBody>
      </p:sp>
      <p:sp>
        <p:nvSpPr>
          <p:cNvPr id="6" name="Rectangle 5"/>
          <p:cNvSpPr/>
          <p:nvPr/>
        </p:nvSpPr>
        <p:spPr>
          <a:xfrm>
            <a:off x="749808" y="1536192"/>
            <a:ext cx="106984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8096"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68096" y="1764792"/>
            <a:ext cx="82296" cy="206197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96695" y="2548890"/>
            <a:ext cx="493776" cy="49377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5"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1</a:t>
            </a:r>
          </a:p>
        </p:txBody>
      </p:sp>
      <p:sp>
        <p:nvSpPr>
          <p:cNvPr id="11" name="TextBox 10"/>
          <p:cNvSpPr txBox="1"/>
          <p:nvPr/>
        </p:nvSpPr>
        <p:spPr>
          <a:xfrm>
            <a:off x="1664207"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What it means</a:t>
            </a:r>
          </a:p>
          <a:p>
            <a:pPr algn="l">
              <a:spcAft>
                <a:spcPts val="300"/>
              </a:spcAft>
            </a:pPr>
            <a:r>
              <a:rPr sz="1200" b="0">
                <a:solidFill>
                  <a:srgbClr val="5B6372"/>
                </a:solidFill>
                <a:latin typeface="Arial"/>
              </a:rPr>
              <a:t>Bars encode magnitude by length along a common baseline.</a:t>
            </a:r>
          </a:p>
        </p:txBody>
      </p:sp>
      <p:sp>
        <p:nvSpPr>
          <p:cNvPr id="12" name="Rectangle 11"/>
          <p:cNvSpPr/>
          <p:nvPr/>
        </p:nvSpPr>
        <p:spPr>
          <a:xfrm>
            <a:off x="6222492"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22492" y="1764792"/>
            <a:ext cx="82296" cy="206197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51092" y="2548890"/>
            <a:ext cx="493776" cy="49377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51092"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2</a:t>
            </a:r>
          </a:p>
        </p:txBody>
      </p:sp>
      <p:sp>
        <p:nvSpPr>
          <p:cNvPr id="16" name="TextBox 15"/>
          <p:cNvSpPr txBox="1"/>
          <p:nvPr/>
        </p:nvSpPr>
        <p:spPr>
          <a:xfrm>
            <a:off x="7118604"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Use it when</a:t>
            </a:r>
          </a:p>
          <a:p>
            <a:pPr algn="l">
              <a:spcAft>
                <a:spcPts val="300"/>
              </a:spcAft>
            </a:pPr>
            <a:r>
              <a:rPr sz="1200" b="0">
                <a:solidFill>
                  <a:srgbClr val="5B6372"/>
                </a:solidFill>
                <a:latin typeface="Arial"/>
              </a:rPr>
              <a:t>Use for ranking and comparing categories.</a:t>
            </a:r>
          </a:p>
        </p:txBody>
      </p:sp>
      <p:sp>
        <p:nvSpPr>
          <p:cNvPr id="17" name="Rectangle 16"/>
          <p:cNvSpPr/>
          <p:nvPr/>
        </p:nvSpPr>
        <p:spPr>
          <a:xfrm>
            <a:off x="768096"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68096" y="4046220"/>
            <a:ext cx="82296" cy="206197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96695" y="4830318"/>
            <a:ext cx="493776" cy="49377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96695"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3</a:t>
            </a:r>
          </a:p>
        </p:txBody>
      </p:sp>
      <p:sp>
        <p:nvSpPr>
          <p:cNvPr id="21" name="TextBox 20"/>
          <p:cNvSpPr txBox="1"/>
          <p:nvPr/>
        </p:nvSpPr>
        <p:spPr>
          <a:xfrm>
            <a:off x="1664207"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Exam clue</a:t>
            </a:r>
          </a:p>
          <a:p>
            <a:pPr algn="l">
              <a:spcAft>
                <a:spcPts val="300"/>
              </a:spcAft>
            </a:pPr>
            <a:r>
              <a:rPr sz="1200" b="0">
                <a:solidFill>
                  <a:srgbClr val="5B6372"/>
                </a:solidFill>
                <a:latin typeface="Arial"/>
              </a:rPr>
              <a:t>One dimension plus one measure is the canonical pattern.</a:t>
            </a:r>
          </a:p>
        </p:txBody>
      </p:sp>
      <p:sp>
        <p:nvSpPr>
          <p:cNvPr id="22" name="Rectangle 21"/>
          <p:cNvSpPr/>
          <p:nvPr/>
        </p:nvSpPr>
        <p:spPr>
          <a:xfrm>
            <a:off x="6222492"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22492" y="4046220"/>
            <a:ext cx="82296" cy="206197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51092" y="4830318"/>
            <a:ext cx="493776" cy="49377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51092"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4</a:t>
            </a:r>
          </a:p>
        </p:txBody>
      </p:sp>
      <p:sp>
        <p:nvSpPr>
          <p:cNvPr id="26" name="TextBox 25"/>
          <p:cNvSpPr txBox="1"/>
          <p:nvPr/>
        </p:nvSpPr>
        <p:spPr>
          <a:xfrm>
            <a:off x="7118604"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Common pitfall</a:t>
            </a:r>
          </a:p>
          <a:p>
            <a:pPr algn="l">
              <a:spcAft>
                <a:spcPts val="300"/>
              </a:spcAft>
            </a:pPr>
            <a:r>
              <a:rPr sz="1200" b="0">
                <a:solidFill>
                  <a:srgbClr val="5B6372"/>
                </a:solidFill>
                <a:latin typeface="Arial"/>
              </a:rPr>
              <a:t>Avoid 3-D effects, too many categories and unsorted ranking views.</a:t>
            </a:r>
          </a:p>
        </p:txBody>
      </p:sp>
      <p:sp>
        <p:nvSpPr>
          <p:cNvPr id="27" name="TextBox 26"/>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28" name="TextBox 27"/>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29" name="TextBox 28"/>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70</a:t>
            </a:r>
          </a:p>
        </p:txBody>
      </p:sp>
    </p:spTree>
  </p:cSld>
  <p:clrMapOvr>
    <a:masterClrMapping/>
  </p:clrMapOvr>
  <p:transition spd="fast">
    <p:fade/>
  </p:transition>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37744"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47472"/>
            <a:ext cx="10698480" cy="292608"/>
          </a:xfrm>
          <a:prstGeom prst="rect">
            <a:avLst/>
          </a:prstGeom>
          <a:noFill/>
        </p:spPr>
        <p:txBody>
          <a:bodyPr wrap="square" anchor="t" lIns="54864" rIns="54864" tIns="54864" bIns="54864">
            <a:spAutoFit/>
          </a:bodyPr>
          <a:lstStyle/>
          <a:p>
            <a:pPr algn="l">
              <a:spcAft>
                <a:spcPts val="300"/>
              </a:spcAft>
            </a:pPr>
            <a:r>
              <a:rPr sz="1200" b="1">
                <a:solidFill>
                  <a:srgbClr val="10B981"/>
                </a:solidFill>
                <a:latin typeface="Arial"/>
              </a:rPr>
              <a:t>OFFICIAL OBJECTIVE · DOMAIN 2</a:t>
            </a:r>
          </a:p>
        </p:txBody>
      </p:sp>
      <p:sp>
        <p:nvSpPr>
          <p:cNvPr id="5" name="TextBox 4"/>
          <p:cNvSpPr txBox="1"/>
          <p:nvPr/>
        </p:nvSpPr>
        <p:spPr>
          <a:xfrm>
            <a:off x="749808" y="713232"/>
            <a:ext cx="10744200" cy="731520"/>
          </a:xfrm>
          <a:prstGeom prst="rect">
            <a:avLst/>
          </a:prstGeom>
          <a:noFill/>
        </p:spPr>
        <p:txBody>
          <a:bodyPr wrap="square" anchor="ctr" lIns="54864" rIns="54864" tIns="54864" bIns="54864">
            <a:spAutoFit/>
          </a:bodyPr>
          <a:lstStyle/>
          <a:p>
            <a:pPr algn="l">
              <a:spcAft>
                <a:spcPts val="300"/>
              </a:spcAft>
            </a:pPr>
            <a:r>
              <a:rPr sz="2700" b="1">
                <a:solidFill>
                  <a:srgbClr val="161B26"/>
                </a:solidFill>
                <a:latin typeface="Arial"/>
              </a:rPr>
              <a:t>2.1.2 · Create a line chart</a:t>
            </a:r>
          </a:p>
        </p:txBody>
      </p:sp>
      <p:sp>
        <p:nvSpPr>
          <p:cNvPr id="6" name="Rectangle 5"/>
          <p:cNvSpPr/>
          <p:nvPr/>
        </p:nvSpPr>
        <p:spPr>
          <a:xfrm>
            <a:off x="749808" y="1536192"/>
            <a:ext cx="106984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8096"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68096" y="1764792"/>
            <a:ext cx="82296" cy="206197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96695" y="2548890"/>
            <a:ext cx="493776" cy="49377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5"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1</a:t>
            </a:r>
          </a:p>
        </p:txBody>
      </p:sp>
      <p:sp>
        <p:nvSpPr>
          <p:cNvPr id="11" name="TextBox 10"/>
          <p:cNvSpPr txBox="1"/>
          <p:nvPr/>
        </p:nvSpPr>
        <p:spPr>
          <a:xfrm>
            <a:off x="1664207"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What it means</a:t>
            </a:r>
          </a:p>
          <a:p>
            <a:pPr algn="l">
              <a:spcAft>
                <a:spcPts val="300"/>
              </a:spcAft>
            </a:pPr>
            <a:r>
              <a:rPr sz="1200" b="0">
                <a:solidFill>
                  <a:srgbClr val="5B6372"/>
                </a:solidFill>
                <a:latin typeface="Arial"/>
              </a:rPr>
              <a:t>Lines connect ordered points to emphasise change over time.</a:t>
            </a:r>
          </a:p>
        </p:txBody>
      </p:sp>
      <p:sp>
        <p:nvSpPr>
          <p:cNvPr id="12" name="Rectangle 11"/>
          <p:cNvSpPr/>
          <p:nvPr/>
        </p:nvSpPr>
        <p:spPr>
          <a:xfrm>
            <a:off x="6222492"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22492" y="1764792"/>
            <a:ext cx="82296" cy="206197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51092" y="2548890"/>
            <a:ext cx="493776" cy="49377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51092"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2</a:t>
            </a:r>
          </a:p>
        </p:txBody>
      </p:sp>
      <p:sp>
        <p:nvSpPr>
          <p:cNvPr id="16" name="TextBox 15"/>
          <p:cNvSpPr txBox="1"/>
          <p:nvPr/>
        </p:nvSpPr>
        <p:spPr>
          <a:xfrm>
            <a:off x="7118604"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Use it when</a:t>
            </a:r>
          </a:p>
          <a:p>
            <a:pPr algn="l">
              <a:spcAft>
                <a:spcPts val="300"/>
              </a:spcAft>
            </a:pPr>
            <a:r>
              <a:rPr sz="1200" b="0">
                <a:solidFill>
                  <a:srgbClr val="5B6372"/>
                </a:solidFill>
                <a:latin typeface="Arial"/>
              </a:rPr>
              <a:t>Use for trends, seasonality and rate of change.</a:t>
            </a:r>
          </a:p>
        </p:txBody>
      </p:sp>
      <p:sp>
        <p:nvSpPr>
          <p:cNvPr id="17" name="Rectangle 16"/>
          <p:cNvSpPr/>
          <p:nvPr/>
        </p:nvSpPr>
        <p:spPr>
          <a:xfrm>
            <a:off x="768096"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68096" y="4046220"/>
            <a:ext cx="82296" cy="206197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96695" y="4830318"/>
            <a:ext cx="493776" cy="49377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96695"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3</a:t>
            </a:r>
          </a:p>
        </p:txBody>
      </p:sp>
      <p:sp>
        <p:nvSpPr>
          <p:cNvPr id="21" name="TextBox 20"/>
          <p:cNvSpPr txBox="1"/>
          <p:nvPr/>
        </p:nvSpPr>
        <p:spPr>
          <a:xfrm>
            <a:off x="1664207"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Exam clue</a:t>
            </a:r>
          </a:p>
          <a:p>
            <a:pPr algn="l">
              <a:spcAft>
                <a:spcPts val="300"/>
              </a:spcAft>
            </a:pPr>
            <a:r>
              <a:rPr sz="1200" b="0">
                <a:solidFill>
                  <a:srgbClr val="5B6372"/>
                </a:solidFill>
                <a:latin typeface="Arial"/>
              </a:rPr>
              <a:t>Continuous dates form axes; discrete date parts form headers.</a:t>
            </a:r>
          </a:p>
        </p:txBody>
      </p:sp>
      <p:sp>
        <p:nvSpPr>
          <p:cNvPr id="22" name="Rectangle 21"/>
          <p:cNvSpPr/>
          <p:nvPr/>
        </p:nvSpPr>
        <p:spPr>
          <a:xfrm>
            <a:off x="6222492"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22492" y="4046220"/>
            <a:ext cx="82296" cy="206197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51092" y="4830318"/>
            <a:ext cx="493776" cy="49377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51092"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4</a:t>
            </a:r>
          </a:p>
        </p:txBody>
      </p:sp>
      <p:sp>
        <p:nvSpPr>
          <p:cNvPr id="26" name="TextBox 25"/>
          <p:cNvSpPr txBox="1"/>
          <p:nvPr/>
        </p:nvSpPr>
        <p:spPr>
          <a:xfrm>
            <a:off x="7118604"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Common pitfall</a:t>
            </a:r>
          </a:p>
          <a:p>
            <a:pPr algn="l">
              <a:spcAft>
                <a:spcPts val="300"/>
              </a:spcAft>
            </a:pPr>
            <a:r>
              <a:rPr sz="1200" b="0">
                <a:solidFill>
                  <a:srgbClr val="5B6372"/>
                </a:solidFill>
                <a:latin typeface="Arial"/>
              </a:rPr>
              <a:t>Do not connect unrelated categories as a sequence.</a:t>
            </a:r>
          </a:p>
        </p:txBody>
      </p:sp>
      <p:sp>
        <p:nvSpPr>
          <p:cNvPr id="27" name="TextBox 26"/>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28" name="TextBox 27"/>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29" name="TextBox 28"/>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71</a:t>
            </a:r>
          </a:p>
        </p:txBody>
      </p:sp>
    </p:spTree>
  </p:cSld>
  <p:clrMapOvr>
    <a:masterClrMapping/>
  </p:clrMapOvr>
  <p:transition spd="fast">
    <p:fade/>
  </p:transition>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37744"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47472"/>
            <a:ext cx="10698480" cy="292608"/>
          </a:xfrm>
          <a:prstGeom prst="rect">
            <a:avLst/>
          </a:prstGeom>
          <a:noFill/>
        </p:spPr>
        <p:txBody>
          <a:bodyPr wrap="square" anchor="t" lIns="54864" rIns="54864" tIns="54864" bIns="54864">
            <a:spAutoFit/>
          </a:bodyPr>
          <a:lstStyle/>
          <a:p>
            <a:pPr algn="l">
              <a:spcAft>
                <a:spcPts val="300"/>
              </a:spcAft>
            </a:pPr>
            <a:r>
              <a:rPr sz="1200" b="1">
                <a:solidFill>
                  <a:srgbClr val="10B981"/>
                </a:solidFill>
                <a:latin typeface="Arial"/>
              </a:rPr>
              <a:t>OFFICIAL OBJECTIVE · DOMAIN 2</a:t>
            </a:r>
          </a:p>
        </p:txBody>
      </p:sp>
      <p:sp>
        <p:nvSpPr>
          <p:cNvPr id="5" name="TextBox 4"/>
          <p:cNvSpPr txBox="1"/>
          <p:nvPr/>
        </p:nvSpPr>
        <p:spPr>
          <a:xfrm>
            <a:off x="749808" y="713232"/>
            <a:ext cx="10744200" cy="731520"/>
          </a:xfrm>
          <a:prstGeom prst="rect">
            <a:avLst/>
          </a:prstGeom>
          <a:noFill/>
        </p:spPr>
        <p:txBody>
          <a:bodyPr wrap="square" anchor="ctr" lIns="54864" rIns="54864" tIns="54864" bIns="54864">
            <a:spAutoFit/>
          </a:bodyPr>
          <a:lstStyle/>
          <a:p>
            <a:pPr algn="l">
              <a:spcAft>
                <a:spcPts val="300"/>
              </a:spcAft>
            </a:pPr>
            <a:r>
              <a:rPr sz="2700" b="1">
                <a:solidFill>
                  <a:srgbClr val="161B26"/>
                </a:solidFill>
                <a:latin typeface="Arial"/>
              </a:rPr>
              <a:t>2.1.3 · Create a scatterplot</a:t>
            </a:r>
          </a:p>
        </p:txBody>
      </p:sp>
      <p:sp>
        <p:nvSpPr>
          <p:cNvPr id="6" name="Rectangle 5"/>
          <p:cNvSpPr/>
          <p:nvPr/>
        </p:nvSpPr>
        <p:spPr>
          <a:xfrm>
            <a:off x="749808" y="1536192"/>
            <a:ext cx="106984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8096"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68096" y="1764792"/>
            <a:ext cx="82296" cy="206197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96695" y="2548890"/>
            <a:ext cx="493776" cy="49377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5"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1</a:t>
            </a:r>
          </a:p>
        </p:txBody>
      </p:sp>
      <p:sp>
        <p:nvSpPr>
          <p:cNvPr id="11" name="TextBox 10"/>
          <p:cNvSpPr txBox="1"/>
          <p:nvPr/>
        </p:nvSpPr>
        <p:spPr>
          <a:xfrm>
            <a:off x="1664207"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What it means</a:t>
            </a:r>
          </a:p>
          <a:p>
            <a:pPr algn="l">
              <a:spcAft>
                <a:spcPts val="300"/>
              </a:spcAft>
            </a:pPr>
            <a:r>
              <a:rPr sz="1200" b="0">
                <a:solidFill>
                  <a:srgbClr val="5B6372"/>
                </a:solidFill>
                <a:latin typeface="Arial"/>
              </a:rPr>
              <a:t>Two quantitative axes show the relationship between measures.</a:t>
            </a:r>
          </a:p>
        </p:txBody>
      </p:sp>
      <p:sp>
        <p:nvSpPr>
          <p:cNvPr id="12" name="Rectangle 11"/>
          <p:cNvSpPr/>
          <p:nvPr/>
        </p:nvSpPr>
        <p:spPr>
          <a:xfrm>
            <a:off x="6222492"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22492" y="1764792"/>
            <a:ext cx="82296" cy="206197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51092" y="2548890"/>
            <a:ext cx="493776" cy="49377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51092"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2</a:t>
            </a:r>
          </a:p>
        </p:txBody>
      </p:sp>
      <p:sp>
        <p:nvSpPr>
          <p:cNvPr id="16" name="TextBox 15"/>
          <p:cNvSpPr txBox="1"/>
          <p:nvPr/>
        </p:nvSpPr>
        <p:spPr>
          <a:xfrm>
            <a:off x="7118604"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Use it when</a:t>
            </a:r>
          </a:p>
          <a:p>
            <a:pPr algn="l">
              <a:spcAft>
                <a:spcPts val="300"/>
              </a:spcAft>
            </a:pPr>
            <a:r>
              <a:rPr sz="1200" b="0">
                <a:solidFill>
                  <a:srgbClr val="5B6372"/>
                </a:solidFill>
                <a:latin typeface="Arial"/>
              </a:rPr>
              <a:t>Use to assess correlation, clusters and outliers.</a:t>
            </a:r>
          </a:p>
        </p:txBody>
      </p:sp>
      <p:sp>
        <p:nvSpPr>
          <p:cNvPr id="17" name="Rectangle 16"/>
          <p:cNvSpPr/>
          <p:nvPr/>
        </p:nvSpPr>
        <p:spPr>
          <a:xfrm>
            <a:off x="768096"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68096" y="4046220"/>
            <a:ext cx="82296" cy="206197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96695" y="4830318"/>
            <a:ext cx="493776" cy="49377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96695"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3</a:t>
            </a:r>
          </a:p>
        </p:txBody>
      </p:sp>
      <p:sp>
        <p:nvSpPr>
          <p:cNvPr id="21" name="TextBox 20"/>
          <p:cNvSpPr txBox="1"/>
          <p:nvPr/>
        </p:nvSpPr>
        <p:spPr>
          <a:xfrm>
            <a:off x="1664207"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Exam clue</a:t>
            </a:r>
          </a:p>
          <a:p>
            <a:pPr algn="l">
              <a:spcAft>
                <a:spcPts val="300"/>
              </a:spcAft>
            </a:pPr>
            <a:r>
              <a:rPr sz="1200" b="0">
                <a:solidFill>
                  <a:srgbClr val="5B6372"/>
                </a:solidFill>
                <a:latin typeface="Arial"/>
              </a:rPr>
              <a:t>Add a dimension to Detail for one mark per entity.</a:t>
            </a:r>
          </a:p>
        </p:txBody>
      </p:sp>
      <p:sp>
        <p:nvSpPr>
          <p:cNvPr id="22" name="Rectangle 21"/>
          <p:cNvSpPr/>
          <p:nvPr/>
        </p:nvSpPr>
        <p:spPr>
          <a:xfrm>
            <a:off x="6222492"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22492" y="4046220"/>
            <a:ext cx="82296" cy="206197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51092" y="4830318"/>
            <a:ext cx="493776" cy="49377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51092"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4</a:t>
            </a:r>
          </a:p>
        </p:txBody>
      </p:sp>
      <p:sp>
        <p:nvSpPr>
          <p:cNvPr id="26" name="TextBox 25"/>
          <p:cNvSpPr txBox="1"/>
          <p:nvPr/>
        </p:nvSpPr>
        <p:spPr>
          <a:xfrm>
            <a:off x="7118604"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Common pitfall</a:t>
            </a:r>
          </a:p>
          <a:p>
            <a:pPr algn="l">
              <a:spcAft>
                <a:spcPts val="300"/>
              </a:spcAft>
            </a:pPr>
            <a:r>
              <a:rPr sz="1200" b="0">
                <a:solidFill>
                  <a:srgbClr val="5B6372"/>
                </a:solidFill>
                <a:latin typeface="Arial"/>
              </a:rPr>
              <a:t>Aggregation may collapse records into one mark.</a:t>
            </a:r>
          </a:p>
        </p:txBody>
      </p:sp>
      <p:sp>
        <p:nvSpPr>
          <p:cNvPr id="27" name="TextBox 26"/>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28" name="TextBox 27"/>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29" name="TextBox 28"/>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72</a:t>
            </a:r>
          </a:p>
        </p:txBody>
      </p:sp>
    </p:spTree>
  </p:cSld>
  <p:clrMapOvr>
    <a:masterClrMapping/>
  </p:clrMapOvr>
  <p:transition spd="fast">
    <p:fade/>
  </p:transition>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37744"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47472"/>
            <a:ext cx="10698480" cy="292608"/>
          </a:xfrm>
          <a:prstGeom prst="rect">
            <a:avLst/>
          </a:prstGeom>
          <a:noFill/>
        </p:spPr>
        <p:txBody>
          <a:bodyPr wrap="square" anchor="t" lIns="54864" rIns="54864" tIns="54864" bIns="54864">
            <a:spAutoFit/>
          </a:bodyPr>
          <a:lstStyle/>
          <a:p>
            <a:pPr algn="l">
              <a:spcAft>
                <a:spcPts val="300"/>
              </a:spcAft>
            </a:pPr>
            <a:r>
              <a:rPr sz="1200" b="1">
                <a:solidFill>
                  <a:srgbClr val="10B981"/>
                </a:solidFill>
                <a:latin typeface="Arial"/>
              </a:rPr>
              <a:t>OFFICIAL OBJECTIVE · DOMAIN 2</a:t>
            </a:r>
          </a:p>
        </p:txBody>
      </p:sp>
      <p:sp>
        <p:nvSpPr>
          <p:cNvPr id="5" name="TextBox 4"/>
          <p:cNvSpPr txBox="1"/>
          <p:nvPr/>
        </p:nvSpPr>
        <p:spPr>
          <a:xfrm>
            <a:off x="749808" y="713232"/>
            <a:ext cx="10744200" cy="731520"/>
          </a:xfrm>
          <a:prstGeom prst="rect">
            <a:avLst/>
          </a:prstGeom>
          <a:noFill/>
        </p:spPr>
        <p:txBody>
          <a:bodyPr wrap="square" anchor="ctr" lIns="54864" rIns="54864" tIns="54864" bIns="54864">
            <a:spAutoFit/>
          </a:bodyPr>
          <a:lstStyle/>
          <a:p>
            <a:pPr algn="l">
              <a:spcAft>
                <a:spcPts val="300"/>
              </a:spcAft>
            </a:pPr>
            <a:r>
              <a:rPr sz="2700" b="1">
                <a:solidFill>
                  <a:srgbClr val="161B26"/>
                </a:solidFill>
                <a:latin typeface="Arial"/>
              </a:rPr>
              <a:t>2.1.4 · Create a map</a:t>
            </a:r>
          </a:p>
        </p:txBody>
      </p:sp>
      <p:sp>
        <p:nvSpPr>
          <p:cNvPr id="6" name="Rectangle 5"/>
          <p:cNvSpPr/>
          <p:nvPr/>
        </p:nvSpPr>
        <p:spPr>
          <a:xfrm>
            <a:off x="749808" y="1536192"/>
            <a:ext cx="106984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8096"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68096" y="1764792"/>
            <a:ext cx="82296" cy="206197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96695" y="2548890"/>
            <a:ext cx="493776" cy="49377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5"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1</a:t>
            </a:r>
          </a:p>
        </p:txBody>
      </p:sp>
      <p:sp>
        <p:nvSpPr>
          <p:cNvPr id="11" name="TextBox 10"/>
          <p:cNvSpPr txBox="1"/>
          <p:nvPr/>
        </p:nvSpPr>
        <p:spPr>
          <a:xfrm>
            <a:off x="1664207"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What it means</a:t>
            </a:r>
          </a:p>
          <a:p>
            <a:pPr algn="l">
              <a:spcAft>
                <a:spcPts val="300"/>
              </a:spcAft>
            </a:pPr>
            <a:r>
              <a:rPr sz="1200" b="0">
                <a:solidFill>
                  <a:srgbClr val="5B6372"/>
                </a:solidFill>
                <a:latin typeface="Arial"/>
              </a:rPr>
              <a:t>Geographic fields generate spatial marks using Tableau geocoding.</a:t>
            </a:r>
          </a:p>
        </p:txBody>
      </p:sp>
      <p:sp>
        <p:nvSpPr>
          <p:cNvPr id="12" name="Rectangle 11"/>
          <p:cNvSpPr/>
          <p:nvPr/>
        </p:nvSpPr>
        <p:spPr>
          <a:xfrm>
            <a:off x="6222492"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22492" y="1764792"/>
            <a:ext cx="82296" cy="206197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51092" y="2548890"/>
            <a:ext cx="493776" cy="49377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51092"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2</a:t>
            </a:r>
          </a:p>
        </p:txBody>
      </p:sp>
      <p:sp>
        <p:nvSpPr>
          <p:cNvPr id="16" name="TextBox 15"/>
          <p:cNvSpPr txBox="1"/>
          <p:nvPr/>
        </p:nvSpPr>
        <p:spPr>
          <a:xfrm>
            <a:off x="7118604"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Use it when</a:t>
            </a:r>
          </a:p>
          <a:p>
            <a:pPr algn="l">
              <a:spcAft>
                <a:spcPts val="300"/>
              </a:spcAft>
            </a:pPr>
            <a:r>
              <a:rPr sz="1200" b="0">
                <a:solidFill>
                  <a:srgbClr val="5B6372"/>
                </a:solidFill>
                <a:latin typeface="Arial"/>
              </a:rPr>
              <a:t>Use when location contributes to the question.</a:t>
            </a:r>
          </a:p>
        </p:txBody>
      </p:sp>
      <p:sp>
        <p:nvSpPr>
          <p:cNvPr id="17" name="Rectangle 16"/>
          <p:cNvSpPr/>
          <p:nvPr/>
        </p:nvSpPr>
        <p:spPr>
          <a:xfrm>
            <a:off x="768096"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68096" y="4046220"/>
            <a:ext cx="82296" cy="206197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96695" y="4830318"/>
            <a:ext cx="493776" cy="49377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96695"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3</a:t>
            </a:r>
          </a:p>
        </p:txBody>
      </p:sp>
      <p:sp>
        <p:nvSpPr>
          <p:cNvPr id="21" name="TextBox 20"/>
          <p:cNvSpPr txBox="1"/>
          <p:nvPr/>
        </p:nvSpPr>
        <p:spPr>
          <a:xfrm>
            <a:off x="1664207"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Exam clue</a:t>
            </a:r>
          </a:p>
          <a:p>
            <a:pPr algn="l">
              <a:spcAft>
                <a:spcPts val="300"/>
              </a:spcAft>
            </a:pPr>
            <a:r>
              <a:rPr sz="1200" b="0">
                <a:solidFill>
                  <a:srgbClr val="5B6372"/>
                </a:solidFill>
                <a:latin typeface="Arial"/>
              </a:rPr>
              <a:t>Symbols compare points; fills compare areas; density shows concentration.</a:t>
            </a:r>
          </a:p>
        </p:txBody>
      </p:sp>
      <p:sp>
        <p:nvSpPr>
          <p:cNvPr id="22" name="Rectangle 21"/>
          <p:cNvSpPr/>
          <p:nvPr/>
        </p:nvSpPr>
        <p:spPr>
          <a:xfrm>
            <a:off x="6222492"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22492" y="4046220"/>
            <a:ext cx="82296" cy="206197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51092" y="4830318"/>
            <a:ext cx="493776" cy="49377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51092"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4</a:t>
            </a:r>
          </a:p>
        </p:txBody>
      </p:sp>
      <p:sp>
        <p:nvSpPr>
          <p:cNvPr id="26" name="TextBox 25"/>
          <p:cNvSpPr txBox="1"/>
          <p:nvPr/>
        </p:nvSpPr>
        <p:spPr>
          <a:xfrm>
            <a:off x="7118604"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Common pitfall</a:t>
            </a:r>
          </a:p>
          <a:p>
            <a:pPr algn="l">
              <a:spcAft>
                <a:spcPts val="300"/>
              </a:spcAft>
            </a:pPr>
            <a:r>
              <a:rPr sz="1200" b="0">
                <a:solidFill>
                  <a:srgbClr val="5B6372"/>
                </a:solidFill>
                <a:latin typeface="Arial"/>
              </a:rPr>
              <a:t>A bar chart is more accurate when geography adds no meaning.</a:t>
            </a:r>
          </a:p>
        </p:txBody>
      </p:sp>
      <p:sp>
        <p:nvSpPr>
          <p:cNvPr id="27" name="TextBox 26"/>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28" name="TextBox 27"/>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29" name="TextBox 28"/>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73</a:t>
            </a:r>
          </a:p>
        </p:txBody>
      </p:sp>
    </p:spTree>
  </p:cSld>
  <p:clrMapOvr>
    <a:masterClrMapping/>
  </p:clrMapOvr>
  <p:transition spd="fast">
    <p:fade/>
  </p:transition>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37744"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47472"/>
            <a:ext cx="10698480" cy="292608"/>
          </a:xfrm>
          <a:prstGeom prst="rect">
            <a:avLst/>
          </a:prstGeom>
          <a:noFill/>
        </p:spPr>
        <p:txBody>
          <a:bodyPr wrap="square" anchor="t" lIns="54864" rIns="54864" tIns="54864" bIns="54864">
            <a:spAutoFit/>
          </a:bodyPr>
          <a:lstStyle/>
          <a:p>
            <a:pPr algn="l">
              <a:spcAft>
                <a:spcPts val="300"/>
              </a:spcAft>
            </a:pPr>
            <a:r>
              <a:rPr sz="1200" b="1">
                <a:solidFill>
                  <a:srgbClr val="10B981"/>
                </a:solidFill>
                <a:latin typeface="Arial"/>
              </a:rPr>
              <a:t>OFFICIAL OBJECTIVE · DOMAIN 2</a:t>
            </a:r>
          </a:p>
        </p:txBody>
      </p:sp>
      <p:sp>
        <p:nvSpPr>
          <p:cNvPr id="5" name="TextBox 4"/>
          <p:cNvSpPr txBox="1"/>
          <p:nvPr/>
        </p:nvSpPr>
        <p:spPr>
          <a:xfrm>
            <a:off x="749808" y="713232"/>
            <a:ext cx="10744200" cy="731520"/>
          </a:xfrm>
          <a:prstGeom prst="rect">
            <a:avLst/>
          </a:prstGeom>
          <a:noFill/>
        </p:spPr>
        <p:txBody>
          <a:bodyPr wrap="square" anchor="ctr" lIns="54864" rIns="54864" tIns="54864" bIns="54864">
            <a:spAutoFit/>
          </a:bodyPr>
          <a:lstStyle/>
          <a:p>
            <a:pPr algn="l">
              <a:spcAft>
                <a:spcPts val="300"/>
              </a:spcAft>
            </a:pPr>
            <a:r>
              <a:rPr sz="2700" b="1">
                <a:solidFill>
                  <a:srgbClr val="161B26"/>
                </a:solidFill>
                <a:latin typeface="Arial"/>
              </a:rPr>
              <a:t>2.1.5 · Create a combined-axis chart</a:t>
            </a:r>
          </a:p>
        </p:txBody>
      </p:sp>
      <p:sp>
        <p:nvSpPr>
          <p:cNvPr id="6" name="Rectangle 5"/>
          <p:cNvSpPr/>
          <p:nvPr/>
        </p:nvSpPr>
        <p:spPr>
          <a:xfrm>
            <a:off x="749808" y="1536192"/>
            <a:ext cx="106984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8096"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68096" y="1764792"/>
            <a:ext cx="82296" cy="206197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96695" y="2548890"/>
            <a:ext cx="493776" cy="49377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5"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1</a:t>
            </a:r>
          </a:p>
        </p:txBody>
      </p:sp>
      <p:sp>
        <p:nvSpPr>
          <p:cNvPr id="11" name="TextBox 10"/>
          <p:cNvSpPr txBox="1"/>
          <p:nvPr/>
        </p:nvSpPr>
        <p:spPr>
          <a:xfrm>
            <a:off x="1664207"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What it means</a:t>
            </a:r>
          </a:p>
          <a:p>
            <a:pPr algn="l">
              <a:spcAft>
                <a:spcPts val="300"/>
              </a:spcAft>
            </a:pPr>
            <a:r>
              <a:rPr sz="1200" b="0">
                <a:solidFill>
                  <a:srgbClr val="5B6372"/>
                </a:solidFill>
                <a:latin typeface="Arial"/>
              </a:rPr>
              <a:t>Multiple measures share one axis and Marks card.</a:t>
            </a:r>
          </a:p>
        </p:txBody>
      </p:sp>
      <p:sp>
        <p:nvSpPr>
          <p:cNvPr id="12" name="Rectangle 11"/>
          <p:cNvSpPr/>
          <p:nvPr/>
        </p:nvSpPr>
        <p:spPr>
          <a:xfrm>
            <a:off x="6222492"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22492" y="1764792"/>
            <a:ext cx="82296" cy="206197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51092" y="2548890"/>
            <a:ext cx="493776" cy="49377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51092"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2</a:t>
            </a:r>
          </a:p>
        </p:txBody>
      </p:sp>
      <p:sp>
        <p:nvSpPr>
          <p:cNvPr id="16" name="TextBox 15"/>
          <p:cNvSpPr txBox="1"/>
          <p:nvPr/>
        </p:nvSpPr>
        <p:spPr>
          <a:xfrm>
            <a:off x="7118604"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Use it when</a:t>
            </a:r>
          </a:p>
          <a:p>
            <a:pPr algn="l">
              <a:spcAft>
                <a:spcPts val="300"/>
              </a:spcAft>
            </a:pPr>
            <a:r>
              <a:rPr sz="1200" b="0">
                <a:solidFill>
                  <a:srgbClr val="5B6372"/>
                </a:solidFill>
                <a:latin typeface="Arial"/>
              </a:rPr>
              <a:t>Use when compatible units should be compared directly.</a:t>
            </a:r>
          </a:p>
        </p:txBody>
      </p:sp>
      <p:sp>
        <p:nvSpPr>
          <p:cNvPr id="17" name="Rectangle 16"/>
          <p:cNvSpPr/>
          <p:nvPr/>
        </p:nvSpPr>
        <p:spPr>
          <a:xfrm>
            <a:off x="768096"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68096" y="4046220"/>
            <a:ext cx="82296" cy="206197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96695" y="4830318"/>
            <a:ext cx="493776" cy="49377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96695"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3</a:t>
            </a:r>
          </a:p>
        </p:txBody>
      </p:sp>
      <p:sp>
        <p:nvSpPr>
          <p:cNvPr id="21" name="TextBox 20"/>
          <p:cNvSpPr txBox="1"/>
          <p:nvPr/>
        </p:nvSpPr>
        <p:spPr>
          <a:xfrm>
            <a:off x="1664207"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Exam clue</a:t>
            </a:r>
          </a:p>
          <a:p>
            <a:pPr algn="l">
              <a:spcAft>
                <a:spcPts val="300"/>
              </a:spcAft>
            </a:pPr>
            <a:r>
              <a:rPr sz="1200" b="0">
                <a:solidFill>
                  <a:srgbClr val="5B6372"/>
                </a:solidFill>
                <a:latin typeface="Arial"/>
              </a:rPr>
              <a:t>Measure Values and Measure Names are common building blocks.</a:t>
            </a:r>
          </a:p>
        </p:txBody>
      </p:sp>
      <p:sp>
        <p:nvSpPr>
          <p:cNvPr id="22" name="Rectangle 21"/>
          <p:cNvSpPr/>
          <p:nvPr/>
        </p:nvSpPr>
        <p:spPr>
          <a:xfrm>
            <a:off x="6222492"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22492" y="4046220"/>
            <a:ext cx="82296" cy="206197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51092" y="4830318"/>
            <a:ext cx="493776" cy="49377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51092"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4</a:t>
            </a:r>
          </a:p>
        </p:txBody>
      </p:sp>
      <p:sp>
        <p:nvSpPr>
          <p:cNvPr id="26" name="TextBox 25"/>
          <p:cNvSpPr txBox="1"/>
          <p:nvPr/>
        </p:nvSpPr>
        <p:spPr>
          <a:xfrm>
            <a:off x="7118604"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Common pitfall</a:t>
            </a:r>
          </a:p>
          <a:p>
            <a:pPr algn="l">
              <a:spcAft>
                <a:spcPts val="300"/>
              </a:spcAft>
            </a:pPr>
            <a:r>
              <a:rPr sz="1200" b="0">
                <a:solidFill>
                  <a:srgbClr val="5B6372"/>
                </a:solidFill>
                <a:latin typeface="Arial"/>
              </a:rPr>
              <a:t>Different units on one axis mislead.</a:t>
            </a:r>
          </a:p>
        </p:txBody>
      </p:sp>
      <p:sp>
        <p:nvSpPr>
          <p:cNvPr id="27" name="TextBox 26"/>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28" name="TextBox 27"/>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29" name="TextBox 28"/>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74</a:t>
            </a:r>
          </a:p>
        </p:txBody>
      </p:sp>
    </p:spTree>
  </p:cSld>
  <p:clrMapOvr>
    <a:masterClrMapping/>
  </p:clrMapOvr>
  <p:transition spd="fast">
    <p:fade/>
  </p:transition>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37744"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47472"/>
            <a:ext cx="10698480" cy="292608"/>
          </a:xfrm>
          <a:prstGeom prst="rect">
            <a:avLst/>
          </a:prstGeom>
          <a:noFill/>
        </p:spPr>
        <p:txBody>
          <a:bodyPr wrap="square" anchor="t" lIns="54864" rIns="54864" tIns="54864" bIns="54864">
            <a:spAutoFit/>
          </a:bodyPr>
          <a:lstStyle/>
          <a:p>
            <a:pPr algn="l">
              <a:spcAft>
                <a:spcPts val="300"/>
              </a:spcAft>
            </a:pPr>
            <a:r>
              <a:rPr sz="1200" b="1">
                <a:solidFill>
                  <a:srgbClr val="10B981"/>
                </a:solidFill>
                <a:latin typeface="Arial"/>
              </a:rPr>
              <a:t>OFFICIAL OBJECTIVE · DOMAIN 2</a:t>
            </a:r>
          </a:p>
        </p:txBody>
      </p:sp>
      <p:sp>
        <p:nvSpPr>
          <p:cNvPr id="5" name="TextBox 4"/>
          <p:cNvSpPr txBox="1"/>
          <p:nvPr/>
        </p:nvSpPr>
        <p:spPr>
          <a:xfrm>
            <a:off x="749808" y="713232"/>
            <a:ext cx="10744200" cy="731520"/>
          </a:xfrm>
          <a:prstGeom prst="rect">
            <a:avLst/>
          </a:prstGeom>
          <a:noFill/>
        </p:spPr>
        <p:txBody>
          <a:bodyPr wrap="square" anchor="ctr" lIns="54864" rIns="54864" tIns="54864" bIns="54864">
            <a:spAutoFit/>
          </a:bodyPr>
          <a:lstStyle/>
          <a:p>
            <a:pPr algn="l">
              <a:spcAft>
                <a:spcPts val="300"/>
              </a:spcAft>
            </a:pPr>
            <a:r>
              <a:rPr sz="2700" b="1">
                <a:solidFill>
                  <a:srgbClr val="161B26"/>
                </a:solidFill>
                <a:latin typeface="Arial"/>
              </a:rPr>
              <a:t>2.1.6 · Create a dual-axis chart</a:t>
            </a:r>
          </a:p>
        </p:txBody>
      </p:sp>
      <p:sp>
        <p:nvSpPr>
          <p:cNvPr id="6" name="Rectangle 5"/>
          <p:cNvSpPr/>
          <p:nvPr/>
        </p:nvSpPr>
        <p:spPr>
          <a:xfrm>
            <a:off x="749808" y="1536192"/>
            <a:ext cx="106984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8096"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68096" y="1764792"/>
            <a:ext cx="82296" cy="206197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96695" y="2548890"/>
            <a:ext cx="493776" cy="49377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5"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1</a:t>
            </a:r>
          </a:p>
        </p:txBody>
      </p:sp>
      <p:sp>
        <p:nvSpPr>
          <p:cNvPr id="11" name="TextBox 10"/>
          <p:cNvSpPr txBox="1"/>
          <p:nvPr/>
        </p:nvSpPr>
        <p:spPr>
          <a:xfrm>
            <a:off x="1664207"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What it means</a:t>
            </a:r>
          </a:p>
          <a:p>
            <a:pPr algn="l">
              <a:spcAft>
                <a:spcPts val="300"/>
              </a:spcAft>
            </a:pPr>
            <a:r>
              <a:rPr sz="1200" b="0">
                <a:solidFill>
                  <a:srgbClr val="5B6372"/>
                </a:solidFill>
                <a:latin typeface="Arial"/>
              </a:rPr>
              <a:t>Two measures use independent axes with separate Marks cards.</a:t>
            </a:r>
          </a:p>
        </p:txBody>
      </p:sp>
      <p:sp>
        <p:nvSpPr>
          <p:cNvPr id="12" name="Rectangle 11"/>
          <p:cNvSpPr/>
          <p:nvPr/>
        </p:nvSpPr>
        <p:spPr>
          <a:xfrm>
            <a:off x="6222492"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22492" y="1764792"/>
            <a:ext cx="82296" cy="206197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51092" y="2548890"/>
            <a:ext cx="493776" cy="49377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51092"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2</a:t>
            </a:r>
          </a:p>
        </p:txBody>
      </p:sp>
      <p:sp>
        <p:nvSpPr>
          <p:cNvPr id="16" name="TextBox 15"/>
          <p:cNvSpPr txBox="1"/>
          <p:nvPr/>
        </p:nvSpPr>
        <p:spPr>
          <a:xfrm>
            <a:off x="7118604"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Use it when</a:t>
            </a:r>
          </a:p>
          <a:p>
            <a:pPr algn="l">
              <a:spcAft>
                <a:spcPts val="300"/>
              </a:spcAft>
            </a:pPr>
            <a:r>
              <a:rPr sz="1200" b="0">
                <a:solidFill>
                  <a:srgbClr val="5B6372"/>
                </a:solidFill>
                <a:latin typeface="Arial"/>
              </a:rPr>
              <a:t>Use to layer related measures with different scales or mark types.</a:t>
            </a:r>
          </a:p>
        </p:txBody>
      </p:sp>
      <p:sp>
        <p:nvSpPr>
          <p:cNvPr id="17" name="Rectangle 16"/>
          <p:cNvSpPr/>
          <p:nvPr/>
        </p:nvSpPr>
        <p:spPr>
          <a:xfrm>
            <a:off x="768096"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68096" y="4046220"/>
            <a:ext cx="82296" cy="206197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96695" y="4830318"/>
            <a:ext cx="493776" cy="49377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96695"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3</a:t>
            </a:r>
          </a:p>
        </p:txBody>
      </p:sp>
      <p:sp>
        <p:nvSpPr>
          <p:cNvPr id="21" name="TextBox 20"/>
          <p:cNvSpPr txBox="1"/>
          <p:nvPr/>
        </p:nvSpPr>
        <p:spPr>
          <a:xfrm>
            <a:off x="1664207"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Exam clue</a:t>
            </a:r>
          </a:p>
          <a:p>
            <a:pPr algn="l">
              <a:spcAft>
                <a:spcPts val="300"/>
              </a:spcAft>
            </a:pPr>
            <a:r>
              <a:rPr sz="1200" b="0">
                <a:solidFill>
                  <a:srgbClr val="5B6372"/>
                </a:solidFill>
                <a:latin typeface="Arial"/>
              </a:rPr>
              <a:t>Synchronise axes when measures share units.</a:t>
            </a:r>
          </a:p>
        </p:txBody>
      </p:sp>
      <p:sp>
        <p:nvSpPr>
          <p:cNvPr id="22" name="Rectangle 21"/>
          <p:cNvSpPr/>
          <p:nvPr/>
        </p:nvSpPr>
        <p:spPr>
          <a:xfrm>
            <a:off x="6222492"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22492" y="4046220"/>
            <a:ext cx="82296" cy="206197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51092" y="4830318"/>
            <a:ext cx="493776" cy="49377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51092"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4</a:t>
            </a:r>
          </a:p>
        </p:txBody>
      </p:sp>
      <p:sp>
        <p:nvSpPr>
          <p:cNvPr id="26" name="TextBox 25"/>
          <p:cNvSpPr txBox="1"/>
          <p:nvPr/>
        </p:nvSpPr>
        <p:spPr>
          <a:xfrm>
            <a:off x="7118604"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Common pitfall</a:t>
            </a:r>
          </a:p>
          <a:p>
            <a:pPr algn="l">
              <a:spcAft>
                <a:spcPts val="300"/>
              </a:spcAft>
            </a:pPr>
            <a:r>
              <a:rPr sz="1200" b="0">
                <a:solidFill>
                  <a:srgbClr val="5B6372"/>
                </a:solidFill>
                <a:latin typeface="Arial"/>
              </a:rPr>
              <a:t>Unsynchronised axes can imply artificial relationships.</a:t>
            </a:r>
          </a:p>
        </p:txBody>
      </p:sp>
      <p:sp>
        <p:nvSpPr>
          <p:cNvPr id="27" name="TextBox 26"/>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28" name="TextBox 27"/>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29" name="TextBox 28"/>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75</a:t>
            </a:r>
          </a:p>
        </p:txBody>
      </p:sp>
    </p:spTree>
  </p:cSld>
  <p:clrMapOvr>
    <a:masterClrMapping/>
  </p:clrMapOvr>
  <p:transition spd="fast">
    <p:fade/>
  </p:transition>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37744"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47472"/>
            <a:ext cx="10698480" cy="292608"/>
          </a:xfrm>
          <a:prstGeom prst="rect">
            <a:avLst/>
          </a:prstGeom>
          <a:noFill/>
        </p:spPr>
        <p:txBody>
          <a:bodyPr wrap="square" anchor="t" lIns="54864" rIns="54864" tIns="54864" bIns="54864">
            <a:spAutoFit/>
          </a:bodyPr>
          <a:lstStyle/>
          <a:p>
            <a:pPr algn="l">
              <a:spcAft>
                <a:spcPts val="300"/>
              </a:spcAft>
            </a:pPr>
            <a:r>
              <a:rPr sz="1200" b="1">
                <a:solidFill>
                  <a:srgbClr val="10B981"/>
                </a:solidFill>
                <a:latin typeface="Arial"/>
              </a:rPr>
              <a:t>OFFICIAL OBJECTIVE · DOMAIN 2</a:t>
            </a:r>
          </a:p>
        </p:txBody>
      </p:sp>
      <p:sp>
        <p:nvSpPr>
          <p:cNvPr id="5" name="TextBox 4"/>
          <p:cNvSpPr txBox="1"/>
          <p:nvPr/>
        </p:nvSpPr>
        <p:spPr>
          <a:xfrm>
            <a:off x="749808" y="713232"/>
            <a:ext cx="10744200" cy="731520"/>
          </a:xfrm>
          <a:prstGeom prst="rect">
            <a:avLst/>
          </a:prstGeom>
          <a:noFill/>
        </p:spPr>
        <p:txBody>
          <a:bodyPr wrap="square" anchor="ctr" lIns="54864" rIns="54864" tIns="54864" bIns="54864">
            <a:spAutoFit/>
          </a:bodyPr>
          <a:lstStyle/>
          <a:p>
            <a:pPr algn="l">
              <a:spcAft>
                <a:spcPts val="300"/>
              </a:spcAft>
            </a:pPr>
            <a:r>
              <a:rPr sz="2700" b="1">
                <a:solidFill>
                  <a:srgbClr val="161B26"/>
                </a:solidFill>
                <a:latin typeface="Arial"/>
              </a:rPr>
              <a:t>2.1.7 · Create a stacked bar</a:t>
            </a:r>
          </a:p>
        </p:txBody>
      </p:sp>
      <p:sp>
        <p:nvSpPr>
          <p:cNvPr id="6" name="Rectangle 5"/>
          <p:cNvSpPr/>
          <p:nvPr/>
        </p:nvSpPr>
        <p:spPr>
          <a:xfrm>
            <a:off x="749808" y="1536192"/>
            <a:ext cx="106984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8096"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68096" y="1764792"/>
            <a:ext cx="82296" cy="206197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96695" y="2548890"/>
            <a:ext cx="493776" cy="49377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5"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1</a:t>
            </a:r>
          </a:p>
        </p:txBody>
      </p:sp>
      <p:sp>
        <p:nvSpPr>
          <p:cNvPr id="11" name="TextBox 10"/>
          <p:cNvSpPr txBox="1"/>
          <p:nvPr/>
        </p:nvSpPr>
        <p:spPr>
          <a:xfrm>
            <a:off x="1664207"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What it means</a:t>
            </a:r>
          </a:p>
          <a:p>
            <a:pPr algn="l">
              <a:spcAft>
                <a:spcPts val="300"/>
              </a:spcAft>
            </a:pPr>
            <a:r>
              <a:rPr sz="1200" b="0">
                <a:solidFill>
                  <a:srgbClr val="5B6372"/>
                </a:solidFill>
                <a:latin typeface="Arial"/>
              </a:rPr>
              <a:t>Segments divide each bar into contributions to a total.</a:t>
            </a:r>
          </a:p>
        </p:txBody>
      </p:sp>
      <p:sp>
        <p:nvSpPr>
          <p:cNvPr id="12" name="Rectangle 11"/>
          <p:cNvSpPr/>
          <p:nvPr/>
        </p:nvSpPr>
        <p:spPr>
          <a:xfrm>
            <a:off x="6222492"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22492" y="1764792"/>
            <a:ext cx="82296" cy="206197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51092" y="2548890"/>
            <a:ext cx="493776" cy="49377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51092"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2</a:t>
            </a:r>
          </a:p>
        </p:txBody>
      </p:sp>
      <p:sp>
        <p:nvSpPr>
          <p:cNvPr id="16" name="TextBox 15"/>
          <p:cNvSpPr txBox="1"/>
          <p:nvPr/>
        </p:nvSpPr>
        <p:spPr>
          <a:xfrm>
            <a:off x="7118604"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Use it when</a:t>
            </a:r>
          </a:p>
          <a:p>
            <a:pPr algn="l">
              <a:spcAft>
                <a:spcPts val="300"/>
              </a:spcAft>
            </a:pPr>
            <a:r>
              <a:rPr sz="1200" b="0">
                <a:solidFill>
                  <a:srgbClr val="5B6372"/>
                </a:solidFill>
                <a:latin typeface="Arial"/>
              </a:rPr>
              <a:t>Use for composition plus total comparison.</a:t>
            </a:r>
          </a:p>
        </p:txBody>
      </p:sp>
      <p:sp>
        <p:nvSpPr>
          <p:cNvPr id="17" name="Rectangle 16"/>
          <p:cNvSpPr/>
          <p:nvPr/>
        </p:nvSpPr>
        <p:spPr>
          <a:xfrm>
            <a:off x="768096"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68096" y="4046220"/>
            <a:ext cx="82296" cy="206197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96695" y="4830318"/>
            <a:ext cx="493776" cy="49377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96695"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3</a:t>
            </a:r>
          </a:p>
        </p:txBody>
      </p:sp>
      <p:sp>
        <p:nvSpPr>
          <p:cNvPr id="21" name="TextBox 20"/>
          <p:cNvSpPr txBox="1"/>
          <p:nvPr/>
        </p:nvSpPr>
        <p:spPr>
          <a:xfrm>
            <a:off x="1664207"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Exam clue</a:t>
            </a:r>
          </a:p>
          <a:p>
            <a:pPr algn="l">
              <a:spcAft>
                <a:spcPts val="300"/>
              </a:spcAft>
            </a:pPr>
            <a:r>
              <a:rPr sz="1200" b="0">
                <a:solidFill>
                  <a:srgbClr val="5B6372"/>
                </a:solidFill>
                <a:latin typeface="Arial"/>
              </a:rPr>
              <a:t>Colour defines the stack.</a:t>
            </a:r>
          </a:p>
        </p:txBody>
      </p:sp>
      <p:sp>
        <p:nvSpPr>
          <p:cNvPr id="22" name="Rectangle 21"/>
          <p:cNvSpPr/>
          <p:nvPr/>
        </p:nvSpPr>
        <p:spPr>
          <a:xfrm>
            <a:off x="6222492"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22492" y="4046220"/>
            <a:ext cx="82296" cy="206197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51092" y="4830318"/>
            <a:ext cx="493776" cy="49377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51092"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4</a:t>
            </a:r>
          </a:p>
        </p:txBody>
      </p:sp>
      <p:sp>
        <p:nvSpPr>
          <p:cNvPr id="26" name="TextBox 25"/>
          <p:cNvSpPr txBox="1"/>
          <p:nvPr/>
        </p:nvSpPr>
        <p:spPr>
          <a:xfrm>
            <a:off x="7118604"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Common pitfall</a:t>
            </a:r>
          </a:p>
          <a:p>
            <a:pPr algn="l">
              <a:spcAft>
                <a:spcPts val="300"/>
              </a:spcAft>
            </a:pPr>
            <a:r>
              <a:rPr sz="1200" b="0">
                <a:solidFill>
                  <a:srgbClr val="5B6372"/>
                </a:solidFill>
                <a:latin typeface="Arial"/>
              </a:rPr>
              <a:t>Middle segments lack a common baseline.</a:t>
            </a:r>
          </a:p>
        </p:txBody>
      </p:sp>
      <p:sp>
        <p:nvSpPr>
          <p:cNvPr id="27" name="TextBox 26"/>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28" name="TextBox 27"/>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29" name="TextBox 28"/>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76</a:t>
            </a:r>
          </a:p>
        </p:txBody>
      </p:sp>
    </p:spTree>
  </p:cSld>
  <p:clrMapOvr>
    <a:masterClrMapping/>
  </p:clrMapOvr>
  <p:transition spd="fast">
    <p:fade/>
  </p:transition>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37744"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47472"/>
            <a:ext cx="10698480" cy="292608"/>
          </a:xfrm>
          <a:prstGeom prst="rect">
            <a:avLst/>
          </a:prstGeom>
          <a:noFill/>
        </p:spPr>
        <p:txBody>
          <a:bodyPr wrap="square" anchor="t" lIns="54864" rIns="54864" tIns="54864" bIns="54864">
            <a:spAutoFit/>
          </a:bodyPr>
          <a:lstStyle/>
          <a:p>
            <a:pPr algn="l">
              <a:spcAft>
                <a:spcPts val="300"/>
              </a:spcAft>
            </a:pPr>
            <a:r>
              <a:rPr sz="1200" b="1">
                <a:solidFill>
                  <a:srgbClr val="10B981"/>
                </a:solidFill>
                <a:latin typeface="Arial"/>
              </a:rPr>
              <a:t>OFFICIAL OBJECTIVE · DOMAIN 2</a:t>
            </a:r>
          </a:p>
        </p:txBody>
      </p:sp>
      <p:sp>
        <p:nvSpPr>
          <p:cNvPr id="5" name="TextBox 4"/>
          <p:cNvSpPr txBox="1"/>
          <p:nvPr/>
        </p:nvSpPr>
        <p:spPr>
          <a:xfrm>
            <a:off x="749808" y="713232"/>
            <a:ext cx="10744200" cy="731520"/>
          </a:xfrm>
          <a:prstGeom prst="rect">
            <a:avLst/>
          </a:prstGeom>
          <a:noFill/>
        </p:spPr>
        <p:txBody>
          <a:bodyPr wrap="square" anchor="ctr" lIns="54864" rIns="54864" tIns="54864" bIns="54864">
            <a:spAutoFit/>
          </a:bodyPr>
          <a:lstStyle/>
          <a:p>
            <a:pPr algn="l">
              <a:spcAft>
                <a:spcPts val="300"/>
              </a:spcAft>
            </a:pPr>
            <a:r>
              <a:rPr sz="2700" b="1">
                <a:solidFill>
                  <a:srgbClr val="161B26"/>
                </a:solidFill>
                <a:latin typeface="Arial"/>
              </a:rPr>
              <a:t>2.1.8 · Create a density map</a:t>
            </a:r>
          </a:p>
        </p:txBody>
      </p:sp>
      <p:sp>
        <p:nvSpPr>
          <p:cNvPr id="6" name="Rectangle 5"/>
          <p:cNvSpPr/>
          <p:nvPr/>
        </p:nvSpPr>
        <p:spPr>
          <a:xfrm>
            <a:off x="749808" y="1536192"/>
            <a:ext cx="106984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8096"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68096" y="1764792"/>
            <a:ext cx="82296" cy="206197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96695" y="2548890"/>
            <a:ext cx="493776" cy="49377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5"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1</a:t>
            </a:r>
          </a:p>
        </p:txBody>
      </p:sp>
      <p:sp>
        <p:nvSpPr>
          <p:cNvPr id="11" name="TextBox 10"/>
          <p:cNvSpPr txBox="1"/>
          <p:nvPr/>
        </p:nvSpPr>
        <p:spPr>
          <a:xfrm>
            <a:off x="1664207"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What it means</a:t>
            </a:r>
          </a:p>
          <a:p>
            <a:pPr algn="l">
              <a:spcAft>
                <a:spcPts val="300"/>
              </a:spcAft>
            </a:pPr>
            <a:r>
              <a:rPr sz="1200" b="0">
                <a:solidFill>
                  <a:srgbClr val="5B6372"/>
                </a:solidFill>
                <a:latin typeface="Arial"/>
              </a:rPr>
              <a:t>Overlapping points become a smooth concentration surface.</a:t>
            </a:r>
          </a:p>
        </p:txBody>
      </p:sp>
      <p:sp>
        <p:nvSpPr>
          <p:cNvPr id="12" name="Rectangle 11"/>
          <p:cNvSpPr/>
          <p:nvPr/>
        </p:nvSpPr>
        <p:spPr>
          <a:xfrm>
            <a:off x="6222492"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22492" y="1764792"/>
            <a:ext cx="82296" cy="206197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51092" y="2548890"/>
            <a:ext cx="493776" cy="49377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51092"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2</a:t>
            </a:r>
          </a:p>
        </p:txBody>
      </p:sp>
      <p:sp>
        <p:nvSpPr>
          <p:cNvPr id="16" name="TextBox 15"/>
          <p:cNvSpPr txBox="1"/>
          <p:nvPr/>
        </p:nvSpPr>
        <p:spPr>
          <a:xfrm>
            <a:off x="7118604"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Use it when</a:t>
            </a:r>
          </a:p>
          <a:p>
            <a:pPr algn="l">
              <a:spcAft>
                <a:spcPts val="300"/>
              </a:spcAft>
            </a:pPr>
            <a:r>
              <a:rPr sz="1200" b="0">
                <a:solidFill>
                  <a:srgbClr val="5B6372"/>
                </a:solidFill>
                <a:latin typeface="Arial"/>
              </a:rPr>
              <a:t>Use where hotspots matter more than individual points.</a:t>
            </a:r>
          </a:p>
        </p:txBody>
      </p:sp>
      <p:sp>
        <p:nvSpPr>
          <p:cNvPr id="17" name="Rectangle 16"/>
          <p:cNvSpPr/>
          <p:nvPr/>
        </p:nvSpPr>
        <p:spPr>
          <a:xfrm>
            <a:off x="768096"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68096" y="4046220"/>
            <a:ext cx="82296" cy="206197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96695" y="4830318"/>
            <a:ext cx="493776" cy="49377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96695"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3</a:t>
            </a:r>
          </a:p>
        </p:txBody>
      </p:sp>
      <p:sp>
        <p:nvSpPr>
          <p:cNvPr id="21" name="TextBox 20"/>
          <p:cNvSpPr txBox="1"/>
          <p:nvPr/>
        </p:nvSpPr>
        <p:spPr>
          <a:xfrm>
            <a:off x="1664207"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Exam clue</a:t>
            </a:r>
          </a:p>
          <a:p>
            <a:pPr algn="l">
              <a:spcAft>
                <a:spcPts val="300"/>
              </a:spcAft>
            </a:pPr>
            <a:r>
              <a:rPr sz="1200" b="0">
                <a:solidFill>
                  <a:srgbClr val="5B6372"/>
                </a:solidFill>
                <a:latin typeface="Arial"/>
              </a:rPr>
              <a:t>Intensity reflects local concentration and optional weighting.</a:t>
            </a:r>
          </a:p>
        </p:txBody>
      </p:sp>
      <p:sp>
        <p:nvSpPr>
          <p:cNvPr id="22" name="Rectangle 21"/>
          <p:cNvSpPr/>
          <p:nvPr/>
        </p:nvSpPr>
        <p:spPr>
          <a:xfrm>
            <a:off x="6222492"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22492" y="4046220"/>
            <a:ext cx="82296" cy="206197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51092" y="4830318"/>
            <a:ext cx="493776" cy="49377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51092"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4</a:t>
            </a:r>
          </a:p>
        </p:txBody>
      </p:sp>
      <p:sp>
        <p:nvSpPr>
          <p:cNvPr id="26" name="TextBox 25"/>
          <p:cNvSpPr txBox="1"/>
          <p:nvPr/>
        </p:nvSpPr>
        <p:spPr>
          <a:xfrm>
            <a:off x="7118604"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Common pitfall</a:t>
            </a:r>
          </a:p>
          <a:p>
            <a:pPr algn="l">
              <a:spcAft>
                <a:spcPts val="300"/>
              </a:spcAft>
            </a:pPr>
            <a:r>
              <a:rPr sz="1200" b="0">
                <a:solidFill>
                  <a:srgbClr val="5B6372"/>
                </a:solidFill>
                <a:latin typeface="Arial"/>
              </a:rPr>
              <a:t>Sparse data or smoothing can manufacture hotspots.</a:t>
            </a:r>
          </a:p>
        </p:txBody>
      </p:sp>
      <p:sp>
        <p:nvSpPr>
          <p:cNvPr id="27" name="TextBox 26"/>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28" name="TextBox 27"/>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29" name="TextBox 28"/>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77</a:t>
            </a:r>
          </a:p>
        </p:txBody>
      </p:sp>
    </p:spTree>
  </p:cSld>
  <p:clrMapOvr>
    <a:masterClrMapping/>
  </p:clrMapOvr>
  <p:transition spd="fast">
    <p:fade/>
  </p:transition>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37744"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47472"/>
            <a:ext cx="10698480" cy="292608"/>
          </a:xfrm>
          <a:prstGeom prst="rect">
            <a:avLst/>
          </a:prstGeom>
          <a:noFill/>
        </p:spPr>
        <p:txBody>
          <a:bodyPr wrap="square" anchor="t" lIns="54864" rIns="54864" tIns="54864" bIns="54864">
            <a:spAutoFit/>
          </a:bodyPr>
          <a:lstStyle/>
          <a:p>
            <a:pPr algn="l">
              <a:spcAft>
                <a:spcPts val="300"/>
              </a:spcAft>
            </a:pPr>
            <a:r>
              <a:rPr sz="1200" b="1">
                <a:solidFill>
                  <a:srgbClr val="10B981"/>
                </a:solidFill>
                <a:latin typeface="Arial"/>
              </a:rPr>
              <a:t>OFFICIAL OBJECTIVE · DOMAIN 2</a:t>
            </a:r>
          </a:p>
        </p:txBody>
      </p:sp>
      <p:sp>
        <p:nvSpPr>
          <p:cNvPr id="5" name="TextBox 4"/>
          <p:cNvSpPr txBox="1"/>
          <p:nvPr/>
        </p:nvSpPr>
        <p:spPr>
          <a:xfrm>
            <a:off x="749808" y="713232"/>
            <a:ext cx="10744200" cy="731520"/>
          </a:xfrm>
          <a:prstGeom prst="rect">
            <a:avLst/>
          </a:prstGeom>
          <a:noFill/>
        </p:spPr>
        <p:txBody>
          <a:bodyPr wrap="square" anchor="ctr" lIns="54864" rIns="54864" tIns="54864" bIns="54864">
            <a:spAutoFit/>
          </a:bodyPr>
          <a:lstStyle/>
          <a:p>
            <a:pPr algn="l">
              <a:spcAft>
                <a:spcPts val="300"/>
              </a:spcAft>
            </a:pPr>
            <a:r>
              <a:rPr sz="2700" b="1">
                <a:solidFill>
                  <a:srgbClr val="161B26"/>
                </a:solidFill>
                <a:latin typeface="Arial"/>
              </a:rPr>
              <a:t>2.1.9 · Crosstab and highlight table</a:t>
            </a:r>
          </a:p>
        </p:txBody>
      </p:sp>
      <p:sp>
        <p:nvSpPr>
          <p:cNvPr id="6" name="Rectangle 5"/>
          <p:cNvSpPr/>
          <p:nvPr/>
        </p:nvSpPr>
        <p:spPr>
          <a:xfrm>
            <a:off x="749808" y="1536192"/>
            <a:ext cx="106984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8096"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68096" y="1764792"/>
            <a:ext cx="82296" cy="206197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96695" y="2548890"/>
            <a:ext cx="493776" cy="49377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5"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1</a:t>
            </a:r>
          </a:p>
        </p:txBody>
      </p:sp>
      <p:sp>
        <p:nvSpPr>
          <p:cNvPr id="11" name="TextBox 10"/>
          <p:cNvSpPr txBox="1"/>
          <p:nvPr/>
        </p:nvSpPr>
        <p:spPr>
          <a:xfrm>
            <a:off x="1664207"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What it means</a:t>
            </a:r>
          </a:p>
          <a:p>
            <a:pPr algn="l">
              <a:spcAft>
                <a:spcPts val="300"/>
              </a:spcAft>
            </a:pPr>
            <a:r>
              <a:rPr sz="1200" b="0">
                <a:solidFill>
                  <a:srgbClr val="5B6372"/>
                </a:solidFill>
                <a:latin typeface="Arial"/>
              </a:rPr>
              <a:t>Text tables show exact values; colour adds pattern detection.</a:t>
            </a:r>
          </a:p>
        </p:txBody>
      </p:sp>
      <p:sp>
        <p:nvSpPr>
          <p:cNvPr id="12" name="Rectangle 11"/>
          <p:cNvSpPr/>
          <p:nvPr/>
        </p:nvSpPr>
        <p:spPr>
          <a:xfrm>
            <a:off x="6222492"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22492" y="1764792"/>
            <a:ext cx="82296" cy="206197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51092" y="2548890"/>
            <a:ext cx="493776" cy="49377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51092"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2</a:t>
            </a:r>
          </a:p>
        </p:txBody>
      </p:sp>
      <p:sp>
        <p:nvSpPr>
          <p:cNvPr id="16" name="TextBox 15"/>
          <p:cNvSpPr txBox="1"/>
          <p:nvPr/>
        </p:nvSpPr>
        <p:spPr>
          <a:xfrm>
            <a:off x="7118604"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Use it when</a:t>
            </a:r>
          </a:p>
          <a:p>
            <a:pPr algn="l">
              <a:spcAft>
                <a:spcPts val="300"/>
              </a:spcAft>
            </a:pPr>
            <a:r>
              <a:rPr sz="1200" b="0">
                <a:solidFill>
                  <a:srgbClr val="5B6372"/>
                </a:solidFill>
                <a:latin typeface="Arial"/>
              </a:rPr>
              <a:t>Use for lookup precision plus comparative scanning.</a:t>
            </a:r>
          </a:p>
        </p:txBody>
      </p:sp>
      <p:sp>
        <p:nvSpPr>
          <p:cNvPr id="17" name="Rectangle 16"/>
          <p:cNvSpPr/>
          <p:nvPr/>
        </p:nvSpPr>
        <p:spPr>
          <a:xfrm>
            <a:off x="768096"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68096" y="4046220"/>
            <a:ext cx="82296" cy="206197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96695" y="4830318"/>
            <a:ext cx="493776" cy="49377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96695"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3</a:t>
            </a:r>
          </a:p>
        </p:txBody>
      </p:sp>
      <p:sp>
        <p:nvSpPr>
          <p:cNvPr id="21" name="TextBox 20"/>
          <p:cNvSpPr txBox="1"/>
          <p:nvPr/>
        </p:nvSpPr>
        <p:spPr>
          <a:xfrm>
            <a:off x="1664207"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Exam clue</a:t>
            </a:r>
          </a:p>
          <a:p>
            <a:pPr algn="l">
              <a:spcAft>
                <a:spcPts val="300"/>
              </a:spcAft>
            </a:pPr>
            <a:r>
              <a:rPr sz="1200" b="0">
                <a:solidFill>
                  <a:srgbClr val="5B6372"/>
                </a:solidFill>
                <a:latin typeface="Arial"/>
              </a:rPr>
              <a:t>Measure Names and Measure Values can present several KPIs.</a:t>
            </a:r>
          </a:p>
        </p:txBody>
      </p:sp>
      <p:sp>
        <p:nvSpPr>
          <p:cNvPr id="22" name="Rectangle 21"/>
          <p:cNvSpPr/>
          <p:nvPr/>
        </p:nvSpPr>
        <p:spPr>
          <a:xfrm>
            <a:off x="6222492"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22492" y="4046220"/>
            <a:ext cx="82296" cy="206197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51092" y="4830318"/>
            <a:ext cx="493776" cy="49377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51092"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4</a:t>
            </a:r>
          </a:p>
        </p:txBody>
      </p:sp>
      <p:sp>
        <p:nvSpPr>
          <p:cNvPr id="26" name="TextBox 25"/>
          <p:cNvSpPr txBox="1"/>
          <p:nvPr/>
        </p:nvSpPr>
        <p:spPr>
          <a:xfrm>
            <a:off x="7118604"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Common pitfall</a:t>
            </a:r>
          </a:p>
          <a:p>
            <a:pPr algn="l">
              <a:spcAft>
                <a:spcPts val="300"/>
              </a:spcAft>
            </a:pPr>
            <a:r>
              <a:rPr sz="1200" b="0">
                <a:solidFill>
                  <a:srgbClr val="5B6372"/>
                </a:solidFill>
                <a:latin typeface="Arial"/>
              </a:rPr>
              <a:t>Too many cells overwhelm; filter and use meaningful scales.</a:t>
            </a:r>
          </a:p>
        </p:txBody>
      </p:sp>
      <p:sp>
        <p:nvSpPr>
          <p:cNvPr id="27" name="TextBox 26"/>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28" name="TextBox 27"/>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29" name="TextBox 28"/>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78</a:t>
            </a:r>
          </a:p>
        </p:txBody>
      </p:sp>
    </p:spTree>
  </p:cSld>
  <p:clrMapOvr>
    <a:masterClrMapping/>
  </p:clrMapOvr>
  <p:transition spd="fast">
    <p:fade/>
  </p:transition>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37744"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47472"/>
            <a:ext cx="10698480" cy="292608"/>
          </a:xfrm>
          <a:prstGeom prst="rect">
            <a:avLst/>
          </a:prstGeom>
          <a:noFill/>
        </p:spPr>
        <p:txBody>
          <a:bodyPr wrap="square" anchor="t" lIns="54864" rIns="54864" tIns="54864" bIns="54864">
            <a:spAutoFit/>
          </a:bodyPr>
          <a:lstStyle/>
          <a:p>
            <a:pPr algn="l">
              <a:spcAft>
                <a:spcPts val="300"/>
              </a:spcAft>
            </a:pPr>
            <a:r>
              <a:rPr sz="1200" b="1">
                <a:solidFill>
                  <a:srgbClr val="10B981"/>
                </a:solidFill>
                <a:latin typeface="Arial"/>
              </a:rPr>
              <a:t>DOMAIN 2 · SECTION 2</a:t>
            </a:r>
          </a:p>
        </p:txBody>
      </p:sp>
      <p:sp>
        <p:nvSpPr>
          <p:cNvPr id="5" name="TextBox 4"/>
          <p:cNvSpPr txBox="1"/>
          <p:nvPr/>
        </p:nvSpPr>
        <p:spPr>
          <a:xfrm>
            <a:off x="749808" y="713232"/>
            <a:ext cx="10744200" cy="731520"/>
          </a:xfrm>
          <a:prstGeom prst="rect">
            <a:avLst/>
          </a:prstGeom>
          <a:noFill/>
        </p:spPr>
        <p:txBody>
          <a:bodyPr wrap="square" anchor="ctr" lIns="54864" rIns="54864" tIns="54864" bIns="54864">
            <a:spAutoFit/>
          </a:bodyPr>
          <a:lstStyle/>
          <a:p>
            <a:pPr algn="l">
              <a:spcAft>
                <a:spcPts val="300"/>
              </a:spcAft>
            </a:pPr>
            <a:r>
              <a:rPr sz="2700" b="1">
                <a:solidFill>
                  <a:srgbClr val="161B26"/>
                </a:solidFill>
                <a:latin typeface="Arial"/>
              </a:rPr>
              <a:t>Organise data and apply filters</a:t>
            </a:r>
          </a:p>
        </p:txBody>
      </p:sp>
      <p:sp>
        <p:nvSpPr>
          <p:cNvPr id="6" name="Rectangle 5"/>
          <p:cNvSpPr/>
          <p:nvPr/>
        </p:nvSpPr>
        <p:spPr>
          <a:xfrm>
            <a:off x="749808" y="1536192"/>
            <a:ext cx="106984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8096"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68096" y="1764792"/>
            <a:ext cx="82296" cy="206197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96695" y="2548890"/>
            <a:ext cx="493776" cy="49377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5"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1</a:t>
            </a:r>
          </a:p>
        </p:txBody>
      </p:sp>
      <p:sp>
        <p:nvSpPr>
          <p:cNvPr id="11" name="TextBox 10"/>
          <p:cNvSpPr txBox="1"/>
          <p:nvPr/>
        </p:nvSpPr>
        <p:spPr>
          <a:xfrm>
            <a:off x="1664207"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Groups</a:t>
            </a:r>
          </a:p>
          <a:p>
            <a:pPr algn="l">
              <a:spcAft>
                <a:spcPts val="300"/>
              </a:spcAft>
            </a:pPr>
            <a:r>
              <a:rPr sz="1200" b="0">
                <a:solidFill>
                  <a:srgbClr val="5B6372"/>
                </a:solidFill>
                <a:latin typeface="Arial"/>
              </a:rPr>
              <a:t>Combine members into a new categorical field.</a:t>
            </a:r>
          </a:p>
        </p:txBody>
      </p:sp>
      <p:sp>
        <p:nvSpPr>
          <p:cNvPr id="12" name="Rectangle 11"/>
          <p:cNvSpPr/>
          <p:nvPr/>
        </p:nvSpPr>
        <p:spPr>
          <a:xfrm>
            <a:off x="6222492"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22492" y="1764792"/>
            <a:ext cx="82296" cy="206197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51092" y="2548890"/>
            <a:ext cx="493776" cy="49377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51092"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2</a:t>
            </a:r>
          </a:p>
        </p:txBody>
      </p:sp>
      <p:sp>
        <p:nvSpPr>
          <p:cNvPr id="16" name="TextBox 15"/>
          <p:cNvSpPr txBox="1"/>
          <p:nvPr/>
        </p:nvSpPr>
        <p:spPr>
          <a:xfrm>
            <a:off x="7118604"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Sets</a:t>
            </a:r>
          </a:p>
          <a:p>
            <a:pPr algn="l">
              <a:spcAft>
                <a:spcPts val="300"/>
              </a:spcAft>
            </a:pPr>
            <a:r>
              <a:rPr sz="1200" b="0">
                <a:solidFill>
                  <a:srgbClr val="5B6372"/>
                </a:solidFill>
                <a:latin typeface="Arial"/>
              </a:rPr>
              <a:t>Define an IN/OUT subset that can be dynamic or combined.</a:t>
            </a:r>
          </a:p>
        </p:txBody>
      </p:sp>
      <p:sp>
        <p:nvSpPr>
          <p:cNvPr id="17" name="Rectangle 16"/>
          <p:cNvSpPr/>
          <p:nvPr/>
        </p:nvSpPr>
        <p:spPr>
          <a:xfrm>
            <a:off x="768096"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68096" y="4046220"/>
            <a:ext cx="82296" cy="206197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96695" y="4830318"/>
            <a:ext cx="493776" cy="49377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96695"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3</a:t>
            </a:r>
          </a:p>
        </p:txBody>
      </p:sp>
      <p:sp>
        <p:nvSpPr>
          <p:cNvPr id="21" name="TextBox 20"/>
          <p:cNvSpPr txBox="1"/>
          <p:nvPr/>
        </p:nvSpPr>
        <p:spPr>
          <a:xfrm>
            <a:off x="1664207"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Hierarchies</a:t>
            </a:r>
          </a:p>
          <a:p>
            <a:pPr algn="l">
              <a:spcAft>
                <a:spcPts val="300"/>
              </a:spcAft>
            </a:pPr>
            <a:r>
              <a:rPr sz="1200" b="0">
                <a:solidFill>
                  <a:srgbClr val="5B6372"/>
                </a:solidFill>
                <a:latin typeface="Arial"/>
              </a:rPr>
              <a:t>Provide a drill path from broad to detailed dimensions.</a:t>
            </a:r>
          </a:p>
        </p:txBody>
      </p:sp>
      <p:sp>
        <p:nvSpPr>
          <p:cNvPr id="22" name="Rectangle 21"/>
          <p:cNvSpPr/>
          <p:nvPr/>
        </p:nvSpPr>
        <p:spPr>
          <a:xfrm>
            <a:off x="6222492"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22492" y="4046220"/>
            <a:ext cx="82296" cy="206197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51092" y="4830318"/>
            <a:ext cx="493776" cy="49377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51092"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4</a:t>
            </a:r>
          </a:p>
        </p:txBody>
      </p:sp>
      <p:sp>
        <p:nvSpPr>
          <p:cNvPr id="26" name="TextBox 25"/>
          <p:cNvSpPr txBox="1"/>
          <p:nvPr/>
        </p:nvSpPr>
        <p:spPr>
          <a:xfrm>
            <a:off x="7118604"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Filters</a:t>
            </a:r>
          </a:p>
          <a:p>
            <a:pPr algn="l">
              <a:spcAft>
                <a:spcPts val="300"/>
              </a:spcAft>
            </a:pPr>
            <a:r>
              <a:rPr sz="1200" b="0">
                <a:solidFill>
                  <a:srgbClr val="5B6372"/>
                </a:solidFill>
                <a:latin typeface="Arial"/>
              </a:rPr>
              <a:t>Control which records or aggregated marks remain.</a:t>
            </a:r>
          </a:p>
        </p:txBody>
      </p:sp>
      <p:sp>
        <p:nvSpPr>
          <p:cNvPr id="27" name="TextBox 26"/>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28" name="TextBox 27"/>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29" name="TextBox 28"/>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79</a:t>
            </a:r>
          </a:p>
        </p:txBody>
      </p:sp>
    </p:spTree>
  </p:cSld>
  <p:clrMapOvr>
    <a:masterClrMapping/>
  </p:clrMapOvr>
  <p:transition spd="fast">
    <p:fade/>
  </p:transition>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37744"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47472"/>
            <a:ext cx="10698480" cy="292608"/>
          </a:xfrm>
          <a:prstGeom prst="rect">
            <a:avLst/>
          </a:prstGeom>
          <a:noFill/>
        </p:spPr>
        <p:txBody>
          <a:bodyPr wrap="square" anchor="t" lIns="54864" rIns="54864" tIns="54864" bIns="54864">
            <a:spAutoFit/>
          </a:bodyPr>
          <a:lstStyle/>
          <a:p>
            <a:pPr algn="l">
              <a:spcAft>
                <a:spcPts val="300"/>
              </a:spcAft>
            </a:pPr>
            <a:r>
              <a:rPr sz="1200" b="1">
                <a:solidFill>
                  <a:srgbClr val="10B981"/>
                </a:solidFill>
                <a:latin typeface="Arial"/>
              </a:rPr>
              <a:t>CONCEPTUAL DECISION FLOW</a:t>
            </a:r>
          </a:p>
        </p:txBody>
      </p:sp>
      <p:sp>
        <p:nvSpPr>
          <p:cNvPr id="5" name="TextBox 4"/>
          <p:cNvSpPr txBox="1"/>
          <p:nvPr/>
        </p:nvSpPr>
        <p:spPr>
          <a:xfrm>
            <a:off x="749808" y="713232"/>
            <a:ext cx="10744200" cy="731520"/>
          </a:xfrm>
          <a:prstGeom prst="rect">
            <a:avLst/>
          </a:prstGeom>
          <a:noFill/>
        </p:spPr>
        <p:txBody>
          <a:bodyPr wrap="square" anchor="ctr" lIns="54864" rIns="54864" tIns="54864" bIns="54864">
            <a:spAutoFit/>
          </a:bodyPr>
          <a:lstStyle/>
          <a:p>
            <a:pPr algn="l">
              <a:spcAft>
                <a:spcPts val="300"/>
              </a:spcAft>
            </a:pPr>
            <a:r>
              <a:rPr sz="2700" b="1">
                <a:solidFill>
                  <a:srgbClr val="161B26"/>
                </a:solidFill>
                <a:latin typeface="Arial"/>
              </a:rPr>
              <a:t>Reasoning Pattern — Organise data and apply filters</a:t>
            </a:r>
          </a:p>
        </p:txBody>
      </p:sp>
      <p:sp>
        <p:nvSpPr>
          <p:cNvPr id="6" name="Rectangle 5"/>
          <p:cNvSpPr/>
          <p:nvPr/>
        </p:nvSpPr>
        <p:spPr>
          <a:xfrm>
            <a:off x="749808" y="1536192"/>
            <a:ext cx="106984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8096" y="2057400"/>
            <a:ext cx="1947672" cy="2971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68096" y="2057400"/>
            <a:ext cx="194767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76172" y="2423160"/>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6172" y="2423160"/>
            <a:ext cx="731520" cy="731520"/>
          </a:xfrm>
          <a:prstGeom prst="rect">
            <a:avLst/>
          </a:prstGeom>
          <a:noFill/>
        </p:spPr>
        <p:txBody>
          <a:bodyPr wrap="square" anchor="ctr" lIns="54864" rIns="54864" tIns="54864" bIns="54864">
            <a:spAutoFit/>
          </a:bodyPr>
          <a:lstStyle/>
          <a:p>
            <a:pPr algn="ctr">
              <a:spcAft>
                <a:spcPts val="300"/>
              </a:spcAft>
            </a:pPr>
            <a:r>
              <a:rPr sz="2400" b="1">
                <a:solidFill>
                  <a:srgbClr val="FFFFFF"/>
                </a:solidFill>
                <a:latin typeface="Arial"/>
              </a:rPr>
              <a:t>1</a:t>
            </a:r>
          </a:p>
        </p:txBody>
      </p:sp>
      <p:sp>
        <p:nvSpPr>
          <p:cNvPr id="11" name="TextBox 10"/>
          <p:cNvSpPr txBox="1"/>
          <p:nvPr/>
        </p:nvSpPr>
        <p:spPr>
          <a:xfrm>
            <a:off x="877824" y="3429000"/>
            <a:ext cx="1728216" cy="1143000"/>
          </a:xfrm>
          <a:prstGeom prst="rect">
            <a:avLst/>
          </a:prstGeom>
          <a:noFill/>
        </p:spPr>
        <p:txBody>
          <a:bodyPr wrap="square" anchor="ctr" lIns="54864" rIns="54864" tIns="54864" bIns="54864">
            <a:spAutoFit/>
          </a:bodyPr>
          <a:lstStyle/>
          <a:p>
            <a:pPr algn="ctr">
              <a:spcAft>
                <a:spcPts val="300"/>
              </a:spcAft>
            </a:pPr>
            <a:r>
              <a:rPr sz="1250" b="0">
                <a:solidFill>
                  <a:srgbClr val="161B26"/>
                </a:solidFill>
                <a:latin typeface="Arial"/>
              </a:rPr>
              <a:t>Groups</a:t>
            </a:r>
          </a:p>
        </p:txBody>
      </p:sp>
      <p:sp>
        <p:nvSpPr>
          <p:cNvPr id="12" name="TextBox 11"/>
          <p:cNvSpPr txBox="1"/>
          <p:nvPr/>
        </p:nvSpPr>
        <p:spPr>
          <a:xfrm>
            <a:off x="2697479" y="3246120"/>
            <a:ext cx="274320" cy="365760"/>
          </a:xfrm>
          <a:prstGeom prst="rect">
            <a:avLst/>
          </a:prstGeom>
          <a:noFill/>
        </p:spPr>
        <p:txBody>
          <a:bodyPr wrap="square" anchor="t" lIns="54864" rIns="54864" tIns="54864" bIns="54864">
            <a:spAutoFit/>
          </a:bodyPr>
          <a:lstStyle/>
          <a:p>
            <a:pPr algn="ctr">
              <a:spcAft>
                <a:spcPts val="300"/>
              </a:spcAft>
            </a:pPr>
            <a:r>
              <a:rPr sz="1200" b="1">
                <a:solidFill>
                  <a:srgbClr val="10B981"/>
                </a:solidFill>
                <a:latin typeface="Arial"/>
              </a:rPr>
              <a:t>▶</a:t>
            </a:r>
          </a:p>
        </p:txBody>
      </p:sp>
      <p:sp>
        <p:nvSpPr>
          <p:cNvPr id="13" name="Rectangle 12"/>
          <p:cNvSpPr/>
          <p:nvPr/>
        </p:nvSpPr>
        <p:spPr>
          <a:xfrm>
            <a:off x="2944368" y="2057400"/>
            <a:ext cx="1947672" cy="2971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44368" y="2057400"/>
            <a:ext cx="194767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52444" y="2423160"/>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52444" y="2423160"/>
            <a:ext cx="731520" cy="731520"/>
          </a:xfrm>
          <a:prstGeom prst="rect">
            <a:avLst/>
          </a:prstGeom>
          <a:noFill/>
        </p:spPr>
        <p:txBody>
          <a:bodyPr wrap="square" anchor="ctr" lIns="54864" rIns="54864" tIns="54864" bIns="54864">
            <a:spAutoFit/>
          </a:bodyPr>
          <a:lstStyle/>
          <a:p>
            <a:pPr algn="ctr">
              <a:spcAft>
                <a:spcPts val="300"/>
              </a:spcAft>
            </a:pPr>
            <a:r>
              <a:rPr sz="2400" b="1">
                <a:solidFill>
                  <a:srgbClr val="FFFFFF"/>
                </a:solidFill>
                <a:latin typeface="Arial"/>
              </a:rPr>
              <a:t>2</a:t>
            </a:r>
          </a:p>
        </p:txBody>
      </p:sp>
      <p:sp>
        <p:nvSpPr>
          <p:cNvPr id="17" name="TextBox 16"/>
          <p:cNvSpPr txBox="1"/>
          <p:nvPr/>
        </p:nvSpPr>
        <p:spPr>
          <a:xfrm>
            <a:off x="3054096" y="3429000"/>
            <a:ext cx="1728216" cy="1143000"/>
          </a:xfrm>
          <a:prstGeom prst="rect">
            <a:avLst/>
          </a:prstGeom>
          <a:noFill/>
        </p:spPr>
        <p:txBody>
          <a:bodyPr wrap="square" anchor="ctr" lIns="54864" rIns="54864" tIns="54864" bIns="54864">
            <a:spAutoFit/>
          </a:bodyPr>
          <a:lstStyle/>
          <a:p>
            <a:pPr algn="ctr">
              <a:spcAft>
                <a:spcPts val="300"/>
              </a:spcAft>
            </a:pPr>
            <a:r>
              <a:rPr sz="1250" b="0">
                <a:solidFill>
                  <a:srgbClr val="161B26"/>
                </a:solidFill>
                <a:latin typeface="Arial"/>
              </a:rPr>
              <a:t>Sets</a:t>
            </a:r>
          </a:p>
        </p:txBody>
      </p:sp>
      <p:sp>
        <p:nvSpPr>
          <p:cNvPr id="18" name="TextBox 17"/>
          <p:cNvSpPr txBox="1"/>
          <p:nvPr/>
        </p:nvSpPr>
        <p:spPr>
          <a:xfrm>
            <a:off x="4873752" y="3246120"/>
            <a:ext cx="274320" cy="365760"/>
          </a:xfrm>
          <a:prstGeom prst="rect">
            <a:avLst/>
          </a:prstGeom>
          <a:noFill/>
        </p:spPr>
        <p:txBody>
          <a:bodyPr wrap="square" anchor="t" lIns="54864" rIns="54864" tIns="54864" bIns="54864">
            <a:spAutoFit/>
          </a:bodyPr>
          <a:lstStyle/>
          <a:p>
            <a:pPr algn="ctr">
              <a:spcAft>
                <a:spcPts val="300"/>
              </a:spcAft>
            </a:pPr>
            <a:r>
              <a:rPr sz="1200" b="1">
                <a:solidFill>
                  <a:srgbClr val="10B981"/>
                </a:solidFill>
                <a:latin typeface="Arial"/>
              </a:rPr>
              <a:t>▶</a:t>
            </a:r>
          </a:p>
        </p:txBody>
      </p:sp>
      <p:sp>
        <p:nvSpPr>
          <p:cNvPr id="19" name="Rectangle 18"/>
          <p:cNvSpPr/>
          <p:nvPr/>
        </p:nvSpPr>
        <p:spPr>
          <a:xfrm>
            <a:off x="5120640" y="2057400"/>
            <a:ext cx="1947672" cy="2971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0" y="2057400"/>
            <a:ext cx="194767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28715" y="2423160"/>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28715" y="2423160"/>
            <a:ext cx="731520" cy="731520"/>
          </a:xfrm>
          <a:prstGeom prst="rect">
            <a:avLst/>
          </a:prstGeom>
          <a:noFill/>
        </p:spPr>
        <p:txBody>
          <a:bodyPr wrap="square" anchor="ctr" lIns="54864" rIns="54864" tIns="54864" bIns="54864">
            <a:spAutoFit/>
          </a:bodyPr>
          <a:lstStyle/>
          <a:p>
            <a:pPr algn="ctr">
              <a:spcAft>
                <a:spcPts val="300"/>
              </a:spcAft>
            </a:pPr>
            <a:r>
              <a:rPr sz="2400" b="1">
                <a:solidFill>
                  <a:srgbClr val="FFFFFF"/>
                </a:solidFill>
                <a:latin typeface="Arial"/>
              </a:rPr>
              <a:t>3</a:t>
            </a:r>
          </a:p>
        </p:txBody>
      </p:sp>
      <p:sp>
        <p:nvSpPr>
          <p:cNvPr id="23" name="TextBox 22"/>
          <p:cNvSpPr txBox="1"/>
          <p:nvPr/>
        </p:nvSpPr>
        <p:spPr>
          <a:xfrm>
            <a:off x="5230368" y="3429000"/>
            <a:ext cx="1728216" cy="1143000"/>
          </a:xfrm>
          <a:prstGeom prst="rect">
            <a:avLst/>
          </a:prstGeom>
          <a:noFill/>
        </p:spPr>
        <p:txBody>
          <a:bodyPr wrap="square" anchor="ctr" lIns="54864" rIns="54864" tIns="54864" bIns="54864">
            <a:spAutoFit/>
          </a:bodyPr>
          <a:lstStyle/>
          <a:p>
            <a:pPr algn="ctr">
              <a:spcAft>
                <a:spcPts val="300"/>
              </a:spcAft>
            </a:pPr>
            <a:r>
              <a:rPr sz="1250" b="0">
                <a:solidFill>
                  <a:srgbClr val="161B26"/>
                </a:solidFill>
                <a:latin typeface="Arial"/>
              </a:rPr>
              <a:t>Hierarchies</a:t>
            </a:r>
          </a:p>
        </p:txBody>
      </p:sp>
      <p:sp>
        <p:nvSpPr>
          <p:cNvPr id="24" name="TextBox 23"/>
          <p:cNvSpPr txBox="1"/>
          <p:nvPr/>
        </p:nvSpPr>
        <p:spPr>
          <a:xfrm>
            <a:off x="7050024" y="3246120"/>
            <a:ext cx="274320" cy="365760"/>
          </a:xfrm>
          <a:prstGeom prst="rect">
            <a:avLst/>
          </a:prstGeom>
          <a:noFill/>
        </p:spPr>
        <p:txBody>
          <a:bodyPr wrap="square" anchor="t" lIns="54864" rIns="54864" tIns="54864" bIns="54864">
            <a:spAutoFit/>
          </a:bodyPr>
          <a:lstStyle/>
          <a:p>
            <a:pPr algn="ctr">
              <a:spcAft>
                <a:spcPts val="300"/>
              </a:spcAft>
            </a:pPr>
            <a:r>
              <a:rPr sz="1200" b="1">
                <a:solidFill>
                  <a:srgbClr val="10B981"/>
                </a:solidFill>
                <a:latin typeface="Arial"/>
              </a:rPr>
              <a:t>▶</a:t>
            </a:r>
          </a:p>
        </p:txBody>
      </p:sp>
      <p:sp>
        <p:nvSpPr>
          <p:cNvPr id="25" name="Rectangle 24"/>
          <p:cNvSpPr/>
          <p:nvPr/>
        </p:nvSpPr>
        <p:spPr>
          <a:xfrm>
            <a:off x="7296912" y="2057400"/>
            <a:ext cx="1947672" cy="2971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296912" y="2057400"/>
            <a:ext cx="194767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04988" y="2423160"/>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4988" y="2423160"/>
            <a:ext cx="731520" cy="731520"/>
          </a:xfrm>
          <a:prstGeom prst="rect">
            <a:avLst/>
          </a:prstGeom>
          <a:noFill/>
        </p:spPr>
        <p:txBody>
          <a:bodyPr wrap="square" anchor="ctr" lIns="54864" rIns="54864" tIns="54864" bIns="54864">
            <a:spAutoFit/>
          </a:bodyPr>
          <a:lstStyle/>
          <a:p>
            <a:pPr algn="ctr">
              <a:spcAft>
                <a:spcPts val="300"/>
              </a:spcAft>
            </a:pPr>
            <a:r>
              <a:rPr sz="2400" b="1">
                <a:solidFill>
                  <a:srgbClr val="FFFFFF"/>
                </a:solidFill>
                <a:latin typeface="Arial"/>
              </a:rPr>
              <a:t>4</a:t>
            </a:r>
          </a:p>
        </p:txBody>
      </p:sp>
      <p:sp>
        <p:nvSpPr>
          <p:cNvPr id="29" name="TextBox 28"/>
          <p:cNvSpPr txBox="1"/>
          <p:nvPr/>
        </p:nvSpPr>
        <p:spPr>
          <a:xfrm>
            <a:off x="7406640" y="3429000"/>
            <a:ext cx="1728216" cy="1143000"/>
          </a:xfrm>
          <a:prstGeom prst="rect">
            <a:avLst/>
          </a:prstGeom>
          <a:noFill/>
        </p:spPr>
        <p:txBody>
          <a:bodyPr wrap="square" anchor="ctr" lIns="54864" rIns="54864" tIns="54864" bIns="54864">
            <a:spAutoFit/>
          </a:bodyPr>
          <a:lstStyle/>
          <a:p>
            <a:pPr algn="ctr">
              <a:spcAft>
                <a:spcPts val="300"/>
              </a:spcAft>
            </a:pPr>
            <a:r>
              <a:rPr sz="1250" b="0">
                <a:solidFill>
                  <a:srgbClr val="161B26"/>
                </a:solidFill>
                <a:latin typeface="Arial"/>
              </a:rPr>
              <a:t>Filters</a:t>
            </a:r>
          </a:p>
        </p:txBody>
      </p:sp>
      <p:sp>
        <p:nvSpPr>
          <p:cNvPr id="30" name="TextBox 29"/>
          <p:cNvSpPr txBox="1"/>
          <p:nvPr/>
        </p:nvSpPr>
        <p:spPr>
          <a:xfrm>
            <a:off x="9226296" y="3246120"/>
            <a:ext cx="274320" cy="365760"/>
          </a:xfrm>
          <a:prstGeom prst="rect">
            <a:avLst/>
          </a:prstGeom>
          <a:noFill/>
        </p:spPr>
        <p:txBody>
          <a:bodyPr wrap="square" anchor="t" lIns="54864" rIns="54864" tIns="54864" bIns="54864">
            <a:spAutoFit/>
          </a:bodyPr>
          <a:lstStyle/>
          <a:p>
            <a:pPr algn="ctr">
              <a:spcAft>
                <a:spcPts val="300"/>
              </a:spcAft>
            </a:pPr>
            <a:r>
              <a:rPr sz="1200" b="1">
                <a:solidFill>
                  <a:srgbClr val="10B981"/>
                </a:solidFill>
                <a:latin typeface="Arial"/>
              </a:rPr>
              <a:t>▶</a:t>
            </a:r>
          </a:p>
        </p:txBody>
      </p:sp>
      <p:sp>
        <p:nvSpPr>
          <p:cNvPr id="31" name="Rectangle 30"/>
          <p:cNvSpPr/>
          <p:nvPr/>
        </p:nvSpPr>
        <p:spPr>
          <a:xfrm>
            <a:off x="9473184" y="2057400"/>
            <a:ext cx="1947672" cy="2971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473184" y="2057400"/>
            <a:ext cx="194767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81259" y="2423160"/>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81259" y="2423160"/>
            <a:ext cx="731520" cy="731520"/>
          </a:xfrm>
          <a:prstGeom prst="rect">
            <a:avLst/>
          </a:prstGeom>
          <a:noFill/>
        </p:spPr>
        <p:txBody>
          <a:bodyPr wrap="square" anchor="ctr" lIns="54864" rIns="54864" tIns="54864" bIns="54864">
            <a:spAutoFit/>
          </a:bodyPr>
          <a:lstStyle/>
          <a:p>
            <a:pPr algn="ctr">
              <a:spcAft>
                <a:spcPts val="300"/>
              </a:spcAft>
            </a:pPr>
            <a:r>
              <a:rPr sz="2400" b="1">
                <a:solidFill>
                  <a:srgbClr val="FFFFFF"/>
                </a:solidFill>
                <a:latin typeface="Arial"/>
              </a:rPr>
              <a:t>5</a:t>
            </a:r>
          </a:p>
        </p:txBody>
      </p:sp>
      <p:sp>
        <p:nvSpPr>
          <p:cNvPr id="35" name="TextBox 34"/>
          <p:cNvSpPr txBox="1"/>
          <p:nvPr/>
        </p:nvSpPr>
        <p:spPr>
          <a:xfrm>
            <a:off x="9582911" y="3429000"/>
            <a:ext cx="1728216" cy="1143000"/>
          </a:xfrm>
          <a:prstGeom prst="rect">
            <a:avLst/>
          </a:prstGeom>
          <a:noFill/>
        </p:spPr>
        <p:txBody>
          <a:bodyPr wrap="square" anchor="ctr" lIns="54864" rIns="54864" tIns="54864" bIns="54864">
            <a:spAutoFit/>
          </a:bodyPr>
          <a:lstStyle/>
          <a:p>
            <a:pPr algn="ctr">
              <a:spcAft>
                <a:spcPts val="300"/>
              </a:spcAft>
            </a:pPr>
            <a:r>
              <a:rPr sz="1250" b="0">
                <a:solidFill>
                  <a:srgbClr val="161B26"/>
                </a:solidFill>
                <a:latin typeface="Arial"/>
              </a:rPr>
              <a:t>Validate result</a:t>
            </a:r>
          </a:p>
        </p:txBody>
      </p:sp>
      <p:sp>
        <p:nvSpPr>
          <p:cNvPr id="36" name="TextBox 35"/>
          <p:cNvSpPr txBox="1"/>
          <p:nvPr/>
        </p:nvSpPr>
        <p:spPr>
          <a:xfrm>
            <a:off x="777240" y="5394960"/>
            <a:ext cx="10607040" cy="411480"/>
          </a:xfrm>
          <a:prstGeom prst="rect">
            <a:avLst/>
          </a:prstGeom>
          <a:noFill/>
        </p:spPr>
        <p:txBody>
          <a:bodyPr wrap="square" anchor="t" lIns="54864" rIns="54864" tIns="54864" bIns="54864">
            <a:spAutoFit/>
          </a:bodyPr>
          <a:lstStyle/>
          <a:p>
            <a:pPr algn="ctr">
              <a:spcAft>
                <a:spcPts val="300"/>
              </a:spcAft>
            </a:pPr>
            <a:r>
              <a:rPr sz="1250" b="0">
                <a:solidFill>
                  <a:srgbClr val="5B6372"/>
                </a:solidFill>
                <a:latin typeface="Arial"/>
              </a:rPr>
              <a:t>This is a reasoning map, not a click-by-click lab procedure.</a:t>
            </a:r>
          </a:p>
        </p:txBody>
      </p:sp>
      <p:sp>
        <p:nvSpPr>
          <p:cNvPr id="37" name="TextBox 36"/>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38" name="TextBox 37"/>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39" name="TextBox 38"/>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80</a:t>
            </a:r>
          </a:p>
        </p:txBody>
      </p:sp>
    </p:spTree>
  </p:cSld>
  <p:clrMapOvr>
    <a:masterClrMapping/>
  </p:clrMapOvr>
  <p:transition spd="fast">
    <p:fade/>
  </p:transition>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37744"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47472"/>
            <a:ext cx="10698480" cy="292608"/>
          </a:xfrm>
          <a:prstGeom prst="rect">
            <a:avLst/>
          </a:prstGeom>
          <a:noFill/>
        </p:spPr>
        <p:txBody>
          <a:bodyPr wrap="square" anchor="t" lIns="54864" rIns="54864" tIns="54864" bIns="54864">
            <a:spAutoFit/>
          </a:bodyPr>
          <a:lstStyle/>
          <a:p>
            <a:pPr algn="l">
              <a:spcAft>
                <a:spcPts val="300"/>
              </a:spcAft>
            </a:pPr>
            <a:r>
              <a:rPr sz="1200" b="1">
                <a:solidFill>
                  <a:srgbClr val="10B981"/>
                </a:solidFill>
                <a:latin typeface="Arial"/>
              </a:rPr>
              <a:t>OFFICIAL OBJECTIVE · DOMAIN 2</a:t>
            </a:r>
          </a:p>
        </p:txBody>
      </p:sp>
      <p:sp>
        <p:nvSpPr>
          <p:cNvPr id="5" name="TextBox 4"/>
          <p:cNvSpPr txBox="1"/>
          <p:nvPr/>
        </p:nvSpPr>
        <p:spPr>
          <a:xfrm>
            <a:off x="749808" y="713232"/>
            <a:ext cx="10744200" cy="731520"/>
          </a:xfrm>
          <a:prstGeom prst="rect">
            <a:avLst/>
          </a:prstGeom>
          <a:noFill/>
        </p:spPr>
        <p:txBody>
          <a:bodyPr wrap="square" anchor="ctr" lIns="54864" rIns="54864" tIns="54864" bIns="54864">
            <a:spAutoFit/>
          </a:bodyPr>
          <a:lstStyle/>
          <a:p>
            <a:pPr algn="l">
              <a:spcAft>
                <a:spcPts val="300"/>
              </a:spcAft>
            </a:pPr>
            <a:r>
              <a:rPr sz="2700" b="1">
                <a:solidFill>
                  <a:srgbClr val="161B26"/>
                </a:solidFill>
                <a:latin typeface="Arial"/>
              </a:rPr>
              <a:t>2.2.1 · Create groups</a:t>
            </a:r>
          </a:p>
        </p:txBody>
      </p:sp>
      <p:sp>
        <p:nvSpPr>
          <p:cNvPr id="6" name="Rectangle 5"/>
          <p:cNvSpPr/>
          <p:nvPr/>
        </p:nvSpPr>
        <p:spPr>
          <a:xfrm>
            <a:off x="749808" y="1536192"/>
            <a:ext cx="106984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8096"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68096" y="1764792"/>
            <a:ext cx="82296" cy="206197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96695" y="2548890"/>
            <a:ext cx="493776" cy="49377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5"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1</a:t>
            </a:r>
          </a:p>
        </p:txBody>
      </p:sp>
      <p:sp>
        <p:nvSpPr>
          <p:cNvPr id="11" name="TextBox 10"/>
          <p:cNvSpPr txBox="1"/>
          <p:nvPr/>
        </p:nvSpPr>
        <p:spPr>
          <a:xfrm>
            <a:off x="1664207"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What it means</a:t>
            </a:r>
          </a:p>
          <a:p>
            <a:pPr algn="l">
              <a:spcAft>
                <a:spcPts val="300"/>
              </a:spcAft>
            </a:pPr>
            <a:r>
              <a:rPr sz="1200" b="0">
                <a:solidFill>
                  <a:srgbClr val="5B6372"/>
                </a:solidFill>
                <a:latin typeface="Arial"/>
              </a:rPr>
              <a:t>Groups combine members into higher-level categories.</a:t>
            </a:r>
          </a:p>
        </p:txBody>
      </p:sp>
      <p:sp>
        <p:nvSpPr>
          <p:cNvPr id="12" name="Rectangle 11"/>
          <p:cNvSpPr/>
          <p:nvPr/>
        </p:nvSpPr>
        <p:spPr>
          <a:xfrm>
            <a:off x="6222492"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22492" y="1764792"/>
            <a:ext cx="82296" cy="206197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51092" y="2548890"/>
            <a:ext cx="493776" cy="49377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51092"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2</a:t>
            </a:r>
          </a:p>
        </p:txBody>
      </p:sp>
      <p:sp>
        <p:nvSpPr>
          <p:cNvPr id="16" name="TextBox 15"/>
          <p:cNvSpPr txBox="1"/>
          <p:nvPr/>
        </p:nvSpPr>
        <p:spPr>
          <a:xfrm>
            <a:off x="7118604"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Use it when</a:t>
            </a:r>
          </a:p>
          <a:p>
            <a:pPr algn="l">
              <a:spcAft>
                <a:spcPts val="300"/>
              </a:spcAft>
            </a:pPr>
            <a:r>
              <a:rPr sz="1200" b="0">
                <a:solidFill>
                  <a:srgbClr val="5B6372"/>
                </a:solidFill>
                <a:latin typeface="Arial"/>
              </a:rPr>
              <a:t>Use to correct labels, merge small categories or define business groupings.</a:t>
            </a:r>
          </a:p>
        </p:txBody>
      </p:sp>
      <p:sp>
        <p:nvSpPr>
          <p:cNvPr id="17" name="Rectangle 16"/>
          <p:cNvSpPr/>
          <p:nvPr/>
        </p:nvSpPr>
        <p:spPr>
          <a:xfrm>
            <a:off x="768096"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68096" y="4046220"/>
            <a:ext cx="82296" cy="206197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96695" y="4830318"/>
            <a:ext cx="493776" cy="49377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96695"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3</a:t>
            </a:r>
          </a:p>
        </p:txBody>
      </p:sp>
      <p:sp>
        <p:nvSpPr>
          <p:cNvPr id="21" name="TextBox 20"/>
          <p:cNvSpPr txBox="1"/>
          <p:nvPr/>
        </p:nvSpPr>
        <p:spPr>
          <a:xfrm>
            <a:off x="1664207"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Exam clue</a:t>
            </a:r>
          </a:p>
          <a:p>
            <a:pPr algn="l">
              <a:spcAft>
                <a:spcPts val="300"/>
              </a:spcAft>
            </a:pPr>
            <a:r>
              <a:rPr sz="1200" b="0">
                <a:solidFill>
                  <a:srgbClr val="5B6372"/>
                </a:solidFill>
                <a:latin typeface="Arial"/>
              </a:rPr>
              <a:t>Create from marks, headers or the Data pane.</a:t>
            </a:r>
          </a:p>
        </p:txBody>
      </p:sp>
      <p:sp>
        <p:nvSpPr>
          <p:cNvPr id="22" name="Rectangle 21"/>
          <p:cNvSpPr/>
          <p:nvPr/>
        </p:nvSpPr>
        <p:spPr>
          <a:xfrm>
            <a:off x="6222492"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22492" y="4046220"/>
            <a:ext cx="82296" cy="206197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51092" y="4830318"/>
            <a:ext cx="493776" cy="49377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51092"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4</a:t>
            </a:r>
          </a:p>
        </p:txBody>
      </p:sp>
      <p:sp>
        <p:nvSpPr>
          <p:cNvPr id="26" name="TextBox 25"/>
          <p:cNvSpPr txBox="1"/>
          <p:nvPr/>
        </p:nvSpPr>
        <p:spPr>
          <a:xfrm>
            <a:off x="7118604"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Common pitfall</a:t>
            </a:r>
          </a:p>
          <a:p>
            <a:pPr algn="l">
              <a:spcAft>
                <a:spcPts val="300"/>
              </a:spcAft>
            </a:pPr>
            <a:r>
              <a:rPr sz="1200" b="0">
                <a:solidFill>
                  <a:srgbClr val="5B6372"/>
                </a:solidFill>
                <a:latin typeface="Arial"/>
              </a:rPr>
              <a:t>A manual group does not absorb new members automatically.</a:t>
            </a:r>
          </a:p>
        </p:txBody>
      </p:sp>
      <p:sp>
        <p:nvSpPr>
          <p:cNvPr id="27" name="TextBox 26"/>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28" name="TextBox 27"/>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29" name="TextBox 28"/>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81</a:t>
            </a:r>
          </a:p>
        </p:txBody>
      </p:sp>
    </p:spTree>
  </p:cSld>
  <p:clrMapOvr>
    <a:masterClrMapping/>
  </p:clrMapOvr>
  <p:transition spd="fast">
    <p:fade/>
  </p:transition>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37744"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47472"/>
            <a:ext cx="10698480" cy="292608"/>
          </a:xfrm>
          <a:prstGeom prst="rect">
            <a:avLst/>
          </a:prstGeom>
          <a:noFill/>
        </p:spPr>
        <p:txBody>
          <a:bodyPr wrap="square" anchor="t" lIns="54864" rIns="54864" tIns="54864" bIns="54864">
            <a:spAutoFit/>
          </a:bodyPr>
          <a:lstStyle/>
          <a:p>
            <a:pPr algn="l">
              <a:spcAft>
                <a:spcPts val="300"/>
              </a:spcAft>
            </a:pPr>
            <a:r>
              <a:rPr sz="1200" b="1">
                <a:solidFill>
                  <a:srgbClr val="10B981"/>
                </a:solidFill>
                <a:latin typeface="Arial"/>
              </a:rPr>
              <a:t>OFFICIAL OBJECTIVE · DOMAIN 2</a:t>
            </a:r>
          </a:p>
        </p:txBody>
      </p:sp>
      <p:sp>
        <p:nvSpPr>
          <p:cNvPr id="5" name="TextBox 4"/>
          <p:cNvSpPr txBox="1"/>
          <p:nvPr/>
        </p:nvSpPr>
        <p:spPr>
          <a:xfrm>
            <a:off x="749808" y="713232"/>
            <a:ext cx="10744200" cy="731520"/>
          </a:xfrm>
          <a:prstGeom prst="rect">
            <a:avLst/>
          </a:prstGeom>
          <a:noFill/>
        </p:spPr>
        <p:txBody>
          <a:bodyPr wrap="square" anchor="ctr" lIns="54864" rIns="54864" tIns="54864" bIns="54864">
            <a:spAutoFit/>
          </a:bodyPr>
          <a:lstStyle/>
          <a:p>
            <a:pPr algn="l">
              <a:spcAft>
                <a:spcPts val="300"/>
              </a:spcAft>
            </a:pPr>
            <a:r>
              <a:rPr sz="2700" b="1">
                <a:solidFill>
                  <a:srgbClr val="161B26"/>
                </a:solidFill>
                <a:latin typeface="Arial"/>
              </a:rPr>
              <a:t>2.2.2 · Create sets</a:t>
            </a:r>
          </a:p>
        </p:txBody>
      </p:sp>
      <p:sp>
        <p:nvSpPr>
          <p:cNvPr id="6" name="Rectangle 5"/>
          <p:cNvSpPr/>
          <p:nvPr/>
        </p:nvSpPr>
        <p:spPr>
          <a:xfrm>
            <a:off x="749808" y="1536192"/>
            <a:ext cx="106984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8096"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68096" y="1764792"/>
            <a:ext cx="82296" cy="206197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96695" y="2548890"/>
            <a:ext cx="493776" cy="49377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5"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1</a:t>
            </a:r>
          </a:p>
        </p:txBody>
      </p:sp>
      <p:sp>
        <p:nvSpPr>
          <p:cNvPr id="11" name="TextBox 10"/>
          <p:cNvSpPr txBox="1"/>
          <p:nvPr/>
        </p:nvSpPr>
        <p:spPr>
          <a:xfrm>
            <a:off x="1664207"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What it means</a:t>
            </a:r>
          </a:p>
          <a:p>
            <a:pPr algn="l">
              <a:spcAft>
                <a:spcPts val="300"/>
              </a:spcAft>
            </a:pPr>
            <a:r>
              <a:rPr sz="1200" b="0">
                <a:solidFill>
                  <a:srgbClr val="5B6372"/>
                </a:solidFill>
                <a:latin typeface="Arial"/>
              </a:rPr>
              <a:t>A set divides members into IN and OUT using rules or selection.</a:t>
            </a:r>
          </a:p>
        </p:txBody>
      </p:sp>
      <p:sp>
        <p:nvSpPr>
          <p:cNvPr id="12" name="Rectangle 11"/>
          <p:cNvSpPr/>
          <p:nvPr/>
        </p:nvSpPr>
        <p:spPr>
          <a:xfrm>
            <a:off x="6222492"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22492" y="1764792"/>
            <a:ext cx="82296" cy="206197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51092" y="2548890"/>
            <a:ext cx="493776" cy="49377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51092"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2</a:t>
            </a:r>
          </a:p>
        </p:txBody>
      </p:sp>
      <p:sp>
        <p:nvSpPr>
          <p:cNvPr id="16" name="TextBox 15"/>
          <p:cNvSpPr txBox="1"/>
          <p:nvPr/>
        </p:nvSpPr>
        <p:spPr>
          <a:xfrm>
            <a:off x="7118604"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Use it when</a:t>
            </a:r>
          </a:p>
          <a:p>
            <a:pPr algn="l">
              <a:spcAft>
                <a:spcPts val="300"/>
              </a:spcAft>
            </a:pPr>
            <a:r>
              <a:rPr sz="1200" b="0">
                <a:solidFill>
                  <a:srgbClr val="5B6372"/>
                </a:solidFill>
                <a:latin typeface="Arial"/>
              </a:rPr>
              <a:t>Use for Top N, threshold cohorts and set actions.</a:t>
            </a:r>
          </a:p>
        </p:txBody>
      </p:sp>
      <p:sp>
        <p:nvSpPr>
          <p:cNvPr id="17" name="Rectangle 16"/>
          <p:cNvSpPr/>
          <p:nvPr/>
        </p:nvSpPr>
        <p:spPr>
          <a:xfrm>
            <a:off x="768096"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68096" y="4046220"/>
            <a:ext cx="82296" cy="206197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96695" y="4830318"/>
            <a:ext cx="493776" cy="49377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96695"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3</a:t>
            </a:r>
          </a:p>
        </p:txBody>
      </p:sp>
      <p:sp>
        <p:nvSpPr>
          <p:cNvPr id="21" name="TextBox 20"/>
          <p:cNvSpPr txBox="1"/>
          <p:nvPr/>
        </p:nvSpPr>
        <p:spPr>
          <a:xfrm>
            <a:off x="1664207"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Exam clue</a:t>
            </a:r>
          </a:p>
          <a:p>
            <a:pPr algn="l">
              <a:spcAft>
                <a:spcPts val="300"/>
              </a:spcAft>
            </a:pPr>
            <a:r>
              <a:rPr sz="1200" b="0">
                <a:solidFill>
                  <a:srgbClr val="5B6372"/>
                </a:solidFill>
                <a:latin typeface="Arial"/>
              </a:rPr>
              <a:t>Sets can be fixed, conditional, Top N or combined.</a:t>
            </a:r>
          </a:p>
        </p:txBody>
      </p:sp>
      <p:sp>
        <p:nvSpPr>
          <p:cNvPr id="22" name="Rectangle 21"/>
          <p:cNvSpPr/>
          <p:nvPr/>
        </p:nvSpPr>
        <p:spPr>
          <a:xfrm>
            <a:off x="6222492"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22492" y="4046220"/>
            <a:ext cx="82296" cy="206197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51092" y="4830318"/>
            <a:ext cx="493776" cy="49377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51092"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4</a:t>
            </a:r>
          </a:p>
        </p:txBody>
      </p:sp>
      <p:sp>
        <p:nvSpPr>
          <p:cNvPr id="26" name="TextBox 25"/>
          <p:cNvSpPr txBox="1"/>
          <p:nvPr/>
        </p:nvSpPr>
        <p:spPr>
          <a:xfrm>
            <a:off x="7118604"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Common pitfall</a:t>
            </a:r>
          </a:p>
          <a:p>
            <a:pPr algn="l">
              <a:spcAft>
                <a:spcPts val="300"/>
              </a:spcAft>
            </a:pPr>
            <a:r>
              <a:rPr sz="1200" b="0">
                <a:solidFill>
                  <a:srgbClr val="5B6372"/>
                </a:solidFill>
                <a:latin typeface="Arial"/>
              </a:rPr>
              <a:t>A set is not just a filter; it can remain visible as a category.</a:t>
            </a:r>
          </a:p>
        </p:txBody>
      </p:sp>
      <p:sp>
        <p:nvSpPr>
          <p:cNvPr id="27" name="TextBox 26"/>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28" name="TextBox 27"/>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29" name="TextBox 28"/>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82</a:t>
            </a:r>
          </a:p>
        </p:txBody>
      </p:sp>
    </p:spTree>
  </p:cSld>
  <p:clrMapOvr>
    <a:masterClrMapping/>
  </p:clrMapOvr>
  <p:transition spd="fast">
    <p:fade/>
  </p:transition>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37744"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47472"/>
            <a:ext cx="10698480" cy="292608"/>
          </a:xfrm>
          <a:prstGeom prst="rect">
            <a:avLst/>
          </a:prstGeom>
          <a:noFill/>
        </p:spPr>
        <p:txBody>
          <a:bodyPr wrap="square" anchor="t" lIns="54864" rIns="54864" tIns="54864" bIns="54864">
            <a:spAutoFit/>
          </a:bodyPr>
          <a:lstStyle/>
          <a:p>
            <a:pPr algn="l">
              <a:spcAft>
                <a:spcPts val="300"/>
              </a:spcAft>
            </a:pPr>
            <a:r>
              <a:rPr sz="1200" b="1">
                <a:solidFill>
                  <a:srgbClr val="10B981"/>
                </a:solidFill>
                <a:latin typeface="Arial"/>
              </a:rPr>
              <a:t>OFFICIAL OBJECTIVE · DOMAIN 2</a:t>
            </a:r>
          </a:p>
        </p:txBody>
      </p:sp>
      <p:sp>
        <p:nvSpPr>
          <p:cNvPr id="5" name="TextBox 4"/>
          <p:cNvSpPr txBox="1"/>
          <p:nvPr/>
        </p:nvSpPr>
        <p:spPr>
          <a:xfrm>
            <a:off x="749808" y="713232"/>
            <a:ext cx="10744200" cy="731520"/>
          </a:xfrm>
          <a:prstGeom prst="rect">
            <a:avLst/>
          </a:prstGeom>
          <a:noFill/>
        </p:spPr>
        <p:txBody>
          <a:bodyPr wrap="square" anchor="ctr" lIns="54864" rIns="54864" tIns="54864" bIns="54864">
            <a:spAutoFit/>
          </a:bodyPr>
          <a:lstStyle/>
          <a:p>
            <a:pPr algn="l">
              <a:spcAft>
                <a:spcPts val="300"/>
              </a:spcAft>
            </a:pPr>
            <a:r>
              <a:rPr sz="2700" b="1">
                <a:solidFill>
                  <a:srgbClr val="161B26"/>
                </a:solidFill>
                <a:latin typeface="Arial"/>
              </a:rPr>
              <a:t>2.2.3 · Create hierarchies</a:t>
            </a:r>
          </a:p>
        </p:txBody>
      </p:sp>
      <p:sp>
        <p:nvSpPr>
          <p:cNvPr id="6" name="Rectangle 5"/>
          <p:cNvSpPr/>
          <p:nvPr/>
        </p:nvSpPr>
        <p:spPr>
          <a:xfrm>
            <a:off x="749808" y="1536192"/>
            <a:ext cx="106984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8096"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68096" y="1764792"/>
            <a:ext cx="82296" cy="206197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96695" y="2548890"/>
            <a:ext cx="493776" cy="49377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5"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1</a:t>
            </a:r>
          </a:p>
        </p:txBody>
      </p:sp>
      <p:sp>
        <p:nvSpPr>
          <p:cNvPr id="11" name="TextBox 10"/>
          <p:cNvSpPr txBox="1"/>
          <p:nvPr/>
        </p:nvSpPr>
        <p:spPr>
          <a:xfrm>
            <a:off x="1664207"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What it means</a:t>
            </a:r>
          </a:p>
          <a:p>
            <a:pPr algn="l">
              <a:spcAft>
                <a:spcPts val="300"/>
              </a:spcAft>
            </a:pPr>
            <a:r>
              <a:rPr sz="1200" b="0">
                <a:solidFill>
                  <a:srgbClr val="5B6372"/>
                </a:solidFill>
                <a:latin typeface="Arial"/>
              </a:rPr>
              <a:t>Hierarchies organise dimensions into a drill path.</a:t>
            </a:r>
          </a:p>
        </p:txBody>
      </p:sp>
      <p:sp>
        <p:nvSpPr>
          <p:cNvPr id="12" name="Rectangle 11"/>
          <p:cNvSpPr/>
          <p:nvPr/>
        </p:nvSpPr>
        <p:spPr>
          <a:xfrm>
            <a:off x="6222492"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22492" y="1764792"/>
            <a:ext cx="82296" cy="206197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51092" y="2548890"/>
            <a:ext cx="493776" cy="49377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51092"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2</a:t>
            </a:r>
          </a:p>
        </p:txBody>
      </p:sp>
      <p:sp>
        <p:nvSpPr>
          <p:cNvPr id="16" name="TextBox 15"/>
          <p:cNvSpPr txBox="1"/>
          <p:nvPr/>
        </p:nvSpPr>
        <p:spPr>
          <a:xfrm>
            <a:off x="7118604"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Use it when</a:t>
            </a:r>
          </a:p>
          <a:p>
            <a:pPr algn="l">
              <a:spcAft>
                <a:spcPts val="300"/>
              </a:spcAft>
            </a:pPr>
            <a:r>
              <a:rPr sz="1200" b="0">
                <a:solidFill>
                  <a:srgbClr val="5B6372"/>
                </a:solidFill>
                <a:latin typeface="Arial"/>
              </a:rPr>
              <a:t>Use Country &gt; Region &gt; City or Category &gt; Product.</a:t>
            </a:r>
          </a:p>
        </p:txBody>
      </p:sp>
      <p:sp>
        <p:nvSpPr>
          <p:cNvPr id="17" name="Rectangle 16"/>
          <p:cNvSpPr/>
          <p:nvPr/>
        </p:nvSpPr>
        <p:spPr>
          <a:xfrm>
            <a:off x="768096"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68096" y="4046220"/>
            <a:ext cx="82296" cy="206197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96695" y="4830318"/>
            <a:ext cx="493776" cy="49377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96695"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3</a:t>
            </a:r>
          </a:p>
        </p:txBody>
      </p:sp>
      <p:sp>
        <p:nvSpPr>
          <p:cNvPr id="21" name="TextBox 20"/>
          <p:cNvSpPr txBox="1"/>
          <p:nvPr/>
        </p:nvSpPr>
        <p:spPr>
          <a:xfrm>
            <a:off x="1664207"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Exam clue</a:t>
            </a:r>
          </a:p>
          <a:p>
            <a:pPr algn="l">
              <a:spcAft>
                <a:spcPts val="300"/>
              </a:spcAft>
            </a:pPr>
            <a:r>
              <a:rPr sz="1200" b="0">
                <a:solidFill>
                  <a:srgbClr val="5B6372"/>
                </a:solidFill>
                <a:latin typeface="Arial"/>
              </a:rPr>
              <a:t>Plus/minus controls expand or collapse levels.</a:t>
            </a:r>
          </a:p>
        </p:txBody>
      </p:sp>
      <p:sp>
        <p:nvSpPr>
          <p:cNvPr id="22" name="Rectangle 21"/>
          <p:cNvSpPr/>
          <p:nvPr/>
        </p:nvSpPr>
        <p:spPr>
          <a:xfrm>
            <a:off x="6222492"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22492" y="4046220"/>
            <a:ext cx="82296" cy="206197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51092" y="4830318"/>
            <a:ext cx="493776" cy="49377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51092"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4</a:t>
            </a:r>
          </a:p>
        </p:txBody>
      </p:sp>
      <p:sp>
        <p:nvSpPr>
          <p:cNvPr id="26" name="TextBox 25"/>
          <p:cNvSpPr txBox="1"/>
          <p:nvPr/>
        </p:nvSpPr>
        <p:spPr>
          <a:xfrm>
            <a:off x="7118604"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Common pitfall</a:t>
            </a:r>
          </a:p>
          <a:p>
            <a:pPr algn="l">
              <a:spcAft>
                <a:spcPts val="300"/>
              </a:spcAft>
            </a:pPr>
            <a:r>
              <a:rPr sz="1200" b="0">
                <a:solidFill>
                  <a:srgbClr val="5B6372"/>
                </a:solidFill>
                <a:latin typeface="Arial"/>
              </a:rPr>
              <a:t>A hierarchy does not define data-model integrity.</a:t>
            </a:r>
          </a:p>
        </p:txBody>
      </p:sp>
      <p:sp>
        <p:nvSpPr>
          <p:cNvPr id="27" name="TextBox 26"/>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28" name="TextBox 27"/>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29" name="TextBox 28"/>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83</a:t>
            </a:r>
          </a:p>
        </p:txBody>
      </p:sp>
    </p:spTree>
  </p:cSld>
  <p:clrMapOvr>
    <a:masterClrMapping/>
  </p:clrMapOvr>
  <p:transition spd="fast">
    <p:fade/>
  </p:transition>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37744"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47472"/>
            <a:ext cx="10698480" cy="292608"/>
          </a:xfrm>
          <a:prstGeom prst="rect">
            <a:avLst/>
          </a:prstGeom>
          <a:noFill/>
        </p:spPr>
        <p:txBody>
          <a:bodyPr wrap="square" anchor="t" lIns="54864" rIns="54864" tIns="54864" bIns="54864">
            <a:spAutoFit/>
          </a:bodyPr>
          <a:lstStyle/>
          <a:p>
            <a:pPr algn="l">
              <a:spcAft>
                <a:spcPts val="300"/>
              </a:spcAft>
            </a:pPr>
            <a:r>
              <a:rPr sz="1200" b="1">
                <a:solidFill>
                  <a:srgbClr val="10B981"/>
                </a:solidFill>
                <a:latin typeface="Arial"/>
              </a:rPr>
              <a:t>OFFICIAL OBJECTIVE · DOMAIN 2</a:t>
            </a:r>
          </a:p>
        </p:txBody>
      </p:sp>
      <p:sp>
        <p:nvSpPr>
          <p:cNvPr id="5" name="TextBox 4"/>
          <p:cNvSpPr txBox="1"/>
          <p:nvPr/>
        </p:nvSpPr>
        <p:spPr>
          <a:xfrm>
            <a:off x="749808" y="713232"/>
            <a:ext cx="10744200" cy="731520"/>
          </a:xfrm>
          <a:prstGeom prst="rect">
            <a:avLst/>
          </a:prstGeom>
          <a:noFill/>
        </p:spPr>
        <p:txBody>
          <a:bodyPr wrap="square" anchor="ctr" lIns="54864" rIns="54864" tIns="54864" bIns="54864">
            <a:spAutoFit/>
          </a:bodyPr>
          <a:lstStyle/>
          <a:p>
            <a:pPr algn="l">
              <a:spcAft>
                <a:spcPts val="300"/>
              </a:spcAft>
            </a:pPr>
            <a:r>
              <a:rPr sz="2700" b="1">
                <a:solidFill>
                  <a:srgbClr val="161B26"/>
                </a:solidFill>
                <a:latin typeface="Arial"/>
              </a:rPr>
              <a:t>2.2.4 · Add filters</a:t>
            </a:r>
          </a:p>
        </p:txBody>
      </p:sp>
      <p:sp>
        <p:nvSpPr>
          <p:cNvPr id="6" name="Rectangle 5"/>
          <p:cNvSpPr/>
          <p:nvPr/>
        </p:nvSpPr>
        <p:spPr>
          <a:xfrm>
            <a:off x="749808" y="1536192"/>
            <a:ext cx="106984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8096"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68096" y="1764792"/>
            <a:ext cx="82296" cy="206197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96695" y="2548890"/>
            <a:ext cx="493776" cy="49377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5"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1</a:t>
            </a:r>
          </a:p>
        </p:txBody>
      </p:sp>
      <p:sp>
        <p:nvSpPr>
          <p:cNvPr id="11" name="TextBox 10"/>
          <p:cNvSpPr txBox="1"/>
          <p:nvPr/>
        </p:nvSpPr>
        <p:spPr>
          <a:xfrm>
            <a:off x="1664207"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What it means</a:t>
            </a:r>
          </a:p>
          <a:p>
            <a:pPr algn="l">
              <a:spcAft>
                <a:spcPts val="300"/>
              </a:spcAft>
            </a:pPr>
            <a:r>
              <a:rPr sz="1200" b="0">
                <a:solidFill>
                  <a:srgbClr val="5B6372"/>
                </a:solidFill>
                <a:latin typeface="Arial"/>
              </a:rPr>
              <a:t>Filters restrict data or marks at specific order-of-operations stages.</a:t>
            </a:r>
          </a:p>
        </p:txBody>
      </p:sp>
      <p:sp>
        <p:nvSpPr>
          <p:cNvPr id="12" name="Rectangle 11"/>
          <p:cNvSpPr/>
          <p:nvPr/>
        </p:nvSpPr>
        <p:spPr>
          <a:xfrm>
            <a:off x="6222492"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22492" y="1764792"/>
            <a:ext cx="82296" cy="206197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51092" y="2548890"/>
            <a:ext cx="493776" cy="49377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51092"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2</a:t>
            </a:r>
          </a:p>
        </p:txBody>
      </p:sp>
      <p:sp>
        <p:nvSpPr>
          <p:cNvPr id="16" name="TextBox 15"/>
          <p:cNvSpPr txBox="1"/>
          <p:nvPr/>
        </p:nvSpPr>
        <p:spPr>
          <a:xfrm>
            <a:off x="7118604"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Use it when</a:t>
            </a:r>
          </a:p>
          <a:p>
            <a:pPr algn="l">
              <a:spcAft>
                <a:spcPts val="300"/>
              </a:spcAft>
            </a:pPr>
            <a:r>
              <a:rPr sz="1200" b="0">
                <a:solidFill>
                  <a:srgbClr val="5B6372"/>
                </a:solidFill>
                <a:latin typeface="Arial"/>
              </a:rPr>
              <a:t>Use to focus scope or support interaction.</a:t>
            </a:r>
          </a:p>
        </p:txBody>
      </p:sp>
      <p:sp>
        <p:nvSpPr>
          <p:cNvPr id="17" name="Rectangle 16"/>
          <p:cNvSpPr/>
          <p:nvPr/>
        </p:nvSpPr>
        <p:spPr>
          <a:xfrm>
            <a:off x="768096"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68096" y="4046220"/>
            <a:ext cx="82296" cy="206197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96695" y="4830318"/>
            <a:ext cx="493776" cy="49377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96695"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3</a:t>
            </a:r>
          </a:p>
        </p:txBody>
      </p:sp>
      <p:sp>
        <p:nvSpPr>
          <p:cNvPr id="21" name="TextBox 20"/>
          <p:cNvSpPr txBox="1"/>
          <p:nvPr/>
        </p:nvSpPr>
        <p:spPr>
          <a:xfrm>
            <a:off x="1664207"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Exam clue</a:t>
            </a:r>
          </a:p>
          <a:p>
            <a:pPr algn="l">
              <a:spcAft>
                <a:spcPts val="300"/>
              </a:spcAft>
            </a:pPr>
            <a:r>
              <a:rPr sz="1200" b="0">
                <a:solidFill>
                  <a:srgbClr val="5B6372"/>
                </a:solidFill>
                <a:latin typeface="Arial"/>
              </a:rPr>
              <a:t>Dimension, measure, context and table-calculation filters differ.</a:t>
            </a:r>
          </a:p>
        </p:txBody>
      </p:sp>
      <p:sp>
        <p:nvSpPr>
          <p:cNvPr id="22" name="Rectangle 21"/>
          <p:cNvSpPr/>
          <p:nvPr/>
        </p:nvSpPr>
        <p:spPr>
          <a:xfrm>
            <a:off x="6222492"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22492" y="4046220"/>
            <a:ext cx="82296" cy="206197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51092" y="4830318"/>
            <a:ext cx="493776" cy="49377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51092"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4</a:t>
            </a:r>
          </a:p>
        </p:txBody>
      </p:sp>
      <p:sp>
        <p:nvSpPr>
          <p:cNvPr id="26" name="TextBox 25"/>
          <p:cNvSpPr txBox="1"/>
          <p:nvPr/>
        </p:nvSpPr>
        <p:spPr>
          <a:xfrm>
            <a:off x="7118604"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Common pitfall</a:t>
            </a:r>
          </a:p>
          <a:p>
            <a:pPr algn="l">
              <a:spcAft>
                <a:spcPts val="300"/>
              </a:spcAft>
            </a:pPr>
            <a:r>
              <a:rPr sz="1200" b="0">
                <a:solidFill>
                  <a:srgbClr val="5B6372"/>
                </a:solidFill>
                <a:latin typeface="Arial"/>
              </a:rPr>
              <a:t>Filtering after aggregation is not filtering source rows.</a:t>
            </a:r>
          </a:p>
        </p:txBody>
      </p:sp>
      <p:sp>
        <p:nvSpPr>
          <p:cNvPr id="27" name="TextBox 26"/>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28" name="TextBox 27"/>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29" name="TextBox 28"/>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84</a:t>
            </a:r>
          </a:p>
        </p:txBody>
      </p:sp>
    </p:spTree>
  </p:cSld>
  <p:clrMapOvr>
    <a:masterClrMapping/>
  </p:clrMapOvr>
  <p:transition spd="fast">
    <p:fade/>
  </p:transition>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37744"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47472"/>
            <a:ext cx="10698480" cy="292608"/>
          </a:xfrm>
          <a:prstGeom prst="rect">
            <a:avLst/>
          </a:prstGeom>
          <a:noFill/>
        </p:spPr>
        <p:txBody>
          <a:bodyPr wrap="square" anchor="t" lIns="54864" rIns="54864" tIns="54864" bIns="54864">
            <a:spAutoFit/>
          </a:bodyPr>
          <a:lstStyle/>
          <a:p>
            <a:pPr algn="l">
              <a:spcAft>
                <a:spcPts val="300"/>
              </a:spcAft>
            </a:pPr>
            <a:r>
              <a:rPr sz="1200" b="1">
                <a:solidFill>
                  <a:srgbClr val="10B981"/>
                </a:solidFill>
                <a:latin typeface="Arial"/>
              </a:rPr>
              <a:t>OFFICIAL OBJECTIVE · DOMAIN 2</a:t>
            </a:r>
          </a:p>
        </p:txBody>
      </p:sp>
      <p:sp>
        <p:nvSpPr>
          <p:cNvPr id="5" name="TextBox 4"/>
          <p:cNvSpPr txBox="1"/>
          <p:nvPr/>
        </p:nvSpPr>
        <p:spPr>
          <a:xfrm>
            <a:off x="749808" y="713232"/>
            <a:ext cx="10744200" cy="731520"/>
          </a:xfrm>
          <a:prstGeom prst="rect">
            <a:avLst/>
          </a:prstGeom>
          <a:noFill/>
        </p:spPr>
        <p:txBody>
          <a:bodyPr wrap="square" anchor="ctr" lIns="54864" rIns="54864" tIns="54864" bIns="54864">
            <a:spAutoFit/>
          </a:bodyPr>
          <a:lstStyle/>
          <a:p>
            <a:pPr algn="l">
              <a:spcAft>
                <a:spcPts val="300"/>
              </a:spcAft>
            </a:pPr>
            <a:r>
              <a:rPr sz="2700" b="1">
                <a:solidFill>
                  <a:srgbClr val="161B26"/>
                </a:solidFill>
                <a:latin typeface="Arial"/>
              </a:rPr>
              <a:t>2.2.5 · Add date filters</a:t>
            </a:r>
          </a:p>
        </p:txBody>
      </p:sp>
      <p:sp>
        <p:nvSpPr>
          <p:cNvPr id="6" name="Rectangle 5"/>
          <p:cNvSpPr/>
          <p:nvPr/>
        </p:nvSpPr>
        <p:spPr>
          <a:xfrm>
            <a:off x="749808" y="1536192"/>
            <a:ext cx="106984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8096"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68096" y="1764792"/>
            <a:ext cx="82296" cy="206197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96695" y="2548890"/>
            <a:ext cx="493776" cy="49377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5"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1</a:t>
            </a:r>
          </a:p>
        </p:txBody>
      </p:sp>
      <p:sp>
        <p:nvSpPr>
          <p:cNvPr id="11" name="TextBox 10"/>
          <p:cNvSpPr txBox="1"/>
          <p:nvPr/>
        </p:nvSpPr>
        <p:spPr>
          <a:xfrm>
            <a:off x="1664207"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What it means</a:t>
            </a:r>
          </a:p>
          <a:p>
            <a:pPr algn="l">
              <a:spcAft>
                <a:spcPts val="300"/>
              </a:spcAft>
            </a:pPr>
            <a:r>
              <a:rPr sz="1200" b="0">
                <a:solidFill>
                  <a:srgbClr val="5B6372"/>
                </a:solidFill>
                <a:latin typeface="Arial"/>
              </a:rPr>
              <a:t>Dates can be filtered by part, range, relative period or starting date.</a:t>
            </a:r>
          </a:p>
        </p:txBody>
      </p:sp>
      <p:sp>
        <p:nvSpPr>
          <p:cNvPr id="12" name="Rectangle 11"/>
          <p:cNvSpPr/>
          <p:nvPr/>
        </p:nvSpPr>
        <p:spPr>
          <a:xfrm>
            <a:off x="6222492"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22492" y="1764792"/>
            <a:ext cx="82296" cy="206197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51092" y="2548890"/>
            <a:ext cx="493776" cy="49377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51092"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2</a:t>
            </a:r>
          </a:p>
        </p:txBody>
      </p:sp>
      <p:sp>
        <p:nvSpPr>
          <p:cNvPr id="16" name="TextBox 15"/>
          <p:cNvSpPr txBox="1"/>
          <p:nvPr/>
        </p:nvSpPr>
        <p:spPr>
          <a:xfrm>
            <a:off x="7118604"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Use it when</a:t>
            </a:r>
          </a:p>
          <a:p>
            <a:pPr algn="l">
              <a:spcAft>
                <a:spcPts val="300"/>
              </a:spcAft>
            </a:pPr>
            <a:r>
              <a:rPr sz="1200" b="0">
                <a:solidFill>
                  <a:srgbClr val="5B6372"/>
                </a:solidFill>
                <a:latin typeface="Arial"/>
              </a:rPr>
              <a:t>Use for rolling windows and time scope controls.</a:t>
            </a:r>
          </a:p>
        </p:txBody>
      </p:sp>
      <p:sp>
        <p:nvSpPr>
          <p:cNvPr id="17" name="Rectangle 16"/>
          <p:cNvSpPr/>
          <p:nvPr/>
        </p:nvSpPr>
        <p:spPr>
          <a:xfrm>
            <a:off x="768096"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68096" y="4046220"/>
            <a:ext cx="82296" cy="206197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96695" y="4830318"/>
            <a:ext cx="493776" cy="49377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96695"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3</a:t>
            </a:r>
          </a:p>
        </p:txBody>
      </p:sp>
      <p:sp>
        <p:nvSpPr>
          <p:cNvPr id="21" name="TextBox 20"/>
          <p:cNvSpPr txBox="1"/>
          <p:nvPr/>
        </p:nvSpPr>
        <p:spPr>
          <a:xfrm>
            <a:off x="1664207"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Exam clue</a:t>
            </a:r>
          </a:p>
          <a:p>
            <a:pPr algn="l">
              <a:spcAft>
                <a:spcPts val="300"/>
              </a:spcAft>
            </a:pPr>
            <a:r>
              <a:rPr sz="1200" b="0">
                <a:solidFill>
                  <a:srgbClr val="5B6372"/>
                </a:solidFill>
                <a:latin typeface="Arial"/>
              </a:rPr>
              <a:t>Relative date filters move with the current date.</a:t>
            </a:r>
          </a:p>
        </p:txBody>
      </p:sp>
      <p:sp>
        <p:nvSpPr>
          <p:cNvPr id="22" name="Rectangle 21"/>
          <p:cNvSpPr/>
          <p:nvPr/>
        </p:nvSpPr>
        <p:spPr>
          <a:xfrm>
            <a:off x="6222492"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22492" y="4046220"/>
            <a:ext cx="82296" cy="206197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51092" y="4830318"/>
            <a:ext cx="493776" cy="49377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51092"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4</a:t>
            </a:r>
          </a:p>
        </p:txBody>
      </p:sp>
      <p:sp>
        <p:nvSpPr>
          <p:cNvPr id="26" name="TextBox 25"/>
          <p:cNvSpPr txBox="1"/>
          <p:nvPr/>
        </p:nvSpPr>
        <p:spPr>
          <a:xfrm>
            <a:off x="7118604"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Common pitfall</a:t>
            </a:r>
          </a:p>
          <a:p>
            <a:pPr algn="l">
              <a:spcAft>
                <a:spcPts val="300"/>
              </a:spcAft>
            </a:pPr>
            <a:r>
              <a:rPr sz="1200" b="0">
                <a:solidFill>
                  <a:srgbClr val="5B6372"/>
                </a:solidFill>
                <a:latin typeface="Arial"/>
              </a:rPr>
              <a:t>Discrete Month alone mixes the same month across years.</a:t>
            </a:r>
          </a:p>
        </p:txBody>
      </p:sp>
      <p:sp>
        <p:nvSpPr>
          <p:cNvPr id="27" name="TextBox 26"/>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28" name="TextBox 27"/>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29" name="TextBox 28"/>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85</a:t>
            </a:r>
          </a:p>
        </p:txBody>
      </p:sp>
    </p:spTree>
  </p:cSld>
  <p:clrMapOvr>
    <a:masterClrMapping/>
  </p:clrMapOvr>
  <p:transition spd="fast">
    <p:fade/>
  </p:transition>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37744"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47472"/>
            <a:ext cx="10698480" cy="292608"/>
          </a:xfrm>
          <a:prstGeom prst="rect">
            <a:avLst/>
          </a:prstGeom>
          <a:noFill/>
        </p:spPr>
        <p:txBody>
          <a:bodyPr wrap="square" anchor="t" lIns="54864" rIns="54864" tIns="54864" bIns="54864">
            <a:spAutoFit/>
          </a:bodyPr>
          <a:lstStyle/>
          <a:p>
            <a:pPr algn="l">
              <a:spcAft>
                <a:spcPts val="300"/>
              </a:spcAft>
            </a:pPr>
            <a:r>
              <a:rPr sz="1200" b="1">
                <a:solidFill>
                  <a:srgbClr val="10B981"/>
                </a:solidFill>
                <a:latin typeface="Arial"/>
              </a:rPr>
              <a:t>DOMAIN 2 · SECTION 3</a:t>
            </a:r>
          </a:p>
        </p:txBody>
      </p:sp>
      <p:sp>
        <p:nvSpPr>
          <p:cNvPr id="5" name="TextBox 4"/>
          <p:cNvSpPr txBox="1"/>
          <p:nvPr/>
        </p:nvSpPr>
        <p:spPr>
          <a:xfrm>
            <a:off x="749808" y="713232"/>
            <a:ext cx="10744200" cy="731520"/>
          </a:xfrm>
          <a:prstGeom prst="rect">
            <a:avLst/>
          </a:prstGeom>
          <a:noFill/>
        </p:spPr>
        <p:txBody>
          <a:bodyPr wrap="square" anchor="ctr" lIns="54864" rIns="54864" tIns="54864" bIns="54864">
            <a:spAutoFit/>
          </a:bodyPr>
          <a:lstStyle/>
          <a:p>
            <a:pPr algn="l">
              <a:spcAft>
                <a:spcPts val="300"/>
              </a:spcAft>
            </a:pPr>
            <a:r>
              <a:rPr sz="2700" b="1">
                <a:solidFill>
                  <a:srgbClr val="161B26"/>
                </a:solidFill>
                <a:latin typeface="Arial"/>
              </a:rPr>
              <a:t>Apply analytics to a worksheet</a:t>
            </a:r>
          </a:p>
        </p:txBody>
      </p:sp>
      <p:sp>
        <p:nvSpPr>
          <p:cNvPr id="6" name="Rectangle 5"/>
          <p:cNvSpPr/>
          <p:nvPr/>
        </p:nvSpPr>
        <p:spPr>
          <a:xfrm>
            <a:off x="749808" y="1536192"/>
            <a:ext cx="106984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8096"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68096" y="1764792"/>
            <a:ext cx="82296" cy="206197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96695" y="2548890"/>
            <a:ext cx="493776" cy="49377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5"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1</a:t>
            </a:r>
          </a:p>
        </p:txBody>
      </p:sp>
      <p:sp>
        <p:nvSpPr>
          <p:cNvPr id="11" name="TextBox 10"/>
          <p:cNvSpPr txBox="1"/>
          <p:nvPr/>
        </p:nvSpPr>
        <p:spPr>
          <a:xfrm>
            <a:off x="1664207"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Sort and rank</a:t>
            </a:r>
          </a:p>
          <a:p>
            <a:pPr algn="l">
              <a:spcAft>
                <a:spcPts val="300"/>
              </a:spcAft>
            </a:pPr>
            <a:r>
              <a:rPr sz="1200" b="0">
                <a:solidFill>
                  <a:srgbClr val="5B6372"/>
                </a:solidFill>
                <a:latin typeface="Arial"/>
              </a:rPr>
              <a:t>Make comparisons intentional and surface priority.</a:t>
            </a:r>
          </a:p>
        </p:txBody>
      </p:sp>
      <p:sp>
        <p:nvSpPr>
          <p:cNvPr id="12" name="Rectangle 11"/>
          <p:cNvSpPr/>
          <p:nvPr/>
        </p:nvSpPr>
        <p:spPr>
          <a:xfrm>
            <a:off x="6222492"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22492" y="1764792"/>
            <a:ext cx="82296" cy="206197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51092" y="2548890"/>
            <a:ext cx="493776" cy="49377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51092"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2</a:t>
            </a:r>
          </a:p>
        </p:txBody>
      </p:sp>
      <p:sp>
        <p:nvSpPr>
          <p:cNvPr id="16" name="TextBox 15"/>
          <p:cNvSpPr txBox="1"/>
          <p:nvPr/>
        </p:nvSpPr>
        <p:spPr>
          <a:xfrm>
            <a:off x="7118604"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Reference and totals</a:t>
            </a:r>
          </a:p>
          <a:p>
            <a:pPr algn="l">
              <a:spcAft>
                <a:spcPts val="300"/>
              </a:spcAft>
            </a:pPr>
            <a:r>
              <a:rPr sz="1200" b="0">
                <a:solidFill>
                  <a:srgbClr val="5B6372"/>
                </a:solidFill>
                <a:latin typeface="Arial"/>
              </a:rPr>
              <a:t>Add baselines, bands, subtotals and grand totals.</a:t>
            </a:r>
          </a:p>
        </p:txBody>
      </p:sp>
      <p:sp>
        <p:nvSpPr>
          <p:cNvPr id="17" name="Rectangle 16"/>
          <p:cNvSpPr/>
          <p:nvPr/>
        </p:nvSpPr>
        <p:spPr>
          <a:xfrm>
            <a:off x="768096"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68096" y="4046220"/>
            <a:ext cx="82296" cy="206197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96695" y="4830318"/>
            <a:ext cx="493776" cy="49377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96695"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3</a:t>
            </a:r>
          </a:p>
        </p:txBody>
      </p:sp>
      <p:sp>
        <p:nvSpPr>
          <p:cNvPr id="21" name="TextBox 20"/>
          <p:cNvSpPr txBox="1"/>
          <p:nvPr/>
        </p:nvSpPr>
        <p:spPr>
          <a:xfrm>
            <a:off x="1664207"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Calculations</a:t>
            </a:r>
          </a:p>
          <a:p>
            <a:pPr algn="l">
              <a:spcAft>
                <a:spcPts val="300"/>
              </a:spcAft>
            </a:pPr>
            <a:r>
              <a:rPr sz="1200" b="0">
                <a:solidFill>
                  <a:srgbClr val="5B6372"/>
                </a:solidFill>
                <a:latin typeface="Arial"/>
              </a:rPr>
              <a:t>Use row-level, aggregate and table logic at the right grain.</a:t>
            </a:r>
          </a:p>
        </p:txBody>
      </p:sp>
      <p:sp>
        <p:nvSpPr>
          <p:cNvPr id="22" name="Rectangle 21"/>
          <p:cNvSpPr/>
          <p:nvPr/>
        </p:nvSpPr>
        <p:spPr>
          <a:xfrm>
            <a:off x="6222492"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22492" y="4046220"/>
            <a:ext cx="82296" cy="206197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51092" y="4830318"/>
            <a:ext cx="493776" cy="49377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51092"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4</a:t>
            </a:r>
          </a:p>
        </p:txBody>
      </p:sp>
      <p:sp>
        <p:nvSpPr>
          <p:cNvPr id="26" name="TextBox 25"/>
          <p:cNvSpPr txBox="1"/>
          <p:nvPr/>
        </p:nvSpPr>
        <p:spPr>
          <a:xfrm>
            <a:off x="7118604"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Parameters</a:t>
            </a:r>
          </a:p>
          <a:p>
            <a:pPr algn="l">
              <a:spcAft>
                <a:spcPts val="300"/>
              </a:spcAft>
            </a:pPr>
            <a:r>
              <a:rPr sz="1200" b="0">
                <a:solidFill>
                  <a:srgbClr val="5B6372"/>
                </a:solidFill>
                <a:latin typeface="Arial"/>
              </a:rPr>
              <a:t>Let one value steer calculations, filters or reference lines.</a:t>
            </a:r>
          </a:p>
        </p:txBody>
      </p:sp>
      <p:sp>
        <p:nvSpPr>
          <p:cNvPr id="27" name="TextBox 26"/>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28" name="TextBox 27"/>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29" name="TextBox 28"/>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86</a:t>
            </a:r>
          </a:p>
        </p:txBody>
      </p:sp>
    </p:spTree>
  </p:cSld>
  <p:clrMapOvr>
    <a:masterClrMapping/>
  </p:clrMapOvr>
  <p:transition spd="fast">
    <p:fade/>
  </p:transition>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37744"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47472"/>
            <a:ext cx="10698480" cy="292608"/>
          </a:xfrm>
          <a:prstGeom prst="rect">
            <a:avLst/>
          </a:prstGeom>
          <a:noFill/>
        </p:spPr>
        <p:txBody>
          <a:bodyPr wrap="square" anchor="t" lIns="54864" rIns="54864" tIns="54864" bIns="54864">
            <a:spAutoFit/>
          </a:bodyPr>
          <a:lstStyle/>
          <a:p>
            <a:pPr algn="l">
              <a:spcAft>
                <a:spcPts val="300"/>
              </a:spcAft>
            </a:pPr>
            <a:r>
              <a:rPr sz="1200" b="1">
                <a:solidFill>
                  <a:srgbClr val="10B981"/>
                </a:solidFill>
                <a:latin typeface="Arial"/>
              </a:rPr>
              <a:t>CONCEPTUAL DECISION FLOW</a:t>
            </a:r>
          </a:p>
        </p:txBody>
      </p:sp>
      <p:sp>
        <p:nvSpPr>
          <p:cNvPr id="5" name="TextBox 4"/>
          <p:cNvSpPr txBox="1"/>
          <p:nvPr/>
        </p:nvSpPr>
        <p:spPr>
          <a:xfrm>
            <a:off x="749808" y="713232"/>
            <a:ext cx="10744200" cy="731520"/>
          </a:xfrm>
          <a:prstGeom prst="rect">
            <a:avLst/>
          </a:prstGeom>
          <a:noFill/>
        </p:spPr>
        <p:txBody>
          <a:bodyPr wrap="square" anchor="ctr" lIns="54864" rIns="54864" tIns="54864" bIns="54864">
            <a:spAutoFit/>
          </a:bodyPr>
          <a:lstStyle/>
          <a:p>
            <a:pPr algn="l">
              <a:spcAft>
                <a:spcPts val="300"/>
              </a:spcAft>
            </a:pPr>
            <a:r>
              <a:rPr sz="2700" b="1">
                <a:solidFill>
                  <a:srgbClr val="161B26"/>
                </a:solidFill>
                <a:latin typeface="Arial"/>
              </a:rPr>
              <a:t>Reasoning Pattern — Apply analytics to a worksheet</a:t>
            </a:r>
          </a:p>
        </p:txBody>
      </p:sp>
      <p:sp>
        <p:nvSpPr>
          <p:cNvPr id="6" name="Rectangle 5"/>
          <p:cNvSpPr/>
          <p:nvPr/>
        </p:nvSpPr>
        <p:spPr>
          <a:xfrm>
            <a:off x="749808" y="1536192"/>
            <a:ext cx="106984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8096" y="2057400"/>
            <a:ext cx="1947672" cy="2971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68096" y="2057400"/>
            <a:ext cx="194767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76172" y="2423160"/>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6172" y="2423160"/>
            <a:ext cx="731520" cy="731520"/>
          </a:xfrm>
          <a:prstGeom prst="rect">
            <a:avLst/>
          </a:prstGeom>
          <a:noFill/>
        </p:spPr>
        <p:txBody>
          <a:bodyPr wrap="square" anchor="ctr" lIns="54864" rIns="54864" tIns="54864" bIns="54864">
            <a:spAutoFit/>
          </a:bodyPr>
          <a:lstStyle/>
          <a:p>
            <a:pPr algn="ctr">
              <a:spcAft>
                <a:spcPts val="300"/>
              </a:spcAft>
            </a:pPr>
            <a:r>
              <a:rPr sz="2400" b="1">
                <a:solidFill>
                  <a:srgbClr val="FFFFFF"/>
                </a:solidFill>
                <a:latin typeface="Arial"/>
              </a:rPr>
              <a:t>1</a:t>
            </a:r>
          </a:p>
        </p:txBody>
      </p:sp>
      <p:sp>
        <p:nvSpPr>
          <p:cNvPr id="11" name="TextBox 10"/>
          <p:cNvSpPr txBox="1"/>
          <p:nvPr/>
        </p:nvSpPr>
        <p:spPr>
          <a:xfrm>
            <a:off x="877824" y="3429000"/>
            <a:ext cx="1728216" cy="1143000"/>
          </a:xfrm>
          <a:prstGeom prst="rect">
            <a:avLst/>
          </a:prstGeom>
          <a:noFill/>
        </p:spPr>
        <p:txBody>
          <a:bodyPr wrap="square" anchor="ctr" lIns="54864" rIns="54864" tIns="54864" bIns="54864">
            <a:spAutoFit/>
          </a:bodyPr>
          <a:lstStyle/>
          <a:p>
            <a:pPr algn="ctr">
              <a:spcAft>
                <a:spcPts val="300"/>
              </a:spcAft>
            </a:pPr>
            <a:r>
              <a:rPr sz="1250" b="0">
                <a:solidFill>
                  <a:srgbClr val="161B26"/>
                </a:solidFill>
                <a:latin typeface="Arial"/>
              </a:rPr>
              <a:t>Sort and rank</a:t>
            </a:r>
          </a:p>
        </p:txBody>
      </p:sp>
      <p:sp>
        <p:nvSpPr>
          <p:cNvPr id="12" name="TextBox 11"/>
          <p:cNvSpPr txBox="1"/>
          <p:nvPr/>
        </p:nvSpPr>
        <p:spPr>
          <a:xfrm>
            <a:off x="2697479" y="3246120"/>
            <a:ext cx="274320" cy="365760"/>
          </a:xfrm>
          <a:prstGeom prst="rect">
            <a:avLst/>
          </a:prstGeom>
          <a:noFill/>
        </p:spPr>
        <p:txBody>
          <a:bodyPr wrap="square" anchor="t" lIns="54864" rIns="54864" tIns="54864" bIns="54864">
            <a:spAutoFit/>
          </a:bodyPr>
          <a:lstStyle/>
          <a:p>
            <a:pPr algn="ctr">
              <a:spcAft>
                <a:spcPts val="300"/>
              </a:spcAft>
            </a:pPr>
            <a:r>
              <a:rPr sz="1200" b="1">
                <a:solidFill>
                  <a:srgbClr val="10B981"/>
                </a:solidFill>
                <a:latin typeface="Arial"/>
              </a:rPr>
              <a:t>▶</a:t>
            </a:r>
          </a:p>
        </p:txBody>
      </p:sp>
      <p:sp>
        <p:nvSpPr>
          <p:cNvPr id="13" name="Rectangle 12"/>
          <p:cNvSpPr/>
          <p:nvPr/>
        </p:nvSpPr>
        <p:spPr>
          <a:xfrm>
            <a:off x="2944368" y="2057400"/>
            <a:ext cx="1947672" cy="2971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44368" y="2057400"/>
            <a:ext cx="194767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52444" y="2423160"/>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52444" y="2423160"/>
            <a:ext cx="731520" cy="731520"/>
          </a:xfrm>
          <a:prstGeom prst="rect">
            <a:avLst/>
          </a:prstGeom>
          <a:noFill/>
        </p:spPr>
        <p:txBody>
          <a:bodyPr wrap="square" anchor="ctr" lIns="54864" rIns="54864" tIns="54864" bIns="54864">
            <a:spAutoFit/>
          </a:bodyPr>
          <a:lstStyle/>
          <a:p>
            <a:pPr algn="ctr">
              <a:spcAft>
                <a:spcPts val="300"/>
              </a:spcAft>
            </a:pPr>
            <a:r>
              <a:rPr sz="2400" b="1">
                <a:solidFill>
                  <a:srgbClr val="FFFFFF"/>
                </a:solidFill>
                <a:latin typeface="Arial"/>
              </a:rPr>
              <a:t>2</a:t>
            </a:r>
          </a:p>
        </p:txBody>
      </p:sp>
      <p:sp>
        <p:nvSpPr>
          <p:cNvPr id="17" name="TextBox 16"/>
          <p:cNvSpPr txBox="1"/>
          <p:nvPr/>
        </p:nvSpPr>
        <p:spPr>
          <a:xfrm>
            <a:off x="3054096" y="3429000"/>
            <a:ext cx="1728216" cy="1143000"/>
          </a:xfrm>
          <a:prstGeom prst="rect">
            <a:avLst/>
          </a:prstGeom>
          <a:noFill/>
        </p:spPr>
        <p:txBody>
          <a:bodyPr wrap="square" anchor="ctr" lIns="54864" rIns="54864" tIns="54864" bIns="54864">
            <a:spAutoFit/>
          </a:bodyPr>
          <a:lstStyle/>
          <a:p>
            <a:pPr algn="ctr">
              <a:spcAft>
                <a:spcPts val="300"/>
              </a:spcAft>
            </a:pPr>
            <a:r>
              <a:rPr sz="1250" b="0">
                <a:solidFill>
                  <a:srgbClr val="161B26"/>
                </a:solidFill>
                <a:latin typeface="Arial"/>
              </a:rPr>
              <a:t>Reference and totals</a:t>
            </a:r>
          </a:p>
        </p:txBody>
      </p:sp>
      <p:sp>
        <p:nvSpPr>
          <p:cNvPr id="18" name="TextBox 17"/>
          <p:cNvSpPr txBox="1"/>
          <p:nvPr/>
        </p:nvSpPr>
        <p:spPr>
          <a:xfrm>
            <a:off x="4873752" y="3246120"/>
            <a:ext cx="274320" cy="365760"/>
          </a:xfrm>
          <a:prstGeom prst="rect">
            <a:avLst/>
          </a:prstGeom>
          <a:noFill/>
        </p:spPr>
        <p:txBody>
          <a:bodyPr wrap="square" anchor="t" lIns="54864" rIns="54864" tIns="54864" bIns="54864">
            <a:spAutoFit/>
          </a:bodyPr>
          <a:lstStyle/>
          <a:p>
            <a:pPr algn="ctr">
              <a:spcAft>
                <a:spcPts val="300"/>
              </a:spcAft>
            </a:pPr>
            <a:r>
              <a:rPr sz="1200" b="1">
                <a:solidFill>
                  <a:srgbClr val="10B981"/>
                </a:solidFill>
                <a:latin typeface="Arial"/>
              </a:rPr>
              <a:t>▶</a:t>
            </a:r>
          </a:p>
        </p:txBody>
      </p:sp>
      <p:sp>
        <p:nvSpPr>
          <p:cNvPr id="19" name="Rectangle 18"/>
          <p:cNvSpPr/>
          <p:nvPr/>
        </p:nvSpPr>
        <p:spPr>
          <a:xfrm>
            <a:off x="5120640" y="2057400"/>
            <a:ext cx="1947672" cy="2971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0" y="2057400"/>
            <a:ext cx="194767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28715" y="2423160"/>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28715" y="2423160"/>
            <a:ext cx="731520" cy="731520"/>
          </a:xfrm>
          <a:prstGeom prst="rect">
            <a:avLst/>
          </a:prstGeom>
          <a:noFill/>
        </p:spPr>
        <p:txBody>
          <a:bodyPr wrap="square" anchor="ctr" lIns="54864" rIns="54864" tIns="54864" bIns="54864">
            <a:spAutoFit/>
          </a:bodyPr>
          <a:lstStyle/>
          <a:p>
            <a:pPr algn="ctr">
              <a:spcAft>
                <a:spcPts val="300"/>
              </a:spcAft>
            </a:pPr>
            <a:r>
              <a:rPr sz="2400" b="1">
                <a:solidFill>
                  <a:srgbClr val="FFFFFF"/>
                </a:solidFill>
                <a:latin typeface="Arial"/>
              </a:rPr>
              <a:t>3</a:t>
            </a:r>
          </a:p>
        </p:txBody>
      </p:sp>
      <p:sp>
        <p:nvSpPr>
          <p:cNvPr id="23" name="TextBox 22"/>
          <p:cNvSpPr txBox="1"/>
          <p:nvPr/>
        </p:nvSpPr>
        <p:spPr>
          <a:xfrm>
            <a:off x="5230368" y="3429000"/>
            <a:ext cx="1728216" cy="1143000"/>
          </a:xfrm>
          <a:prstGeom prst="rect">
            <a:avLst/>
          </a:prstGeom>
          <a:noFill/>
        </p:spPr>
        <p:txBody>
          <a:bodyPr wrap="square" anchor="ctr" lIns="54864" rIns="54864" tIns="54864" bIns="54864">
            <a:spAutoFit/>
          </a:bodyPr>
          <a:lstStyle/>
          <a:p>
            <a:pPr algn="ctr">
              <a:spcAft>
                <a:spcPts val="300"/>
              </a:spcAft>
            </a:pPr>
            <a:r>
              <a:rPr sz="1250" b="0">
                <a:solidFill>
                  <a:srgbClr val="161B26"/>
                </a:solidFill>
                <a:latin typeface="Arial"/>
              </a:rPr>
              <a:t>Calculations</a:t>
            </a:r>
          </a:p>
        </p:txBody>
      </p:sp>
      <p:sp>
        <p:nvSpPr>
          <p:cNvPr id="24" name="TextBox 23"/>
          <p:cNvSpPr txBox="1"/>
          <p:nvPr/>
        </p:nvSpPr>
        <p:spPr>
          <a:xfrm>
            <a:off x="7050024" y="3246120"/>
            <a:ext cx="274320" cy="365760"/>
          </a:xfrm>
          <a:prstGeom prst="rect">
            <a:avLst/>
          </a:prstGeom>
          <a:noFill/>
        </p:spPr>
        <p:txBody>
          <a:bodyPr wrap="square" anchor="t" lIns="54864" rIns="54864" tIns="54864" bIns="54864">
            <a:spAutoFit/>
          </a:bodyPr>
          <a:lstStyle/>
          <a:p>
            <a:pPr algn="ctr">
              <a:spcAft>
                <a:spcPts val="300"/>
              </a:spcAft>
            </a:pPr>
            <a:r>
              <a:rPr sz="1200" b="1">
                <a:solidFill>
                  <a:srgbClr val="10B981"/>
                </a:solidFill>
                <a:latin typeface="Arial"/>
              </a:rPr>
              <a:t>▶</a:t>
            </a:r>
          </a:p>
        </p:txBody>
      </p:sp>
      <p:sp>
        <p:nvSpPr>
          <p:cNvPr id="25" name="Rectangle 24"/>
          <p:cNvSpPr/>
          <p:nvPr/>
        </p:nvSpPr>
        <p:spPr>
          <a:xfrm>
            <a:off x="7296912" y="2057400"/>
            <a:ext cx="1947672" cy="2971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296912" y="2057400"/>
            <a:ext cx="194767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04988" y="2423160"/>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4988" y="2423160"/>
            <a:ext cx="731520" cy="731520"/>
          </a:xfrm>
          <a:prstGeom prst="rect">
            <a:avLst/>
          </a:prstGeom>
          <a:noFill/>
        </p:spPr>
        <p:txBody>
          <a:bodyPr wrap="square" anchor="ctr" lIns="54864" rIns="54864" tIns="54864" bIns="54864">
            <a:spAutoFit/>
          </a:bodyPr>
          <a:lstStyle/>
          <a:p>
            <a:pPr algn="ctr">
              <a:spcAft>
                <a:spcPts val="300"/>
              </a:spcAft>
            </a:pPr>
            <a:r>
              <a:rPr sz="2400" b="1">
                <a:solidFill>
                  <a:srgbClr val="FFFFFF"/>
                </a:solidFill>
                <a:latin typeface="Arial"/>
              </a:rPr>
              <a:t>4</a:t>
            </a:r>
          </a:p>
        </p:txBody>
      </p:sp>
      <p:sp>
        <p:nvSpPr>
          <p:cNvPr id="29" name="TextBox 28"/>
          <p:cNvSpPr txBox="1"/>
          <p:nvPr/>
        </p:nvSpPr>
        <p:spPr>
          <a:xfrm>
            <a:off x="7406640" y="3429000"/>
            <a:ext cx="1728216" cy="1143000"/>
          </a:xfrm>
          <a:prstGeom prst="rect">
            <a:avLst/>
          </a:prstGeom>
          <a:noFill/>
        </p:spPr>
        <p:txBody>
          <a:bodyPr wrap="square" anchor="ctr" lIns="54864" rIns="54864" tIns="54864" bIns="54864">
            <a:spAutoFit/>
          </a:bodyPr>
          <a:lstStyle/>
          <a:p>
            <a:pPr algn="ctr">
              <a:spcAft>
                <a:spcPts val="300"/>
              </a:spcAft>
            </a:pPr>
            <a:r>
              <a:rPr sz="1250" b="0">
                <a:solidFill>
                  <a:srgbClr val="161B26"/>
                </a:solidFill>
                <a:latin typeface="Arial"/>
              </a:rPr>
              <a:t>Parameters</a:t>
            </a:r>
          </a:p>
        </p:txBody>
      </p:sp>
      <p:sp>
        <p:nvSpPr>
          <p:cNvPr id="30" name="TextBox 29"/>
          <p:cNvSpPr txBox="1"/>
          <p:nvPr/>
        </p:nvSpPr>
        <p:spPr>
          <a:xfrm>
            <a:off x="9226296" y="3246120"/>
            <a:ext cx="274320" cy="365760"/>
          </a:xfrm>
          <a:prstGeom prst="rect">
            <a:avLst/>
          </a:prstGeom>
          <a:noFill/>
        </p:spPr>
        <p:txBody>
          <a:bodyPr wrap="square" anchor="t" lIns="54864" rIns="54864" tIns="54864" bIns="54864">
            <a:spAutoFit/>
          </a:bodyPr>
          <a:lstStyle/>
          <a:p>
            <a:pPr algn="ctr">
              <a:spcAft>
                <a:spcPts val="300"/>
              </a:spcAft>
            </a:pPr>
            <a:r>
              <a:rPr sz="1200" b="1">
                <a:solidFill>
                  <a:srgbClr val="10B981"/>
                </a:solidFill>
                <a:latin typeface="Arial"/>
              </a:rPr>
              <a:t>▶</a:t>
            </a:r>
          </a:p>
        </p:txBody>
      </p:sp>
      <p:sp>
        <p:nvSpPr>
          <p:cNvPr id="31" name="Rectangle 30"/>
          <p:cNvSpPr/>
          <p:nvPr/>
        </p:nvSpPr>
        <p:spPr>
          <a:xfrm>
            <a:off x="9473184" y="2057400"/>
            <a:ext cx="1947672" cy="2971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473184" y="2057400"/>
            <a:ext cx="194767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81259" y="2423160"/>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81259" y="2423160"/>
            <a:ext cx="731520" cy="731520"/>
          </a:xfrm>
          <a:prstGeom prst="rect">
            <a:avLst/>
          </a:prstGeom>
          <a:noFill/>
        </p:spPr>
        <p:txBody>
          <a:bodyPr wrap="square" anchor="ctr" lIns="54864" rIns="54864" tIns="54864" bIns="54864">
            <a:spAutoFit/>
          </a:bodyPr>
          <a:lstStyle/>
          <a:p>
            <a:pPr algn="ctr">
              <a:spcAft>
                <a:spcPts val="300"/>
              </a:spcAft>
            </a:pPr>
            <a:r>
              <a:rPr sz="2400" b="1">
                <a:solidFill>
                  <a:srgbClr val="FFFFFF"/>
                </a:solidFill>
                <a:latin typeface="Arial"/>
              </a:rPr>
              <a:t>5</a:t>
            </a:r>
          </a:p>
        </p:txBody>
      </p:sp>
      <p:sp>
        <p:nvSpPr>
          <p:cNvPr id="35" name="TextBox 34"/>
          <p:cNvSpPr txBox="1"/>
          <p:nvPr/>
        </p:nvSpPr>
        <p:spPr>
          <a:xfrm>
            <a:off x="9582911" y="3429000"/>
            <a:ext cx="1728216" cy="1143000"/>
          </a:xfrm>
          <a:prstGeom prst="rect">
            <a:avLst/>
          </a:prstGeom>
          <a:noFill/>
        </p:spPr>
        <p:txBody>
          <a:bodyPr wrap="square" anchor="ctr" lIns="54864" rIns="54864" tIns="54864" bIns="54864">
            <a:spAutoFit/>
          </a:bodyPr>
          <a:lstStyle/>
          <a:p>
            <a:pPr algn="ctr">
              <a:spcAft>
                <a:spcPts val="300"/>
              </a:spcAft>
            </a:pPr>
            <a:r>
              <a:rPr sz="1250" b="0">
                <a:solidFill>
                  <a:srgbClr val="161B26"/>
                </a:solidFill>
                <a:latin typeface="Arial"/>
              </a:rPr>
              <a:t>Validate result</a:t>
            </a:r>
          </a:p>
        </p:txBody>
      </p:sp>
      <p:sp>
        <p:nvSpPr>
          <p:cNvPr id="36" name="TextBox 35"/>
          <p:cNvSpPr txBox="1"/>
          <p:nvPr/>
        </p:nvSpPr>
        <p:spPr>
          <a:xfrm>
            <a:off x="777240" y="5394960"/>
            <a:ext cx="10607040" cy="411480"/>
          </a:xfrm>
          <a:prstGeom prst="rect">
            <a:avLst/>
          </a:prstGeom>
          <a:noFill/>
        </p:spPr>
        <p:txBody>
          <a:bodyPr wrap="square" anchor="t" lIns="54864" rIns="54864" tIns="54864" bIns="54864">
            <a:spAutoFit/>
          </a:bodyPr>
          <a:lstStyle/>
          <a:p>
            <a:pPr algn="ctr">
              <a:spcAft>
                <a:spcPts val="300"/>
              </a:spcAft>
            </a:pPr>
            <a:r>
              <a:rPr sz="1250" b="0">
                <a:solidFill>
                  <a:srgbClr val="5B6372"/>
                </a:solidFill>
                <a:latin typeface="Arial"/>
              </a:rPr>
              <a:t>This is a reasoning map, not a click-by-click lab procedure.</a:t>
            </a:r>
          </a:p>
        </p:txBody>
      </p:sp>
      <p:sp>
        <p:nvSpPr>
          <p:cNvPr id="37" name="TextBox 36"/>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38" name="TextBox 37"/>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39" name="TextBox 38"/>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87</a:t>
            </a:r>
          </a:p>
        </p:txBody>
      </p:sp>
    </p:spTree>
  </p:cSld>
  <p:clrMapOvr>
    <a:masterClrMapping/>
  </p:clrMapOvr>
  <p:transition spd="fast">
    <p:fade/>
  </p:transition>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37744"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47472"/>
            <a:ext cx="10698480" cy="292608"/>
          </a:xfrm>
          <a:prstGeom prst="rect">
            <a:avLst/>
          </a:prstGeom>
          <a:noFill/>
        </p:spPr>
        <p:txBody>
          <a:bodyPr wrap="square" anchor="t" lIns="54864" rIns="54864" tIns="54864" bIns="54864">
            <a:spAutoFit/>
          </a:bodyPr>
          <a:lstStyle/>
          <a:p>
            <a:pPr algn="l">
              <a:spcAft>
                <a:spcPts val="300"/>
              </a:spcAft>
            </a:pPr>
            <a:r>
              <a:rPr sz="1200" b="1">
                <a:solidFill>
                  <a:srgbClr val="10B981"/>
                </a:solidFill>
                <a:latin typeface="Arial"/>
              </a:rPr>
              <a:t>OFFICIAL OBJECTIVE · DOMAIN 2</a:t>
            </a:r>
          </a:p>
        </p:txBody>
      </p:sp>
      <p:sp>
        <p:nvSpPr>
          <p:cNvPr id="5" name="TextBox 4"/>
          <p:cNvSpPr txBox="1"/>
          <p:nvPr/>
        </p:nvSpPr>
        <p:spPr>
          <a:xfrm>
            <a:off x="749808" y="713232"/>
            <a:ext cx="10744200" cy="731520"/>
          </a:xfrm>
          <a:prstGeom prst="rect">
            <a:avLst/>
          </a:prstGeom>
          <a:noFill/>
        </p:spPr>
        <p:txBody>
          <a:bodyPr wrap="square" anchor="ctr" lIns="54864" rIns="54864" tIns="54864" bIns="54864">
            <a:spAutoFit/>
          </a:bodyPr>
          <a:lstStyle/>
          <a:p>
            <a:pPr algn="l">
              <a:spcAft>
                <a:spcPts val="300"/>
              </a:spcAft>
            </a:pPr>
            <a:r>
              <a:rPr sz="2700" b="1">
                <a:solidFill>
                  <a:srgbClr val="161B26"/>
                </a:solidFill>
                <a:latin typeface="Arial"/>
              </a:rPr>
              <a:t>2.3.1 · Manual and computed sorts</a:t>
            </a:r>
          </a:p>
        </p:txBody>
      </p:sp>
      <p:sp>
        <p:nvSpPr>
          <p:cNvPr id="6" name="Rectangle 5"/>
          <p:cNvSpPr/>
          <p:nvPr/>
        </p:nvSpPr>
        <p:spPr>
          <a:xfrm>
            <a:off x="749808" y="1536192"/>
            <a:ext cx="106984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8096"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68096" y="1764792"/>
            <a:ext cx="82296" cy="206197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96695" y="2548890"/>
            <a:ext cx="493776" cy="49377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5"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1</a:t>
            </a:r>
          </a:p>
        </p:txBody>
      </p:sp>
      <p:sp>
        <p:nvSpPr>
          <p:cNvPr id="11" name="TextBox 10"/>
          <p:cNvSpPr txBox="1"/>
          <p:nvPr/>
        </p:nvSpPr>
        <p:spPr>
          <a:xfrm>
            <a:off x="1664207"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What it means</a:t>
            </a:r>
          </a:p>
          <a:p>
            <a:pPr algn="l">
              <a:spcAft>
                <a:spcPts val="300"/>
              </a:spcAft>
            </a:pPr>
            <a:r>
              <a:rPr sz="1200" b="0">
                <a:solidFill>
                  <a:srgbClr val="5B6372"/>
                </a:solidFill>
                <a:latin typeface="Arial"/>
              </a:rPr>
              <a:t>Sorting controls the order of headers and marks.</a:t>
            </a:r>
          </a:p>
        </p:txBody>
      </p:sp>
      <p:sp>
        <p:nvSpPr>
          <p:cNvPr id="12" name="Rectangle 11"/>
          <p:cNvSpPr/>
          <p:nvPr/>
        </p:nvSpPr>
        <p:spPr>
          <a:xfrm>
            <a:off x="6222492"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22492" y="1764792"/>
            <a:ext cx="82296" cy="206197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51092" y="2548890"/>
            <a:ext cx="493776" cy="49377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51092"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2</a:t>
            </a:r>
          </a:p>
        </p:txBody>
      </p:sp>
      <p:sp>
        <p:nvSpPr>
          <p:cNvPr id="16" name="TextBox 15"/>
          <p:cNvSpPr txBox="1"/>
          <p:nvPr/>
        </p:nvSpPr>
        <p:spPr>
          <a:xfrm>
            <a:off x="7118604"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Use it when</a:t>
            </a:r>
          </a:p>
          <a:p>
            <a:pPr algn="l">
              <a:spcAft>
                <a:spcPts val="300"/>
              </a:spcAft>
            </a:pPr>
            <a:r>
              <a:rPr sz="1200" b="0">
                <a:solidFill>
                  <a:srgbClr val="5B6372"/>
                </a:solidFill>
                <a:latin typeface="Arial"/>
              </a:rPr>
              <a:t>Use manual order for business logic and computed order for ranking.</a:t>
            </a:r>
          </a:p>
        </p:txBody>
      </p:sp>
      <p:sp>
        <p:nvSpPr>
          <p:cNvPr id="17" name="Rectangle 16"/>
          <p:cNvSpPr/>
          <p:nvPr/>
        </p:nvSpPr>
        <p:spPr>
          <a:xfrm>
            <a:off x="768096"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68096" y="4046220"/>
            <a:ext cx="82296" cy="206197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96695" y="4830318"/>
            <a:ext cx="493776" cy="49377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96695"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3</a:t>
            </a:r>
          </a:p>
        </p:txBody>
      </p:sp>
      <p:sp>
        <p:nvSpPr>
          <p:cNvPr id="21" name="TextBox 20"/>
          <p:cNvSpPr txBox="1"/>
          <p:nvPr/>
        </p:nvSpPr>
        <p:spPr>
          <a:xfrm>
            <a:off x="1664207"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Exam clue</a:t>
            </a:r>
          </a:p>
          <a:p>
            <a:pPr algn="l">
              <a:spcAft>
                <a:spcPts val="300"/>
              </a:spcAft>
            </a:pPr>
            <a:r>
              <a:rPr sz="1200" b="0">
                <a:solidFill>
                  <a:srgbClr val="5B6372"/>
                </a:solidFill>
                <a:latin typeface="Arial"/>
              </a:rPr>
              <a:t>Nested sorts order members within panes.</a:t>
            </a:r>
          </a:p>
        </p:txBody>
      </p:sp>
      <p:sp>
        <p:nvSpPr>
          <p:cNvPr id="22" name="Rectangle 21"/>
          <p:cNvSpPr/>
          <p:nvPr/>
        </p:nvSpPr>
        <p:spPr>
          <a:xfrm>
            <a:off x="6222492"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22492" y="4046220"/>
            <a:ext cx="82296" cy="206197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51092" y="4830318"/>
            <a:ext cx="493776" cy="49377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51092"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4</a:t>
            </a:r>
          </a:p>
        </p:txBody>
      </p:sp>
      <p:sp>
        <p:nvSpPr>
          <p:cNvPr id="26" name="TextBox 25"/>
          <p:cNvSpPr txBox="1"/>
          <p:nvPr/>
        </p:nvSpPr>
        <p:spPr>
          <a:xfrm>
            <a:off x="7118604"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Common pitfall</a:t>
            </a:r>
          </a:p>
          <a:p>
            <a:pPr algn="l">
              <a:spcAft>
                <a:spcPts val="300"/>
              </a:spcAft>
            </a:pPr>
            <a:r>
              <a:rPr sz="1200" b="0">
                <a:solidFill>
                  <a:srgbClr val="5B6372"/>
                </a:solidFill>
                <a:latin typeface="Arial"/>
              </a:rPr>
              <a:t>Manual order can become stale as data changes.</a:t>
            </a:r>
          </a:p>
        </p:txBody>
      </p:sp>
      <p:sp>
        <p:nvSpPr>
          <p:cNvPr id="27" name="TextBox 26"/>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28" name="TextBox 27"/>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29" name="TextBox 28"/>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88</a:t>
            </a:r>
          </a:p>
        </p:txBody>
      </p:sp>
    </p:spTree>
  </p:cSld>
  <p:clrMapOvr>
    <a:masterClrMapping/>
  </p:clrMapOvr>
  <p:transition spd="fast">
    <p:fade/>
  </p:transition>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37744"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47472"/>
            <a:ext cx="10698480" cy="292608"/>
          </a:xfrm>
          <a:prstGeom prst="rect">
            <a:avLst/>
          </a:prstGeom>
          <a:noFill/>
        </p:spPr>
        <p:txBody>
          <a:bodyPr wrap="square" anchor="t" lIns="54864" rIns="54864" tIns="54864" bIns="54864">
            <a:spAutoFit/>
          </a:bodyPr>
          <a:lstStyle/>
          <a:p>
            <a:pPr algn="l">
              <a:spcAft>
                <a:spcPts val="300"/>
              </a:spcAft>
            </a:pPr>
            <a:r>
              <a:rPr sz="1200" b="1">
                <a:solidFill>
                  <a:srgbClr val="10B981"/>
                </a:solidFill>
                <a:latin typeface="Arial"/>
              </a:rPr>
              <a:t>OFFICIAL OBJECTIVE · DOMAIN 2</a:t>
            </a:r>
          </a:p>
        </p:txBody>
      </p:sp>
      <p:sp>
        <p:nvSpPr>
          <p:cNvPr id="5" name="TextBox 4"/>
          <p:cNvSpPr txBox="1"/>
          <p:nvPr/>
        </p:nvSpPr>
        <p:spPr>
          <a:xfrm>
            <a:off x="749808" y="713232"/>
            <a:ext cx="10744200" cy="731520"/>
          </a:xfrm>
          <a:prstGeom prst="rect">
            <a:avLst/>
          </a:prstGeom>
          <a:noFill/>
        </p:spPr>
        <p:txBody>
          <a:bodyPr wrap="square" anchor="ctr" lIns="54864" rIns="54864" tIns="54864" bIns="54864">
            <a:spAutoFit/>
          </a:bodyPr>
          <a:lstStyle/>
          <a:p>
            <a:pPr algn="l">
              <a:spcAft>
                <a:spcPts val="300"/>
              </a:spcAft>
            </a:pPr>
            <a:r>
              <a:rPr sz="2700" b="1">
                <a:solidFill>
                  <a:srgbClr val="161B26"/>
                </a:solidFill>
                <a:latin typeface="Arial"/>
              </a:rPr>
              <a:t>2.3.2 · Add a reference line</a:t>
            </a:r>
          </a:p>
        </p:txBody>
      </p:sp>
      <p:sp>
        <p:nvSpPr>
          <p:cNvPr id="6" name="Rectangle 5"/>
          <p:cNvSpPr/>
          <p:nvPr/>
        </p:nvSpPr>
        <p:spPr>
          <a:xfrm>
            <a:off x="749808" y="1536192"/>
            <a:ext cx="106984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8096"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68096" y="1764792"/>
            <a:ext cx="82296" cy="206197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96695" y="2548890"/>
            <a:ext cx="493776" cy="49377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5"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1</a:t>
            </a:r>
          </a:p>
        </p:txBody>
      </p:sp>
      <p:sp>
        <p:nvSpPr>
          <p:cNvPr id="11" name="TextBox 10"/>
          <p:cNvSpPr txBox="1"/>
          <p:nvPr/>
        </p:nvSpPr>
        <p:spPr>
          <a:xfrm>
            <a:off x="1664207"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What it means</a:t>
            </a:r>
          </a:p>
          <a:p>
            <a:pPr algn="l">
              <a:spcAft>
                <a:spcPts val="300"/>
              </a:spcAft>
            </a:pPr>
            <a:r>
              <a:rPr sz="1200" b="0">
                <a:solidFill>
                  <a:srgbClr val="5B6372"/>
                </a:solidFill>
                <a:latin typeface="Arial"/>
              </a:rPr>
              <a:t>A line or band provides a benchmark for a scope.</a:t>
            </a:r>
          </a:p>
        </p:txBody>
      </p:sp>
      <p:sp>
        <p:nvSpPr>
          <p:cNvPr id="12" name="Rectangle 11"/>
          <p:cNvSpPr/>
          <p:nvPr/>
        </p:nvSpPr>
        <p:spPr>
          <a:xfrm>
            <a:off x="6222492"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22492" y="1764792"/>
            <a:ext cx="82296" cy="206197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51092" y="2548890"/>
            <a:ext cx="493776" cy="49377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51092"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2</a:t>
            </a:r>
          </a:p>
        </p:txBody>
      </p:sp>
      <p:sp>
        <p:nvSpPr>
          <p:cNvPr id="16" name="TextBox 15"/>
          <p:cNvSpPr txBox="1"/>
          <p:nvPr/>
        </p:nvSpPr>
        <p:spPr>
          <a:xfrm>
            <a:off x="7118604"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Use it when</a:t>
            </a:r>
          </a:p>
          <a:p>
            <a:pPr algn="l">
              <a:spcAft>
                <a:spcPts val="300"/>
              </a:spcAft>
            </a:pPr>
            <a:r>
              <a:rPr sz="1200" b="0">
                <a:solidFill>
                  <a:srgbClr val="5B6372"/>
                </a:solidFill>
                <a:latin typeface="Arial"/>
              </a:rPr>
              <a:t>Use for targets, averages, medians and ranges.</a:t>
            </a:r>
          </a:p>
        </p:txBody>
      </p:sp>
      <p:sp>
        <p:nvSpPr>
          <p:cNvPr id="17" name="Rectangle 16"/>
          <p:cNvSpPr/>
          <p:nvPr/>
        </p:nvSpPr>
        <p:spPr>
          <a:xfrm>
            <a:off x="768096"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68096" y="4046220"/>
            <a:ext cx="82296" cy="206197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96695" y="4830318"/>
            <a:ext cx="493776" cy="49377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96695"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3</a:t>
            </a:r>
          </a:p>
        </p:txBody>
      </p:sp>
      <p:sp>
        <p:nvSpPr>
          <p:cNvPr id="21" name="TextBox 20"/>
          <p:cNvSpPr txBox="1"/>
          <p:nvPr/>
        </p:nvSpPr>
        <p:spPr>
          <a:xfrm>
            <a:off x="1664207"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Exam clue</a:t>
            </a:r>
          </a:p>
          <a:p>
            <a:pPr algn="l">
              <a:spcAft>
                <a:spcPts val="300"/>
              </a:spcAft>
            </a:pPr>
            <a:r>
              <a:rPr sz="1200" b="0">
                <a:solidFill>
                  <a:srgbClr val="5B6372"/>
                </a:solidFill>
                <a:latin typeface="Arial"/>
              </a:rPr>
              <a:t>Scope can be table, pane or cell.</a:t>
            </a:r>
          </a:p>
        </p:txBody>
      </p:sp>
      <p:sp>
        <p:nvSpPr>
          <p:cNvPr id="22" name="Rectangle 21"/>
          <p:cNvSpPr/>
          <p:nvPr/>
        </p:nvSpPr>
        <p:spPr>
          <a:xfrm>
            <a:off x="6222492"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22492" y="4046220"/>
            <a:ext cx="82296" cy="206197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51092" y="4830318"/>
            <a:ext cx="493776" cy="49377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51092"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4</a:t>
            </a:r>
          </a:p>
        </p:txBody>
      </p:sp>
      <p:sp>
        <p:nvSpPr>
          <p:cNvPr id="26" name="TextBox 25"/>
          <p:cNvSpPr txBox="1"/>
          <p:nvPr/>
        </p:nvSpPr>
        <p:spPr>
          <a:xfrm>
            <a:off x="7118604"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Common pitfall</a:t>
            </a:r>
          </a:p>
          <a:p>
            <a:pPr algn="l">
              <a:spcAft>
                <a:spcPts val="300"/>
              </a:spcAft>
            </a:pPr>
            <a:r>
              <a:rPr sz="1200" b="0">
                <a:solidFill>
                  <a:srgbClr val="5B6372"/>
                </a:solidFill>
                <a:latin typeface="Arial"/>
              </a:rPr>
              <a:t>A table average can hide pane-level differences.</a:t>
            </a:r>
          </a:p>
        </p:txBody>
      </p:sp>
      <p:sp>
        <p:nvSpPr>
          <p:cNvPr id="27" name="TextBox 26"/>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28" name="TextBox 27"/>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29" name="TextBox 28"/>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89</a:t>
            </a:r>
          </a:p>
        </p:txBody>
      </p:sp>
    </p:spTree>
  </p:cSld>
  <p:clrMapOvr>
    <a:masterClrMapping/>
  </p:clrMapOvr>
  <p:transition spd="fast">
    <p:fade/>
  </p:transition>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37744"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47472"/>
            <a:ext cx="10698480" cy="292608"/>
          </a:xfrm>
          <a:prstGeom prst="rect">
            <a:avLst/>
          </a:prstGeom>
          <a:noFill/>
        </p:spPr>
        <p:txBody>
          <a:bodyPr wrap="square" anchor="t" lIns="54864" rIns="54864" tIns="54864" bIns="54864">
            <a:spAutoFit/>
          </a:bodyPr>
          <a:lstStyle/>
          <a:p>
            <a:pPr algn="l">
              <a:spcAft>
                <a:spcPts val="300"/>
              </a:spcAft>
            </a:pPr>
            <a:r>
              <a:rPr sz="1200" b="1">
                <a:solidFill>
                  <a:srgbClr val="10B981"/>
                </a:solidFill>
                <a:latin typeface="Arial"/>
              </a:rPr>
              <a:t>OFFICIAL OBJECTIVE · DOMAIN 2</a:t>
            </a:r>
          </a:p>
        </p:txBody>
      </p:sp>
      <p:sp>
        <p:nvSpPr>
          <p:cNvPr id="5" name="TextBox 4"/>
          <p:cNvSpPr txBox="1"/>
          <p:nvPr/>
        </p:nvSpPr>
        <p:spPr>
          <a:xfrm>
            <a:off x="749808" y="713232"/>
            <a:ext cx="10744200" cy="731520"/>
          </a:xfrm>
          <a:prstGeom prst="rect">
            <a:avLst/>
          </a:prstGeom>
          <a:noFill/>
        </p:spPr>
        <p:txBody>
          <a:bodyPr wrap="square" anchor="ctr" lIns="54864" rIns="54864" tIns="54864" bIns="54864">
            <a:spAutoFit/>
          </a:bodyPr>
          <a:lstStyle/>
          <a:p>
            <a:pPr algn="l">
              <a:spcAft>
                <a:spcPts val="300"/>
              </a:spcAft>
            </a:pPr>
            <a:r>
              <a:rPr sz="2700" b="1">
                <a:solidFill>
                  <a:srgbClr val="161B26"/>
                </a:solidFill>
                <a:latin typeface="Arial"/>
              </a:rPr>
              <a:t>2.3.3 · Use quick table calculations</a:t>
            </a:r>
          </a:p>
        </p:txBody>
      </p:sp>
      <p:sp>
        <p:nvSpPr>
          <p:cNvPr id="6" name="Rectangle 5"/>
          <p:cNvSpPr/>
          <p:nvPr/>
        </p:nvSpPr>
        <p:spPr>
          <a:xfrm>
            <a:off x="749808" y="1536192"/>
            <a:ext cx="106984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8096"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68096" y="1764792"/>
            <a:ext cx="82296" cy="206197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96695" y="2548890"/>
            <a:ext cx="493776" cy="49377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5"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1</a:t>
            </a:r>
          </a:p>
        </p:txBody>
      </p:sp>
      <p:sp>
        <p:nvSpPr>
          <p:cNvPr id="11" name="TextBox 10"/>
          <p:cNvSpPr txBox="1"/>
          <p:nvPr/>
        </p:nvSpPr>
        <p:spPr>
          <a:xfrm>
            <a:off x="1664207"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What it means</a:t>
            </a:r>
          </a:p>
          <a:p>
            <a:pPr algn="l">
              <a:spcAft>
                <a:spcPts val="300"/>
              </a:spcAft>
            </a:pPr>
            <a:r>
              <a:rPr sz="1200" b="0">
                <a:solidFill>
                  <a:srgbClr val="5B6372"/>
                </a:solidFill>
                <a:latin typeface="Arial"/>
              </a:rPr>
              <a:t>Table calculations operate on marks already returned to the view.</a:t>
            </a:r>
          </a:p>
        </p:txBody>
      </p:sp>
      <p:sp>
        <p:nvSpPr>
          <p:cNvPr id="12" name="Rectangle 11"/>
          <p:cNvSpPr/>
          <p:nvPr/>
        </p:nvSpPr>
        <p:spPr>
          <a:xfrm>
            <a:off x="6222492"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22492" y="1764792"/>
            <a:ext cx="82296" cy="206197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51092" y="2548890"/>
            <a:ext cx="493776" cy="49377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51092"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2</a:t>
            </a:r>
          </a:p>
        </p:txBody>
      </p:sp>
      <p:sp>
        <p:nvSpPr>
          <p:cNvPr id="16" name="TextBox 15"/>
          <p:cNvSpPr txBox="1"/>
          <p:nvPr/>
        </p:nvSpPr>
        <p:spPr>
          <a:xfrm>
            <a:off x="7118604"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Use it when</a:t>
            </a:r>
          </a:p>
          <a:p>
            <a:pPr algn="l">
              <a:spcAft>
                <a:spcPts val="300"/>
              </a:spcAft>
            </a:pPr>
            <a:r>
              <a:rPr sz="1200" b="0">
                <a:solidFill>
                  <a:srgbClr val="5B6372"/>
                </a:solidFill>
                <a:latin typeface="Arial"/>
              </a:rPr>
              <a:t>Use running total, percent of total, difference, rank or moving average.</a:t>
            </a:r>
          </a:p>
        </p:txBody>
      </p:sp>
      <p:sp>
        <p:nvSpPr>
          <p:cNvPr id="17" name="Rectangle 16"/>
          <p:cNvSpPr/>
          <p:nvPr/>
        </p:nvSpPr>
        <p:spPr>
          <a:xfrm>
            <a:off x="768096"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68096" y="4046220"/>
            <a:ext cx="82296" cy="206197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96695" y="4830318"/>
            <a:ext cx="493776" cy="49377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96695"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3</a:t>
            </a:r>
          </a:p>
        </p:txBody>
      </p:sp>
      <p:sp>
        <p:nvSpPr>
          <p:cNvPr id="21" name="TextBox 20"/>
          <p:cNvSpPr txBox="1"/>
          <p:nvPr/>
        </p:nvSpPr>
        <p:spPr>
          <a:xfrm>
            <a:off x="1664207"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Exam clue</a:t>
            </a:r>
          </a:p>
          <a:p>
            <a:pPr algn="l">
              <a:spcAft>
                <a:spcPts val="300"/>
              </a:spcAft>
            </a:pPr>
            <a:r>
              <a:rPr sz="1200" b="0">
                <a:solidFill>
                  <a:srgbClr val="5B6372"/>
                </a:solidFill>
                <a:latin typeface="Arial"/>
              </a:rPr>
              <a:t>Compute Using defines addressing and partitioning.</a:t>
            </a:r>
          </a:p>
        </p:txBody>
      </p:sp>
      <p:sp>
        <p:nvSpPr>
          <p:cNvPr id="22" name="Rectangle 21"/>
          <p:cNvSpPr/>
          <p:nvPr/>
        </p:nvSpPr>
        <p:spPr>
          <a:xfrm>
            <a:off x="6222492"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22492" y="4046220"/>
            <a:ext cx="82296" cy="206197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51092" y="4830318"/>
            <a:ext cx="493776" cy="49377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51092"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4</a:t>
            </a:r>
          </a:p>
        </p:txBody>
      </p:sp>
      <p:sp>
        <p:nvSpPr>
          <p:cNvPr id="26" name="TextBox 25"/>
          <p:cNvSpPr txBox="1"/>
          <p:nvPr/>
        </p:nvSpPr>
        <p:spPr>
          <a:xfrm>
            <a:off x="7118604"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Common pitfall</a:t>
            </a:r>
          </a:p>
          <a:p>
            <a:pPr algn="l">
              <a:spcAft>
                <a:spcPts val="300"/>
              </a:spcAft>
            </a:pPr>
            <a:r>
              <a:rPr sz="1200" b="0">
                <a:solidFill>
                  <a:srgbClr val="5B6372"/>
                </a:solidFill>
                <a:latin typeface="Arial"/>
              </a:rPr>
              <a:t>Changing layout can change the calculation.</a:t>
            </a:r>
          </a:p>
        </p:txBody>
      </p:sp>
      <p:sp>
        <p:nvSpPr>
          <p:cNvPr id="27" name="TextBox 26"/>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28" name="TextBox 27"/>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29" name="TextBox 28"/>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90</a:t>
            </a:r>
          </a:p>
        </p:txBody>
      </p:sp>
    </p:spTree>
  </p:cSld>
  <p:clrMapOvr>
    <a:masterClrMapping/>
  </p:clrMapOvr>
  <p:transition spd="fast">
    <p:fade/>
  </p:transition>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37744"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47472"/>
            <a:ext cx="10698480" cy="292608"/>
          </a:xfrm>
          <a:prstGeom prst="rect">
            <a:avLst/>
          </a:prstGeom>
          <a:noFill/>
        </p:spPr>
        <p:txBody>
          <a:bodyPr wrap="square" anchor="t" lIns="54864" rIns="54864" tIns="54864" bIns="54864">
            <a:spAutoFit/>
          </a:bodyPr>
          <a:lstStyle/>
          <a:p>
            <a:pPr algn="l">
              <a:spcAft>
                <a:spcPts val="300"/>
              </a:spcAft>
            </a:pPr>
            <a:r>
              <a:rPr sz="1200" b="1">
                <a:solidFill>
                  <a:srgbClr val="10B981"/>
                </a:solidFill>
                <a:latin typeface="Arial"/>
              </a:rPr>
              <a:t>OFFICIAL OBJECTIVE · DOMAIN 2</a:t>
            </a:r>
          </a:p>
        </p:txBody>
      </p:sp>
      <p:sp>
        <p:nvSpPr>
          <p:cNvPr id="5" name="TextBox 4"/>
          <p:cNvSpPr txBox="1"/>
          <p:nvPr/>
        </p:nvSpPr>
        <p:spPr>
          <a:xfrm>
            <a:off x="749808" y="713232"/>
            <a:ext cx="10744200" cy="731520"/>
          </a:xfrm>
          <a:prstGeom prst="rect">
            <a:avLst/>
          </a:prstGeom>
          <a:noFill/>
        </p:spPr>
        <p:txBody>
          <a:bodyPr wrap="square" anchor="ctr" lIns="54864" rIns="54864" tIns="54864" bIns="54864">
            <a:spAutoFit/>
          </a:bodyPr>
          <a:lstStyle/>
          <a:p>
            <a:pPr algn="l">
              <a:spcAft>
                <a:spcPts val="300"/>
              </a:spcAft>
            </a:pPr>
            <a:r>
              <a:rPr sz="2700" b="1">
                <a:solidFill>
                  <a:srgbClr val="161B26"/>
                </a:solidFill>
                <a:latin typeface="Arial"/>
              </a:rPr>
              <a:t>2.3.4 · Create bins and histograms</a:t>
            </a:r>
          </a:p>
        </p:txBody>
      </p:sp>
      <p:sp>
        <p:nvSpPr>
          <p:cNvPr id="6" name="Rectangle 5"/>
          <p:cNvSpPr/>
          <p:nvPr/>
        </p:nvSpPr>
        <p:spPr>
          <a:xfrm>
            <a:off x="749808" y="1536192"/>
            <a:ext cx="106984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8096"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68096" y="1764792"/>
            <a:ext cx="82296" cy="206197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96695" y="2548890"/>
            <a:ext cx="493776" cy="49377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5"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1</a:t>
            </a:r>
          </a:p>
        </p:txBody>
      </p:sp>
      <p:sp>
        <p:nvSpPr>
          <p:cNvPr id="11" name="TextBox 10"/>
          <p:cNvSpPr txBox="1"/>
          <p:nvPr/>
        </p:nvSpPr>
        <p:spPr>
          <a:xfrm>
            <a:off x="1664207"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What it means</a:t>
            </a:r>
          </a:p>
          <a:p>
            <a:pPr algn="l">
              <a:spcAft>
                <a:spcPts val="300"/>
              </a:spcAft>
            </a:pPr>
            <a:r>
              <a:rPr sz="1200" b="0">
                <a:solidFill>
                  <a:srgbClr val="5B6372"/>
                </a:solidFill>
                <a:latin typeface="Arial"/>
              </a:rPr>
              <a:t>Bins partition a measure into equal-width intervals.</a:t>
            </a:r>
          </a:p>
        </p:txBody>
      </p:sp>
      <p:sp>
        <p:nvSpPr>
          <p:cNvPr id="12" name="Rectangle 11"/>
          <p:cNvSpPr/>
          <p:nvPr/>
        </p:nvSpPr>
        <p:spPr>
          <a:xfrm>
            <a:off x="6222492"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22492" y="1764792"/>
            <a:ext cx="82296" cy="206197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51092" y="2548890"/>
            <a:ext cx="493776" cy="49377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51092"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2</a:t>
            </a:r>
          </a:p>
        </p:txBody>
      </p:sp>
      <p:sp>
        <p:nvSpPr>
          <p:cNvPr id="16" name="TextBox 15"/>
          <p:cNvSpPr txBox="1"/>
          <p:nvPr/>
        </p:nvSpPr>
        <p:spPr>
          <a:xfrm>
            <a:off x="7118604"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Use it when</a:t>
            </a:r>
          </a:p>
          <a:p>
            <a:pPr algn="l">
              <a:spcAft>
                <a:spcPts val="300"/>
              </a:spcAft>
            </a:pPr>
            <a:r>
              <a:rPr sz="1200" b="0">
                <a:solidFill>
                  <a:srgbClr val="5B6372"/>
                </a:solidFill>
                <a:latin typeface="Arial"/>
              </a:rPr>
              <a:t>Use a histogram for distribution shape and unusual ranges.</a:t>
            </a:r>
          </a:p>
        </p:txBody>
      </p:sp>
      <p:sp>
        <p:nvSpPr>
          <p:cNvPr id="17" name="Rectangle 16"/>
          <p:cNvSpPr/>
          <p:nvPr/>
        </p:nvSpPr>
        <p:spPr>
          <a:xfrm>
            <a:off x="768096"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68096" y="4046220"/>
            <a:ext cx="82296" cy="206197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96695" y="4830318"/>
            <a:ext cx="493776" cy="49377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96695"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3</a:t>
            </a:r>
          </a:p>
        </p:txBody>
      </p:sp>
      <p:sp>
        <p:nvSpPr>
          <p:cNvPr id="21" name="TextBox 20"/>
          <p:cNvSpPr txBox="1"/>
          <p:nvPr/>
        </p:nvSpPr>
        <p:spPr>
          <a:xfrm>
            <a:off x="1664207"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Exam clue</a:t>
            </a:r>
          </a:p>
          <a:p>
            <a:pPr algn="l">
              <a:spcAft>
                <a:spcPts val="300"/>
              </a:spcAft>
            </a:pPr>
            <a:r>
              <a:rPr sz="1200" b="0">
                <a:solidFill>
                  <a:srgbClr val="5B6372"/>
                </a:solidFill>
                <a:latin typeface="Arial"/>
              </a:rPr>
              <a:t>Bin size controls resolution.</a:t>
            </a:r>
          </a:p>
        </p:txBody>
      </p:sp>
      <p:sp>
        <p:nvSpPr>
          <p:cNvPr id="22" name="Rectangle 21"/>
          <p:cNvSpPr/>
          <p:nvPr/>
        </p:nvSpPr>
        <p:spPr>
          <a:xfrm>
            <a:off x="6222492"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22492" y="4046220"/>
            <a:ext cx="82296" cy="206197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51092" y="4830318"/>
            <a:ext cx="493776" cy="49377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51092"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4</a:t>
            </a:r>
          </a:p>
        </p:txBody>
      </p:sp>
      <p:sp>
        <p:nvSpPr>
          <p:cNvPr id="26" name="TextBox 25"/>
          <p:cNvSpPr txBox="1"/>
          <p:nvPr/>
        </p:nvSpPr>
        <p:spPr>
          <a:xfrm>
            <a:off x="7118604"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Common pitfall</a:t>
            </a:r>
          </a:p>
          <a:p>
            <a:pPr algn="l">
              <a:spcAft>
                <a:spcPts val="300"/>
              </a:spcAft>
            </a:pPr>
            <a:r>
              <a:rPr sz="1200" b="0">
                <a:solidFill>
                  <a:srgbClr val="5B6372"/>
                </a:solidFill>
                <a:latin typeface="Arial"/>
              </a:rPr>
              <a:t>Poor bin width can hide or invent patterns.</a:t>
            </a:r>
          </a:p>
        </p:txBody>
      </p:sp>
      <p:sp>
        <p:nvSpPr>
          <p:cNvPr id="27" name="TextBox 26"/>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28" name="TextBox 27"/>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29" name="TextBox 28"/>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91</a:t>
            </a:r>
          </a:p>
        </p:txBody>
      </p:sp>
    </p:spTree>
  </p:cSld>
  <p:clrMapOvr>
    <a:masterClrMapping/>
  </p:clrMapOvr>
  <p:transition spd="fast">
    <p:fade/>
  </p:transition>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37744"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47472"/>
            <a:ext cx="10698480" cy="292608"/>
          </a:xfrm>
          <a:prstGeom prst="rect">
            <a:avLst/>
          </a:prstGeom>
          <a:noFill/>
        </p:spPr>
        <p:txBody>
          <a:bodyPr wrap="square" anchor="t" lIns="54864" rIns="54864" tIns="54864" bIns="54864">
            <a:spAutoFit/>
          </a:bodyPr>
          <a:lstStyle/>
          <a:p>
            <a:pPr algn="l">
              <a:spcAft>
                <a:spcPts val="300"/>
              </a:spcAft>
            </a:pPr>
            <a:r>
              <a:rPr sz="1200" b="1">
                <a:solidFill>
                  <a:srgbClr val="10B981"/>
                </a:solidFill>
                <a:latin typeface="Arial"/>
              </a:rPr>
              <a:t>OFFICIAL OBJECTIVE · DOMAIN 2</a:t>
            </a:r>
          </a:p>
        </p:txBody>
      </p:sp>
      <p:sp>
        <p:nvSpPr>
          <p:cNvPr id="5" name="TextBox 4"/>
          <p:cNvSpPr txBox="1"/>
          <p:nvPr/>
        </p:nvSpPr>
        <p:spPr>
          <a:xfrm>
            <a:off x="749808" y="713232"/>
            <a:ext cx="10744200" cy="731520"/>
          </a:xfrm>
          <a:prstGeom prst="rect">
            <a:avLst/>
          </a:prstGeom>
          <a:noFill/>
        </p:spPr>
        <p:txBody>
          <a:bodyPr wrap="square" anchor="ctr" lIns="54864" rIns="54864" tIns="54864" bIns="54864">
            <a:spAutoFit/>
          </a:bodyPr>
          <a:lstStyle/>
          <a:p>
            <a:pPr algn="l">
              <a:spcAft>
                <a:spcPts val="300"/>
              </a:spcAft>
            </a:pPr>
            <a:r>
              <a:rPr sz="2700" b="1">
                <a:solidFill>
                  <a:srgbClr val="161B26"/>
                </a:solidFill>
                <a:latin typeface="Arial"/>
              </a:rPr>
              <a:t>2.3.5 · Create calculated fields</a:t>
            </a:r>
          </a:p>
        </p:txBody>
      </p:sp>
      <p:sp>
        <p:nvSpPr>
          <p:cNvPr id="6" name="Rectangle 5"/>
          <p:cNvSpPr/>
          <p:nvPr/>
        </p:nvSpPr>
        <p:spPr>
          <a:xfrm>
            <a:off x="749808" y="1536192"/>
            <a:ext cx="106984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8096"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68096" y="1764792"/>
            <a:ext cx="82296" cy="206197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96695" y="2548890"/>
            <a:ext cx="493776" cy="49377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5"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1</a:t>
            </a:r>
          </a:p>
        </p:txBody>
      </p:sp>
      <p:sp>
        <p:nvSpPr>
          <p:cNvPr id="11" name="TextBox 10"/>
          <p:cNvSpPr txBox="1"/>
          <p:nvPr/>
        </p:nvSpPr>
        <p:spPr>
          <a:xfrm>
            <a:off x="1664207"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What it means</a:t>
            </a:r>
          </a:p>
          <a:p>
            <a:pPr algn="l">
              <a:spcAft>
                <a:spcPts val="300"/>
              </a:spcAft>
            </a:pPr>
            <a:r>
              <a:rPr sz="1200" b="0">
                <a:solidFill>
                  <a:srgbClr val="5B6372"/>
                </a:solidFill>
                <a:latin typeface="Arial"/>
              </a:rPr>
              <a:t>Calculated fields derive row-level, aggregate or table values.</a:t>
            </a:r>
          </a:p>
        </p:txBody>
      </p:sp>
      <p:sp>
        <p:nvSpPr>
          <p:cNvPr id="12" name="Rectangle 11"/>
          <p:cNvSpPr/>
          <p:nvPr/>
        </p:nvSpPr>
        <p:spPr>
          <a:xfrm>
            <a:off x="6222492"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22492" y="1764792"/>
            <a:ext cx="82296" cy="206197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51092" y="2548890"/>
            <a:ext cx="493776" cy="49377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51092"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2</a:t>
            </a:r>
          </a:p>
        </p:txBody>
      </p:sp>
      <p:sp>
        <p:nvSpPr>
          <p:cNvPr id="16" name="TextBox 15"/>
          <p:cNvSpPr txBox="1"/>
          <p:nvPr/>
        </p:nvSpPr>
        <p:spPr>
          <a:xfrm>
            <a:off x="7118604"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Use it when</a:t>
            </a:r>
          </a:p>
          <a:p>
            <a:pPr algn="l">
              <a:spcAft>
                <a:spcPts val="300"/>
              </a:spcAft>
            </a:pPr>
            <a:r>
              <a:rPr sz="1200" b="0">
                <a:solidFill>
                  <a:srgbClr val="5B6372"/>
                </a:solidFill>
                <a:latin typeface="Arial"/>
              </a:rPr>
              <a:t>Use for arithmetic, strings, dates and business rules.</a:t>
            </a:r>
          </a:p>
        </p:txBody>
      </p:sp>
      <p:sp>
        <p:nvSpPr>
          <p:cNvPr id="17" name="Rectangle 16"/>
          <p:cNvSpPr/>
          <p:nvPr/>
        </p:nvSpPr>
        <p:spPr>
          <a:xfrm>
            <a:off x="768096"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68096" y="4046220"/>
            <a:ext cx="82296" cy="206197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96695" y="4830318"/>
            <a:ext cx="493776" cy="49377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96695"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3</a:t>
            </a:r>
          </a:p>
        </p:txBody>
      </p:sp>
      <p:sp>
        <p:nvSpPr>
          <p:cNvPr id="21" name="TextBox 20"/>
          <p:cNvSpPr txBox="1"/>
          <p:nvPr/>
        </p:nvSpPr>
        <p:spPr>
          <a:xfrm>
            <a:off x="1664207"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Exam clue</a:t>
            </a:r>
          </a:p>
          <a:p>
            <a:pPr algn="l">
              <a:spcAft>
                <a:spcPts val="300"/>
              </a:spcAft>
            </a:pPr>
            <a:r>
              <a:rPr sz="1200" b="0">
                <a:solidFill>
                  <a:srgbClr val="5B6372"/>
                </a:solidFill>
                <a:latin typeface="Arial"/>
              </a:rPr>
              <a:t>Aggregate and non-aggregate expressions cannot be mixed directly.</a:t>
            </a:r>
          </a:p>
        </p:txBody>
      </p:sp>
      <p:sp>
        <p:nvSpPr>
          <p:cNvPr id="22" name="Rectangle 21"/>
          <p:cNvSpPr/>
          <p:nvPr/>
        </p:nvSpPr>
        <p:spPr>
          <a:xfrm>
            <a:off x="6222492"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22492" y="4046220"/>
            <a:ext cx="82296" cy="206197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51092" y="4830318"/>
            <a:ext cx="493776" cy="49377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51092"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4</a:t>
            </a:r>
          </a:p>
        </p:txBody>
      </p:sp>
      <p:sp>
        <p:nvSpPr>
          <p:cNvPr id="26" name="TextBox 25"/>
          <p:cNvSpPr txBox="1"/>
          <p:nvPr/>
        </p:nvSpPr>
        <p:spPr>
          <a:xfrm>
            <a:off x="7118604"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Common pitfall</a:t>
            </a:r>
          </a:p>
          <a:p>
            <a:pPr algn="l">
              <a:spcAft>
                <a:spcPts val="300"/>
              </a:spcAft>
            </a:pPr>
            <a:r>
              <a:rPr sz="1200" b="0">
                <a:solidFill>
                  <a:srgbClr val="5B6372"/>
                </a:solidFill>
                <a:latin typeface="Arial"/>
              </a:rPr>
              <a:t>Nulls propagate unless handled.</a:t>
            </a:r>
          </a:p>
        </p:txBody>
      </p:sp>
      <p:sp>
        <p:nvSpPr>
          <p:cNvPr id="27" name="TextBox 26"/>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28" name="TextBox 27"/>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29" name="TextBox 28"/>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92</a:t>
            </a:r>
          </a:p>
        </p:txBody>
      </p:sp>
    </p:spTree>
  </p:cSld>
  <p:clrMapOvr>
    <a:masterClrMapping/>
  </p:clrMapOvr>
  <p:transition spd="fast">
    <p:fade/>
  </p:transition>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37744"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47472"/>
            <a:ext cx="10698480" cy="292608"/>
          </a:xfrm>
          <a:prstGeom prst="rect">
            <a:avLst/>
          </a:prstGeom>
          <a:noFill/>
        </p:spPr>
        <p:txBody>
          <a:bodyPr wrap="square" anchor="t" lIns="54864" rIns="54864" tIns="54864" bIns="54864">
            <a:spAutoFit/>
          </a:bodyPr>
          <a:lstStyle/>
          <a:p>
            <a:pPr algn="l">
              <a:spcAft>
                <a:spcPts val="300"/>
              </a:spcAft>
            </a:pPr>
            <a:r>
              <a:rPr sz="1200" b="1">
                <a:solidFill>
                  <a:srgbClr val="10B981"/>
                </a:solidFill>
                <a:latin typeface="Arial"/>
              </a:rPr>
              <a:t>OFFICIAL OBJECTIVE · DOMAIN 2</a:t>
            </a:r>
          </a:p>
        </p:txBody>
      </p:sp>
      <p:sp>
        <p:nvSpPr>
          <p:cNvPr id="5" name="TextBox 4"/>
          <p:cNvSpPr txBox="1"/>
          <p:nvPr/>
        </p:nvSpPr>
        <p:spPr>
          <a:xfrm>
            <a:off x="749808" y="713232"/>
            <a:ext cx="10744200" cy="731520"/>
          </a:xfrm>
          <a:prstGeom prst="rect">
            <a:avLst/>
          </a:prstGeom>
          <a:noFill/>
        </p:spPr>
        <p:txBody>
          <a:bodyPr wrap="square" anchor="ctr" lIns="54864" rIns="54864" tIns="54864" bIns="54864">
            <a:spAutoFit/>
          </a:bodyPr>
          <a:lstStyle/>
          <a:p>
            <a:pPr algn="l">
              <a:spcAft>
                <a:spcPts val="300"/>
              </a:spcAft>
            </a:pPr>
            <a:r>
              <a:rPr sz="2700" b="1">
                <a:solidFill>
                  <a:srgbClr val="161B26"/>
                </a:solidFill>
                <a:latin typeface="Arial"/>
              </a:rPr>
              <a:t>2.3.6 · Use parameters</a:t>
            </a:r>
          </a:p>
        </p:txBody>
      </p:sp>
      <p:sp>
        <p:nvSpPr>
          <p:cNvPr id="6" name="Rectangle 5"/>
          <p:cNvSpPr/>
          <p:nvPr/>
        </p:nvSpPr>
        <p:spPr>
          <a:xfrm>
            <a:off x="749808" y="1536192"/>
            <a:ext cx="106984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8096"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68096" y="1764792"/>
            <a:ext cx="82296" cy="206197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96695" y="2548890"/>
            <a:ext cx="493776" cy="49377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5"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1</a:t>
            </a:r>
          </a:p>
        </p:txBody>
      </p:sp>
      <p:sp>
        <p:nvSpPr>
          <p:cNvPr id="11" name="TextBox 10"/>
          <p:cNvSpPr txBox="1"/>
          <p:nvPr/>
        </p:nvSpPr>
        <p:spPr>
          <a:xfrm>
            <a:off x="1664207"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What it means</a:t>
            </a:r>
          </a:p>
          <a:p>
            <a:pPr algn="l">
              <a:spcAft>
                <a:spcPts val="300"/>
              </a:spcAft>
            </a:pPr>
            <a:r>
              <a:rPr sz="1200" b="0">
                <a:solidFill>
                  <a:srgbClr val="5B6372"/>
                </a:solidFill>
                <a:latin typeface="Arial"/>
              </a:rPr>
              <a:t>A parameter is a workbook value controlled by the user.</a:t>
            </a:r>
          </a:p>
        </p:txBody>
      </p:sp>
      <p:sp>
        <p:nvSpPr>
          <p:cNvPr id="12" name="Rectangle 11"/>
          <p:cNvSpPr/>
          <p:nvPr/>
        </p:nvSpPr>
        <p:spPr>
          <a:xfrm>
            <a:off x="6222492"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22492" y="1764792"/>
            <a:ext cx="82296" cy="206197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51092" y="2548890"/>
            <a:ext cx="493776" cy="49377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51092"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2</a:t>
            </a:r>
          </a:p>
        </p:txBody>
      </p:sp>
      <p:sp>
        <p:nvSpPr>
          <p:cNvPr id="16" name="TextBox 15"/>
          <p:cNvSpPr txBox="1"/>
          <p:nvPr/>
        </p:nvSpPr>
        <p:spPr>
          <a:xfrm>
            <a:off x="7118604"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Use it when</a:t>
            </a:r>
          </a:p>
          <a:p>
            <a:pPr algn="l">
              <a:spcAft>
                <a:spcPts val="300"/>
              </a:spcAft>
            </a:pPr>
            <a:r>
              <a:rPr sz="1200" b="0">
                <a:solidFill>
                  <a:srgbClr val="5B6372"/>
                </a:solidFill>
                <a:latin typeface="Arial"/>
              </a:rPr>
              <a:t>Use to swap measures, set thresholds or run what-if analysis.</a:t>
            </a:r>
          </a:p>
        </p:txBody>
      </p:sp>
      <p:sp>
        <p:nvSpPr>
          <p:cNvPr id="17" name="Rectangle 16"/>
          <p:cNvSpPr/>
          <p:nvPr/>
        </p:nvSpPr>
        <p:spPr>
          <a:xfrm>
            <a:off x="768096"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68096" y="4046220"/>
            <a:ext cx="82296" cy="206197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96695" y="4830318"/>
            <a:ext cx="493776" cy="49377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96695"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3</a:t>
            </a:r>
          </a:p>
        </p:txBody>
      </p:sp>
      <p:sp>
        <p:nvSpPr>
          <p:cNvPr id="21" name="TextBox 20"/>
          <p:cNvSpPr txBox="1"/>
          <p:nvPr/>
        </p:nvSpPr>
        <p:spPr>
          <a:xfrm>
            <a:off x="1664207"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Exam clue</a:t>
            </a:r>
          </a:p>
          <a:p>
            <a:pPr algn="l">
              <a:spcAft>
                <a:spcPts val="300"/>
              </a:spcAft>
            </a:pPr>
            <a:r>
              <a:rPr sz="1200" b="0">
                <a:solidFill>
                  <a:srgbClr val="5B6372"/>
                </a:solidFill>
                <a:latin typeface="Arial"/>
              </a:rPr>
              <a:t>A parameter acts only when referenced.</a:t>
            </a:r>
          </a:p>
        </p:txBody>
      </p:sp>
      <p:sp>
        <p:nvSpPr>
          <p:cNvPr id="22" name="Rectangle 21"/>
          <p:cNvSpPr/>
          <p:nvPr/>
        </p:nvSpPr>
        <p:spPr>
          <a:xfrm>
            <a:off x="6222492"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22492" y="4046220"/>
            <a:ext cx="82296" cy="206197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51092" y="4830318"/>
            <a:ext cx="493776" cy="49377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51092"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4</a:t>
            </a:r>
          </a:p>
        </p:txBody>
      </p:sp>
      <p:sp>
        <p:nvSpPr>
          <p:cNvPr id="26" name="TextBox 25"/>
          <p:cNvSpPr txBox="1"/>
          <p:nvPr/>
        </p:nvSpPr>
        <p:spPr>
          <a:xfrm>
            <a:off x="7118604"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Common pitfall</a:t>
            </a:r>
          </a:p>
          <a:p>
            <a:pPr algn="l">
              <a:spcAft>
                <a:spcPts val="300"/>
              </a:spcAft>
            </a:pPr>
            <a:r>
              <a:rPr sz="1200" b="0">
                <a:solidFill>
                  <a:srgbClr val="5B6372"/>
                </a:solidFill>
                <a:latin typeface="Arial"/>
              </a:rPr>
              <a:t>Parameters are not automatically row filters.</a:t>
            </a:r>
          </a:p>
        </p:txBody>
      </p:sp>
      <p:sp>
        <p:nvSpPr>
          <p:cNvPr id="27" name="TextBox 26"/>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28" name="TextBox 27"/>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29" name="TextBox 28"/>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93</a:t>
            </a:r>
          </a:p>
        </p:txBody>
      </p:sp>
    </p:spTree>
  </p:cSld>
  <p:clrMapOvr>
    <a:masterClrMapping/>
  </p:clrMapOvr>
  <p:transition spd="fast">
    <p:fade/>
  </p:transition>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37744"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47472"/>
            <a:ext cx="10698480" cy="292608"/>
          </a:xfrm>
          <a:prstGeom prst="rect">
            <a:avLst/>
          </a:prstGeom>
          <a:noFill/>
        </p:spPr>
        <p:txBody>
          <a:bodyPr wrap="square" anchor="t" lIns="54864" rIns="54864" tIns="54864" bIns="54864">
            <a:spAutoFit/>
          </a:bodyPr>
          <a:lstStyle/>
          <a:p>
            <a:pPr algn="l">
              <a:spcAft>
                <a:spcPts val="300"/>
              </a:spcAft>
            </a:pPr>
            <a:r>
              <a:rPr sz="1200" b="1">
                <a:solidFill>
                  <a:srgbClr val="10B981"/>
                </a:solidFill>
                <a:latin typeface="Arial"/>
              </a:rPr>
              <a:t>OFFICIAL OBJECTIVE · DOMAIN 2</a:t>
            </a:r>
          </a:p>
        </p:txBody>
      </p:sp>
      <p:sp>
        <p:nvSpPr>
          <p:cNvPr id="5" name="TextBox 4"/>
          <p:cNvSpPr txBox="1"/>
          <p:nvPr/>
        </p:nvSpPr>
        <p:spPr>
          <a:xfrm>
            <a:off x="749808" y="713232"/>
            <a:ext cx="10744200" cy="731520"/>
          </a:xfrm>
          <a:prstGeom prst="rect">
            <a:avLst/>
          </a:prstGeom>
          <a:noFill/>
        </p:spPr>
        <p:txBody>
          <a:bodyPr wrap="square" anchor="ctr" lIns="54864" rIns="54864" tIns="54864" bIns="54864">
            <a:spAutoFit/>
          </a:bodyPr>
          <a:lstStyle/>
          <a:p>
            <a:pPr algn="l">
              <a:spcAft>
                <a:spcPts val="300"/>
              </a:spcAft>
            </a:pPr>
            <a:r>
              <a:rPr sz="2700" b="1">
                <a:solidFill>
                  <a:srgbClr val="161B26"/>
                </a:solidFill>
                <a:latin typeface="Arial"/>
              </a:rPr>
              <a:t>2.3.7 · Display totals</a:t>
            </a:r>
          </a:p>
        </p:txBody>
      </p:sp>
      <p:sp>
        <p:nvSpPr>
          <p:cNvPr id="6" name="Rectangle 5"/>
          <p:cNvSpPr/>
          <p:nvPr/>
        </p:nvSpPr>
        <p:spPr>
          <a:xfrm>
            <a:off x="749808" y="1536192"/>
            <a:ext cx="106984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8096"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68096" y="1764792"/>
            <a:ext cx="82296" cy="206197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96695" y="2548890"/>
            <a:ext cx="493776" cy="49377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5"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1</a:t>
            </a:r>
          </a:p>
        </p:txBody>
      </p:sp>
      <p:sp>
        <p:nvSpPr>
          <p:cNvPr id="11" name="TextBox 10"/>
          <p:cNvSpPr txBox="1"/>
          <p:nvPr/>
        </p:nvSpPr>
        <p:spPr>
          <a:xfrm>
            <a:off x="1664207"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What it means</a:t>
            </a:r>
          </a:p>
          <a:p>
            <a:pPr algn="l">
              <a:spcAft>
                <a:spcPts val="300"/>
              </a:spcAft>
            </a:pPr>
            <a:r>
              <a:rPr sz="1200" b="0">
                <a:solidFill>
                  <a:srgbClr val="5B6372"/>
                </a:solidFill>
                <a:latin typeface="Arial"/>
              </a:rPr>
              <a:t>Subtotals and grand totals summarise selected levels.</a:t>
            </a:r>
          </a:p>
        </p:txBody>
      </p:sp>
      <p:sp>
        <p:nvSpPr>
          <p:cNvPr id="12" name="Rectangle 11"/>
          <p:cNvSpPr/>
          <p:nvPr/>
        </p:nvSpPr>
        <p:spPr>
          <a:xfrm>
            <a:off x="6222492"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22492" y="1764792"/>
            <a:ext cx="82296" cy="206197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51092" y="2548890"/>
            <a:ext cx="493776" cy="49377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51092"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2</a:t>
            </a:r>
          </a:p>
        </p:txBody>
      </p:sp>
      <p:sp>
        <p:nvSpPr>
          <p:cNvPr id="16" name="TextBox 15"/>
          <p:cNvSpPr txBox="1"/>
          <p:nvPr/>
        </p:nvSpPr>
        <p:spPr>
          <a:xfrm>
            <a:off x="7118604"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Use it when</a:t>
            </a:r>
          </a:p>
          <a:p>
            <a:pPr algn="l">
              <a:spcAft>
                <a:spcPts val="300"/>
              </a:spcAft>
            </a:pPr>
            <a:r>
              <a:rPr sz="1200" b="0">
                <a:solidFill>
                  <a:srgbClr val="5B6372"/>
                </a:solidFill>
                <a:latin typeface="Arial"/>
              </a:rPr>
              <a:t>Use when audiences need components and overall results.</a:t>
            </a:r>
          </a:p>
        </p:txBody>
      </p:sp>
      <p:sp>
        <p:nvSpPr>
          <p:cNvPr id="17" name="Rectangle 16"/>
          <p:cNvSpPr/>
          <p:nvPr/>
        </p:nvSpPr>
        <p:spPr>
          <a:xfrm>
            <a:off x="768096"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68096" y="4046220"/>
            <a:ext cx="82296" cy="206197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96695" y="4830318"/>
            <a:ext cx="493776" cy="49377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96695"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3</a:t>
            </a:r>
          </a:p>
        </p:txBody>
      </p:sp>
      <p:sp>
        <p:nvSpPr>
          <p:cNvPr id="21" name="TextBox 20"/>
          <p:cNvSpPr txBox="1"/>
          <p:nvPr/>
        </p:nvSpPr>
        <p:spPr>
          <a:xfrm>
            <a:off x="1664207"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Exam clue</a:t>
            </a:r>
          </a:p>
          <a:p>
            <a:pPr algn="l">
              <a:spcAft>
                <a:spcPts val="300"/>
              </a:spcAft>
            </a:pPr>
            <a:r>
              <a:rPr sz="1200" b="0">
                <a:solidFill>
                  <a:srgbClr val="5B6372"/>
                </a:solidFill>
                <a:latin typeface="Arial"/>
              </a:rPr>
              <a:t>Total All Using can change aggregation.</a:t>
            </a:r>
          </a:p>
        </p:txBody>
      </p:sp>
      <p:sp>
        <p:nvSpPr>
          <p:cNvPr id="22" name="Rectangle 21"/>
          <p:cNvSpPr/>
          <p:nvPr/>
        </p:nvSpPr>
        <p:spPr>
          <a:xfrm>
            <a:off x="6222492"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22492" y="4046220"/>
            <a:ext cx="82296" cy="206197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51092" y="4830318"/>
            <a:ext cx="493776" cy="49377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51092"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4</a:t>
            </a:r>
          </a:p>
        </p:txBody>
      </p:sp>
      <p:sp>
        <p:nvSpPr>
          <p:cNvPr id="26" name="TextBox 25"/>
          <p:cNvSpPr txBox="1"/>
          <p:nvPr/>
        </p:nvSpPr>
        <p:spPr>
          <a:xfrm>
            <a:off x="7118604"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Common pitfall</a:t>
            </a:r>
          </a:p>
          <a:p>
            <a:pPr algn="l">
              <a:spcAft>
                <a:spcPts val="300"/>
              </a:spcAft>
            </a:pPr>
            <a:r>
              <a:rPr sz="1200" b="0">
                <a:solidFill>
                  <a:srgbClr val="5B6372"/>
                </a:solidFill>
                <a:latin typeface="Arial"/>
              </a:rPr>
              <a:t>Summed ratios and percentages often create invalid totals.</a:t>
            </a:r>
          </a:p>
        </p:txBody>
      </p:sp>
      <p:sp>
        <p:nvSpPr>
          <p:cNvPr id="27" name="TextBox 26"/>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28" name="TextBox 27"/>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29" name="TextBox 28"/>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94</a:t>
            </a:r>
          </a:p>
        </p:txBody>
      </p:sp>
    </p:spTree>
  </p:cSld>
  <p:clrMapOvr>
    <a:masterClrMapping/>
  </p:clrMapOvr>
  <p:transition spd="fast">
    <p:fade/>
  </p:transition>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37744"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47472"/>
            <a:ext cx="10698480" cy="292608"/>
          </a:xfrm>
          <a:prstGeom prst="rect">
            <a:avLst/>
          </a:prstGeom>
          <a:noFill/>
        </p:spPr>
        <p:txBody>
          <a:bodyPr wrap="square" anchor="t" lIns="54864" rIns="54864" tIns="54864" bIns="54864">
            <a:spAutoFit/>
          </a:bodyPr>
          <a:lstStyle/>
          <a:p>
            <a:pPr algn="l">
              <a:spcAft>
                <a:spcPts val="300"/>
              </a:spcAft>
            </a:pPr>
            <a:r>
              <a:rPr sz="1200" b="1">
                <a:solidFill>
                  <a:srgbClr val="10B981"/>
                </a:solidFill>
                <a:latin typeface="Arial"/>
              </a:rPr>
              <a:t>LAB 04 · TOPIC 02 · OVERVIEW ONLY</a:t>
            </a:r>
          </a:p>
        </p:txBody>
      </p:sp>
      <p:sp>
        <p:nvSpPr>
          <p:cNvPr id="5" name="TextBox 4"/>
          <p:cNvSpPr txBox="1"/>
          <p:nvPr/>
        </p:nvSpPr>
        <p:spPr>
          <a:xfrm>
            <a:off x="749808" y="713232"/>
            <a:ext cx="10744200" cy="731520"/>
          </a:xfrm>
          <a:prstGeom prst="rect">
            <a:avLst/>
          </a:prstGeom>
          <a:noFill/>
        </p:spPr>
        <p:txBody>
          <a:bodyPr wrap="square" anchor="ctr" lIns="54864" rIns="54864" tIns="54864" bIns="54864">
            <a:spAutoFit/>
          </a:bodyPr>
          <a:lstStyle/>
          <a:p>
            <a:pPr algn="l">
              <a:spcAft>
                <a:spcPts val="300"/>
              </a:spcAft>
            </a:pPr>
            <a:r>
              <a:rPr sz="2700" b="1">
                <a:solidFill>
                  <a:srgbClr val="161B26"/>
                </a:solidFill>
                <a:latin typeface="Arial"/>
              </a:rPr>
              <a:t>Build the Core Tableau Chart Portfolio</a:t>
            </a:r>
          </a:p>
        </p:txBody>
      </p:sp>
      <p:sp>
        <p:nvSpPr>
          <p:cNvPr id="6" name="Rectangle 5"/>
          <p:cNvSpPr/>
          <p:nvPr/>
        </p:nvSpPr>
        <p:spPr>
          <a:xfrm>
            <a:off x="749808" y="1536192"/>
            <a:ext cx="106984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64792"/>
            <a:ext cx="10652760" cy="749808"/>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87552" y="1847088"/>
            <a:ext cx="10241280" cy="566928"/>
          </a:xfrm>
          <a:prstGeom prst="rect">
            <a:avLst/>
          </a:prstGeom>
          <a:noFill/>
        </p:spPr>
        <p:txBody>
          <a:bodyPr wrap="square" anchor="ctr" lIns="54864" rIns="54864" tIns="54864" bIns="54864">
            <a:spAutoFit/>
          </a:bodyPr>
          <a:lstStyle/>
          <a:p>
            <a:pPr algn="l">
              <a:spcAft>
                <a:spcPts val="300"/>
              </a:spcAft>
            </a:pPr>
            <a:r>
              <a:rPr sz="1400" b="0">
                <a:solidFill>
                  <a:srgbClr val="161B26"/>
                </a:solidFill>
                <a:latin typeface="Arial"/>
              </a:rPr>
              <a:t>A consumer-electronics team needs views for ranking, trend, relationship, geography, composition and precise lookup.</a:t>
            </a:r>
          </a:p>
        </p:txBody>
      </p:sp>
      <p:sp>
        <p:nvSpPr>
          <p:cNvPr id="9" name="Rectangle 8"/>
          <p:cNvSpPr/>
          <p:nvPr/>
        </p:nvSpPr>
        <p:spPr>
          <a:xfrm>
            <a:off x="777240" y="2788920"/>
            <a:ext cx="1998878" cy="11704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2788920"/>
            <a:ext cx="1998878"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2971800"/>
            <a:ext cx="1815998" cy="713232"/>
          </a:xfrm>
          <a:prstGeom prst="rect">
            <a:avLst/>
          </a:prstGeom>
          <a:noFill/>
        </p:spPr>
        <p:txBody>
          <a:bodyPr wrap="square" anchor="ctr" lIns="54864" rIns="54864" tIns="54864" bIns="54864">
            <a:spAutoFit/>
          </a:bodyPr>
          <a:lstStyle/>
          <a:p>
            <a:pPr algn="ctr">
              <a:spcAft>
                <a:spcPts val="300"/>
              </a:spcAft>
            </a:pPr>
            <a:r>
              <a:rPr sz="1250" b="1">
                <a:solidFill>
                  <a:srgbClr val="161B26"/>
                </a:solidFill>
                <a:latin typeface="Arial"/>
              </a:rPr>
              <a:t>1. Frame question</a:t>
            </a:r>
          </a:p>
        </p:txBody>
      </p:sp>
      <p:sp>
        <p:nvSpPr>
          <p:cNvPr id="12" name="Rectangle 11"/>
          <p:cNvSpPr/>
          <p:nvPr/>
        </p:nvSpPr>
        <p:spPr>
          <a:xfrm>
            <a:off x="2940710" y="2788920"/>
            <a:ext cx="1998878" cy="11704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940710" y="2788920"/>
            <a:ext cx="199887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032150" y="2971800"/>
            <a:ext cx="1815998" cy="713232"/>
          </a:xfrm>
          <a:prstGeom prst="rect">
            <a:avLst/>
          </a:prstGeom>
          <a:noFill/>
        </p:spPr>
        <p:txBody>
          <a:bodyPr wrap="square" anchor="ctr" lIns="54864" rIns="54864" tIns="54864" bIns="54864">
            <a:spAutoFit/>
          </a:bodyPr>
          <a:lstStyle/>
          <a:p>
            <a:pPr algn="ctr">
              <a:spcAft>
                <a:spcPts val="300"/>
              </a:spcAft>
            </a:pPr>
            <a:r>
              <a:rPr sz="1250" b="1">
                <a:solidFill>
                  <a:srgbClr val="161B26"/>
                </a:solidFill>
                <a:latin typeface="Arial"/>
              </a:rPr>
              <a:t>2. Choose chart</a:t>
            </a:r>
          </a:p>
        </p:txBody>
      </p:sp>
      <p:sp>
        <p:nvSpPr>
          <p:cNvPr id="15" name="Rectangle 14"/>
          <p:cNvSpPr/>
          <p:nvPr/>
        </p:nvSpPr>
        <p:spPr>
          <a:xfrm>
            <a:off x="5104180" y="2788920"/>
            <a:ext cx="1998878" cy="11704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104180" y="2788920"/>
            <a:ext cx="1998878"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195620" y="2971800"/>
            <a:ext cx="1815998" cy="713232"/>
          </a:xfrm>
          <a:prstGeom prst="rect">
            <a:avLst/>
          </a:prstGeom>
          <a:noFill/>
        </p:spPr>
        <p:txBody>
          <a:bodyPr wrap="square" anchor="ctr" lIns="54864" rIns="54864" tIns="54864" bIns="54864">
            <a:spAutoFit/>
          </a:bodyPr>
          <a:lstStyle/>
          <a:p>
            <a:pPr algn="ctr">
              <a:spcAft>
                <a:spcPts val="300"/>
              </a:spcAft>
            </a:pPr>
            <a:r>
              <a:rPr sz="1250" b="1">
                <a:solidFill>
                  <a:srgbClr val="161B26"/>
                </a:solidFill>
                <a:latin typeface="Arial"/>
              </a:rPr>
              <a:t>3. Build marks</a:t>
            </a:r>
          </a:p>
        </p:txBody>
      </p:sp>
      <p:sp>
        <p:nvSpPr>
          <p:cNvPr id="18" name="Rectangle 17"/>
          <p:cNvSpPr/>
          <p:nvPr/>
        </p:nvSpPr>
        <p:spPr>
          <a:xfrm>
            <a:off x="7267651" y="2788920"/>
            <a:ext cx="1998878" cy="11704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267651" y="2788920"/>
            <a:ext cx="1998878"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59091" y="2971800"/>
            <a:ext cx="1815998" cy="713232"/>
          </a:xfrm>
          <a:prstGeom prst="rect">
            <a:avLst/>
          </a:prstGeom>
          <a:noFill/>
        </p:spPr>
        <p:txBody>
          <a:bodyPr wrap="square" anchor="ctr" lIns="54864" rIns="54864" tIns="54864" bIns="54864">
            <a:spAutoFit/>
          </a:bodyPr>
          <a:lstStyle/>
          <a:p>
            <a:pPr algn="ctr">
              <a:spcAft>
                <a:spcPts val="300"/>
              </a:spcAft>
            </a:pPr>
            <a:r>
              <a:rPr sz="1250" b="1">
                <a:solidFill>
                  <a:srgbClr val="161B26"/>
                </a:solidFill>
                <a:latin typeface="Arial"/>
              </a:rPr>
              <a:t>4. Format honestly</a:t>
            </a:r>
          </a:p>
        </p:txBody>
      </p:sp>
      <p:sp>
        <p:nvSpPr>
          <p:cNvPr id="21" name="Rectangle 20"/>
          <p:cNvSpPr/>
          <p:nvPr/>
        </p:nvSpPr>
        <p:spPr>
          <a:xfrm>
            <a:off x="9431121" y="2788920"/>
            <a:ext cx="1998878" cy="11704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431121" y="2788920"/>
            <a:ext cx="1998878"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522561" y="2971800"/>
            <a:ext cx="1815998" cy="713232"/>
          </a:xfrm>
          <a:prstGeom prst="rect">
            <a:avLst/>
          </a:prstGeom>
          <a:noFill/>
        </p:spPr>
        <p:txBody>
          <a:bodyPr wrap="square" anchor="ctr" lIns="54864" rIns="54864" tIns="54864" bIns="54864">
            <a:spAutoFit/>
          </a:bodyPr>
          <a:lstStyle/>
          <a:p>
            <a:pPr algn="ctr">
              <a:spcAft>
                <a:spcPts val="300"/>
              </a:spcAft>
            </a:pPr>
            <a:r>
              <a:rPr sz="1250" b="1">
                <a:solidFill>
                  <a:srgbClr val="161B26"/>
                </a:solidFill>
                <a:latin typeface="Arial"/>
              </a:rPr>
              <a:t>5. Explain insight</a:t>
            </a:r>
          </a:p>
        </p:txBody>
      </p:sp>
      <p:sp>
        <p:nvSpPr>
          <p:cNvPr id="24" name="Rectangle 23"/>
          <p:cNvSpPr/>
          <p:nvPr/>
        </p:nvSpPr>
        <p:spPr>
          <a:xfrm>
            <a:off x="777240" y="4279392"/>
            <a:ext cx="10652760"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87552" y="4370832"/>
            <a:ext cx="10195560" cy="777240"/>
          </a:xfrm>
          <a:prstGeom prst="rect">
            <a:avLst/>
          </a:prstGeom>
          <a:noFill/>
        </p:spPr>
        <p:txBody>
          <a:bodyPr wrap="square" anchor="ctr" lIns="54864" rIns="54864" tIns="54864" bIns="54864">
            <a:spAutoFit/>
          </a:bodyPr>
          <a:lstStyle/>
          <a:p>
            <a:pPr algn="l">
              <a:spcAft>
                <a:spcPts val="300"/>
              </a:spcAft>
            </a:pPr>
            <a:r>
              <a:rPr sz="1100" b="1">
                <a:solidFill>
                  <a:srgbClr val="10B981"/>
                </a:solidFill>
                <a:latin typeface="Arial"/>
              </a:rPr>
              <a:t>OUTPUT  </a:t>
            </a:r>
            <a:r>
              <a:rPr sz="1300" b="0">
                <a:solidFill>
                  <a:srgbClr val="161B26"/>
                </a:solidFill>
                <a:latin typeface="Arial"/>
              </a:rPr>
              <a:t>Nine named worksheets: bar, line, scatterplot, symbol map, combined axis, dual axis, stacked bar, density map and highlight table</a:t>
            </a:r>
          </a:p>
        </p:txBody>
      </p:sp>
      <p:sp>
        <p:nvSpPr>
          <p:cNvPr id="26" name="TextBox 25"/>
          <p:cNvSpPr txBox="1"/>
          <p:nvPr/>
        </p:nvSpPr>
        <p:spPr>
          <a:xfrm>
            <a:off x="822960" y="5504688"/>
            <a:ext cx="10515600" cy="457200"/>
          </a:xfrm>
          <a:prstGeom prst="rect">
            <a:avLst/>
          </a:prstGeom>
          <a:noFill/>
        </p:spPr>
        <p:txBody>
          <a:bodyPr wrap="square" anchor="t" lIns="54864" rIns="54864" tIns="54864" bIns="54864">
            <a:spAutoFit/>
          </a:bodyPr>
          <a:lstStyle/>
          <a:p>
            <a:pPr algn="ctr">
              <a:spcAft>
                <a:spcPts val="300"/>
              </a:spcAft>
            </a:pPr>
            <a:r>
              <a:rPr sz="1100" b="0">
                <a:solidFill>
                  <a:srgbClr val="5B6372"/>
                </a:solidFill>
                <a:latin typeface="Arial"/>
              </a:rPr>
              <a:t>Detailed click-by-click procedure: Learner Guide and this lab folder · Tools: </a:t>
            </a:r>
            <a:r>
              <a:rPr sz="1100" b="1">
                <a:solidFill>
                  <a:srgbClr val="5B6372"/>
                </a:solidFill>
                <a:latin typeface="Arial"/>
              </a:rPr>
              <a:t>Tableau Desktop · Show Me · Rows/Columns · Marks · Measure Names/Values</a:t>
            </a:r>
          </a:p>
        </p:txBody>
      </p:sp>
      <p:sp>
        <p:nvSpPr>
          <p:cNvPr id="27" name="TextBox 26"/>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28" name="TextBox 27"/>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29" name="TextBox 28"/>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95</a:t>
            </a:r>
          </a:p>
        </p:txBody>
      </p:sp>
    </p:spTree>
  </p:cSld>
  <p:clrMapOvr>
    <a:masterClrMapping/>
  </p:clrMapOvr>
  <p:transition spd="fast">
    <p:fade/>
  </p:transition>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37744"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47472"/>
            <a:ext cx="10698480" cy="292608"/>
          </a:xfrm>
          <a:prstGeom prst="rect">
            <a:avLst/>
          </a:prstGeom>
          <a:noFill/>
        </p:spPr>
        <p:txBody>
          <a:bodyPr wrap="square" anchor="t" lIns="54864" rIns="54864" tIns="54864" bIns="54864">
            <a:spAutoFit/>
          </a:bodyPr>
          <a:lstStyle/>
          <a:p>
            <a:pPr algn="l">
              <a:spcAft>
                <a:spcPts val="300"/>
              </a:spcAft>
            </a:pPr>
            <a:r>
              <a:rPr sz="1200" b="1">
                <a:solidFill>
                  <a:srgbClr val="10B981"/>
                </a:solidFill>
                <a:latin typeface="Arial"/>
              </a:rPr>
              <a:t>VERIFY THE OUTCOME</a:t>
            </a:r>
          </a:p>
        </p:txBody>
      </p:sp>
      <p:sp>
        <p:nvSpPr>
          <p:cNvPr id="5" name="TextBox 4"/>
          <p:cNvSpPr txBox="1"/>
          <p:nvPr/>
        </p:nvSpPr>
        <p:spPr>
          <a:xfrm>
            <a:off x="749808" y="713232"/>
            <a:ext cx="10744200" cy="731520"/>
          </a:xfrm>
          <a:prstGeom prst="rect">
            <a:avLst/>
          </a:prstGeom>
          <a:noFill/>
        </p:spPr>
        <p:txBody>
          <a:bodyPr wrap="square" anchor="ctr" lIns="54864" rIns="54864" tIns="54864" bIns="54864">
            <a:spAutoFit/>
          </a:bodyPr>
          <a:lstStyle/>
          <a:p>
            <a:pPr algn="l">
              <a:spcAft>
                <a:spcPts val="300"/>
              </a:spcAft>
            </a:pPr>
            <a:r>
              <a:rPr sz="2700" b="1">
                <a:solidFill>
                  <a:srgbClr val="161B26"/>
                </a:solidFill>
                <a:latin typeface="Arial"/>
              </a:rPr>
              <a:t>Lab 04 — Acceptance Test</a:t>
            </a:r>
          </a:p>
        </p:txBody>
      </p:sp>
      <p:sp>
        <p:nvSpPr>
          <p:cNvPr id="6" name="Rectangle 5"/>
          <p:cNvSpPr/>
          <p:nvPr/>
        </p:nvSpPr>
        <p:spPr>
          <a:xfrm>
            <a:off x="749808" y="1536192"/>
            <a:ext cx="106984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965960"/>
            <a:ext cx="10652760" cy="228600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240280"/>
            <a:ext cx="9966960" cy="457200"/>
          </a:xfrm>
          <a:prstGeom prst="rect">
            <a:avLst/>
          </a:prstGeom>
          <a:noFill/>
        </p:spPr>
        <p:txBody>
          <a:bodyPr wrap="square" anchor="t" lIns="54864" rIns="54864" tIns="54864" bIns="54864">
            <a:spAutoFit/>
          </a:bodyPr>
          <a:lstStyle/>
          <a:p>
            <a:pPr algn="l">
              <a:spcAft>
                <a:spcPts val="300"/>
              </a:spcAft>
            </a:pPr>
            <a:r>
              <a:rPr sz="1900" b="1">
                <a:solidFill>
                  <a:srgbClr val="127A3E"/>
                </a:solidFill>
                <a:latin typeface="Arial"/>
              </a:rPr>
              <a:t>✓  Evidence standard</a:t>
            </a:r>
          </a:p>
        </p:txBody>
      </p:sp>
      <p:sp>
        <p:nvSpPr>
          <p:cNvPr id="9" name="TextBox 8"/>
          <p:cNvSpPr txBox="1"/>
          <p:nvPr/>
        </p:nvSpPr>
        <p:spPr>
          <a:xfrm>
            <a:off x="1097280" y="2880360"/>
            <a:ext cx="9875520" cy="1051560"/>
          </a:xfrm>
          <a:prstGeom prst="rect">
            <a:avLst/>
          </a:prstGeom>
          <a:noFill/>
        </p:spPr>
        <p:txBody>
          <a:bodyPr wrap="square" anchor="ctr" lIns="54864" rIns="54864" tIns="54864" bIns="54864">
            <a:spAutoFit/>
          </a:bodyPr>
          <a:lstStyle/>
          <a:p>
            <a:pPr algn="l">
              <a:spcAft>
                <a:spcPts val="300"/>
              </a:spcAft>
            </a:pPr>
            <a:r>
              <a:rPr sz="1600" b="0">
                <a:solidFill>
                  <a:srgbClr val="161B26"/>
                </a:solidFill>
                <a:latin typeface="Arial"/>
              </a:rPr>
              <a:t>All nine chart types are present, each matches its stated question, axes and units are honest, maps resolve locations, and each view has a concise evidence-based insight.</a:t>
            </a:r>
          </a:p>
        </p:txBody>
      </p:sp>
      <p:sp>
        <p:nvSpPr>
          <p:cNvPr id="10" name="TextBox 9"/>
          <p:cNvSpPr txBox="1"/>
          <p:nvPr/>
        </p:nvSpPr>
        <p:spPr>
          <a:xfrm>
            <a:off x="868680" y="4754880"/>
            <a:ext cx="10424160" cy="640080"/>
          </a:xfrm>
          <a:prstGeom prst="rect">
            <a:avLst/>
          </a:prstGeom>
          <a:noFill/>
        </p:spPr>
        <p:txBody>
          <a:bodyPr wrap="square" anchor="t" lIns="54864" rIns="54864" tIns="54864" bIns="54864">
            <a:spAutoFit/>
          </a:bodyPr>
          <a:lstStyle/>
          <a:p>
            <a:pPr algn="ctr">
              <a:spcAft>
                <a:spcPts val="300"/>
              </a:spcAft>
            </a:pPr>
            <a:r>
              <a:rPr sz="1300" b="0">
                <a:solidFill>
                  <a:srgbClr val="5B6372"/>
                </a:solidFill>
                <a:latin typeface="Arial"/>
              </a:rPr>
              <a:t>Submit the Tableau workbook, requested screenshots/exports and completed acceptance-checklist.md from the lab folder.</a:t>
            </a:r>
          </a:p>
        </p:txBody>
      </p:sp>
      <p:sp>
        <p:nvSpPr>
          <p:cNvPr id="11" name="TextBox 10"/>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12" name="TextBox 11"/>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13" name="TextBox 12"/>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96</a:t>
            </a:r>
          </a:p>
        </p:txBody>
      </p:sp>
    </p:spTree>
  </p:cSld>
  <p:clrMapOvr>
    <a:masterClrMapping/>
  </p:clrMapOvr>
  <p:transition spd="fast">
    <p:fade/>
  </p:transition>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37744"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47472"/>
            <a:ext cx="10698480" cy="292608"/>
          </a:xfrm>
          <a:prstGeom prst="rect">
            <a:avLst/>
          </a:prstGeom>
          <a:noFill/>
        </p:spPr>
        <p:txBody>
          <a:bodyPr wrap="square" anchor="t" lIns="54864" rIns="54864" tIns="54864" bIns="54864">
            <a:spAutoFit/>
          </a:bodyPr>
          <a:lstStyle/>
          <a:p>
            <a:pPr algn="l">
              <a:spcAft>
                <a:spcPts val="300"/>
              </a:spcAft>
            </a:pPr>
            <a:r>
              <a:rPr sz="1200" b="1">
                <a:solidFill>
                  <a:srgbClr val="10B981"/>
                </a:solidFill>
                <a:latin typeface="Arial"/>
              </a:rPr>
              <a:t>LAB 05 · TOPIC 02 · OVERVIEW ONLY</a:t>
            </a:r>
          </a:p>
        </p:txBody>
      </p:sp>
      <p:sp>
        <p:nvSpPr>
          <p:cNvPr id="5" name="TextBox 4"/>
          <p:cNvSpPr txBox="1"/>
          <p:nvPr/>
        </p:nvSpPr>
        <p:spPr>
          <a:xfrm>
            <a:off x="749808" y="713232"/>
            <a:ext cx="10744200" cy="731520"/>
          </a:xfrm>
          <a:prstGeom prst="rect">
            <a:avLst/>
          </a:prstGeom>
          <a:noFill/>
        </p:spPr>
        <p:txBody>
          <a:bodyPr wrap="square" anchor="ctr" lIns="54864" rIns="54864" tIns="54864" bIns="54864">
            <a:spAutoFit/>
          </a:bodyPr>
          <a:lstStyle/>
          <a:p>
            <a:pPr algn="l">
              <a:spcAft>
                <a:spcPts val="300"/>
              </a:spcAft>
            </a:pPr>
            <a:r>
              <a:rPr sz="2700" b="1">
                <a:solidFill>
                  <a:srgbClr val="161B26"/>
                </a:solidFill>
                <a:latin typeface="Arial"/>
              </a:rPr>
              <a:t>Create Groups, Sets, Hierarchies and Filters</a:t>
            </a:r>
          </a:p>
        </p:txBody>
      </p:sp>
      <p:sp>
        <p:nvSpPr>
          <p:cNvPr id="6" name="Rectangle 5"/>
          <p:cNvSpPr/>
          <p:nvPr/>
        </p:nvSpPr>
        <p:spPr>
          <a:xfrm>
            <a:off x="749808" y="1536192"/>
            <a:ext cx="106984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64792"/>
            <a:ext cx="10652760" cy="749808"/>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87552" y="1847088"/>
            <a:ext cx="10241280" cy="566928"/>
          </a:xfrm>
          <a:prstGeom prst="rect">
            <a:avLst/>
          </a:prstGeom>
          <a:noFill/>
        </p:spPr>
        <p:txBody>
          <a:bodyPr wrap="square" anchor="ctr" lIns="54864" rIns="54864" tIns="54864" bIns="54864">
            <a:spAutoFit/>
          </a:bodyPr>
          <a:lstStyle/>
          <a:p>
            <a:pPr algn="l">
              <a:spcAft>
                <a:spcPts val="300"/>
              </a:spcAft>
            </a:pPr>
            <a:r>
              <a:rPr sz="1400" b="0">
                <a:solidFill>
                  <a:srgbClr val="161B26"/>
                </a:solidFill>
                <a:latin typeface="Arial"/>
              </a:rPr>
              <a:t>HarbourLife Insurance needs a reusable segmentation view for advisers and portfolio managers.</a:t>
            </a:r>
          </a:p>
        </p:txBody>
      </p:sp>
      <p:sp>
        <p:nvSpPr>
          <p:cNvPr id="9" name="Rectangle 8"/>
          <p:cNvSpPr/>
          <p:nvPr/>
        </p:nvSpPr>
        <p:spPr>
          <a:xfrm>
            <a:off x="777240" y="2788920"/>
            <a:ext cx="1998878" cy="11704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2788920"/>
            <a:ext cx="1998878"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2971800"/>
            <a:ext cx="1815998" cy="713232"/>
          </a:xfrm>
          <a:prstGeom prst="rect">
            <a:avLst/>
          </a:prstGeom>
          <a:noFill/>
        </p:spPr>
        <p:txBody>
          <a:bodyPr wrap="square" anchor="ctr" lIns="54864" rIns="54864" tIns="54864" bIns="54864">
            <a:spAutoFit/>
          </a:bodyPr>
          <a:lstStyle/>
          <a:p>
            <a:pPr algn="ctr">
              <a:spcAft>
                <a:spcPts val="300"/>
              </a:spcAft>
            </a:pPr>
            <a:r>
              <a:rPr sz="1250" b="1">
                <a:solidFill>
                  <a:srgbClr val="161B26"/>
                </a:solidFill>
                <a:latin typeface="Arial"/>
              </a:rPr>
              <a:t>1. Group tiers</a:t>
            </a:r>
          </a:p>
        </p:txBody>
      </p:sp>
      <p:sp>
        <p:nvSpPr>
          <p:cNvPr id="12" name="Rectangle 11"/>
          <p:cNvSpPr/>
          <p:nvPr/>
        </p:nvSpPr>
        <p:spPr>
          <a:xfrm>
            <a:off x="2940710" y="2788920"/>
            <a:ext cx="1998878" cy="11704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940710" y="2788920"/>
            <a:ext cx="199887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032150" y="2971800"/>
            <a:ext cx="1815998" cy="713232"/>
          </a:xfrm>
          <a:prstGeom prst="rect">
            <a:avLst/>
          </a:prstGeom>
          <a:noFill/>
        </p:spPr>
        <p:txBody>
          <a:bodyPr wrap="square" anchor="ctr" lIns="54864" rIns="54864" tIns="54864" bIns="54864">
            <a:spAutoFit/>
          </a:bodyPr>
          <a:lstStyle/>
          <a:p>
            <a:pPr algn="ctr">
              <a:spcAft>
                <a:spcPts val="300"/>
              </a:spcAft>
            </a:pPr>
            <a:r>
              <a:rPr sz="1250" b="1">
                <a:solidFill>
                  <a:srgbClr val="161B26"/>
                </a:solidFill>
                <a:latin typeface="Arial"/>
              </a:rPr>
              <a:t>2. Define sets</a:t>
            </a:r>
          </a:p>
        </p:txBody>
      </p:sp>
      <p:sp>
        <p:nvSpPr>
          <p:cNvPr id="15" name="Rectangle 14"/>
          <p:cNvSpPr/>
          <p:nvPr/>
        </p:nvSpPr>
        <p:spPr>
          <a:xfrm>
            <a:off x="5104180" y="2788920"/>
            <a:ext cx="1998878" cy="11704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104180" y="2788920"/>
            <a:ext cx="1998878"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195620" y="2971800"/>
            <a:ext cx="1815998" cy="713232"/>
          </a:xfrm>
          <a:prstGeom prst="rect">
            <a:avLst/>
          </a:prstGeom>
          <a:noFill/>
        </p:spPr>
        <p:txBody>
          <a:bodyPr wrap="square" anchor="ctr" lIns="54864" rIns="54864" tIns="54864" bIns="54864">
            <a:spAutoFit/>
          </a:bodyPr>
          <a:lstStyle/>
          <a:p>
            <a:pPr algn="ctr">
              <a:spcAft>
                <a:spcPts val="300"/>
              </a:spcAft>
            </a:pPr>
            <a:r>
              <a:rPr sz="1250" b="1">
                <a:solidFill>
                  <a:srgbClr val="161B26"/>
                </a:solidFill>
                <a:latin typeface="Arial"/>
              </a:rPr>
              <a:t>3. Build hierarchy</a:t>
            </a:r>
          </a:p>
        </p:txBody>
      </p:sp>
      <p:sp>
        <p:nvSpPr>
          <p:cNvPr id="18" name="Rectangle 17"/>
          <p:cNvSpPr/>
          <p:nvPr/>
        </p:nvSpPr>
        <p:spPr>
          <a:xfrm>
            <a:off x="7267651" y="2788920"/>
            <a:ext cx="1998878" cy="11704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267651" y="2788920"/>
            <a:ext cx="1998878"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59091" y="2971800"/>
            <a:ext cx="1815998" cy="713232"/>
          </a:xfrm>
          <a:prstGeom prst="rect">
            <a:avLst/>
          </a:prstGeom>
          <a:noFill/>
        </p:spPr>
        <p:txBody>
          <a:bodyPr wrap="square" anchor="ctr" lIns="54864" rIns="54864" tIns="54864" bIns="54864">
            <a:spAutoFit/>
          </a:bodyPr>
          <a:lstStyle/>
          <a:p>
            <a:pPr algn="ctr">
              <a:spcAft>
                <a:spcPts val="300"/>
              </a:spcAft>
            </a:pPr>
            <a:r>
              <a:rPr sz="1250" b="1">
                <a:solidFill>
                  <a:srgbClr val="161B26"/>
                </a:solidFill>
                <a:latin typeface="Arial"/>
              </a:rPr>
              <a:t>4. Scope filters</a:t>
            </a:r>
          </a:p>
        </p:txBody>
      </p:sp>
      <p:sp>
        <p:nvSpPr>
          <p:cNvPr id="21" name="Rectangle 20"/>
          <p:cNvSpPr/>
          <p:nvPr/>
        </p:nvSpPr>
        <p:spPr>
          <a:xfrm>
            <a:off x="9431121" y="2788920"/>
            <a:ext cx="1998878" cy="11704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431121" y="2788920"/>
            <a:ext cx="1998878"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522561" y="2971800"/>
            <a:ext cx="1815998" cy="713232"/>
          </a:xfrm>
          <a:prstGeom prst="rect">
            <a:avLst/>
          </a:prstGeom>
          <a:noFill/>
        </p:spPr>
        <p:txBody>
          <a:bodyPr wrap="square" anchor="ctr" lIns="54864" rIns="54864" tIns="54864" bIns="54864">
            <a:spAutoFit/>
          </a:bodyPr>
          <a:lstStyle/>
          <a:p>
            <a:pPr algn="ctr">
              <a:spcAft>
                <a:spcPts val="300"/>
              </a:spcAft>
            </a:pPr>
            <a:r>
              <a:rPr sz="1250" b="1">
                <a:solidFill>
                  <a:srgbClr val="161B26"/>
                </a:solidFill>
                <a:latin typeface="Arial"/>
              </a:rPr>
              <a:t>5. Test order</a:t>
            </a:r>
          </a:p>
        </p:txBody>
      </p:sp>
      <p:sp>
        <p:nvSpPr>
          <p:cNvPr id="24" name="Rectangle 23"/>
          <p:cNvSpPr/>
          <p:nvPr/>
        </p:nvSpPr>
        <p:spPr>
          <a:xfrm>
            <a:off x="777240" y="4279392"/>
            <a:ext cx="10652760"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87552" y="4370832"/>
            <a:ext cx="10195560" cy="777240"/>
          </a:xfrm>
          <a:prstGeom prst="rect">
            <a:avLst/>
          </a:prstGeom>
          <a:noFill/>
        </p:spPr>
        <p:txBody>
          <a:bodyPr wrap="square" anchor="ctr" lIns="54864" rIns="54864" tIns="54864" bIns="54864">
            <a:spAutoFit/>
          </a:bodyPr>
          <a:lstStyle/>
          <a:p>
            <a:pPr algn="l">
              <a:spcAft>
                <a:spcPts val="300"/>
              </a:spcAft>
            </a:pPr>
            <a:r>
              <a:rPr sz="1100" b="1">
                <a:solidFill>
                  <a:srgbClr val="10B981"/>
                </a:solidFill>
                <a:latin typeface="Arial"/>
              </a:rPr>
              <a:t>OUTPUT  </a:t>
            </a:r>
            <a:r>
              <a:rPr sz="1300" b="0">
                <a:solidFill>
                  <a:srgbClr val="161B26"/>
                </a:solidFill>
                <a:latin typeface="Arial"/>
              </a:rPr>
              <a:t>Customer tier groups, Top-N and threshold sets, drill hierarchy, context filter and relative date controls</a:t>
            </a:r>
          </a:p>
        </p:txBody>
      </p:sp>
      <p:sp>
        <p:nvSpPr>
          <p:cNvPr id="26" name="TextBox 25"/>
          <p:cNvSpPr txBox="1"/>
          <p:nvPr/>
        </p:nvSpPr>
        <p:spPr>
          <a:xfrm>
            <a:off x="822960" y="5504688"/>
            <a:ext cx="10515600" cy="457200"/>
          </a:xfrm>
          <a:prstGeom prst="rect">
            <a:avLst/>
          </a:prstGeom>
          <a:noFill/>
        </p:spPr>
        <p:txBody>
          <a:bodyPr wrap="square" anchor="t" lIns="54864" rIns="54864" tIns="54864" bIns="54864">
            <a:spAutoFit/>
          </a:bodyPr>
          <a:lstStyle/>
          <a:p>
            <a:pPr algn="ctr">
              <a:spcAft>
                <a:spcPts val="300"/>
              </a:spcAft>
            </a:pPr>
            <a:r>
              <a:rPr sz="1100" b="0">
                <a:solidFill>
                  <a:srgbClr val="5B6372"/>
                </a:solidFill>
                <a:latin typeface="Arial"/>
              </a:rPr>
              <a:t>Detailed click-by-click procedure: Learner Guide and this lab folder · Tools: </a:t>
            </a:r>
            <a:r>
              <a:rPr sz="1100" b="1">
                <a:solidFill>
                  <a:srgbClr val="5B6372"/>
                </a:solidFill>
                <a:latin typeface="Arial"/>
              </a:rPr>
              <a:t>Tableau Desktop · groups · sets · hierarchy · context · date filters</a:t>
            </a:r>
          </a:p>
        </p:txBody>
      </p:sp>
      <p:sp>
        <p:nvSpPr>
          <p:cNvPr id="27" name="TextBox 26"/>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28" name="TextBox 27"/>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29" name="TextBox 28"/>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97</a:t>
            </a:r>
          </a:p>
        </p:txBody>
      </p:sp>
    </p:spTree>
  </p:cSld>
  <p:clrMapOvr>
    <a:masterClrMapping/>
  </p:clrMapOvr>
  <p:transition spd="fast">
    <p:fade/>
  </p:transition>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37744"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47472"/>
            <a:ext cx="10698480" cy="292608"/>
          </a:xfrm>
          <a:prstGeom prst="rect">
            <a:avLst/>
          </a:prstGeom>
          <a:noFill/>
        </p:spPr>
        <p:txBody>
          <a:bodyPr wrap="square" anchor="t" lIns="54864" rIns="54864" tIns="54864" bIns="54864">
            <a:spAutoFit/>
          </a:bodyPr>
          <a:lstStyle/>
          <a:p>
            <a:pPr algn="l">
              <a:spcAft>
                <a:spcPts val="300"/>
              </a:spcAft>
            </a:pPr>
            <a:r>
              <a:rPr sz="1200" b="1">
                <a:solidFill>
                  <a:srgbClr val="10B981"/>
                </a:solidFill>
                <a:latin typeface="Arial"/>
              </a:rPr>
              <a:t>VERIFY THE OUTCOME</a:t>
            </a:r>
          </a:p>
        </p:txBody>
      </p:sp>
      <p:sp>
        <p:nvSpPr>
          <p:cNvPr id="5" name="TextBox 4"/>
          <p:cNvSpPr txBox="1"/>
          <p:nvPr/>
        </p:nvSpPr>
        <p:spPr>
          <a:xfrm>
            <a:off x="749808" y="713232"/>
            <a:ext cx="10744200" cy="731520"/>
          </a:xfrm>
          <a:prstGeom prst="rect">
            <a:avLst/>
          </a:prstGeom>
          <a:noFill/>
        </p:spPr>
        <p:txBody>
          <a:bodyPr wrap="square" anchor="ctr" lIns="54864" rIns="54864" tIns="54864" bIns="54864">
            <a:spAutoFit/>
          </a:bodyPr>
          <a:lstStyle/>
          <a:p>
            <a:pPr algn="l">
              <a:spcAft>
                <a:spcPts val="300"/>
              </a:spcAft>
            </a:pPr>
            <a:r>
              <a:rPr sz="2700" b="1">
                <a:solidFill>
                  <a:srgbClr val="161B26"/>
                </a:solidFill>
                <a:latin typeface="Arial"/>
              </a:rPr>
              <a:t>Lab 05 — Acceptance Test</a:t>
            </a:r>
          </a:p>
        </p:txBody>
      </p:sp>
      <p:sp>
        <p:nvSpPr>
          <p:cNvPr id="6" name="Rectangle 5"/>
          <p:cNvSpPr/>
          <p:nvPr/>
        </p:nvSpPr>
        <p:spPr>
          <a:xfrm>
            <a:off x="749808" y="1536192"/>
            <a:ext cx="106984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965960"/>
            <a:ext cx="10652760" cy="228600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240280"/>
            <a:ext cx="9966960" cy="457200"/>
          </a:xfrm>
          <a:prstGeom prst="rect">
            <a:avLst/>
          </a:prstGeom>
          <a:noFill/>
        </p:spPr>
        <p:txBody>
          <a:bodyPr wrap="square" anchor="t" lIns="54864" rIns="54864" tIns="54864" bIns="54864">
            <a:spAutoFit/>
          </a:bodyPr>
          <a:lstStyle/>
          <a:p>
            <a:pPr algn="l">
              <a:spcAft>
                <a:spcPts val="300"/>
              </a:spcAft>
            </a:pPr>
            <a:r>
              <a:rPr sz="1900" b="1">
                <a:solidFill>
                  <a:srgbClr val="127A3E"/>
                </a:solidFill>
                <a:latin typeface="Arial"/>
              </a:rPr>
              <a:t>✓  Evidence standard</a:t>
            </a:r>
          </a:p>
        </p:txBody>
      </p:sp>
      <p:sp>
        <p:nvSpPr>
          <p:cNvPr id="9" name="TextBox 8"/>
          <p:cNvSpPr txBox="1"/>
          <p:nvPr/>
        </p:nvSpPr>
        <p:spPr>
          <a:xfrm>
            <a:off x="1097280" y="2880360"/>
            <a:ext cx="9875520" cy="1051560"/>
          </a:xfrm>
          <a:prstGeom prst="rect">
            <a:avLst/>
          </a:prstGeom>
          <a:noFill/>
        </p:spPr>
        <p:txBody>
          <a:bodyPr wrap="square" anchor="ctr" lIns="54864" rIns="54864" tIns="54864" bIns="54864">
            <a:spAutoFit/>
          </a:bodyPr>
          <a:lstStyle/>
          <a:p>
            <a:pPr algn="l">
              <a:spcAft>
                <a:spcPts val="300"/>
              </a:spcAft>
            </a:pPr>
            <a:r>
              <a:rPr sz="1600" b="0">
                <a:solidFill>
                  <a:srgbClr val="161B26"/>
                </a:solidFill>
                <a:latin typeface="Arial"/>
              </a:rPr>
              <a:t>The two hierarchies drill correctly, sets produce expected membership, relative dates use the reporting date, and the learner can explain how context changes Top-N evaluation.</a:t>
            </a:r>
          </a:p>
        </p:txBody>
      </p:sp>
      <p:sp>
        <p:nvSpPr>
          <p:cNvPr id="10" name="TextBox 9"/>
          <p:cNvSpPr txBox="1"/>
          <p:nvPr/>
        </p:nvSpPr>
        <p:spPr>
          <a:xfrm>
            <a:off x="868680" y="4754880"/>
            <a:ext cx="10424160" cy="640080"/>
          </a:xfrm>
          <a:prstGeom prst="rect">
            <a:avLst/>
          </a:prstGeom>
          <a:noFill/>
        </p:spPr>
        <p:txBody>
          <a:bodyPr wrap="square" anchor="t" lIns="54864" rIns="54864" tIns="54864" bIns="54864">
            <a:spAutoFit/>
          </a:bodyPr>
          <a:lstStyle/>
          <a:p>
            <a:pPr algn="ctr">
              <a:spcAft>
                <a:spcPts val="300"/>
              </a:spcAft>
            </a:pPr>
            <a:r>
              <a:rPr sz="1300" b="0">
                <a:solidFill>
                  <a:srgbClr val="5B6372"/>
                </a:solidFill>
                <a:latin typeface="Arial"/>
              </a:rPr>
              <a:t>Submit the Tableau workbook, requested screenshots/exports and completed acceptance-checklist.md from the lab folder.</a:t>
            </a:r>
          </a:p>
        </p:txBody>
      </p:sp>
      <p:sp>
        <p:nvSpPr>
          <p:cNvPr id="11" name="TextBox 10"/>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12" name="TextBox 11"/>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13" name="TextBox 12"/>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98</a:t>
            </a:r>
          </a:p>
        </p:txBody>
      </p:sp>
    </p:spTree>
  </p:cSld>
  <p:clrMapOvr>
    <a:masterClrMapping/>
  </p:clrMapOvr>
  <p:transition spd="fast">
    <p:fade/>
  </p:transition>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37744"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47472"/>
            <a:ext cx="10698480" cy="292608"/>
          </a:xfrm>
          <a:prstGeom prst="rect">
            <a:avLst/>
          </a:prstGeom>
          <a:noFill/>
        </p:spPr>
        <p:txBody>
          <a:bodyPr wrap="square" anchor="t" lIns="54864" rIns="54864" tIns="54864" bIns="54864">
            <a:spAutoFit/>
          </a:bodyPr>
          <a:lstStyle/>
          <a:p>
            <a:pPr algn="l">
              <a:spcAft>
                <a:spcPts val="300"/>
              </a:spcAft>
            </a:pPr>
            <a:r>
              <a:rPr sz="1200" b="1">
                <a:solidFill>
                  <a:srgbClr val="10B981"/>
                </a:solidFill>
                <a:latin typeface="Arial"/>
              </a:rPr>
              <a:t>LAB 06 · TOPIC 02 · OVERVIEW ONLY</a:t>
            </a:r>
          </a:p>
        </p:txBody>
      </p:sp>
      <p:sp>
        <p:nvSpPr>
          <p:cNvPr id="5" name="TextBox 4"/>
          <p:cNvSpPr txBox="1"/>
          <p:nvPr/>
        </p:nvSpPr>
        <p:spPr>
          <a:xfrm>
            <a:off x="749808" y="713232"/>
            <a:ext cx="10744200" cy="731520"/>
          </a:xfrm>
          <a:prstGeom prst="rect">
            <a:avLst/>
          </a:prstGeom>
          <a:noFill/>
        </p:spPr>
        <p:txBody>
          <a:bodyPr wrap="square" anchor="ctr" lIns="54864" rIns="54864" tIns="54864" bIns="54864">
            <a:spAutoFit/>
          </a:bodyPr>
          <a:lstStyle/>
          <a:p>
            <a:pPr algn="l">
              <a:spcAft>
                <a:spcPts val="300"/>
              </a:spcAft>
            </a:pPr>
            <a:r>
              <a:rPr sz="2700" b="1">
                <a:solidFill>
                  <a:srgbClr val="161B26"/>
                </a:solidFill>
                <a:latin typeface="Arial"/>
              </a:rPr>
              <a:t>Apply Calculations, Table Calculations and Parameters</a:t>
            </a:r>
          </a:p>
        </p:txBody>
      </p:sp>
      <p:sp>
        <p:nvSpPr>
          <p:cNvPr id="6" name="Rectangle 5"/>
          <p:cNvSpPr/>
          <p:nvPr/>
        </p:nvSpPr>
        <p:spPr>
          <a:xfrm>
            <a:off x="749808" y="1536192"/>
            <a:ext cx="106984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64792"/>
            <a:ext cx="10652760" cy="749808"/>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87552" y="1847088"/>
            <a:ext cx="10241280" cy="566928"/>
          </a:xfrm>
          <a:prstGeom prst="rect">
            <a:avLst/>
          </a:prstGeom>
          <a:noFill/>
        </p:spPr>
        <p:txBody>
          <a:bodyPr wrap="square" anchor="ctr" lIns="54864" rIns="54864" tIns="54864" bIns="54864">
            <a:spAutoFit/>
          </a:bodyPr>
          <a:lstStyle/>
          <a:p>
            <a:pPr algn="l">
              <a:spcAft>
                <a:spcPts val="300"/>
              </a:spcAft>
            </a:pPr>
            <a:r>
              <a:rPr sz="1400" b="0">
                <a:solidFill>
                  <a:srgbClr val="161B26"/>
                </a:solidFill>
                <a:latin typeface="Arial"/>
              </a:rPr>
              <a:t>Crescent Hospitality wants profitability, occupancy and performance trends with user-controlled thresholds.</a:t>
            </a:r>
          </a:p>
        </p:txBody>
      </p:sp>
      <p:sp>
        <p:nvSpPr>
          <p:cNvPr id="9" name="Rectangle 8"/>
          <p:cNvSpPr/>
          <p:nvPr/>
        </p:nvSpPr>
        <p:spPr>
          <a:xfrm>
            <a:off x="777240" y="2788920"/>
            <a:ext cx="1998878" cy="11704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2788920"/>
            <a:ext cx="1998878"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2971800"/>
            <a:ext cx="1815998" cy="713232"/>
          </a:xfrm>
          <a:prstGeom prst="rect">
            <a:avLst/>
          </a:prstGeom>
          <a:noFill/>
        </p:spPr>
        <p:txBody>
          <a:bodyPr wrap="square" anchor="ctr" lIns="54864" rIns="54864" tIns="54864" bIns="54864">
            <a:spAutoFit/>
          </a:bodyPr>
          <a:lstStyle/>
          <a:p>
            <a:pPr algn="ctr">
              <a:spcAft>
                <a:spcPts val="300"/>
              </a:spcAft>
            </a:pPr>
            <a:r>
              <a:rPr sz="1250" b="1">
                <a:solidFill>
                  <a:srgbClr val="161B26"/>
                </a:solidFill>
                <a:latin typeface="Arial"/>
              </a:rPr>
              <a:t>1. Define grain</a:t>
            </a:r>
          </a:p>
        </p:txBody>
      </p:sp>
      <p:sp>
        <p:nvSpPr>
          <p:cNvPr id="12" name="Rectangle 11"/>
          <p:cNvSpPr/>
          <p:nvPr/>
        </p:nvSpPr>
        <p:spPr>
          <a:xfrm>
            <a:off x="2940710" y="2788920"/>
            <a:ext cx="1998878" cy="11704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940710" y="2788920"/>
            <a:ext cx="199887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032150" y="2971800"/>
            <a:ext cx="1815998" cy="713232"/>
          </a:xfrm>
          <a:prstGeom prst="rect">
            <a:avLst/>
          </a:prstGeom>
          <a:noFill/>
        </p:spPr>
        <p:txBody>
          <a:bodyPr wrap="square" anchor="ctr" lIns="54864" rIns="54864" tIns="54864" bIns="54864">
            <a:spAutoFit/>
          </a:bodyPr>
          <a:lstStyle/>
          <a:p>
            <a:pPr algn="ctr">
              <a:spcAft>
                <a:spcPts val="300"/>
              </a:spcAft>
            </a:pPr>
            <a:r>
              <a:rPr sz="1250" b="1">
                <a:solidFill>
                  <a:srgbClr val="161B26"/>
                </a:solidFill>
                <a:latin typeface="Arial"/>
              </a:rPr>
              <a:t>2. Write calc</a:t>
            </a:r>
          </a:p>
        </p:txBody>
      </p:sp>
      <p:sp>
        <p:nvSpPr>
          <p:cNvPr id="15" name="Rectangle 14"/>
          <p:cNvSpPr/>
          <p:nvPr/>
        </p:nvSpPr>
        <p:spPr>
          <a:xfrm>
            <a:off x="5104180" y="2788920"/>
            <a:ext cx="1998878" cy="11704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104180" y="2788920"/>
            <a:ext cx="1998878"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195620" y="2971800"/>
            <a:ext cx="1815998" cy="713232"/>
          </a:xfrm>
          <a:prstGeom prst="rect">
            <a:avLst/>
          </a:prstGeom>
          <a:noFill/>
        </p:spPr>
        <p:txBody>
          <a:bodyPr wrap="square" anchor="ctr" lIns="54864" rIns="54864" tIns="54864" bIns="54864">
            <a:spAutoFit/>
          </a:bodyPr>
          <a:lstStyle/>
          <a:p>
            <a:pPr algn="ctr">
              <a:spcAft>
                <a:spcPts val="300"/>
              </a:spcAft>
            </a:pPr>
            <a:r>
              <a:rPr sz="1250" b="1">
                <a:solidFill>
                  <a:srgbClr val="161B26"/>
                </a:solidFill>
                <a:latin typeface="Arial"/>
              </a:rPr>
              <a:t>3. Set compute</a:t>
            </a:r>
          </a:p>
        </p:txBody>
      </p:sp>
      <p:sp>
        <p:nvSpPr>
          <p:cNvPr id="18" name="Rectangle 17"/>
          <p:cNvSpPr/>
          <p:nvPr/>
        </p:nvSpPr>
        <p:spPr>
          <a:xfrm>
            <a:off x="7267651" y="2788920"/>
            <a:ext cx="1998878" cy="11704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267651" y="2788920"/>
            <a:ext cx="1998878"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59091" y="2971800"/>
            <a:ext cx="1815998" cy="713232"/>
          </a:xfrm>
          <a:prstGeom prst="rect">
            <a:avLst/>
          </a:prstGeom>
          <a:noFill/>
        </p:spPr>
        <p:txBody>
          <a:bodyPr wrap="square" anchor="ctr" lIns="54864" rIns="54864" tIns="54864" bIns="54864">
            <a:spAutoFit/>
          </a:bodyPr>
          <a:lstStyle/>
          <a:p>
            <a:pPr algn="ctr">
              <a:spcAft>
                <a:spcPts val="300"/>
              </a:spcAft>
            </a:pPr>
            <a:r>
              <a:rPr sz="1250" b="1">
                <a:solidFill>
                  <a:srgbClr val="161B26"/>
                </a:solidFill>
                <a:latin typeface="Arial"/>
              </a:rPr>
              <a:t>4. Add parameter</a:t>
            </a:r>
          </a:p>
        </p:txBody>
      </p:sp>
      <p:sp>
        <p:nvSpPr>
          <p:cNvPr id="21" name="Rectangle 20"/>
          <p:cNvSpPr/>
          <p:nvPr/>
        </p:nvSpPr>
        <p:spPr>
          <a:xfrm>
            <a:off x="9431121" y="2788920"/>
            <a:ext cx="1998878" cy="11704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431121" y="2788920"/>
            <a:ext cx="1998878"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522561" y="2971800"/>
            <a:ext cx="1815998" cy="713232"/>
          </a:xfrm>
          <a:prstGeom prst="rect">
            <a:avLst/>
          </a:prstGeom>
          <a:noFill/>
        </p:spPr>
        <p:txBody>
          <a:bodyPr wrap="square" anchor="ctr" lIns="54864" rIns="54864" tIns="54864" bIns="54864">
            <a:spAutoFit/>
          </a:bodyPr>
          <a:lstStyle/>
          <a:p>
            <a:pPr algn="ctr">
              <a:spcAft>
                <a:spcPts val="300"/>
              </a:spcAft>
            </a:pPr>
            <a:r>
              <a:rPr sz="1250" b="1">
                <a:solidFill>
                  <a:srgbClr val="161B26"/>
                </a:solidFill>
                <a:latin typeface="Arial"/>
              </a:rPr>
              <a:t>5. Validate totals</a:t>
            </a:r>
          </a:p>
        </p:txBody>
      </p:sp>
      <p:sp>
        <p:nvSpPr>
          <p:cNvPr id="24" name="Rectangle 23"/>
          <p:cNvSpPr/>
          <p:nvPr/>
        </p:nvSpPr>
        <p:spPr>
          <a:xfrm>
            <a:off x="777240" y="4279392"/>
            <a:ext cx="10652760"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87552" y="4370832"/>
            <a:ext cx="10195560" cy="777240"/>
          </a:xfrm>
          <a:prstGeom prst="rect">
            <a:avLst/>
          </a:prstGeom>
          <a:noFill/>
        </p:spPr>
        <p:txBody>
          <a:bodyPr wrap="square" anchor="ctr" lIns="54864" rIns="54864" tIns="54864" bIns="54864">
            <a:spAutoFit/>
          </a:bodyPr>
          <a:lstStyle/>
          <a:p>
            <a:pPr algn="l">
              <a:spcAft>
                <a:spcPts val="300"/>
              </a:spcAft>
            </a:pPr>
            <a:r>
              <a:rPr sz="1100" b="1">
                <a:solidFill>
                  <a:srgbClr val="10B981"/>
                </a:solidFill>
                <a:latin typeface="Arial"/>
              </a:rPr>
              <a:t>OUTPUT  </a:t>
            </a:r>
            <a:r>
              <a:rPr sz="1300" b="0">
                <a:solidFill>
                  <a:srgbClr val="161B26"/>
                </a:solidFill>
                <a:latin typeface="Arial"/>
              </a:rPr>
              <a:t>Calculated KPIs, running totals, percent-of-total, moving average, reference line and parameter-driven measure swap</a:t>
            </a:r>
          </a:p>
        </p:txBody>
      </p:sp>
      <p:sp>
        <p:nvSpPr>
          <p:cNvPr id="26" name="TextBox 25"/>
          <p:cNvSpPr txBox="1"/>
          <p:nvPr/>
        </p:nvSpPr>
        <p:spPr>
          <a:xfrm>
            <a:off x="822960" y="5504688"/>
            <a:ext cx="10515600" cy="457200"/>
          </a:xfrm>
          <a:prstGeom prst="rect">
            <a:avLst/>
          </a:prstGeom>
          <a:noFill/>
        </p:spPr>
        <p:txBody>
          <a:bodyPr wrap="square" anchor="t" lIns="54864" rIns="54864" tIns="54864" bIns="54864">
            <a:spAutoFit/>
          </a:bodyPr>
          <a:lstStyle/>
          <a:p>
            <a:pPr algn="ctr">
              <a:spcAft>
                <a:spcPts val="300"/>
              </a:spcAft>
            </a:pPr>
            <a:r>
              <a:rPr sz="1100" b="0">
                <a:solidFill>
                  <a:srgbClr val="5B6372"/>
                </a:solidFill>
                <a:latin typeface="Arial"/>
              </a:rPr>
              <a:t>Detailed click-by-click procedure: Learner Guide and this lab folder · Tools: </a:t>
            </a:r>
            <a:r>
              <a:rPr sz="1100" b="1">
                <a:solidFill>
                  <a:srgbClr val="5B6372"/>
                </a:solidFill>
                <a:latin typeface="Arial"/>
              </a:rPr>
              <a:t>Tableau Desktop · calculated fields · table calculations · parameters · reference lines · totals</a:t>
            </a:r>
          </a:p>
        </p:txBody>
      </p:sp>
      <p:sp>
        <p:nvSpPr>
          <p:cNvPr id="27" name="TextBox 26"/>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28" name="TextBox 27"/>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29" name="TextBox 28"/>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99</a:t>
            </a:r>
          </a:p>
        </p:txBody>
      </p:sp>
    </p:spTree>
  </p:cSld>
  <p:clrMapOvr>
    <a:masterClrMapping/>
  </p:clrMapOvr>
  <p:transition spd="fast">
    <p:fade/>
  </p:transition>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37744"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47472"/>
            <a:ext cx="10698480" cy="292608"/>
          </a:xfrm>
          <a:prstGeom prst="rect">
            <a:avLst/>
          </a:prstGeom>
          <a:noFill/>
        </p:spPr>
        <p:txBody>
          <a:bodyPr wrap="square" anchor="t" lIns="54864" rIns="54864" tIns="54864" bIns="54864">
            <a:spAutoFit/>
          </a:bodyPr>
          <a:lstStyle/>
          <a:p>
            <a:pPr algn="l">
              <a:spcAft>
                <a:spcPts val="300"/>
              </a:spcAft>
            </a:pPr>
            <a:r>
              <a:rPr sz="1200" b="1">
                <a:solidFill>
                  <a:srgbClr val="10B981"/>
                </a:solidFill>
                <a:latin typeface="Arial"/>
              </a:rPr>
              <a:t>VERIFY THE OUTCOME</a:t>
            </a:r>
          </a:p>
        </p:txBody>
      </p:sp>
      <p:sp>
        <p:nvSpPr>
          <p:cNvPr id="5" name="TextBox 4"/>
          <p:cNvSpPr txBox="1"/>
          <p:nvPr/>
        </p:nvSpPr>
        <p:spPr>
          <a:xfrm>
            <a:off x="749808" y="713232"/>
            <a:ext cx="10744200" cy="731520"/>
          </a:xfrm>
          <a:prstGeom prst="rect">
            <a:avLst/>
          </a:prstGeom>
          <a:noFill/>
        </p:spPr>
        <p:txBody>
          <a:bodyPr wrap="square" anchor="ctr" lIns="54864" rIns="54864" tIns="54864" bIns="54864">
            <a:spAutoFit/>
          </a:bodyPr>
          <a:lstStyle/>
          <a:p>
            <a:pPr algn="l">
              <a:spcAft>
                <a:spcPts val="300"/>
              </a:spcAft>
            </a:pPr>
            <a:r>
              <a:rPr sz="2700" b="1">
                <a:solidFill>
                  <a:srgbClr val="161B26"/>
                </a:solidFill>
                <a:latin typeface="Arial"/>
              </a:rPr>
              <a:t>Lab 06 — Acceptance Test</a:t>
            </a:r>
          </a:p>
        </p:txBody>
      </p:sp>
      <p:sp>
        <p:nvSpPr>
          <p:cNvPr id="6" name="Rectangle 5"/>
          <p:cNvSpPr/>
          <p:nvPr/>
        </p:nvSpPr>
        <p:spPr>
          <a:xfrm>
            <a:off x="749808" y="1536192"/>
            <a:ext cx="106984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965960"/>
            <a:ext cx="10652760" cy="228600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240280"/>
            <a:ext cx="9966960" cy="457200"/>
          </a:xfrm>
          <a:prstGeom prst="rect">
            <a:avLst/>
          </a:prstGeom>
          <a:noFill/>
        </p:spPr>
        <p:txBody>
          <a:bodyPr wrap="square" anchor="t" lIns="54864" rIns="54864" tIns="54864" bIns="54864">
            <a:spAutoFit/>
          </a:bodyPr>
          <a:lstStyle/>
          <a:p>
            <a:pPr algn="l">
              <a:spcAft>
                <a:spcPts val="300"/>
              </a:spcAft>
            </a:pPr>
            <a:r>
              <a:rPr sz="1900" b="1">
                <a:solidFill>
                  <a:srgbClr val="127A3E"/>
                </a:solidFill>
                <a:latin typeface="Arial"/>
              </a:rPr>
              <a:t>✓  Evidence standard</a:t>
            </a:r>
          </a:p>
        </p:txBody>
      </p:sp>
      <p:sp>
        <p:nvSpPr>
          <p:cNvPr id="9" name="TextBox 8"/>
          <p:cNvSpPr txBox="1"/>
          <p:nvPr/>
        </p:nvSpPr>
        <p:spPr>
          <a:xfrm>
            <a:off x="1097280" y="2880360"/>
            <a:ext cx="9875520" cy="1051560"/>
          </a:xfrm>
          <a:prstGeom prst="rect">
            <a:avLst/>
          </a:prstGeom>
          <a:noFill/>
        </p:spPr>
        <p:txBody>
          <a:bodyPr wrap="square" anchor="ctr" lIns="54864" rIns="54864" tIns="54864" bIns="54864">
            <a:spAutoFit/>
          </a:bodyPr>
          <a:lstStyle/>
          <a:p>
            <a:pPr algn="l">
              <a:spcAft>
                <a:spcPts val="300"/>
              </a:spcAft>
            </a:pPr>
            <a:r>
              <a:rPr sz="1600" b="0">
                <a:solidFill>
                  <a:srgbClr val="161B26"/>
                </a:solidFill>
                <a:latin typeface="Arial"/>
              </a:rPr>
              <a:t>Calculations match the Control sheet, table calculations keep intended addressing/partitioning, parameters affect the view, and totals use mathematically valid logic.</a:t>
            </a:r>
          </a:p>
        </p:txBody>
      </p:sp>
      <p:sp>
        <p:nvSpPr>
          <p:cNvPr id="10" name="TextBox 9"/>
          <p:cNvSpPr txBox="1"/>
          <p:nvPr/>
        </p:nvSpPr>
        <p:spPr>
          <a:xfrm>
            <a:off x="868680" y="4754880"/>
            <a:ext cx="10424160" cy="640080"/>
          </a:xfrm>
          <a:prstGeom prst="rect">
            <a:avLst/>
          </a:prstGeom>
          <a:noFill/>
        </p:spPr>
        <p:txBody>
          <a:bodyPr wrap="square" anchor="t" lIns="54864" rIns="54864" tIns="54864" bIns="54864">
            <a:spAutoFit/>
          </a:bodyPr>
          <a:lstStyle/>
          <a:p>
            <a:pPr algn="ctr">
              <a:spcAft>
                <a:spcPts val="300"/>
              </a:spcAft>
            </a:pPr>
            <a:r>
              <a:rPr sz="1300" b="0">
                <a:solidFill>
                  <a:srgbClr val="5B6372"/>
                </a:solidFill>
                <a:latin typeface="Arial"/>
              </a:rPr>
              <a:t>Submit the Tableau workbook, requested screenshots/exports and completed acceptance-checklist.md from the lab folder.</a:t>
            </a:r>
          </a:p>
        </p:txBody>
      </p:sp>
      <p:sp>
        <p:nvSpPr>
          <p:cNvPr id="11" name="TextBox 10"/>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12" name="TextBox 11"/>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13" name="TextBox 12"/>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100</a:t>
            </a:r>
          </a:p>
        </p:txBody>
      </p:sp>
    </p:spTree>
  </p:cSld>
  <p:clrMapOvr>
    <a:masterClrMapping/>
  </p:clrMapOvr>
  <p:transition spd="fast">
    <p:fade/>
  </p:transition>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37744"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47472"/>
            <a:ext cx="10698480" cy="292608"/>
          </a:xfrm>
          <a:prstGeom prst="rect">
            <a:avLst/>
          </a:prstGeom>
          <a:noFill/>
        </p:spPr>
        <p:txBody>
          <a:bodyPr wrap="square" anchor="t" lIns="54864" rIns="54864" tIns="54864" bIns="54864">
            <a:spAutoFit/>
          </a:bodyPr>
          <a:lstStyle/>
          <a:p>
            <a:pPr algn="l">
              <a:spcAft>
                <a:spcPts val="300"/>
              </a:spcAft>
            </a:pPr>
            <a:r>
              <a:rPr sz="1200" b="1">
                <a:solidFill>
                  <a:srgbClr val="10B981"/>
                </a:solidFill>
                <a:latin typeface="Arial"/>
              </a:rPr>
              <a:t>LAB 07 · TOPIC 02 · OVERVIEW ONLY</a:t>
            </a:r>
          </a:p>
        </p:txBody>
      </p:sp>
      <p:sp>
        <p:nvSpPr>
          <p:cNvPr id="5" name="TextBox 4"/>
          <p:cNvSpPr txBox="1"/>
          <p:nvPr/>
        </p:nvSpPr>
        <p:spPr>
          <a:xfrm>
            <a:off x="749808" y="713232"/>
            <a:ext cx="10744200" cy="731520"/>
          </a:xfrm>
          <a:prstGeom prst="rect">
            <a:avLst/>
          </a:prstGeom>
          <a:noFill/>
        </p:spPr>
        <p:txBody>
          <a:bodyPr wrap="square" anchor="ctr" lIns="54864" rIns="54864" tIns="54864" bIns="54864">
            <a:spAutoFit/>
          </a:bodyPr>
          <a:lstStyle/>
          <a:p>
            <a:pPr algn="l">
              <a:spcAft>
                <a:spcPts val="300"/>
              </a:spcAft>
            </a:pPr>
            <a:r>
              <a:rPr sz="2700" b="1">
                <a:solidFill>
                  <a:srgbClr val="161B26"/>
                </a:solidFill>
                <a:latin typeface="Arial"/>
              </a:rPr>
              <a:t>Analyse Southeast Asia Logistics Geographically</a:t>
            </a:r>
          </a:p>
        </p:txBody>
      </p:sp>
      <p:sp>
        <p:nvSpPr>
          <p:cNvPr id="6" name="Rectangle 5"/>
          <p:cNvSpPr/>
          <p:nvPr/>
        </p:nvSpPr>
        <p:spPr>
          <a:xfrm>
            <a:off x="749808" y="1536192"/>
            <a:ext cx="106984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64792"/>
            <a:ext cx="10652760" cy="749808"/>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87552" y="1847088"/>
            <a:ext cx="10241280" cy="566928"/>
          </a:xfrm>
          <a:prstGeom prst="rect">
            <a:avLst/>
          </a:prstGeom>
          <a:noFill/>
        </p:spPr>
        <p:txBody>
          <a:bodyPr wrap="square" anchor="ctr" lIns="54864" rIns="54864" tIns="54864" bIns="54864">
            <a:spAutoFit/>
          </a:bodyPr>
          <a:lstStyle/>
          <a:p>
            <a:pPr algn="l">
              <a:spcAft>
                <a:spcPts val="300"/>
              </a:spcAft>
            </a:pPr>
            <a:r>
              <a:rPr sz="1400" b="0">
                <a:solidFill>
                  <a:srgbClr val="161B26"/>
                </a:solidFill>
                <a:latin typeface="Arial"/>
              </a:rPr>
              <a:t>Meridian Logistics wants to compare shipment volume, delay rates and port congestion across Southeast Asia.</a:t>
            </a:r>
          </a:p>
        </p:txBody>
      </p:sp>
      <p:sp>
        <p:nvSpPr>
          <p:cNvPr id="9" name="Rectangle 8"/>
          <p:cNvSpPr/>
          <p:nvPr/>
        </p:nvSpPr>
        <p:spPr>
          <a:xfrm>
            <a:off x="777240" y="2788920"/>
            <a:ext cx="1998878" cy="11704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2788920"/>
            <a:ext cx="1998878"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2971800"/>
            <a:ext cx="1815998" cy="713232"/>
          </a:xfrm>
          <a:prstGeom prst="rect">
            <a:avLst/>
          </a:prstGeom>
          <a:noFill/>
        </p:spPr>
        <p:txBody>
          <a:bodyPr wrap="square" anchor="ctr" lIns="54864" rIns="54864" tIns="54864" bIns="54864">
            <a:spAutoFit/>
          </a:bodyPr>
          <a:lstStyle/>
          <a:p>
            <a:pPr algn="ctr">
              <a:spcAft>
                <a:spcPts val="300"/>
              </a:spcAft>
            </a:pPr>
            <a:r>
              <a:rPr sz="1250" b="1">
                <a:solidFill>
                  <a:srgbClr val="161B26"/>
                </a:solidFill>
                <a:latin typeface="Arial"/>
              </a:rPr>
              <a:t>1. Resolve places</a:t>
            </a:r>
          </a:p>
        </p:txBody>
      </p:sp>
      <p:sp>
        <p:nvSpPr>
          <p:cNvPr id="12" name="Rectangle 11"/>
          <p:cNvSpPr/>
          <p:nvPr/>
        </p:nvSpPr>
        <p:spPr>
          <a:xfrm>
            <a:off x="2940710" y="2788920"/>
            <a:ext cx="1998878" cy="11704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940710" y="2788920"/>
            <a:ext cx="199887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032150" y="2971800"/>
            <a:ext cx="1815998" cy="713232"/>
          </a:xfrm>
          <a:prstGeom prst="rect">
            <a:avLst/>
          </a:prstGeom>
          <a:noFill/>
        </p:spPr>
        <p:txBody>
          <a:bodyPr wrap="square" anchor="ctr" lIns="54864" rIns="54864" tIns="54864" bIns="54864">
            <a:spAutoFit/>
          </a:bodyPr>
          <a:lstStyle/>
          <a:p>
            <a:pPr algn="ctr">
              <a:spcAft>
                <a:spcPts val="300"/>
              </a:spcAft>
            </a:pPr>
            <a:r>
              <a:rPr sz="1250" b="1">
                <a:solidFill>
                  <a:srgbClr val="161B26"/>
                </a:solidFill>
                <a:latin typeface="Arial"/>
              </a:rPr>
              <a:t>2. Map points</a:t>
            </a:r>
          </a:p>
        </p:txBody>
      </p:sp>
      <p:sp>
        <p:nvSpPr>
          <p:cNvPr id="15" name="Rectangle 14"/>
          <p:cNvSpPr/>
          <p:nvPr/>
        </p:nvSpPr>
        <p:spPr>
          <a:xfrm>
            <a:off x="5104180" y="2788920"/>
            <a:ext cx="1998878" cy="11704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104180" y="2788920"/>
            <a:ext cx="1998878"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195620" y="2971800"/>
            <a:ext cx="1815998" cy="713232"/>
          </a:xfrm>
          <a:prstGeom prst="rect">
            <a:avLst/>
          </a:prstGeom>
          <a:noFill/>
        </p:spPr>
        <p:txBody>
          <a:bodyPr wrap="square" anchor="ctr" lIns="54864" rIns="54864" tIns="54864" bIns="54864">
            <a:spAutoFit/>
          </a:bodyPr>
          <a:lstStyle/>
          <a:p>
            <a:pPr algn="ctr">
              <a:spcAft>
                <a:spcPts val="300"/>
              </a:spcAft>
            </a:pPr>
            <a:r>
              <a:rPr sz="1250" b="1">
                <a:solidFill>
                  <a:srgbClr val="161B26"/>
                </a:solidFill>
                <a:latin typeface="Arial"/>
              </a:rPr>
              <a:t>3. Encode metrics</a:t>
            </a:r>
          </a:p>
        </p:txBody>
      </p:sp>
      <p:sp>
        <p:nvSpPr>
          <p:cNvPr id="18" name="Rectangle 17"/>
          <p:cNvSpPr/>
          <p:nvPr/>
        </p:nvSpPr>
        <p:spPr>
          <a:xfrm>
            <a:off x="7267651" y="2788920"/>
            <a:ext cx="1998878" cy="11704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267651" y="2788920"/>
            <a:ext cx="1998878"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59091" y="2971800"/>
            <a:ext cx="1815998" cy="713232"/>
          </a:xfrm>
          <a:prstGeom prst="rect">
            <a:avLst/>
          </a:prstGeom>
          <a:noFill/>
        </p:spPr>
        <p:txBody>
          <a:bodyPr wrap="square" anchor="ctr" lIns="54864" rIns="54864" tIns="54864" bIns="54864">
            <a:spAutoFit/>
          </a:bodyPr>
          <a:lstStyle/>
          <a:p>
            <a:pPr algn="ctr">
              <a:spcAft>
                <a:spcPts val="300"/>
              </a:spcAft>
            </a:pPr>
            <a:r>
              <a:rPr sz="1250" b="1">
                <a:solidFill>
                  <a:srgbClr val="161B26"/>
                </a:solidFill>
                <a:latin typeface="Arial"/>
              </a:rPr>
              <a:t>4. Show density</a:t>
            </a:r>
          </a:p>
        </p:txBody>
      </p:sp>
      <p:sp>
        <p:nvSpPr>
          <p:cNvPr id="21" name="Rectangle 20"/>
          <p:cNvSpPr/>
          <p:nvPr/>
        </p:nvSpPr>
        <p:spPr>
          <a:xfrm>
            <a:off x="9431121" y="2788920"/>
            <a:ext cx="1998878" cy="11704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431121" y="2788920"/>
            <a:ext cx="1998878"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522561" y="2971800"/>
            <a:ext cx="1815998" cy="713232"/>
          </a:xfrm>
          <a:prstGeom prst="rect">
            <a:avLst/>
          </a:prstGeom>
          <a:noFill/>
        </p:spPr>
        <p:txBody>
          <a:bodyPr wrap="square" anchor="ctr" lIns="54864" rIns="54864" tIns="54864" bIns="54864">
            <a:spAutoFit/>
          </a:bodyPr>
          <a:lstStyle/>
          <a:p>
            <a:pPr algn="ctr">
              <a:spcAft>
                <a:spcPts val="300"/>
              </a:spcAft>
            </a:pPr>
            <a:r>
              <a:rPr sz="1250" b="1">
                <a:solidFill>
                  <a:srgbClr val="161B26"/>
                </a:solidFill>
                <a:latin typeface="Arial"/>
              </a:rPr>
              <a:t>5. Challenge map</a:t>
            </a:r>
          </a:p>
        </p:txBody>
      </p:sp>
      <p:sp>
        <p:nvSpPr>
          <p:cNvPr id="24" name="Rectangle 23"/>
          <p:cNvSpPr/>
          <p:nvPr/>
        </p:nvSpPr>
        <p:spPr>
          <a:xfrm>
            <a:off x="777240" y="4279392"/>
            <a:ext cx="10652760"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87552" y="4370832"/>
            <a:ext cx="10195560" cy="777240"/>
          </a:xfrm>
          <a:prstGeom prst="rect">
            <a:avLst/>
          </a:prstGeom>
          <a:noFill/>
        </p:spPr>
        <p:txBody>
          <a:bodyPr wrap="square" anchor="ctr" lIns="54864" rIns="54864" tIns="54864" bIns="54864">
            <a:spAutoFit/>
          </a:bodyPr>
          <a:lstStyle/>
          <a:p>
            <a:pPr algn="l">
              <a:spcAft>
                <a:spcPts val="300"/>
              </a:spcAft>
            </a:pPr>
            <a:r>
              <a:rPr sz="1100" b="1">
                <a:solidFill>
                  <a:srgbClr val="10B981"/>
                </a:solidFill>
                <a:latin typeface="Arial"/>
              </a:rPr>
              <a:t>OUTPUT  </a:t>
            </a:r>
            <a:r>
              <a:rPr sz="1300" b="0">
                <a:solidFill>
                  <a:srgbClr val="161B26"/>
                </a:solidFill>
                <a:latin typeface="Arial"/>
              </a:rPr>
              <a:t>Resolved geographic roles, three map types, tooltip context and a map-vs-bar decision note</a:t>
            </a:r>
          </a:p>
        </p:txBody>
      </p:sp>
      <p:sp>
        <p:nvSpPr>
          <p:cNvPr id="26" name="TextBox 25"/>
          <p:cNvSpPr txBox="1"/>
          <p:nvPr/>
        </p:nvSpPr>
        <p:spPr>
          <a:xfrm>
            <a:off x="822960" y="5504688"/>
            <a:ext cx="10515600" cy="457200"/>
          </a:xfrm>
          <a:prstGeom prst="rect">
            <a:avLst/>
          </a:prstGeom>
          <a:noFill/>
        </p:spPr>
        <p:txBody>
          <a:bodyPr wrap="square" anchor="t" lIns="54864" rIns="54864" tIns="54864" bIns="54864">
            <a:spAutoFit/>
          </a:bodyPr>
          <a:lstStyle/>
          <a:p>
            <a:pPr algn="ctr">
              <a:spcAft>
                <a:spcPts val="300"/>
              </a:spcAft>
            </a:pPr>
            <a:r>
              <a:rPr sz="1100" b="0">
                <a:solidFill>
                  <a:srgbClr val="5B6372"/>
                </a:solidFill>
                <a:latin typeface="Arial"/>
              </a:rPr>
              <a:t>Detailed click-by-click procedure: Learner Guide and this lab folder · Tools: </a:t>
            </a:r>
            <a:r>
              <a:rPr sz="1100" b="1">
                <a:solidFill>
                  <a:srgbClr val="5B6372"/>
                </a:solidFill>
                <a:latin typeface="Arial"/>
              </a:rPr>
              <a:t>Tableau Desktop · geographic roles · generated coordinates · density · tooltips</a:t>
            </a:r>
          </a:p>
        </p:txBody>
      </p:sp>
      <p:sp>
        <p:nvSpPr>
          <p:cNvPr id="27" name="TextBox 26"/>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28" name="TextBox 27"/>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29" name="TextBox 28"/>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101</a:t>
            </a:r>
          </a:p>
        </p:txBody>
      </p:sp>
    </p:spTree>
  </p:cSld>
  <p:clrMapOvr>
    <a:masterClrMapping/>
  </p:clrMapOvr>
  <p:transition spd="fast">
    <p:fade/>
  </p:transition>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37744"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47472"/>
            <a:ext cx="10698480" cy="292608"/>
          </a:xfrm>
          <a:prstGeom prst="rect">
            <a:avLst/>
          </a:prstGeom>
          <a:noFill/>
        </p:spPr>
        <p:txBody>
          <a:bodyPr wrap="square" anchor="t" lIns="54864" rIns="54864" tIns="54864" bIns="54864">
            <a:spAutoFit/>
          </a:bodyPr>
          <a:lstStyle/>
          <a:p>
            <a:pPr algn="l">
              <a:spcAft>
                <a:spcPts val="300"/>
              </a:spcAft>
            </a:pPr>
            <a:r>
              <a:rPr sz="1200" b="1">
                <a:solidFill>
                  <a:srgbClr val="10B981"/>
                </a:solidFill>
                <a:latin typeface="Arial"/>
              </a:rPr>
              <a:t>VERIFY THE OUTCOME</a:t>
            </a:r>
          </a:p>
        </p:txBody>
      </p:sp>
      <p:sp>
        <p:nvSpPr>
          <p:cNvPr id="5" name="TextBox 4"/>
          <p:cNvSpPr txBox="1"/>
          <p:nvPr/>
        </p:nvSpPr>
        <p:spPr>
          <a:xfrm>
            <a:off x="749808" y="713232"/>
            <a:ext cx="10744200" cy="731520"/>
          </a:xfrm>
          <a:prstGeom prst="rect">
            <a:avLst/>
          </a:prstGeom>
          <a:noFill/>
        </p:spPr>
        <p:txBody>
          <a:bodyPr wrap="square" anchor="ctr" lIns="54864" rIns="54864" tIns="54864" bIns="54864">
            <a:spAutoFit/>
          </a:bodyPr>
          <a:lstStyle/>
          <a:p>
            <a:pPr algn="l">
              <a:spcAft>
                <a:spcPts val="300"/>
              </a:spcAft>
            </a:pPr>
            <a:r>
              <a:rPr sz="2700" b="1">
                <a:solidFill>
                  <a:srgbClr val="161B26"/>
                </a:solidFill>
                <a:latin typeface="Arial"/>
              </a:rPr>
              <a:t>Lab 07 — Acceptance Test</a:t>
            </a:r>
          </a:p>
        </p:txBody>
      </p:sp>
      <p:sp>
        <p:nvSpPr>
          <p:cNvPr id="6" name="Rectangle 5"/>
          <p:cNvSpPr/>
          <p:nvPr/>
        </p:nvSpPr>
        <p:spPr>
          <a:xfrm>
            <a:off x="749808" y="1536192"/>
            <a:ext cx="106984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965960"/>
            <a:ext cx="10652760" cy="228600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240280"/>
            <a:ext cx="9966960" cy="457200"/>
          </a:xfrm>
          <a:prstGeom prst="rect">
            <a:avLst/>
          </a:prstGeom>
          <a:noFill/>
        </p:spPr>
        <p:txBody>
          <a:bodyPr wrap="square" anchor="t" lIns="54864" rIns="54864" tIns="54864" bIns="54864">
            <a:spAutoFit/>
          </a:bodyPr>
          <a:lstStyle/>
          <a:p>
            <a:pPr algn="l">
              <a:spcAft>
                <a:spcPts val="300"/>
              </a:spcAft>
            </a:pPr>
            <a:r>
              <a:rPr sz="1900" b="1">
                <a:solidFill>
                  <a:srgbClr val="127A3E"/>
                </a:solidFill>
                <a:latin typeface="Arial"/>
              </a:rPr>
              <a:t>✓  Evidence standard</a:t>
            </a:r>
          </a:p>
        </p:txBody>
      </p:sp>
      <p:sp>
        <p:nvSpPr>
          <p:cNvPr id="9" name="TextBox 8"/>
          <p:cNvSpPr txBox="1"/>
          <p:nvPr/>
        </p:nvSpPr>
        <p:spPr>
          <a:xfrm>
            <a:off x="1097280" y="2880360"/>
            <a:ext cx="9875520" cy="1051560"/>
          </a:xfrm>
          <a:prstGeom prst="rect">
            <a:avLst/>
          </a:prstGeom>
          <a:noFill/>
        </p:spPr>
        <p:txBody>
          <a:bodyPr wrap="square" anchor="ctr" lIns="54864" rIns="54864" tIns="54864" bIns="54864">
            <a:spAutoFit/>
          </a:bodyPr>
          <a:lstStyle/>
          <a:p>
            <a:pPr algn="l">
              <a:spcAft>
                <a:spcPts val="300"/>
              </a:spcAft>
            </a:pPr>
            <a:r>
              <a:rPr sz="1600" b="0">
                <a:solidFill>
                  <a:srgbClr val="161B26"/>
                </a:solidFill>
                <a:latin typeface="Arial"/>
              </a:rPr>
              <a:t>Locations resolve correctly, map types match the questions, tooltips carry operational context, colour scales are meaningful, and the learner can state when the bar chart is preferable.</a:t>
            </a:r>
          </a:p>
        </p:txBody>
      </p:sp>
      <p:sp>
        <p:nvSpPr>
          <p:cNvPr id="10" name="TextBox 9"/>
          <p:cNvSpPr txBox="1"/>
          <p:nvPr/>
        </p:nvSpPr>
        <p:spPr>
          <a:xfrm>
            <a:off x="868680" y="4754880"/>
            <a:ext cx="10424160" cy="640080"/>
          </a:xfrm>
          <a:prstGeom prst="rect">
            <a:avLst/>
          </a:prstGeom>
          <a:noFill/>
        </p:spPr>
        <p:txBody>
          <a:bodyPr wrap="square" anchor="t" lIns="54864" rIns="54864" tIns="54864" bIns="54864">
            <a:spAutoFit/>
          </a:bodyPr>
          <a:lstStyle/>
          <a:p>
            <a:pPr algn="ctr">
              <a:spcAft>
                <a:spcPts val="300"/>
              </a:spcAft>
            </a:pPr>
            <a:r>
              <a:rPr sz="1300" b="0">
                <a:solidFill>
                  <a:srgbClr val="5B6372"/>
                </a:solidFill>
                <a:latin typeface="Arial"/>
              </a:rPr>
              <a:t>Submit the Tableau workbook, requested screenshots/exports and completed acceptance-checklist.md from the lab folder.</a:t>
            </a:r>
          </a:p>
        </p:txBody>
      </p:sp>
      <p:sp>
        <p:nvSpPr>
          <p:cNvPr id="11" name="TextBox 10"/>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12" name="TextBox 11"/>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13" name="TextBox 12"/>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102</a:t>
            </a:r>
          </a:p>
        </p:txBody>
      </p:sp>
    </p:spTree>
  </p:cSld>
  <p:clrMapOvr>
    <a:masterClrMapping/>
  </p:clrMapOvr>
  <p:transition spd="fast">
    <p:fade/>
  </p:transition>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37744"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47472"/>
            <a:ext cx="10698480" cy="292608"/>
          </a:xfrm>
          <a:prstGeom prst="rect">
            <a:avLst/>
          </a:prstGeom>
          <a:noFill/>
        </p:spPr>
        <p:txBody>
          <a:bodyPr wrap="square" anchor="t" lIns="54864" rIns="54864" tIns="54864" bIns="54864">
            <a:spAutoFit/>
          </a:bodyPr>
          <a:lstStyle/>
          <a:p>
            <a:pPr algn="l">
              <a:spcAft>
                <a:spcPts val="300"/>
              </a:spcAft>
            </a:pPr>
            <a:r>
              <a:rPr sz="1200" b="1">
                <a:solidFill>
                  <a:srgbClr val="10B981"/>
                </a:solidFill>
                <a:latin typeface="Arial"/>
              </a:rPr>
              <a:t>RECAP</a:t>
            </a:r>
          </a:p>
        </p:txBody>
      </p:sp>
      <p:sp>
        <p:nvSpPr>
          <p:cNvPr id="5" name="TextBox 4"/>
          <p:cNvSpPr txBox="1"/>
          <p:nvPr/>
        </p:nvSpPr>
        <p:spPr>
          <a:xfrm>
            <a:off x="749808" y="713232"/>
            <a:ext cx="10744200" cy="731520"/>
          </a:xfrm>
          <a:prstGeom prst="rect">
            <a:avLst/>
          </a:prstGeom>
          <a:noFill/>
        </p:spPr>
        <p:txBody>
          <a:bodyPr wrap="square" anchor="ctr" lIns="54864" rIns="54864" tIns="54864" bIns="54864">
            <a:spAutoFit/>
          </a:bodyPr>
          <a:lstStyle/>
          <a:p>
            <a:pPr algn="l">
              <a:spcAft>
                <a:spcPts val="300"/>
              </a:spcAft>
            </a:pPr>
            <a:r>
              <a:rPr sz="2700" b="1">
                <a:solidFill>
                  <a:srgbClr val="161B26"/>
                </a:solidFill>
                <a:latin typeface="Arial"/>
              </a:rPr>
              <a:t>Topic 02 — Exam Check</a:t>
            </a:r>
          </a:p>
        </p:txBody>
      </p:sp>
      <p:sp>
        <p:nvSpPr>
          <p:cNvPr id="6" name="Rectangle 5"/>
          <p:cNvSpPr/>
          <p:nvPr/>
        </p:nvSpPr>
        <p:spPr>
          <a:xfrm>
            <a:off x="749808" y="1536192"/>
            <a:ext cx="106984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8096"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68096" y="1764792"/>
            <a:ext cx="82296" cy="206197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96695" y="2548890"/>
            <a:ext cx="493776" cy="49377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5"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1</a:t>
            </a:r>
          </a:p>
        </p:txBody>
      </p:sp>
      <p:sp>
        <p:nvSpPr>
          <p:cNvPr id="11" name="TextBox 10"/>
          <p:cNvSpPr txBox="1"/>
          <p:nvPr/>
        </p:nvSpPr>
        <p:spPr>
          <a:xfrm>
            <a:off x="1664207"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Explain</a:t>
            </a:r>
          </a:p>
          <a:p>
            <a:pPr algn="l">
              <a:spcAft>
                <a:spcPts val="300"/>
              </a:spcAft>
            </a:pPr>
            <a:r>
              <a:rPr sz="1200" b="0">
                <a:solidFill>
                  <a:srgbClr val="5B6372"/>
                </a:solidFill>
                <a:latin typeface="Arial"/>
              </a:rPr>
              <a:t>Define the key ideas in exploring and analyzing data in tableau desktop.</a:t>
            </a:r>
          </a:p>
        </p:txBody>
      </p:sp>
      <p:sp>
        <p:nvSpPr>
          <p:cNvPr id="12" name="Rectangle 11"/>
          <p:cNvSpPr/>
          <p:nvPr/>
        </p:nvSpPr>
        <p:spPr>
          <a:xfrm>
            <a:off x="6222492"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22492" y="1764792"/>
            <a:ext cx="82296" cy="206197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51092" y="2548890"/>
            <a:ext cx="493776" cy="49377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51092"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2</a:t>
            </a:r>
          </a:p>
        </p:txBody>
      </p:sp>
      <p:sp>
        <p:nvSpPr>
          <p:cNvPr id="16" name="TextBox 15"/>
          <p:cNvSpPr txBox="1"/>
          <p:nvPr/>
        </p:nvSpPr>
        <p:spPr>
          <a:xfrm>
            <a:off x="7118604"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Choose</a:t>
            </a:r>
          </a:p>
          <a:p>
            <a:pPr algn="l">
              <a:spcAft>
                <a:spcPts val="300"/>
              </a:spcAft>
            </a:pPr>
            <a:r>
              <a:rPr sz="1200" b="0">
                <a:solidFill>
                  <a:srgbClr val="5B6372"/>
                </a:solidFill>
                <a:latin typeface="Arial"/>
              </a:rPr>
              <a:t>Select the right feature from a short business scenario.</a:t>
            </a:r>
          </a:p>
        </p:txBody>
      </p:sp>
      <p:sp>
        <p:nvSpPr>
          <p:cNvPr id="17" name="Rectangle 16"/>
          <p:cNvSpPr/>
          <p:nvPr/>
        </p:nvSpPr>
        <p:spPr>
          <a:xfrm>
            <a:off x="768096"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68096" y="4046220"/>
            <a:ext cx="82296" cy="206197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96695" y="4830318"/>
            <a:ext cx="493776" cy="49377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96695"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3</a:t>
            </a:r>
          </a:p>
        </p:txBody>
      </p:sp>
      <p:sp>
        <p:nvSpPr>
          <p:cNvPr id="21" name="TextBox 20"/>
          <p:cNvSpPr txBox="1"/>
          <p:nvPr/>
        </p:nvSpPr>
        <p:spPr>
          <a:xfrm>
            <a:off x="1664207"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Predict</a:t>
            </a:r>
          </a:p>
          <a:p>
            <a:pPr algn="l">
              <a:spcAft>
                <a:spcPts val="300"/>
              </a:spcAft>
            </a:pPr>
            <a:r>
              <a:rPr sz="1200" b="0">
                <a:solidFill>
                  <a:srgbClr val="5B6372"/>
                </a:solidFill>
                <a:latin typeface="Arial"/>
              </a:rPr>
              <a:t>Reason about the result of shelf, model or formatting changes.</a:t>
            </a:r>
          </a:p>
        </p:txBody>
      </p:sp>
      <p:sp>
        <p:nvSpPr>
          <p:cNvPr id="22" name="Rectangle 21"/>
          <p:cNvSpPr/>
          <p:nvPr/>
        </p:nvSpPr>
        <p:spPr>
          <a:xfrm>
            <a:off x="6222492"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22492" y="4046220"/>
            <a:ext cx="82296" cy="206197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51092" y="4830318"/>
            <a:ext cx="493776" cy="49377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51092"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4</a:t>
            </a:r>
          </a:p>
        </p:txBody>
      </p:sp>
      <p:sp>
        <p:nvSpPr>
          <p:cNvPr id="26" name="TextBox 25"/>
          <p:cNvSpPr txBox="1"/>
          <p:nvPr/>
        </p:nvSpPr>
        <p:spPr>
          <a:xfrm>
            <a:off x="7118604"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Prove</a:t>
            </a:r>
          </a:p>
          <a:p>
            <a:pPr algn="l">
              <a:spcAft>
                <a:spcPts val="300"/>
              </a:spcAft>
            </a:pPr>
            <a:r>
              <a:rPr sz="1200" b="0">
                <a:solidFill>
                  <a:srgbClr val="5B6372"/>
                </a:solidFill>
                <a:latin typeface="Arial"/>
              </a:rPr>
              <a:t>Use the lab workbook and acceptance evidence to validate the outcome.</a:t>
            </a:r>
          </a:p>
        </p:txBody>
      </p:sp>
      <p:sp>
        <p:nvSpPr>
          <p:cNvPr id="27" name="TextBox 26"/>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28" name="TextBox 27"/>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29" name="TextBox 28"/>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103</a:t>
            </a:r>
          </a:p>
        </p:txBody>
      </p:sp>
    </p:spTree>
  </p:cSld>
  <p:clrMapOvr>
    <a:masterClrMapping/>
  </p:clrMapOvr>
  <p:transition spd="fast">
    <p:fade/>
  </p:transition>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148840"/>
            <a:ext cx="109728" cy="19659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148840"/>
            <a:ext cx="9601200" cy="365760"/>
          </a:xfrm>
          <a:prstGeom prst="rect">
            <a:avLst/>
          </a:prstGeom>
          <a:noFill/>
        </p:spPr>
        <p:txBody>
          <a:bodyPr wrap="square" anchor="t" lIns="54864" rIns="54864" tIns="54864" bIns="54864">
            <a:spAutoFit/>
          </a:bodyPr>
          <a:lstStyle/>
          <a:p>
            <a:pPr algn="l">
              <a:spcAft>
                <a:spcPts val="300"/>
              </a:spcAft>
            </a:pPr>
            <a:r>
              <a:rPr sz="1600" b="1">
                <a:solidFill>
                  <a:srgbClr val="1F6FEB"/>
                </a:solidFill>
                <a:latin typeface="Arial"/>
              </a:rPr>
              <a:t>TOPIC 03</a:t>
            </a:r>
          </a:p>
        </p:txBody>
      </p:sp>
      <p:sp>
        <p:nvSpPr>
          <p:cNvPr id="6" name="TextBox 5"/>
          <p:cNvSpPr txBox="1"/>
          <p:nvPr/>
        </p:nvSpPr>
        <p:spPr>
          <a:xfrm>
            <a:off x="1143000" y="2560320"/>
            <a:ext cx="9875520" cy="1463040"/>
          </a:xfrm>
          <a:prstGeom prst="rect">
            <a:avLst/>
          </a:prstGeom>
          <a:noFill/>
        </p:spPr>
        <p:txBody>
          <a:bodyPr wrap="square" anchor="ctr" lIns="54864" rIns="54864" tIns="54864" bIns="54864">
            <a:spAutoFit/>
          </a:bodyPr>
          <a:lstStyle/>
          <a:p>
            <a:pPr algn="l">
              <a:spcAft>
                <a:spcPts val="300"/>
              </a:spcAft>
            </a:pPr>
            <a:r>
              <a:rPr sz="3500" b="1">
                <a:solidFill>
                  <a:srgbClr val="161B26"/>
                </a:solidFill>
                <a:latin typeface="Arial"/>
              </a:rPr>
              <a:t>Sharing Insights with Dashboards and Workbooks</a:t>
            </a:r>
          </a:p>
        </p:txBody>
      </p:sp>
      <p:sp>
        <p:nvSpPr>
          <p:cNvPr id="7" name="TextBox 6"/>
          <p:cNvSpPr txBox="1"/>
          <p:nvPr/>
        </p:nvSpPr>
        <p:spPr>
          <a:xfrm>
            <a:off x="1161288" y="4160520"/>
            <a:ext cx="9692640" cy="640080"/>
          </a:xfrm>
          <a:prstGeom prst="rect">
            <a:avLst/>
          </a:prstGeom>
          <a:noFill/>
        </p:spPr>
        <p:txBody>
          <a:bodyPr wrap="square" anchor="t" lIns="54864" rIns="54864" tIns="54864" bIns="54864">
            <a:spAutoFit/>
          </a:bodyPr>
          <a:lstStyle/>
          <a:p>
            <a:pPr algn="l">
              <a:spcAft>
                <a:spcPts val="300"/>
              </a:spcAft>
            </a:pPr>
            <a:r>
              <a:rPr sz="1500" b="0">
                <a:solidFill>
                  <a:srgbClr val="5B6372"/>
                </a:solidFill>
                <a:latin typeface="Arial"/>
              </a:rPr>
              <a:t>Official exam weighting 25% · Formatting · dashboards · actions · device layouts · stories · export · publish</a:t>
            </a:r>
          </a:p>
        </p:txBody>
      </p:sp>
      <p:sp>
        <p:nvSpPr>
          <p:cNvPr id="8" name="TextBox 7"/>
          <p:cNvSpPr txBox="1"/>
          <p:nvPr/>
        </p:nvSpPr>
        <p:spPr>
          <a:xfrm>
            <a:off x="9235440" y="594360"/>
            <a:ext cx="2286000" cy="1371600"/>
          </a:xfrm>
          <a:prstGeom prst="rect">
            <a:avLst/>
          </a:prstGeom>
          <a:noFill/>
        </p:spPr>
        <p:txBody>
          <a:bodyPr wrap="square" anchor="t" lIns="54864" rIns="54864" tIns="54864" bIns="54864">
            <a:spAutoFit/>
          </a:bodyPr>
          <a:lstStyle/>
          <a:p>
            <a:pPr algn="r">
              <a:spcAft>
                <a:spcPts val="300"/>
              </a:spcAft>
            </a:pPr>
            <a:r>
              <a:rPr sz="6400" b="1">
                <a:solidFill>
                  <a:srgbClr val="E2E8F0"/>
                </a:solidFill>
                <a:latin typeface="Arial"/>
              </a:rPr>
              <a:t>03</a:t>
            </a:r>
          </a:p>
        </p:txBody>
      </p:sp>
      <p:sp>
        <p:nvSpPr>
          <p:cNvPr id="9" name="TextBox 8"/>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10" name="TextBox 9"/>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11" name="TextBox 10"/>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104</a:t>
            </a:r>
          </a:p>
        </p:txBody>
      </p:sp>
    </p:spTree>
  </p:cSld>
  <p:clrMapOvr>
    <a:masterClrMapping/>
  </p:clrMapOvr>
  <p:transition spd="fast">
    <p:fade/>
  </p:transition>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37744"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47472"/>
            <a:ext cx="10698480" cy="292608"/>
          </a:xfrm>
          <a:prstGeom prst="rect">
            <a:avLst/>
          </a:prstGeom>
          <a:noFill/>
        </p:spPr>
        <p:txBody>
          <a:bodyPr wrap="square" anchor="t" lIns="54864" rIns="54864" tIns="54864" bIns="54864">
            <a:spAutoFit/>
          </a:bodyPr>
          <a:lstStyle/>
          <a:p>
            <a:pPr algn="l">
              <a:spcAft>
                <a:spcPts val="300"/>
              </a:spcAft>
            </a:pPr>
            <a:r>
              <a:rPr sz="1200" b="1">
                <a:solidFill>
                  <a:srgbClr val="7C3AED"/>
                </a:solidFill>
                <a:latin typeface="Arial"/>
              </a:rPr>
              <a:t>EXAM WEIGHTING 25%</a:t>
            </a:r>
          </a:p>
        </p:txBody>
      </p:sp>
      <p:sp>
        <p:nvSpPr>
          <p:cNvPr id="5" name="TextBox 4"/>
          <p:cNvSpPr txBox="1"/>
          <p:nvPr/>
        </p:nvSpPr>
        <p:spPr>
          <a:xfrm>
            <a:off x="749808" y="713232"/>
            <a:ext cx="10744200" cy="731520"/>
          </a:xfrm>
          <a:prstGeom prst="rect">
            <a:avLst/>
          </a:prstGeom>
          <a:noFill/>
        </p:spPr>
        <p:txBody>
          <a:bodyPr wrap="square" anchor="ctr" lIns="54864" rIns="54864" tIns="54864" bIns="54864">
            <a:spAutoFit/>
          </a:bodyPr>
          <a:lstStyle/>
          <a:p>
            <a:pPr algn="l">
              <a:spcAft>
                <a:spcPts val="300"/>
              </a:spcAft>
            </a:pPr>
            <a:r>
              <a:rPr sz="2700" b="1">
                <a:solidFill>
                  <a:srgbClr val="161B26"/>
                </a:solidFill>
                <a:latin typeface="Arial"/>
              </a:rPr>
              <a:t>Topic 03 — Core Ideas</a:t>
            </a:r>
          </a:p>
        </p:txBody>
      </p:sp>
      <p:sp>
        <p:nvSpPr>
          <p:cNvPr id="6" name="Rectangle 5"/>
          <p:cNvSpPr/>
          <p:nvPr/>
        </p:nvSpPr>
        <p:spPr>
          <a:xfrm>
            <a:off x="749808" y="1536192"/>
            <a:ext cx="106984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8096"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68096" y="1764792"/>
            <a:ext cx="82296" cy="206197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96695" y="2548890"/>
            <a:ext cx="493776" cy="49377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5"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1</a:t>
            </a:r>
          </a:p>
        </p:txBody>
      </p:sp>
      <p:sp>
        <p:nvSpPr>
          <p:cNvPr id="11" name="TextBox 10"/>
          <p:cNvSpPr txBox="1"/>
          <p:nvPr/>
        </p:nvSpPr>
        <p:spPr>
          <a:xfrm>
            <a:off x="1664207"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Format for meaning</a:t>
            </a:r>
          </a:p>
          <a:p>
            <a:pPr algn="l">
              <a:spcAft>
                <a:spcPts val="300"/>
              </a:spcAft>
            </a:pPr>
            <a:r>
              <a:rPr sz="1200" b="0">
                <a:solidFill>
                  <a:srgbClr val="5B6372"/>
                </a:solidFill>
                <a:latin typeface="Arial"/>
              </a:rPr>
              <a:t>Colour, type, shape, size and animation communicate data, not decoration.</a:t>
            </a:r>
          </a:p>
        </p:txBody>
      </p:sp>
      <p:sp>
        <p:nvSpPr>
          <p:cNvPr id="12" name="Rectangle 11"/>
          <p:cNvSpPr/>
          <p:nvPr/>
        </p:nvSpPr>
        <p:spPr>
          <a:xfrm>
            <a:off x="6222492"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22492" y="1764792"/>
            <a:ext cx="82296" cy="206197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51092" y="2548890"/>
            <a:ext cx="493776" cy="49377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51092"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2</a:t>
            </a:r>
          </a:p>
        </p:txBody>
      </p:sp>
      <p:sp>
        <p:nvSpPr>
          <p:cNvPr id="16" name="TextBox 15"/>
          <p:cNvSpPr txBox="1"/>
          <p:nvPr/>
        </p:nvSpPr>
        <p:spPr>
          <a:xfrm>
            <a:off x="7118604"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Design interaction</a:t>
            </a:r>
          </a:p>
          <a:p>
            <a:pPr algn="l">
              <a:spcAft>
                <a:spcPts val="300"/>
              </a:spcAft>
            </a:pPr>
            <a:r>
              <a:rPr sz="1200" b="0">
                <a:solidFill>
                  <a:srgbClr val="5B6372"/>
                </a:solidFill>
                <a:latin typeface="Arial"/>
              </a:rPr>
              <a:t>Filters, highlighters, tooltips and actions answer predictable questions.</a:t>
            </a:r>
          </a:p>
        </p:txBody>
      </p:sp>
      <p:sp>
        <p:nvSpPr>
          <p:cNvPr id="17" name="Rectangle 16"/>
          <p:cNvSpPr/>
          <p:nvPr/>
        </p:nvSpPr>
        <p:spPr>
          <a:xfrm>
            <a:off x="768096"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68096" y="4046220"/>
            <a:ext cx="82296" cy="206197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96695" y="4830318"/>
            <a:ext cx="493776" cy="49377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96695"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3</a:t>
            </a:r>
          </a:p>
        </p:txBody>
      </p:sp>
      <p:sp>
        <p:nvSpPr>
          <p:cNvPr id="21" name="TextBox 20"/>
          <p:cNvSpPr txBox="1"/>
          <p:nvPr/>
        </p:nvSpPr>
        <p:spPr>
          <a:xfrm>
            <a:off x="1664207"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Layout is a system</a:t>
            </a:r>
          </a:p>
          <a:p>
            <a:pPr algn="l">
              <a:spcAft>
                <a:spcPts val="300"/>
              </a:spcAft>
            </a:pPr>
            <a:r>
              <a:rPr sz="1200" b="0">
                <a:solidFill>
                  <a:srgbClr val="5B6372"/>
                </a:solidFill>
                <a:latin typeface="Arial"/>
              </a:rPr>
              <a:t>Containers, hierarchy and device layouts govern alignment and reading order.</a:t>
            </a:r>
          </a:p>
        </p:txBody>
      </p:sp>
      <p:sp>
        <p:nvSpPr>
          <p:cNvPr id="22" name="Rectangle 21"/>
          <p:cNvSpPr/>
          <p:nvPr/>
        </p:nvSpPr>
        <p:spPr>
          <a:xfrm>
            <a:off x="6222492"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22492" y="4046220"/>
            <a:ext cx="82296" cy="206197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51092" y="4830318"/>
            <a:ext cx="493776" cy="49377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51092"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4</a:t>
            </a:r>
          </a:p>
        </p:txBody>
      </p:sp>
      <p:sp>
        <p:nvSpPr>
          <p:cNvPr id="26" name="TextBox 25"/>
          <p:cNvSpPr txBox="1"/>
          <p:nvPr/>
        </p:nvSpPr>
        <p:spPr>
          <a:xfrm>
            <a:off x="7118604"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Share with intent</a:t>
            </a:r>
          </a:p>
          <a:p>
            <a:pPr algn="l">
              <a:spcAft>
                <a:spcPts val="300"/>
              </a:spcAft>
            </a:pPr>
            <a:r>
              <a:rPr sz="1200" b="0">
                <a:solidFill>
                  <a:srgbClr val="5B6372"/>
                </a:solidFill>
                <a:latin typeface="Arial"/>
              </a:rPr>
              <a:t>Package, publish or export while protecting sensitive detail.</a:t>
            </a:r>
          </a:p>
        </p:txBody>
      </p:sp>
      <p:sp>
        <p:nvSpPr>
          <p:cNvPr id="27" name="TextBox 26"/>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28" name="TextBox 27"/>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29" name="TextBox 28"/>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105</a:t>
            </a:r>
          </a:p>
        </p:txBody>
      </p:sp>
    </p:spTree>
  </p:cSld>
  <p:clrMapOvr>
    <a:masterClrMapping/>
  </p:clrMapOvr>
  <p:transition spd="fast">
    <p:fade/>
  </p:transition>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37744"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47472"/>
            <a:ext cx="10698480" cy="292608"/>
          </a:xfrm>
          <a:prstGeom prst="rect">
            <a:avLst/>
          </a:prstGeom>
          <a:noFill/>
        </p:spPr>
        <p:txBody>
          <a:bodyPr wrap="square" anchor="t" lIns="54864" rIns="54864" tIns="54864" bIns="54864">
            <a:spAutoFit/>
          </a:bodyPr>
          <a:lstStyle/>
          <a:p>
            <a:pPr algn="l">
              <a:spcAft>
                <a:spcPts val="300"/>
              </a:spcAft>
            </a:pPr>
            <a:r>
              <a:rPr sz="1200" b="1">
                <a:solidFill>
                  <a:srgbClr val="7C3AED"/>
                </a:solidFill>
                <a:latin typeface="Arial"/>
              </a:rPr>
              <a:t>OFFICIAL SCOPE</a:t>
            </a:r>
          </a:p>
        </p:txBody>
      </p:sp>
      <p:sp>
        <p:nvSpPr>
          <p:cNvPr id="5" name="TextBox 4"/>
          <p:cNvSpPr txBox="1"/>
          <p:nvPr/>
        </p:nvSpPr>
        <p:spPr>
          <a:xfrm>
            <a:off x="749808" y="713232"/>
            <a:ext cx="10744200" cy="731520"/>
          </a:xfrm>
          <a:prstGeom prst="rect">
            <a:avLst/>
          </a:prstGeom>
          <a:noFill/>
        </p:spPr>
        <p:txBody>
          <a:bodyPr wrap="square" anchor="ctr" lIns="54864" rIns="54864" tIns="54864" bIns="54864">
            <a:spAutoFit/>
          </a:bodyPr>
          <a:lstStyle/>
          <a:p>
            <a:pPr algn="l">
              <a:spcAft>
                <a:spcPts val="300"/>
              </a:spcAft>
            </a:pPr>
            <a:r>
              <a:rPr sz="2700" b="1">
                <a:solidFill>
                  <a:srgbClr val="161B26"/>
                </a:solidFill>
                <a:latin typeface="Arial"/>
              </a:rPr>
              <a:t>Topic 03 Blueprint</a:t>
            </a:r>
          </a:p>
        </p:txBody>
      </p:sp>
      <p:sp>
        <p:nvSpPr>
          <p:cNvPr id="6" name="Rectangle 5"/>
          <p:cNvSpPr/>
          <p:nvPr/>
        </p:nvSpPr>
        <p:spPr>
          <a:xfrm>
            <a:off x="749808" y="1536192"/>
            <a:ext cx="106984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8096" y="1783080"/>
            <a:ext cx="3550920" cy="108585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1801368"/>
            <a:ext cx="3477768" cy="1049274"/>
          </a:xfrm>
          <a:prstGeom prst="rect">
            <a:avLst/>
          </a:prstGeom>
          <a:noFill/>
        </p:spPr>
        <p:txBody>
          <a:bodyPr wrap="square" anchor="ctr" lIns="54864" rIns="54864" tIns="54864" bIns="54864">
            <a:spAutoFit/>
          </a:bodyPr>
          <a:lstStyle/>
          <a:p>
            <a:pPr algn="ctr">
              <a:spcAft>
                <a:spcPts val="300"/>
              </a:spcAft>
            </a:pPr>
            <a:r>
              <a:rPr sz="1150" b="1">
                <a:solidFill>
                  <a:srgbClr val="FFFFFF"/>
                </a:solidFill>
                <a:latin typeface="Arial"/>
              </a:rPr>
              <a:t>Objective group</a:t>
            </a:r>
          </a:p>
        </p:txBody>
      </p:sp>
      <p:sp>
        <p:nvSpPr>
          <p:cNvPr id="9" name="Rectangle 8"/>
          <p:cNvSpPr/>
          <p:nvPr/>
        </p:nvSpPr>
        <p:spPr>
          <a:xfrm>
            <a:off x="4319016" y="1783080"/>
            <a:ext cx="3550920" cy="108585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355592" y="1801368"/>
            <a:ext cx="3477768" cy="1049274"/>
          </a:xfrm>
          <a:prstGeom prst="rect">
            <a:avLst/>
          </a:prstGeom>
          <a:noFill/>
        </p:spPr>
        <p:txBody>
          <a:bodyPr wrap="square" anchor="ctr" lIns="54864" rIns="54864" tIns="54864" bIns="54864">
            <a:spAutoFit/>
          </a:bodyPr>
          <a:lstStyle/>
          <a:p>
            <a:pPr algn="ctr">
              <a:spcAft>
                <a:spcPts val="300"/>
              </a:spcAft>
            </a:pPr>
            <a:r>
              <a:rPr sz="1150" b="1">
                <a:solidFill>
                  <a:srgbClr val="FFFFFF"/>
                </a:solidFill>
                <a:latin typeface="Arial"/>
              </a:rPr>
              <a:t>Codes</a:t>
            </a:r>
          </a:p>
        </p:txBody>
      </p:sp>
      <p:sp>
        <p:nvSpPr>
          <p:cNvPr id="11" name="Rectangle 10"/>
          <p:cNvSpPr/>
          <p:nvPr/>
        </p:nvSpPr>
        <p:spPr>
          <a:xfrm>
            <a:off x="7869936" y="1783080"/>
            <a:ext cx="3550920" cy="108585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906512" y="1801368"/>
            <a:ext cx="3477768" cy="1049274"/>
          </a:xfrm>
          <a:prstGeom prst="rect">
            <a:avLst/>
          </a:prstGeom>
          <a:noFill/>
        </p:spPr>
        <p:txBody>
          <a:bodyPr wrap="square" anchor="ctr" lIns="54864" rIns="54864" tIns="54864" bIns="54864">
            <a:spAutoFit/>
          </a:bodyPr>
          <a:lstStyle/>
          <a:p>
            <a:pPr algn="ctr">
              <a:spcAft>
                <a:spcPts val="300"/>
              </a:spcAft>
            </a:pPr>
            <a:r>
              <a:rPr sz="1150" b="1">
                <a:solidFill>
                  <a:srgbClr val="FFFFFF"/>
                </a:solidFill>
                <a:latin typeface="Arial"/>
              </a:rPr>
              <a:t>Objectives</a:t>
            </a:r>
          </a:p>
        </p:txBody>
      </p:sp>
      <p:sp>
        <p:nvSpPr>
          <p:cNvPr id="13" name="Rectangle 12"/>
          <p:cNvSpPr/>
          <p:nvPr/>
        </p:nvSpPr>
        <p:spPr>
          <a:xfrm>
            <a:off x="768096" y="2868930"/>
            <a:ext cx="3550920" cy="108585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 y="2887218"/>
            <a:ext cx="3441192" cy="1049274"/>
          </a:xfrm>
          <a:prstGeom prst="rect">
            <a:avLst/>
          </a:prstGeom>
          <a:noFill/>
        </p:spPr>
        <p:txBody>
          <a:bodyPr wrap="square" anchor="ctr" lIns="54864" rIns="54864" tIns="54864" bIns="54864">
            <a:spAutoFit/>
          </a:bodyPr>
          <a:lstStyle/>
          <a:p>
            <a:pPr algn="l">
              <a:spcAft>
                <a:spcPts val="300"/>
              </a:spcAft>
            </a:pPr>
            <a:r>
              <a:rPr sz="1050" b="1">
                <a:solidFill>
                  <a:srgbClr val="161B26"/>
                </a:solidFill>
                <a:latin typeface="Arial"/>
              </a:rPr>
              <a:t>Format views for presentation</a:t>
            </a:r>
          </a:p>
        </p:txBody>
      </p:sp>
      <p:sp>
        <p:nvSpPr>
          <p:cNvPr id="15" name="Rectangle 14"/>
          <p:cNvSpPr/>
          <p:nvPr/>
        </p:nvSpPr>
        <p:spPr>
          <a:xfrm>
            <a:off x="4319016" y="2868930"/>
            <a:ext cx="3550920" cy="108585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73880" y="2887218"/>
            <a:ext cx="3441192" cy="1049274"/>
          </a:xfrm>
          <a:prstGeom prst="rect">
            <a:avLst/>
          </a:prstGeom>
          <a:noFill/>
        </p:spPr>
        <p:txBody>
          <a:bodyPr wrap="square" anchor="ctr" lIns="54864" rIns="54864" tIns="54864" bIns="54864">
            <a:spAutoFit/>
          </a:bodyPr>
          <a:lstStyle/>
          <a:p>
            <a:pPr algn="l">
              <a:spcAft>
                <a:spcPts val="300"/>
              </a:spcAft>
            </a:pPr>
            <a:r>
              <a:rPr sz="1050" b="0">
                <a:solidFill>
                  <a:srgbClr val="161B26"/>
                </a:solidFill>
                <a:latin typeface="Arial"/>
              </a:rPr>
              <a:t>3.1.1–3.1.6</a:t>
            </a:r>
          </a:p>
        </p:txBody>
      </p:sp>
      <p:sp>
        <p:nvSpPr>
          <p:cNvPr id="17" name="Rectangle 16"/>
          <p:cNvSpPr/>
          <p:nvPr/>
        </p:nvSpPr>
        <p:spPr>
          <a:xfrm>
            <a:off x="7869936" y="2868930"/>
            <a:ext cx="3550920" cy="108585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24799" y="2887218"/>
            <a:ext cx="3441192" cy="1049274"/>
          </a:xfrm>
          <a:prstGeom prst="rect">
            <a:avLst/>
          </a:prstGeom>
          <a:noFill/>
        </p:spPr>
        <p:txBody>
          <a:bodyPr wrap="square" anchor="ctr" lIns="54864" rIns="54864" tIns="54864" bIns="54864">
            <a:spAutoFit/>
          </a:bodyPr>
          <a:lstStyle/>
          <a:p>
            <a:pPr algn="l">
              <a:spcAft>
                <a:spcPts val="300"/>
              </a:spcAft>
            </a:pPr>
            <a:r>
              <a:rPr sz="1050" b="0">
                <a:solidFill>
                  <a:srgbClr val="161B26"/>
                </a:solidFill>
                <a:latin typeface="Arial"/>
              </a:rPr>
              <a:t>6</a:t>
            </a:r>
          </a:p>
        </p:txBody>
      </p:sp>
      <p:sp>
        <p:nvSpPr>
          <p:cNvPr id="19" name="Rectangle 18"/>
          <p:cNvSpPr/>
          <p:nvPr/>
        </p:nvSpPr>
        <p:spPr>
          <a:xfrm>
            <a:off x="768096" y="3954780"/>
            <a:ext cx="3550920" cy="108585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60" y="3973068"/>
            <a:ext cx="3441192" cy="1049274"/>
          </a:xfrm>
          <a:prstGeom prst="rect">
            <a:avLst/>
          </a:prstGeom>
          <a:noFill/>
        </p:spPr>
        <p:txBody>
          <a:bodyPr wrap="square" anchor="ctr" lIns="54864" rIns="54864" tIns="54864" bIns="54864">
            <a:spAutoFit/>
          </a:bodyPr>
          <a:lstStyle/>
          <a:p>
            <a:pPr algn="l">
              <a:spcAft>
                <a:spcPts val="300"/>
              </a:spcAft>
            </a:pPr>
            <a:r>
              <a:rPr sz="1050" b="1">
                <a:solidFill>
                  <a:srgbClr val="161B26"/>
                </a:solidFill>
                <a:latin typeface="Arial"/>
              </a:rPr>
              <a:t>Create and modify a dashboard</a:t>
            </a:r>
          </a:p>
        </p:txBody>
      </p:sp>
      <p:sp>
        <p:nvSpPr>
          <p:cNvPr id="21" name="Rectangle 20"/>
          <p:cNvSpPr/>
          <p:nvPr/>
        </p:nvSpPr>
        <p:spPr>
          <a:xfrm>
            <a:off x="4319016" y="3954780"/>
            <a:ext cx="3550920" cy="108585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373880" y="3973068"/>
            <a:ext cx="3441192" cy="1049274"/>
          </a:xfrm>
          <a:prstGeom prst="rect">
            <a:avLst/>
          </a:prstGeom>
          <a:noFill/>
        </p:spPr>
        <p:txBody>
          <a:bodyPr wrap="square" anchor="ctr" lIns="54864" rIns="54864" tIns="54864" bIns="54864">
            <a:spAutoFit/>
          </a:bodyPr>
          <a:lstStyle/>
          <a:p>
            <a:pPr algn="l">
              <a:spcAft>
                <a:spcPts val="300"/>
              </a:spcAft>
            </a:pPr>
            <a:r>
              <a:rPr sz="1050" b="0">
                <a:solidFill>
                  <a:srgbClr val="161B26"/>
                </a:solidFill>
                <a:latin typeface="Arial"/>
              </a:rPr>
              <a:t>3.2.1–3.2.5</a:t>
            </a:r>
          </a:p>
        </p:txBody>
      </p:sp>
      <p:sp>
        <p:nvSpPr>
          <p:cNvPr id="23" name="Rectangle 22"/>
          <p:cNvSpPr/>
          <p:nvPr/>
        </p:nvSpPr>
        <p:spPr>
          <a:xfrm>
            <a:off x="7869936" y="3954780"/>
            <a:ext cx="3550920" cy="108585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924799" y="3973068"/>
            <a:ext cx="3441192" cy="1049274"/>
          </a:xfrm>
          <a:prstGeom prst="rect">
            <a:avLst/>
          </a:prstGeom>
          <a:noFill/>
        </p:spPr>
        <p:txBody>
          <a:bodyPr wrap="square" anchor="ctr" lIns="54864" rIns="54864" tIns="54864" bIns="54864">
            <a:spAutoFit/>
          </a:bodyPr>
          <a:lstStyle/>
          <a:p>
            <a:pPr algn="l">
              <a:spcAft>
                <a:spcPts val="300"/>
              </a:spcAft>
            </a:pPr>
            <a:r>
              <a:rPr sz="1050" b="0">
                <a:solidFill>
                  <a:srgbClr val="161B26"/>
                </a:solidFill>
                <a:latin typeface="Arial"/>
              </a:rPr>
              <a:t>5</a:t>
            </a:r>
          </a:p>
        </p:txBody>
      </p:sp>
      <p:sp>
        <p:nvSpPr>
          <p:cNvPr id="25" name="Rectangle 24"/>
          <p:cNvSpPr/>
          <p:nvPr/>
        </p:nvSpPr>
        <p:spPr>
          <a:xfrm>
            <a:off x="768096" y="5040630"/>
            <a:ext cx="3550920" cy="108585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2960" y="5058918"/>
            <a:ext cx="3441192" cy="1049274"/>
          </a:xfrm>
          <a:prstGeom prst="rect">
            <a:avLst/>
          </a:prstGeom>
          <a:noFill/>
        </p:spPr>
        <p:txBody>
          <a:bodyPr wrap="square" anchor="ctr" lIns="54864" rIns="54864" tIns="54864" bIns="54864">
            <a:spAutoFit/>
          </a:bodyPr>
          <a:lstStyle/>
          <a:p>
            <a:pPr algn="l">
              <a:spcAft>
                <a:spcPts val="300"/>
              </a:spcAft>
            </a:pPr>
            <a:r>
              <a:rPr sz="1050" b="1">
                <a:solidFill>
                  <a:srgbClr val="161B26"/>
                </a:solidFill>
                <a:latin typeface="Arial"/>
              </a:rPr>
              <a:t>View and share workbook data</a:t>
            </a:r>
          </a:p>
        </p:txBody>
      </p:sp>
      <p:sp>
        <p:nvSpPr>
          <p:cNvPr id="27" name="Rectangle 26"/>
          <p:cNvSpPr/>
          <p:nvPr/>
        </p:nvSpPr>
        <p:spPr>
          <a:xfrm>
            <a:off x="4319016" y="5040630"/>
            <a:ext cx="3550920" cy="108585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373880" y="5058918"/>
            <a:ext cx="3441192" cy="1049274"/>
          </a:xfrm>
          <a:prstGeom prst="rect">
            <a:avLst/>
          </a:prstGeom>
          <a:noFill/>
        </p:spPr>
        <p:txBody>
          <a:bodyPr wrap="square" anchor="ctr" lIns="54864" rIns="54864" tIns="54864" bIns="54864">
            <a:spAutoFit/>
          </a:bodyPr>
          <a:lstStyle/>
          <a:p>
            <a:pPr algn="l">
              <a:spcAft>
                <a:spcPts val="300"/>
              </a:spcAft>
            </a:pPr>
            <a:r>
              <a:rPr sz="1050" b="0">
                <a:solidFill>
                  <a:srgbClr val="161B26"/>
                </a:solidFill>
                <a:latin typeface="Arial"/>
              </a:rPr>
              <a:t>3.3.1–3.3.3</a:t>
            </a:r>
          </a:p>
        </p:txBody>
      </p:sp>
      <p:sp>
        <p:nvSpPr>
          <p:cNvPr id="29" name="Rectangle 28"/>
          <p:cNvSpPr/>
          <p:nvPr/>
        </p:nvSpPr>
        <p:spPr>
          <a:xfrm>
            <a:off x="7869936" y="5040630"/>
            <a:ext cx="3550920" cy="108585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924799" y="5058918"/>
            <a:ext cx="3441192" cy="1049274"/>
          </a:xfrm>
          <a:prstGeom prst="rect">
            <a:avLst/>
          </a:prstGeom>
          <a:noFill/>
        </p:spPr>
        <p:txBody>
          <a:bodyPr wrap="square" anchor="ctr" lIns="54864" rIns="54864" tIns="54864" bIns="54864">
            <a:spAutoFit/>
          </a:bodyPr>
          <a:lstStyle/>
          <a:p>
            <a:pPr algn="l">
              <a:spcAft>
                <a:spcPts val="300"/>
              </a:spcAft>
            </a:pPr>
            <a:r>
              <a:rPr sz="1050" b="0">
                <a:solidFill>
                  <a:srgbClr val="161B26"/>
                </a:solidFill>
                <a:latin typeface="Arial"/>
              </a:rPr>
              <a:t>3</a:t>
            </a:r>
          </a:p>
        </p:txBody>
      </p:sp>
      <p:sp>
        <p:nvSpPr>
          <p:cNvPr id="31" name="TextBox 30"/>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32" name="TextBox 31"/>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33" name="TextBox 32"/>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106</a:t>
            </a:r>
          </a:p>
        </p:txBody>
      </p:sp>
    </p:spTree>
  </p:cSld>
  <p:clrMapOvr>
    <a:masterClrMapping/>
  </p:clrMapOvr>
  <p:transition spd="fast">
    <p:fade/>
  </p:transition>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37744"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47472"/>
            <a:ext cx="10698480" cy="292608"/>
          </a:xfrm>
          <a:prstGeom prst="rect">
            <a:avLst/>
          </a:prstGeom>
          <a:noFill/>
        </p:spPr>
        <p:txBody>
          <a:bodyPr wrap="square" anchor="t" lIns="54864" rIns="54864" tIns="54864" bIns="54864">
            <a:spAutoFit/>
          </a:bodyPr>
          <a:lstStyle/>
          <a:p>
            <a:pPr algn="l">
              <a:spcAft>
                <a:spcPts val="300"/>
              </a:spcAft>
            </a:pPr>
            <a:r>
              <a:rPr sz="1200" b="1">
                <a:solidFill>
                  <a:srgbClr val="7C3AED"/>
                </a:solidFill>
                <a:latin typeface="Arial"/>
              </a:rPr>
              <a:t>EDITABLE POWERPOINT CHART · SYNTHETIC DATA</a:t>
            </a:r>
          </a:p>
        </p:txBody>
      </p:sp>
      <p:sp>
        <p:nvSpPr>
          <p:cNvPr id="5" name="TextBox 4"/>
          <p:cNvSpPr txBox="1"/>
          <p:nvPr/>
        </p:nvSpPr>
        <p:spPr>
          <a:xfrm>
            <a:off x="749808" y="713232"/>
            <a:ext cx="10744200" cy="731520"/>
          </a:xfrm>
          <a:prstGeom prst="rect">
            <a:avLst/>
          </a:prstGeom>
          <a:noFill/>
        </p:spPr>
        <p:txBody>
          <a:bodyPr wrap="square" anchor="ctr" lIns="54864" rIns="54864" tIns="54864" bIns="54864">
            <a:spAutoFit/>
          </a:bodyPr>
          <a:lstStyle/>
          <a:p>
            <a:pPr algn="l">
              <a:spcAft>
                <a:spcPts val="300"/>
              </a:spcAft>
            </a:pPr>
            <a:r>
              <a:rPr sz="2700" b="1">
                <a:solidFill>
                  <a:srgbClr val="161B26"/>
                </a:solidFill>
                <a:latin typeface="Arial"/>
              </a:rPr>
              <a:t>Dashboard Attention Should Follow Risk</a:t>
            </a:r>
          </a:p>
        </p:txBody>
      </p:sp>
      <p:sp>
        <p:nvSpPr>
          <p:cNvPr id="6" name="Rectangle 5"/>
          <p:cNvSpPr/>
          <p:nvPr/>
        </p:nvSpPr>
        <p:spPr>
          <a:xfrm>
            <a:off x="749808" y="1536192"/>
            <a:ext cx="106984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Chart 6"/>
          <p:cNvGraphicFramePr>
            <a:graphicFrameLocks noGrp="1"/>
          </p:cNvGraphicFramePr>
          <p:nvPr/>
        </p:nvGraphicFramePr>
        <p:xfrm>
          <a:off x="914400" y="1828800"/>
          <a:ext cx="10332720" cy="3886200"/>
        </p:xfrm>
        <a:graphic>
          <a:graphicData uri="http://schemas.openxmlformats.org/drawingml/2006/chart">
            <c:chart xmlns:c="http://schemas.openxmlformats.org/drawingml/2006/chart" r:id="rId2"/>
          </a:graphicData>
        </a:graphic>
      </p:graphicFrame>
      <p:sp>
        <p:nvSpPr>
          <p:cNvPr id="8" name="TextBox 7"/>
          <p:cNvSpPr txBox="1"/>
          <p:nvPr/>
        </p:nvSpPr>
        <p:spPr>
          <a:xfrm>
            <a:off x="914400" y="5760720"/>
            <a:ext cx="10241280" cy="411480"/>
          </a:xfrm>
          <a:prstGeom prst="rect">
            <a:avLst/>
          </a:prstGeom>
          <a:noFill/>
        </p:spPr>
        <p:txBody>
          <a:bodyPr wrap="square" anchor="t" lIns="54864" rIns="54864" tIns="54864" bIns="54864">
            <a:spAutoFit/>
          </a:bodyPr>
          <a:lstStyle/>
          <a:p>
            <a:pPr algn="ctr">
              <a:spcAft>
                <a:spcPts val="300"/>
              </a:spcAft>
            </a:pPr>
            <a:r>
              <a:rPr sz="1150" b="0">
                <a:solidFill>
                  <a:srgbClr val="5B6372"/>
                </a:solidFill>
                <a:latin typeface="Arial"/>
              </a:rPr>
              <a:t>A dashboard should prioritise decisions, not give equal visual weight to every metric.</a:t>
            </a:r>
          </a:p>
        </p:txBody>
      </p:sp>
      <p:sp>
        <p:nvSpPr>
          <p:cNvPr id="9" name="TextBox 8"/>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10" name="TextBox 9"/>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11" name="TextBox 10"/>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107</a:t>
            </a:r>
          </a:p>
        </p:txBody>
      </p:sp>
    </p:spTree>
  </p:cSld>
  <p:clrMapOvr>
    <a:masterClrMapping/>
  </p:clrMapOvr>
  <p:transition spd="fast">
    <p:fade/>
  </p:transition>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37744"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47472"/>
            <a:ext cx="10698480" cy="292608"/>
          </a:xfrm>
          <a:prstGeom prst="rect">
            <a:avLst/>
          </a:prstGeom>
          <a:noFill/>
        </p:spPr>
        <p:txBody>
          <a:bodyPr wrap="square" anchor="t" lIns="54864" rIns="54864" tIns="54864" bIns="54864">
            <a:spAutoFit/>
          </a:bodyPr>
          <a:lstStyle/>
          <a:p>
            <a:pPr algn="l">
              <a:spcAft>
                <a:spcPts val="300"/>
              </a:spcAft>
            </a:pPr>
            <a:r>
              <a:rPr sz="1200" b="1">
                <a:solidFill>
                  <a:srgbClr val="7C3AED"/>
                </a:solidFill>
                <a:latin typeface="Arial"/>
              </a:rPr>
              <a:t>DOMAIN 3 · SECTION 1</a:t>
            </a:r>
          </a:p>
        </p:txBody>
      </p:sp>
      <p:sp>
        <p:nvSpPr>
          <p:cNvPr id="5" name="TextBox 4"/>
          <p:cNvSpPr txBox="1"/>
          <p:nvPr/>
        </p:nvSpPr>
        <p:spPr>
          <a:xfrm>
            <a:off x="749808" y="713232"/>
            <a:ext cx="10744200" cy="731520"/>
          </a:xfrm>
          <a:prstGeom prst="rect">
            <a:avLst/>
          </a:prstGeom>
          <a:noFill/>
        </p:spPr>
        <p:txBody>
          <a:bodyPr wrap="square" anchor="ctr" lIns="54864" rIns="54864" tIns="54864" bIns="54864">
            <a:spAutoFit/>
          </a:bodyPr>
          <a:lstStyle/>
          <a:p>
            <a:pPr algn="l">
              <a:spcAft>
                <a:spcPts val="300"/>
              </a:spcAft>
            </a:pPr>
            <a:r>
              <a:rPr sz="2700" b="1">
                <a:solidFill>
                  <a:srgbClr val="161B26"/>
                </a:solidFill>
                <a:latin typeface="Arial"/>
              </a:rPr>
              <a:t>Format views for presentation</a:t>
            </a:r>
          </a:p>
        </p:txBody>
      </p:sp>
      <p:sp>
        <p:nvSpPr>
          <p:cNvPr id="6" name="Rectangle 5"/>
          <p:cNvSpPr/>
          <p:nvPr/>
        </p:nvSpPr>
        <p:spPr>
          <a:xfrm>
            <a:off x="749808" y="1536192"/>
            <a:ext cx="106984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8096"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68096" y="1764792"/>
            <a:ext cx="82296" cy="206197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96695" y="2548890"/>
            <a:ext cx="493776" cy="49377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5"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1</a:t>
            </a:r>
          </a:p>
        </p:txBody>
      </p:sp>
      <p:sp>
        <p:nvSpPr>
          <p:cNvPr id="11" name="TextBox 10"/>
          <p:cNvSpPr txBox="1"/>
          <p:nvPr/>
        </p:nvSpPr>
        <p:spPr>
          <a:xfrm>
            <a:off x="1664207"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Colour</a:t>
            </a:r>
          </a:p>
          <a:p>
            <a:pPr algn="l">
              <a:spcAft>
                <a:spcPts val="300"/>
              </a:spcAft>
            </a:pPr>
            <a:r>
              <a:rPr sz="1200" b="0">
                <a:solidFill>
                  <a:srgbClr val="5B6372"/>
                </a:solidFill>
                <a:latin typeface="Arial"/>
              </a:rPr>
              <a:t>Categorical hues show identity; ordered palettes show magnitude.</a:t>
            </a:r>
          </a:p>
        </p:txBody>
      </p:sp>
      <p:sp>
        <p:nvSpPr>
          <p:cNvPr id="12" name="Rectangle 11"/>
          <p:cNvSpPr/>
          <p:nvPr/>
        </p:nvSpPr>
        <p:spPr>
          <a:xfrm>
            <a:off x="6222492"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22492" y="1764792"/>
            <a:ext cx="82296" cy="206197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51092" y="2548890"/>
            <a:ext cx="493776" cy="49377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51092"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2</a:t>
            </a:r>
          </a:p>
        </p:txBody>
      </p:sp>
      <p:sp>
        <p:nvSpPr>
          <p:cNvPr id="16" name="TextBox 15"/>
          <p:cNvSpPr txBox="1"/>
          <p:nvPr/>
        </p:nvSpPr>
        <p:spPr>
          <a:xfrm>
            <a:off x="7118604"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Typography</a:t>
            </a:r>
          </a:p>
          <a:p>
            <a:pPr algn="l">
              <a:spcAft>
                <a:spcPts val="300"/>
              </a:spcAft>
            </a:pPr>
            <a:r>
              <a:rPr sz="1200" b="0">
                <a:solidFill>
                  <a:srgbClr val="5B6372"/>
                </a:solidFill>
                <a:latin typeface="Arial"/>
              </a:rPr>
              <a:t>Create a readable hierarchy and concise labels.</a:t>
            </a:r>
          </a:p>
        </p:txBody>
      </p:sp>
      <p:sp>
        <p:nvSpPr>
          <p:cNvPr id="17" name="Rectangle 16"/>
          <p:cNvSpPr/>
          <p:nvPr/>
        </p:nvSpPr>
        <p:spPr>
          <a:xfrm>
            <a:off x="768096"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68096" y="4046220"/>
            <a:ext cx="82296" cy="206197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96695" y="4830318"/>
            <a:ext cx="493776" cy="49377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96695"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3</a:t>
            </a:r>
          </a:p>
        </p:txBody>
      </p:sp>
      <p:sp>
        <p:nvSpPr>
          <p:cNvPr id="21" name="TextBox 20"/>
          <p:cNvSpPr txBox="1"/>
          <p:nvPr/>
        </p:nvSpPr>
        <p:spPr>
          <a:xfrm>
            <a:off x="1664207"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Marks</a:t>
            </a:r>
          </a:p>
          <a:p>
            <a:pPr algn="l">
              <a:spcAft>
                <a:spcPts val="300"/>
              </a:spcAft>
            </a:pPr>
            <a:r>
              <a:rPr sz="1200" b="0">
                <a:solidFill>
                  <a:srgbClr val="5B6372"/>
                </a:solidFill>
                <a:latin typeface="Arial"/>
              </a:rPr>
              <a:t>Shape and size encode defined variables and remain distinguishable.</a:t>
            </a:r>
          </a:p>
        </p:txBody>
      </p:sp>
      <p:sp>
        <p:nvSpPr>
          <p:cNvPr id="22" name="Rectangle 21"/>
          <p:cNvSpPr/>
          <p:nvPr/>
        </p:nvSpPr>
        <p:spPr>
          <a:xfrm>
            <a:off x="6222492"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22492" y="4046220"/>
            <a:ext cx="82296" cy="206197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51092" y="4830318"/>
            <a:ext cx="493776" cy="49377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51092"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4</a:t>
            </a:r>
          </a:p>
        </p:txBody>
      </p:sp>
      <p:sp>
        <p:nvSpPr>
          <p:cNvPr id="26" name="TextBox 25"/>
          <p:cNvSpPr txBox="1"/>
          <p:nvPr/>
        </p:nvSpPr>
        <p:spPr>
          <a:xfrm>
            <a:off x="7118604"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Motion</a:t>
            </a:r>
          </a:p>
          <a:p>
            <a:pPr algn="l">
              <a:spcAft>
                <a:spcPts val="300"/>
              </a:spcAft>
            </a:pPr>
            <a:r>
              <a:rPr sz="1200" b="0">
                <a:solidFill>
                  <a:srgbClr val="5B6372"/>
                </a:solidFill>
                <a:latin typeface="Arial"/>
              </a:rPr>
              <a:t>Animation explains change but must not conceal the final state.</a:t>
            </a:r>
          </a:p>
        </p:txBody>
      </p:sp>
      <p:sp>
        <p:nvSpPr>
          <p:cNvPr id="27" name="TextBox 26"/>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28" name="TextBox 27"/>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29" name="TextBox 28"/>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108</a:t>
            </a:r>
          </a:p>
        </p:txBody>
      </p:sp>
    </p:spTree>
  </p:cSld>
  <p:clrMapOvr>
    <a:masterClrMapping/>
  </p:clrMapOvr>
  <p:transition spd="fast">
    <p:fade/>
  </p:transition>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37744"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47472"/>
            <a:ext cx="10698480" cy="292608"/>
          </a:xfrm>
          <a:prstGeom prst="rect">
            <a:avLst/>
          </a:prstGeom>
          <a:noFill/>
        </p:spPr>
        <p:txBody>
          <a:bodyPr wrap="square" anchor="t" lIns="54864" rIns="54864" tIns="54864" bIns="54864">
            <a:spAutoFit/>
          </a:bodyPr>
          <a:lstStyle/>
          <a:p>
            <a:pPr algn="l">
              <a:spcAft>
                <a:spcPts val="300"/>
              </a:spcAft>
            </a:pPr>
            <a:r>
              <a:rPr sz="1200" b="1">
                <a:solidFill>
                  <a:srgbClr val="7C3AED"/>
                </a:solidFill>
                <a:latin typeface="Arial"/>
              </a:rPr>
              <a:t>CONCEPTUAL DECISION FLOW</a:t>
            </a:r>
          </a:p>
        </p:txBody>
      </p:sp>
      <p:sp>
        <p:nvSpPr>
          <p:cNvPr id="5" name="TextBox 4"/>
          <p:cNvSpPr txBox="1"/>
          <p:nvPr/>
        </p:nvSpPr>
        <p:spPr>
          <a:xfrm>
            <a:off x="749808" y="713232"/>
            <a:ext cx="10744200" cy="731520"/>
          </a:xfrm>
          <a:prstGeom prst="rect">
            <a:avLst/>
          </a:prstGeom>
          <a:noFill/>
        </p:spPr>
        <p:txBody>
          <a:bodyPr wrap="square" anchor="ctr" lIns="54864" rIns="54864" tIns="54864" bIns="54864">
            <a:spAutoFit/>
          </a:bodyPr>
          <a:lstStyle/>
          <a:p>
            <a:pPr algn="l">
              <a:spcAft>
                <a:spcPts val="300"/>
              </a:spcAft>
            </a:pPr>
            <a:r>
              <a:rPr sz="2700" b="1">
                <a:solidFill>
                  <a:srgbClr val="161B26"/>
                </a:solidFill>
                <a:latin typeface="Arial"/>
              </a:rPr>
              <a:t>Reasoning Pattern — Format views for presentation</a:t>
            </a:r>
          </a:p>
        </p:txBody>
      </p:sp>
      <p:sp>
        <p:nvSpPr>
          <p:cNvPr id="6" name="Rectangle 5"/>
          <p:cNvSpPr/>
          <p:nvPr/>
        </p:nvSpPr>
        <p:spPr>
          <a:xfrm>
            <a:off x="749808" y="1536192"/>
            <a:ext cx="106984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8096" y="2057400"/>
            <a:ext cx="1947672" cy="2971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68096" y="2057400"/>
            <a:ext cx="1947672"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76172" y="2423160"/>
            <a:ext cx="731520" cy="7315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6172" y="2423160"/>
            <a:ext cx="731520" cy="731520"/>
          </a:xfrm>
          <a:prstGeom prst="rect">
            <a:avLst/>
          </a:prstGeom>
          <a:noFill/>
        </p:spPr>
        <p:txBody>
          <a:bodyPr wrap="square" anchor="ctr" lIns="54864" rIns="54864" tIns="54864" bIns="54864">
            <a:spAutoFit/>
          </a:bodyPr>
          <a:lstStyle/>
          <a:p>
            <a:pPr algn="ctr">
              <a:spcAft>
                <a:spcPts val="300"/>
              </a:spcAft>
            </a:pPr>
            <a:r>
              <a:rPr sz="2400" b="1">
                <a:solidFill>
                  <a:srgbClr val="FFFFFF"/>
                </a:solidFill>
                <a:latin typeface="Arial"/>
              </a:rPr>
              <a:t>1</a:t>
            </a:r>
          </a:p>
        </p:txBody>
      </p:sp>
      <p:sp>
        <p:nvSpPr>
          <p:cNvPr id="11" name="TextBox 10"/>
          <p:cNvSpPr txBox="1"/>
          <p:nvPr/>
        </p:nvSpPr>
        <p:spPr>
          <a:xfrm>
            <a:off x="877824" y="3429000"/>
            <a:ext cx="1728216" cy="1143000"/>
          </a:xfrm>
          <a:prstGeom prst="rect">
            <a:avLst/>
          </a:prstGeom>
          <a:noFill/>
        </p:spPr>
        <p:txBody>
          <a:bodyPr wrap="square" anchor="ctr" lIns="54864" rIns="54864" tIns="54864" bIns="54864">
            <a:spAutoFit/>
          </a:bodyPr>
          <a:lstStyle/>
          <a:p>
            <a:pPr algn="ctr">
              <a:spcAft>
                <a:spcPts val="300"/>
              </a:spcAft>
            </a:pPr>
            <a:r>
              <a:rPr sz="1250" b="0">
                <a:solidFill>
                  <a:srgbClr val="161B26"/>
                </a:solidFill>
                <a:latin typeface="Arial"/>
              </a:rPr>
              <a:t>Colour</a:t>
            </a:r>
          </a:p>
        </p:txBody>
      </p:sp>
      <p:sp>
        <p:nvSpPr>
          <p:cNvPr id="12" name="TextBox 11"/>
          <p:cNvSpPr txBox="1"/>
          <p:nvPr/>
        </p:nvSpPr>
        <p:spPr>
          <a:xfrm>
            <a:off x="2697479" y="3246120"/>
            <a:ext cx="274320" cy="365760"/>
          </a:xfrm>
          <a:prstGeom prst="rect">
            <a:avLst/>
          </a:prstGeom>
          <a:noFill/>
        </p:spPr>
        <p:txBody>
          <a:bodyPr wrap="square" anchor="t" lIns="54864" rIns="54864" tIns="54864" bIns="54864">
            <a:spAutoFit/>
          </a:bodyPr>
          <a:lstStyle/>
          <a:p>
            <a:pPr algn="ctr">
              <a:spcAft>
                <a:spcPts val="300"/>
              </a:spcAft>
            </a:pPr>
            <a:r>
              <a:rPr sz="1200" b="1">
                <a:solidFill>
                  <a:srgbClr val="7C3AED"/>
                </a:solidFill>
                <a:latin typeface="Arial"/>
              </a:rPr>
              <a:t>▶</a:t>
            </a:r>
          </a:p>
        </p:txBody>
      </p:sp>
      <p:sp>
        <p:nvSpPr>
          <p:cNvPr id="13" name="Rectangle 12"/>
          <p:cNvSpPr/>
          <p:nvPr/>
        </p:nvSpPr>
        <p:spPr>
          <a:xfrm>
            <a:off x="2944368" y="2057400"/>
            <a:ext cx="1947672" cy="2971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44368" y="2057400"/>
            <a:ext cx="1947672"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52444" y="2423160"/>
            <a:ext cx="731520" cy="7315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52444" y="2423160"/>
            <a:ext cx="731520" cy="731520"/>
          </a:xfrm>
          <a:prstGeom prst="rect">
            <a:avLst/>
          </a:prstGeom>
          <a:noFill/>
        </p:spPr>
        <p:txBody>
          <a:bodyPr wrap="square" anchor="ctr" lIns="54864" rIns="54864" tIns="54864" bIns="54864">
            <a:spAutoFit/>
          </a:bodyPr>
          <a:lstStyle/>
          <a:p>
            <a:pPr algn="ctr">
              <a:spcAft>
                <a:spcPts val="300"/>
              </a:spcAft>
            </a:pPr>
            <a:r>
              <a:rPr sz="2400" b="1">
                <a:solidFill>
                  <a:srgbClr val="FFFFFF"/>
                </a:solidFill>
                <a:latin typeface="Arial"/>
              </a:rPr>
              <a:t>2</a:t>
            </a:r>
          </a:p>
        </p:txBody>
      </p:sp>
      <p:sp>
        <p:nvSpPr>
          <p:cNvPr id="17" name="TextBox 16"/>
          <p:cNvSpPr txBox="1"/>
          <p:nvPr/>
        </p:nvSpPr>
        <p:spPr>
          <a:xfrm>
            <a:off x="3054096" y="3429000"/>
            <a:ext cx="1728216" cy="1143000"/>
          </a:xfrm>
          <a:prstGeom prst="rect">
            <a:avLst/>
          </a:prstGeom>
          <a:noFill/>
        </p:spPr>
        <p:txBody>
          <a:bodyPr wrap="square" anchor="ctr" lIns="54864" rIns="54864" tIns="54864" bIns="54864">
            <a:spAutoFit/>
          </a:bodyPr>
          <a:lstStyle/>
          <a:p>
            <a:pPr algn="ctr">
              <a:spcAft>
                <a:spcPts val="300"/>
              </a:spcAft>
            </a:pPr>
            <a:r>
              <a:rPr sz="1250" b="0">
                <a:solidFill>
                  <a:srgbClr val="161B26"/>
                </a:solidFill>
                <a:latin typeface="Arial"/>
              </a:rPr>
              <a:t>Typography</a:t>
            </a:r>
          </a:p>
        </p:txBody>
      </p:sp>
      <p:sp>
        <p:nvSpPr>
          <p:cNvPr id="18" name="TextBox 17"/>
          <p:cNvSpPr txBox="1"/>
          <p:nvPr/>
        </p:nvSpPr>
        <p:spPr>
          <a:xfrm>
            <a:off x="4873752" y="3246120"/>
            <a:ext cx="274320" cy="365760"/>
          </a:xfrm>
          <a:prstGeom prst="rect">
            <a:avLst/>
          </a:prstGeom>
          <a:noFill/>
        </p:spPr>
        <p:txBody>
          <a:bodyPr wrap="square" anchor="t" lIns="54864" rIns="54864" tIns="54864" bIns="54864">
            <a:spAutoFit/>
          </a:bodyPr>
          <a:lstStyle/>
          <a:p>
            <a:pPr algn="ctr">
              <a:spcAft>
                <a:spcPts val="300"/>
              </a:spcAft>
            </a:pPr>
            <a:r>
              <a:rPr sz="1200" b="1">
                <a:solidFill>
                  <a:srgbClr val="7C3AED"/>
                </a:solidFill>
                <a:latin typeface="Arial"/>
              </a:rPr>
              <a:t>▶</a:t>
            </a:r>
          </a:p>
        </p:txBody>
      </p:sp>
      <p:sp>
        <p:nvSpPr>
          <p:cNvPr id="19" name="Rectangle 18"/>
          <p:cNvSpPr/>
          <p:nvPr/>
        </p:nvSpPr>
        <p:spPr>
          <a:xfrm>
            <a:off x="5120640" y="2057400"/>
            <a:ext cx="1947672" cy="2971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0" y="2057400"/>
            <a:ext cx="1947672"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28715" y="2423160"/>
            <a:ext cx="731520" cy="7315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28715" y="2423160"/>
            <a:ext cx="731520" cy="731520"/>
          </a:xfrm>
          <a:prstGeom prst="rect">
            <a:avLst/>
          </a:prstGeom>
          <a:noFill/>
        </p:spPr>
        <p:txBody>
          <a:bodyPr wrap="square" anchor="ctr" lIns="54864" rIns="54864" tIns="54864" bIns="54864">
            <a:spAutoFit/>
          </a:bodyPr>
          <a:lstStyle/>
          <a:p>
            <a:pPr algn="ctr">
              <a:spcAft>
                <a:spcPts val="300"/>
              </a:spcAft>
            </a:pPr>
            <a:r>
              <a:rPr sz="2400" b="1">
                <a:solidFill>
                  <a:srgbClr val="FFFFFF"/>
                </a:solidFill>
                <a:latin typeface="Arial"/>
              </a:rPr>
              <a:t>3</a:t>
            </a:r>
          </a:p>
        </p:txBody>
      </p:sp>
      <p:sp>
        <p:nvSpPr>
          <p:cNvPr id="23" name="TextBox 22"/>
          <p:cNvSpPr txBox="1"/>
          <p:nvPr/>
        </p:nvSpPr>
        <p:spPr>
          <a:xfrm>
            <a:off x="5230368" y="3429000"/>
            <a:ext cx="1728216" cy="1143000"/>
          </a:xfrm>
          <a:prstGeom prst="rect">
            <a:avLst/>
          </a:prstGeom>
          <a:noFill/>
        </p:spPr>
        <p:txBody>
          <a:bodyPr wrap="square" anchor="ctr" lIns="54864" rIns="54864" tIns="54864" bIns="54864">
            <a:spAutoFit/>
          </a:bodyPr>
          <a:lstStyle/>
          <a:p>
            <a:pPr algn="ctr">
              <a:spcAft>
                <a:spcPts val="300"/>
              </a:spcAft>
            </a:pPr>
            <a:r>
              <a:rPr sz="1250" b="0">
                <a:solidFill>
                  <a:srgbClr val="161B26"/>
                </a:solidFill>
                <a:latin typeface="Arial"/>
              </a:rPr>
              <a:t>Marks</a:t>
            </a:r>
          </a:p>
        </p:txBody>
      </p:sp>
      <p:sp>
        <p:nvSpPr>
          <p:cNvPr id="24" name="TextBox 23"/>
          <p:cNvSpPr txBox="1"/>
          <p:nvPr/>
        </p:nvSpPr>
        <p:spPr>
          <a:xfrm>
            <a:off x="7050024" y="3246120"/>
            <a:ext cx="274320" cy="365760"/>
          </a:xfrm>
          <a:prstGeom prst="rect">
            <a:avLst/>
          </a:prstGeom>
          <a:noFill/>
        </p:spPr>
        <p:txBody>
          <a:bodyPr wrap="square" anchor="t" lIns="54864" rIns="54864" tIns="54864" bIns="54864">
            <a:spAutoFit/>
          </a:bodyPr>
          <a:lstStyle/>
          <a:p>
            <a:pPr algn="ctr">
              <a:spcAft>
                <a:spcPts val="300"/>
              </a:spcAft>
            </a:pPr>
            <a:r>
              <a:rPr sz="1200" b="1">
                <a:solidFill>
                  <a:srgbClr val="7C3AED"/>
                </a:solidFill>
                <a:latin typeface="Arial"/>
              </a:rPr>
              <a:t>▶</a:t>
            </a:r>
          </a:p>
        </p:txBody>
      </p:sp>
      <p:sp>
        <p:nvSpPr>
          <p:cNvPr id="25" name="Rectangle 24"/>
          <p:cNvSpPr/>
          <p:nvPr/>
        </p:nvSpPr>
        <p:spPr>
          <a:xfrm>
            <a:off x="7296912" y="2057400"/>
            <a:ext cx="1947672" cy="2971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296912" y="2057400"/>
            <a:ext cx="1947672"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04988" y="2423160"/>
            <a:ext cx="731520" cy="7315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4988" y="2423160"/>
            <a:ext cx="731520" cy="731520"/>
          </a:xfrm>
          <a:prstGeom prst="rect">
            <a:avLst/>
          </a:prstGeom>
          <a:noFill/>
        </p:spPr>
        <p:txBody>
          <a:bodyPr wrap="square" anchor="ctr" lIns="54864" rIns="54864" tIns="54864" bIns="54864">
            <a:spAutoFit/>
          </a:bodyPr>
          <a:lstStyle/>
          <a:p>
            <a:pPr algn="ctr">
              <a:spcAft>
                <a:spcPts val="300"/>
              </a:spcAft>
            </a:pPr>
            <a:r>
              <a:rPr sz="2400" b="1">
                <a:solidFill>
                  <a:srgbClr val="FFFFFF"/>
                </a:solidFill>
                <a:latin typeface="Arial"/>
              </a:rPr>
              <a:t>4</a:t>
            </a:r>
          </a:p>
        </p:txBody>
      </p:sp>
      <p:sp>
        <p:nvSpPr>
          <p:cNvPr id="29" name="TextBox 28"/>
          <p:cNvSpPr txBox="1"/>
          <p:nvPr/>
        </p:nvSpPr>
        <p:spPr>
          <a:xfrm>
            <a:off x="7406640" y="3429000"/>
            <a:ext cx="1728216" cy="1143000"/>
          </a:xfrm>
          <a:prstGeom prst="rect">
            <a:avLst/>
          </a:prstGeom>
          <a:noFill/>
        </p:spPr>
        <p:txBody>
          <a:bodyPr wrap="square" anchor="ctr" lIns="54864" rIns="54864" tIns="54864" bIns="54864">
            <a:spAutoFit/>
          </a:bodyPr>
          <a:lstStyle/>
          <a:p>
            <a:pPr algn="ctr">
              <a:spcAft>
                <a:spcPts val="300"/>
              </a:spcAft>
            </a:pPr>
            <a:r>
              <a:rPr sz="1250" b="0">
                <a:solidFill>
                  <a:srgbClr val="161B26"/>
                </a:solidFill>
                <a:latin typeface="Arial"/>
              </a:rPr>
              <a:t>Motion</a:t>
            </a:r>
          </a:p>
        </p:txBody>
      </p:sp>
      <p:sp>
        <p:nvSpPr>
          <p:cNvPr id="30" name="TextBox 29"/>
          <p:cNvSpPr txBox="1"/>
          <p:nvPr/>
        </p:nvSpPr>
        <p:spPr>
          <a:xfrm>
            <a:off x="9226296" y="3246120"/>
            <a:ext cx="274320" cy="365760"/>
          </a:xfrm>
          <a:prstGeom prst="rect">
            <a:avLst/>
          </a:prstGeom>
          <a:noFill/>
        </p:spPr>
        <p:txBody>
          <a:bodyPr wrap="square" anchor="t" lIns="54864" rIns="54864" tIns="54864" bIns="54864">
            <a:spAutoFit/>
          </a:bodyPr>
          <a:lstStyle/>
          <a:p>
            <a:pPr algn="ctr">
              <a:spcAft>
                <a:spcPts val="300"/>
              </a:spcAft>
            </a:pPr>
            <a:r>
              <a:rPr sz="1200" b="1">
                <a:solidFill>
                  <a:srgbClr val="7C3AED"/>
                </a:solidFill>
                <a:latin typeface="Arial"/>
              </a:rPr>
              <a:t>▶</a:t>
            </a:r>
          </a:p>
        </p:txBody>
      </p:sp>
      <p:sp>
        <p:nvSpPr>
          <p:cNvPr id="31" name="Rectangle 30"/>
          <p:cNvSpPr/>
          <p:nvPr/>
        </p:nvSpPr>
        <p:spPr>
          <a:xfrm>
            <a:off x="9473184" y="2057400"/>
            <a:ext cx="1947672" cy="2971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473184" y="2057400"/>
            <a:ext cx="1947672"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81259" y="2423160"/>
            <a:ext cx="731520" cy="7315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81259" y="2423160"/>
            <a:ext cx="731520" cy="731520"/>
          </a:xfrm>
          <a:prstGeom prst="rect">
            <a:avLst/>
          </a:prstGeom>
          <a:noFill/>
        </p:spPr>
        <p:txBody>
          <a:bodyPr wrap="square" anchor="ctr" lIns="54864" rIns="54864" tIns="54864" bIns="54864">
            <a:spAutoFit/>
          </a:bodyPr>
          <a:lstStyle/>
          <a:p>
            <a:pPr algn="ctr">
              <a:spcAft>
                <a:spcPts val="300"/>
              </a:spcAft>
            </a:pPr>
            <a:r>
              <a:rPr sz="2400" b="1">
                <a:solidFill>
                  <a:srgbClr val="FFFFFF"/>
                </a:solidFill>
                <a:latin typeface="Arial"/>
              </a:rPr>
              <a:t>5</a:t>
            </a:r>
          </a:p>
        </p:txBody>
      </p:sp>
      <p:sp>
        <p:nvSpPr>
          <p:cNvPr id="35" name="TextBox 34"/>
          <p:cNvSpPr txBox="1"/>
          <p:nvPr/>
        </p:nvSpPr>
        <p:spPr>
          <a:xfrm>
            <a:off x="9582911" y="3429000"/>
            <a:ext cx="1728216" cy="1143000"/>
          </a:xfrm>
          <a:prstGeom prst="rect">
            <a:avLst/>
          </a:prstGeom>
          <a:noFill/>
        </p:spPr>
        <p:txBody>
          <a:bodyPr wrap="square" anchor="ctr" lIns="54864" rIns="54864" tIns="54864" bIns="54864">
            <a:spAutoFit/>
          </a:bodyPr>
          <a:lstStyle/>
          <a:p>
            <a:pPr algn="ctr">
              <a:spcAft>
                <a:spcPts val="300"/>
              </a:spcAft>
            </a:pPr>
            <a:r>
              <a:rPr sz="1250" b="0">
                <a:solidFill>
                  <a:srgbClr val="161B26"/>
                </a:solidFill>
                <a:latin typeface="Arial"/>
              </a:rPr>
              <a:t>Validate result</a:t>
            </a:r>
          </a:p>
        </p:txBody>
      </p:sp>
      <p:sp>
        <p:nvSpPr>
          <p:cNvPr id="36" name="TextBox 35"/>
          <p:cNvSpPr txBox="1"/>
          <p:nvPr/>
        </p:nvSpPr>
        <p:spPr>
          <a:xfrm>
            <a:off x="777240" y="5394960"/>
            <a:ext cx="10607040" cy="411480"/>
          </a:xfrm>
          <a:prstGeom prst="rect">
            <a:avLst/>
          </a:prstGeom>
          <a:noFill/>
        </p:spPr>
        <p:txBody>
          <a:bodyPr wrap="square" anchor="t" lIns="54864" rIns="54864" tIns="54864" bIns="54864">
            <a:spAutoFit/>
          </a:bodyPr>
          <a:lstStyle/>
          <a:p>
            <a:pPr algn="ctr">
              <a:spcAft>
                <a:spcPts val="300"/>
              </a:spcAft>
            </a:pPr>
            <a:r>
              <a:rPr sz="1250" b="0">
                <a:solidFill>
                  <a:srgbClr val="5B6372"/>
                </a:solidFill>
                <a:latin typeface="Arial"/>
              </a:rPr>
              <a:t>This is a reasoning map, not a click-by-click lab procedure.</a:t>
            </a:r>
          </a:p>
        </p:txBody>
      </p:sp>
      <p:sp>
        <p:nvSpPr>
          <p:cNvPr id="37" name="TextBox 36"/>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38" name="TextBox 37"/>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39" name="TextBox 38"/>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109</a:t>
            </a:r>
          </a:p>
        </p:txBody>
      </p:sp>
    </p:spTree>
  </p:cSld>
  <p:clrMapOvr>
    <a:masterClrMapping/>
  </p:clrMapOvr>
  <p:transition spd="fast">
    <p:fade/>
  </p:transition>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37744"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47472"/>
            <a:ext cx="10698480" cy="292608"/>
          </a:xfrm>
          <a:prstGeom prst="rect">
            <a:avLst/>
          </a:prstGeom>
          <a:noFill/>
        </p:spPr>
        <p:txBody>
          <a:bodyPr wrap="square" anchor="t" lIns="54864" rIns="54864" tIns="54864" bIns="54864">
            <a:spAutoFit/>
          </a:bodyPr>
          <a:lstStyle/>
          <a:p>
            <a:pPr algn="l">
              <a:spcAft>
                <a:spcPts val="300"/>
              </a:spcAft>
            </a:pPr>
            <a:r>
              <a:rPr sz="1200" b="1">
                <a:solidFill>
                  <a:srgbClr val="7C3AED"/>
                </a:solidFill>
                <a:latin typeface="Arial"/>
              </a:rPr>
              <a:t>OFFICIAL OBJECTIVE · DOMAIN 3</a:t>
            </a:r>
          </a:p>
        </p:txBody>
      </p:sp>
      <p:sp>
        <p:nvSpPr>
          <p:cNvPr id="5" name="TextBox 4"/>
          <p:cNvSpPr txBox="1"/>
          <p:nvPr/>
        </p:nvSpPr>
        <p:spPr>
          <a:xfrm>
            <a:off x="749808" y="713232"/>
            <a:ext cx="10744200" cy="731520"/>
          </a:xfrm>
          <a:prstGeom prst="rect">
            <a:avLst/>
          </a:prstGeom>
          <a:noFill/>
        </p:spPr>
        <p:txBody>
          <a:bodyPr wrap="square" anchor="ctr" lIns="54864" rIns="54864" tIns="54864" bIns="54864">
            <a:spAutoFit/>
          </a:bodyPr>
          <a:lstStyle/>
          <a:p>
            <a:pPr algn="l">
              <a:spcAft>
                <a:spcPts val="300"/>
              </a:spcAft>
            </a:pPr>
            <a:r>
              <a:rPr sz="2700" b="1">
                <a:solidFill>
                  <a:srgbClr val="161B26"/>
                </a:solidFill>
                <a:latin typeface="Arial"/>
              </a:rPr>
              <a:t>3.1.1 · Use colour</a:t>
            </a:r>
          </a:p>
        </p:txBody>
      </p:sp>
      <p:sp>
        <p:nvSpPr>
          <p:cNvPr id="6" name="Rectangle 5"/>
          <p:cNvSpPr/>
          <p:nvPr/>
        </p:nvSpPr>
        <p:spPr>
          <a:xfrm>
            <a:off x="749808" y="1536192"/>
            <a:ext cx="106984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8096"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68096" y="1764792"/>
            <a:ext cx="82296" cy="206197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96695" y="2548890"/>
            <a:ext cx="493776" cy="49377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5"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1</a:t>
            </a:r>
          </a:p>
        </p:txBody>
      </p:sp>
      <p:sp>
        <p:nvSpPr>
          <p:cNvPr id="11" name="TextBox 10"/>
          <p:cNvSpPr txBox="1"/>
          <p:nvPr/>
        </p:nvSpPr>
        <p:spPr>
          <a:xfrm>
            <a:off x="1664207"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What it means</a:t>
            </a:r>
          </a:p>
          <a:p>
            <a:pPr algn="l">
              <a:spcAft>
                <a:spcPts val="300"/>
              </a:spcAft>
            </a:pPr>
            <a:r>
              <a:rPr sz="1200" b="0">
                <a:solidFill>
                  <a:srgbClr val="5B6372"/>
                </a:solidFill>
                <a:latin typeface="Arial"/>
              </a:rPr>
              <a:t>Colour can encode category, magnitude or emphasis.</a:t>
            </a:r>
          </a:p>
        </p:txBody>
      </p:sp>
      <p:sp>
        <p:nvSpPr>
          <p:cNvPr id="12" name="Rectangle 11"/>
          <p:cNvSpPr/>
          <p:nvPr/>
        </p:nvSpPr>
        <p:spPr>
          <a:xfrm>
            <a:off x="6222492"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22492" y="1764792"/>
            <a:ext cx="82296" cy="206197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51092" y="2548890"/>
            <a:ext cx="493776" cy="49377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51092"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2</a:t>
            </a:r>
          </a:p>
        </p:txBody>
      </p:sp>
      <p:sp>
        <p:nvSpPr>
          <p:cNvPr id="16" name="TextBox 15"/>
          <p:cNvSpPr txBox="1"/>
          <p:nvPr/>
        </p:nvSpPr>
        <p:spPr>
          <a:xfrm>
            <a:off x="7118604"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Use it when</a:t>
            </a:r>
          </a:p>
          <a:p>
            <a:pPr algn="l">
              <a:spcAft>
                <a:spcPts val="300"/>
              </a:spcAft>
            </a:pPr>
            <a:r>
              <a:rPr sz="1200" b="0">
                <a:solidFill>
                  <a:srgbClr val="5B6372"/>
                </a:solidFill>
                <a:latin typeface="Arial"/>
              </a:rPr>
              <a:t>Use hues for categories and ordered palettes for measures.</a:t>
            </a:r>
          </a:p>
        </p:txBody>
      </p:sp>
      <p:sp>
        <p:nvSpPr>
          <p:cNvPr id="17" name="Rectangle 16"/>
          <p:cNvSpPr/>
          <p:nvPr/>
        </p:nvSpPr>
        <p:spPr>
          <a:xfrm>
            <a:off x="768096"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68096" y="4046220"/>
            <a:ext cx="82296" cy="206197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96695" y="4830318"/>
            <a:ext cx="493776" cy="49377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96695"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3</a:t>
            </a:r>
          </a:p>
        </p:txBody>
      </p:sp>
      <p:sp>
        <p:nvSpPr>
          <p:cNvPr id="21" name="TextBox 20"/>
          <p:cNvSpPr txBox="1"/>
          <p:nvPr/>
        </p:nvSpPr>
        <p:spPr>
          <a:xfrm>
            <a:off x="1664207"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Exam clue</a:t>
            </a:r>
          </a:p>
          <a:p>
            <a:pPr algn="l">
              <a:spcAft>
                <a:spcPts val="300"/>
              </a:spcAft>
            </a:pPr>
            <a:r>
              <a:rPr sz="1200" b="0">
                <a:solidFill>
                  <a:srgbClr val="5B6372"/>
                </a:solidFill>
                <a:latin typeface="Arial"/>
              </a:rPr>
              <a:t>Legend type reveals discrete or continuous encoding.</a:t>
            </a:r>
          </a:p>
        </p:txBody>
      </p:sp>
      <p:sp>
        <p:nvSpPr>
          <p:cNvPr id="22" name="Rectangle 21"/>
          <p:cNvSpPr/>
          <p:nvPr/>
        </p:nvSpPr>
        <p:spPr>
          <a:xfrm>
            <a:off x="6222492"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22492" y="4046220"/>
            <a:ext cx="82296" cy="206197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51092" y="4830318"/>
            <a:ext cx="493776" cy="49377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51092"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4</a:t>
            </a:r>
          </a:p>
        </p:txBody>
      </p:sp>
      <p:sp>
        <p:nvSpPr>
          <p:cNvPr id="26" name="TextBox 25"/>
          <p:cNvSpPr txBox="1"/>
          <p:nvPr/>
        </p:nvSpPr>
        <p:spPr>
          <a:xfrm>
            <a:off x="7118604"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Common pitfall</a:t>
            </a:r>
          </a:p>
          <a:p>
            <a:pPr algn="l">
              <a:spcAft>
                <a:spcPts val="300"/>
              </a:spcAft>
            </a:pPr>
            <a:r>
              <a:rPr sz="1200" b="0">
                <a:solidFill>
                  <a:srgbClr val="5B6372"/>
                </a:solidFill>
                <a:latin typeface="Arial"/>
              </a:rPr>
              <a:t>Rainbow palettes and low contrast impair interpretation.</a:t>
            </a:r>
          </a:p>
        </p:txBody>
      </p:sp>
      <p:sp>
        <p:nvSpPr>
          <p:cNvPr id="27" name="TextBox 26"/>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28" name="TextBox 27"/>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29" name="TextBox 28"/>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110</a:t>
            </a:r>
          </a:p>
        </p:txBody>
      </p:sp>
    </p:spTree>
  </p:cSld>
  <p:clrMapOvr>
    <a:masterClrMapping/>
  </p:clrMapOvr>
  <p:transition spd="fast">
    <p:fade/>
  </p:transition>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37744"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47472"/>
            <a:ext cx="10698480" cy="292608"/>
          </a:xfrm>
          <a:prstGeom prst="rect">
            <a:avLst/>
          </a:prstGeom>
          <a:noFill/>
        </p:spPr>
        <p:txBody>
          <a:bodyPr wrap="square" anchor="t" lIns="54864" rIns="54864" tIns="54864" bIns="54864">
            <a:spAutoFit/>
          </a:bodyPr>
          <a:lstStyle/>
          <a:p>
            <a:pPr algn="l">
              <a:spcAft>
                <a:spcPts val="300"/>
              </a:spcAft>
            </a:pPr>
            <a:r>
              <a:rPr sz="1200" b="1">
                <a:solidFill>
                  <a:srgbClr val="7C3AED"/>
                </a:solidFill>
                <a:latin typeface="Arial"/>
              </a:rPr>
              <a:t>OFFICIAL OBJECTIVE · DOMAIN 3</a:t>
            </a:r>
          </a:p>
        </p:txBody>
      </p:sp>
      <p:sp>
        <p:nvSpPr>
          <p:cNvPr id="5" name="TextBox 4"/>
          <p:cNvSpPr txBox="1"/>
          <p:nvPr/>
        </p:nvSpPr>
        <p:spPr>
          <a:xfrm>
            <a:off x="749808" y="713232"/>
            <a:ext cx="10744200" cy="731520"/>
          </a:xfrm>
          <a:prstGeom prst="rect">
            <a:avLst/>
          </a:prstGeom>
          <a:noFill/>
        </p:spPr>
        <p:txBody>
          <a:bodyPr wrap="square" anchor="ctr" lIns="54864" rIns="54864" tIns="54864" bIns="54864">
            <a:spAutoFit/>
          </a:bodyPr>
          <a:lstStyle/>
          <a:p>
            <a:pPr algn="l">
              <a:spcAft>
                <a:spcPts val="300"/>
              </a:spcAft>
            </a:pPr>
            <a:r>
              <a:rPr sz="2700" b="1">
                <a:solidFill>
                  <a:srgbClr val="161B26"/>
                </a:solidFill>
                <a:latin typeface="Arial"/>
              </a:rPr>
              <a:t>3.1.2 · Configure fonts</a:t>
            </a:r>
          </a:p>
        </p:txBody>
      </p:sp>
      <p:sp>
        <p:nvSpPr>
          <p:cNvPr id="6" name="Rectangle 5"/>
          <p:cNvSpPr/>
          <p:nvPr/>
        </p:nvSpPr>
        <p:spPr>
          <a:xfrm>
            <a:off x="749808" y="1536192"/>
            <a:ext cx="106984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8096"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68096" y="1764792"/>
            <a:ext cx="82296" cy="206197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96695" y="2548890"/>
            <a:ext cx="493776" cy="49377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5"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1</a:t>
            </a:r>
          </a:p>
        </p:txBody>
      </p:sp>
      <p:sp>
        <p:nvSpPr>
          <p:cNvPr id="11" name="TextBox 10"/>
          <p:cNvSpPr txBox="1"/>
          <p:nvPr/>
        </p:nvSpPr>
        <p:spPr>
          <a:xfrm>
            <a:off x="1664207"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What it means</a:t>
            </a:r>
          </a:p>
          <a:p>
            <a:pPr algn="l">
              <a:spcAft>
                <a:spcPts val="300"/>
              </a:spcAft>
            </a:pPr>
            <a:r>
              <a:rPr sz="1200" b="0">
                <a:solidFill>
                  <a:srgbClr val="5B6372"/>
                </a:solidFill>
                <a:latin typeface="Arial"/>
              </a:rPr>
              <a:t>Typography establishes hierarchy across titles, labels and tooltips.</a:t>
            </a:r>
          </a:p>
        </p:txBody>
      </p:sp>
      <p:sp>
        <p:nvSpPr>
          <p:cNvPr id="12" name="Rectangle 11"/>
          <p:cNvSpPr/>
          <p:nvPr/>
        </p:nvSpPr>
        <p:spPr>
          <a:xfrm>
            <a:off x="6222492"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22492" y="1764792"/>
            <a:ext cx="82296" cy="206197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51092" y="2548890"/>
            <a:ext cx="493776" cy="49377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51092"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2</a:t>
            </a:r>
          </a:p>
        </p:txBody>
      </p:sp>
      <p:sp>
        <p:nvSpPr>
          <p:cNvPr id="16" name="TextBox 15"/>
          <p:cNvSpPr txBox="1"/>
          <p:nvPr/>
        </p:nvSpPr>
        <p:spPr>
          <a:xfrm>
            <a:off x="7118604"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Use it when</a:t>
            </a:r>
          </a:p>
          <a:p>
            <a:pPr algn="l">
              <a:spcAft>
                <a:spcPts val="300"/>
              </a:spcAft>
            </a:pPr>
            <a:r>
              <a:rPr sz="1200" b="0">
                <a:solidFill>
                  <a:srgbClr val="5B6372"/>
                </a:solidFill>
                <a:latin typeface="Arial"/>
              </a:rPr>
              <a:t>Use consistent families and display-appropriate sizes.</a:t>
            </a:r>
          </a:p>
        </p:txBody>
      </p:sp>
      <p:sp>
        <p:nvSpPr>
          <p:cNvPr id="17" name="Rectangle 16"/>
          <p:cNvSpPr/>
          <p:nvPr/>
        </p:nvSpPr>
        <p:spPr>
          <a:xfrm>
            <a:off x="768096"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68096" y="4046220"/>
            <a:ext cx="82296" cy="206197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96695" y="4830318"/>
            <a:ext cx="493776" cy="49377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96695"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3</a:t>
            </a:r>
          </a:p>
        </p:txBody>
      </p:sp>
      <p:sp>
        <p:nvSpPr>
          <p:cNvPr id="21" name="TextBox 20"/>
          <p:cNvSpPr txBox="1"/>
          <p:nvPr/>
        </p:nvSpPr>
        <p:spPr>
          <a:xfrm>
            <a:off x="1664207"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Exam clue</a:t>
            </a:r>
          </a:p>
          <a:p>
            <a:pPr algn="l">
              <a:spcAft>
                <a:spcPts val="300"/>
              </a:spcAft>
            </a:pPr>
            <a:r>
              <a:rPr sz="1200" b="0">
                <a:solidFill>
                  <a:srgbClr val="5B6372"/>
                </a:solidFill>
                <a:latin typeface="Arial"/>
              </a:rPr>
              <a:t>Formatting applies at workbook, sheet, pane or element scope.</a:t>
            </a:r>
          </a:p>
        </p:txBody>
      </p:sp>
      <p:sp>
        <p:nvSpPr>
          <p:cNvPr id="22" name="Rectangle 21"/>
          <p:cNvSpPr/>
          <p:nvPr/>
        </p:nvSpPr>
        <p:spPr>
          <a:xfrm>
            <a:off x="6222492"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22492" y="4046220"/>
            <a:ext cx="82296" cy="206197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51092" y="4830318"/>
            <a:ext cx="493776" cy="49377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51092"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4</a:t>
            </a:r>
          </a:p>
        </p:txBody>
      </p:sp>
      <p:sp>
        <p:nvSpPr>
          <p:cNvPr id="26" name="TextBox 25"/>
          <p:cNvSpPr txBox="1"/>
          <p:nvPr/>
        </p:nvSpPr>
        <p:spPr>
          <a:xfrm>
            <a:off x="7118604"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Common pitfall</a:t>
            </a:r>
          </a:p>
          <a:p>
            <a:pPr algn="l">
              <a:spcAft>
                <a:spcPts val="300"/>
              </a:spcAft>
            </a:pPr>
            <a:r>
              <a:rPr sz="1200" b="0">
                <a:solidFill>
                  <a:srgbClr val="5B6372"/>
                </a:solidFill>
                <a:latin typeface="Arial"/>
              </a:rPr>
              <a:t>Tiny labels and excessive bolding reduce scanability.</a:t>
            </a:r>
          </a:p>
        </p:txBody>
      </p:sp>
      <p:sp>
        <p:nvSpPr>
          <p:cNvPr id="27" name="TextBox 26"/>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28" name="TextBox 27"/>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29" name="TextBox 28"/>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111</a:t>
            </a:r>
          </a:p>
        </p:txBody>
      </p:sp>
    </p:spTree>
  </p:cSld>
  <p:clrMapOvr>
    <a:masterClrMapping/>
  </p:clrMapOvr>
  <p:transition spd="fast">
    <p:fade/>
  </p:transition>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37744"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47472"/>
            <a:ext cx="10698480" cy="292608"/>
          </a:xfrm>
          <a:prstGeom prst="rect">
            <a:avLst/>
          </a:prstGeom>
          <a:noFill/>
        </p:spPr>
        <p:txBody>
          <a:bodyPr wrap="square" anchor="t" lIns="54864" rIns="54864" tIns="54864" bIns="54864">
            <a:spAutoFit/>
          </a:bodyPr>
          <a:lstStyle/>
          <a:p>
            <a:pPr algn="l">
              <a:spcAft>
                <a:spcPts val="300"/>
              </a:spcAft>
            </a:pPr>
            <a:r>
              <a:rPr sz="1200" b="1">
                <a:solidFill>
                  <a:srgbClr val="7C3AED"/>
                </a:solidFill>
                <a:latin typeface="Arial"/>
              </a:rPr>
              <a:t>OFFICIAL OBJECTIVE · DOMAIN 3</a:t>
            </a:r>
          </a:p>
        </p:txBody>
      </p:sp>
      <p:sp>
        <p:nvSpPr>
          <p:cNvPr id="5" name="TextBox 4"/>
          <p:cNvSpPr txBox="1"/>
          <p:nvPr/>
        </p:nvSpPr>
        <p:spPr>
          <a:xfrm>
            <a:off x="749808" y="713232"/>
            <a:ext cx="10744200" cy="731520"/>
          </a:xfrm>
          <a:prstGeom prst="rect">
            <a:avLst/>
          </a:prstGeom>
          <a:noFill/>
        </p:spPr>
        <p:txBody>
          <a:bodyPr wrap="square" anchor="ctr" lIns="54864" rIns="54864" tIns="54864" bIns="54864">
            <a:spAutoFit/>
          </a:bodyPr>
          <a:lstStyle/>
          <a:p>
            <a:pPr algn="l">
              <a:spcAft>
                <a:spcPts val="300"/>
              </a:spcAft>
            </a:pPr>
            <a:r>
              <a:rPr sz="2700" b="1">
                <a:solidFill>
                  <a:srgbClr val="161B26"/>
                </a:solidFill>
                <a:latin typeface="Arial"/>
              </a:rPr>
              <a:t>3.1.3 · Format marks as shapes</a:t>
            </a:r>
          </a:p>
        </p:txBody>
      </p:sp>
      <p:sp>
        <p:nvSpPr>
          <p:cNvPr id="6" name="Rectangle 5"/>
          <p:cNvSpPr/>
          <p:nvPr/>
        </p:nvSpPr>
        <p:spPr>
          <a:xfrm>
            <a:off x="749808" y="1536192"/>
            <a:ext cx="106984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8096"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68096" y="1764792"/>
            <a:ext cx="82296" cy="206197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96695" y="2548890"/>
            <a:ext cx="493776" cy="49377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5"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1</a:t>
            </a:r>
          </a:p>
        </p:txBody>
      </p:sp>
      <p:sp>
        <p:nvSpPr>
          <p:cNvPr id="11" name="TextBox 10"/>
          <p:cNvSpPr txBox="1"/>
          <p:nvPr/>
        </p:nvSpPr>
        <p:spPr>
          <a:xfrm>
            <a:off x="1664207"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What it means</a:t>
            </a:r>
          </a:p>
          <a:p>
            <a:pPr algn="l">
              <a:spcAft>
                <a:spcPts val="300"/>
              </a:spcAft>
            </a:pPr>
            <a:r>
              <a:rPr sz="1200" b="0">
                <a:solidFill>
                  <a:srgbClr val="5B6372"/>
                </a:solidFill>
                <a:latin typeface="Arial"/>
              </a:rPr>
              <a:t>Shape is a categorical channel for point marks.</a:t>
            </a:r>
          </a:p>
        </p:txBody>
      </p:sp>
      <p:sp>
        <p:nvSpPr>
          <p:cNvPr id="12" name="Rectangle 11"/>
          <p:cNvSpPr/>
          <p:nvPr/>
        </p:nvSpPr>
        <p:spPr>
          <a:xfrm>
            <a:off x="6222492"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22492" y="1764792"/>
            <a:ext cx="82296" cy="206197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51092" y="2548890"/>
            <a:ext cx="493776" cy="49377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51092"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2</a:t>
            </a:r>
          </a:p>
        </p:txBody>
      </p:sp>
      <p:sp>
        <p:nvSpPr>
          <p:cNvPr id="16" name="TextBox 15"/>
          <p:cNvSpPr txBox="1"/>
          <p:nvPr/>
        </p:nvSpPr>
        <p:spPr>
          <a:xfrm>
            <a:off x="7118604"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Use it when</a:t>
            </a:r>
          </a:p>
          <a:p>
            <a:pPr algn="l">
              <a:spcAft>
                <a:spcPts val="300"/>
              </a:spcAft>
            </a:pPr>
            <a:r>
              <a:rPr sz="1200" b="0">
                <a:solidFill>
                  <a:srgbClr val="5B6372"/>
                </a:solidFill>
                <a:latin typeface="Arial"/>
              </a:rPr>
              <a:t>Use for a small number of distinguishable categories.</a:t>
            </a:r>
          </a:p>
        </p:txBody>
      </p:sp>
      <p:sp>
        <p:nvSpPr>
          <p:cNvPr id="17" name="Rectangle 16"/>
          <p:cNvSpPr/>
          <p:nvPr/>
        </p:nvSpPr>
        <p:spPr>
          <a:xfrm>
            <a:off x="768096"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68096" y="4046220"/>
            <a:ext cx="82296" cy="206197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96695" y="4830318"/>
            <a:ext cx="493776" cy="49377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96695"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3</a:t>
            </a:r>
          </a:p>
        </p:txBody>
      </p:sp>
      <p:sp>
        <p:nvSpPr>
          <p:cNvPr id="21" name="TextBox 20"/>
          <p:cNvSpPr txBox="1"/>
          <p:nvPr/>
        </p:nvSpPr>
        <p:spPr>
          <a:xfrm>
            <a:off x="1664207"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Exam clue</a:t>
            </a:r>
          </a:p>
          <a:p>
            <a:pPr algn="l">
              <a:spcAft>
                <a:spcPts val="300"/>
              </a:spcAft>
            </a:pPr>
            <a:r>
              <a:rPr sz="1200" b="0">
                <a:solidFill>
                  <a:srgbClr val="5B6372"/>
                </a:solidFill>
                <a:latin typeface="Arial"/>
              </a:rPr>
              <a:t>Custom shapes can be loaded and assigned.</a:t>
            </a:r>
          </a:p>
        </p:txBody>
      </p:sp>
      <p:sp>
        <p:nvSpPr>
          <p:cNvPr id="22" name="Rectangle 21"/>
          <p:cNvSpPr/>
          <p:nvPr/>
        </p:nvSpPr>
        <p:spPr>
          <a:xfrm>
            <a:off x="6222492"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22492" y="4046220"/>
            <a:ext cx="82296" cy="206197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51092" y="4830318"/>
            <a:ext cx="493776" cy="49377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51092"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4</a:t>
            </a:r>
          </a:p>
        </p:txBody>
      </p:sp>
      <p:sp>
        <p:nvSpPr>
          <p:cNvPr id="26" name="TextBox 25"/>
          <p:cNvSpPr txBox="1"/>
          <p:nvPr/>
        </p:nvSpPr>
        <p:spPr>
          <a:xfrm>
            <a:off x="7118604"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Common pitfall</a:t>
            </a:r>
          </a:p>
          <a:p>
            <a:pPr algn="l">
              <a:spcAft>
                <a:spcPts val="300"/>
              </a:spcAft>
            </a:pPr>
            <a:r>
              <a:rPr sz="1200" b="0">
                <a:solidFill>
                  <a:srgbClr val="5B6372"/>
                </a:solidFill>
                <a:latin typeface="Arial"/>
              </a:rPr>
              <a:t>Shape alone is weak for order and accessibility.</a:t>
            </a:r>
          </a:p>
        </p:txBody>
      </p:sp>
      <p:sp>
        <p:nvSpPr>
          <p:cNvPr id="27" name="TextBox 26"/>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28" name="TextBox 27"/>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29" name="TextBox 28"/>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112</a:t>
            </a:r>
          </a:p>
        </p:txBody>
      </p:sp>
    </p:spTree>
  </p:cSld>
  <p:clrMapOvr>
    <a:masterClrMapping/>
  </p:clrMapOvr>
  <p:transition spd="fast">
    <p:fade/>
  </p:transition>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37744"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47472"/>
            <a:ext cx="10698480" cy="292608"/>
          </a:xfrm>
          <a:prstGeom prst="rect">
            <a:avLst/>
          </a:prstGeom>
          <a:noFill/>
        </p:spPr>
        <p:txBody>
          <a:bodyPr wrap="square" anchor="t" lIns="54864" rIns="54864" tIns="54864" bIns="54864">
            <a:spAutoFit/>
          </a:bodyPr>
          <a:lstStyle/>
          <a:p>
            <a:pPr algn="l">
              <a:spcAft>
                <a:spcPts val="300"/>
              </a:spcAft>
            </a:pPr>
            <a:r>
              <a:rPr sz="1200" b="1">
                <a:solidFill>
                  <a:srgbClr val="7C3AED"/>
                </a:solidFill>
                <a:latin typeface="Arial"/>
              </a:rPr>
              <a:t>OFFICIAL OBJECTIVE · DOMAIN 3</a:t>
            </a:r>
          </a:p>
        </p:txBody>
      </p:sp>
      <p:sp>
        <p:nvSpPr>
          <p:cNvPr id="5" name="TextBox 4"/>
          <p:cNvSpPr txBox="1"/>
          <p:nvPr/>
        </p:nvSpPr>
        <p:spPr>
          <a:xfrm>
            <a:off x="749808" y="713232"/>
            <a:ext cx="10744200" cy="731520"/>
          </a:xfrm>
          <a:prstGeom prst="rect">
            <a:avLst/>
          </a:prstGeom>
          <a:noFill/>
        </p:spPr>
        <p:txBody>
          <a:bodyPr wrap="square" anchor="ctr" lIns="54864" rIns="54864" tIns="54864" bIns="54864">
            <a:spAutoFit/>
          </a:bodyPr>
          <a:lstStyle/>
          <a:p>
            <a:pPr algn="l">
              <a:spcAft>
                <a:spcPts val="300"/>
              </a:spcAft>
            </a:pPr>
            <a:r>
              <a:rPr sz="2700" b="1">
                <a:solidFill>
                  <a:srgbClr val="161B26"/>
                </a:solidFill>
                <a:latin typeface="Arial"/>
              </a:rPr>
              <a:t>3.1.4 · Configure viz animations</a:t>
            </a:r>
          </a:p>
        </p:txBody>
      </p:sp>
      <p:sp>
        <p:nvSpPr>
          <p:cNvPr id="6" name="Rectangle 5"/>
          <p:cNvSpPr/>
          <p:nvPr/>
        </p:nvSpPr>
        <p:spPr>
          <a:xfrm>
            <a:off x="749808" y="1536192"/>
            <a:ext cx="106984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8096"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68096" y="1764792"/>
            <a:ext cx="82296" cy="206197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96695" y="2548890"/>
            <a:ext cx="493776" cy="49377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5"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1</a:t>
            </a:r>
          </a:p>
        </p:txBody>
      </p:sp>
      <p:sp>
        <p:nvSpPr>
          <p:cNvPr id="11" name="TextBox 10"/>
          <p:cNvSpPr txBox="1"/>
          <p:nvPr/>
        </p:nvSpPr>
        <p:spPr>
          <a:xfrm>
            <a:off x="1664207"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What it means</a:t>
            </a:r>
          </a:p>
          <a:p>
            <a:pPr algn="l">
              <a:spcAft>
                <a:spcPts val="300"/>
              </a:spcAft>
            </a:pPr>
            <a:r>
              <a:rPr sz="1200" b="0">
                <a:solidFill>
                  <a:srgbClr val="5B6372"/>
                </a:solidFill>
                <a:latin typeface="Arial"/>
              </a:rPr>
              <a:t>Animations interpolate filter, sort and data changes.</a:t>
            </a:r>
          </a:p>
        </p:txBody>
      </p:sp>
      <p:sp>
        <p:nvSpPr>
          <p:cNvPr id="12" name="Rectangle 11"/>
          <p:cNvSpPr/>
          <p:nvPr/>
        </p:nvSpPr>
        <p:spPr>
          <a:xfrm>
            <a:off x="6222492"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22492" y="1764792"/>
            <a:ext cx="82296" cy="206197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51092" y="2548890"/>
            <a:ext cx="493776" cy="49377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51092"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2</a:t>
            </a:r>
          </a:p>
        </p:txBody>
      </p:sp>
      <p:sp>
        <p:nvSpPr>
          <p:cNvPr id="16" name="TextBox 15"/>
          <p:cNvSpPr txBox="1"/>
          <p:nvPr/>
        </p:nvSpPr>
        <p:spPr>
          <a:xfrm>
            <a:off x="7118604"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Use it when</a:t>
            </a:r>
          </a:p>
          <a:p>
            <a:pPr algn="l">
              <a:spcAft>
                <a:spcPts val="300"/>
              </a:spcAft>
            </a:pPr>
            <a:r>
              <a:rPr sz="1200" b="0">
                <a:solidFill>
                  <a:srgbClr val="5B6372"/>
                </a:solidFill>
                <a:latin typeface="Arial"/>
              </a:rPr>
              <a:t>Use to help audiences track moving marks.</a:t>
            </a:r>
          </a:p>
        </p:txBody>
      </p:sp>
      <p:sp>
        <p:nvSpPr>
          <p:cNvPr id="17" name="Rectangle 16"/>
          <p:cNvSpPr/>
          <p:nvPr/>
        </p:nvSpPr>
        <p:spPr>
          <a:xfrm>
            <a:off x="768096"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68096" y="4046220"/>
            <a:ext cx="82296" cy="206197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96695" y="4830318"/>
            <a:ext cx="493776" cy="49377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96695"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3</a:t>
            </a:r>
          </a:p>
        </p:txBody>
      </p:sp>
      <p:sp>
        <p:nvSpPr>
          <p:cNvPr id="21" name="TextBox 20"/>
          <p:cNvSpPr txBox="1"/>
          <p:nvPr/>
        </p:nvSpPr>
        <p:spPr>
          <a:xfrm>
            <a:off x="1664207"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Exam clue</a:t>
            </a:r>
          </a:p>
          <a:p>
            <a:pPr algn="l">
              <a:spcAft>
                <a:spcPts val="300"/>
              </a:spcAft>
            </a:pPr>
            <a:r>
              <a:rPr sz="1200" b="0">
                <a:solidFill>
                  <a:srgbClr val="5B6372"/>
                </a:solidFill>
                <a:latin typeface="Arial"/>
              </a:rPr>
              <a:t>Workbook formatting controls duration and style.</a:t>
            </a:r>
          </a:p>
        </p:txBody>
      </p:sp>
      <p:sp>
        <p:nvSpPr>
          <p:cNvPr id="22" name="Rectangle 21"/>
          <p:cNvSpPr/>
          <p:nvPr/>
        </p:nvSpPr>
        <p:spPr>
          <a:xfrm>
            <a:off x="6222492"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22492" y="4046220"/>
            <a:ext cx="82296" cy="206197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51092" y="4830318"/>
            <a:ext cx="493776" cy="49377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51092"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4</a:t>
            </a:r>
          </a:p>
        </p:txBody>
      </p:sp>
      <p:sp>
        <p:nvSpPr>
          <p:cNvPr id="26" name="TextBox 25"/>
          <p:cNvSpPr txBox="1"/>
          <p:nvPr/>
        </p:nvSpPr>
        <p:spPr>
          <a:xfrm>
            <a:off x="7118604"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Common pitfall</a:t>
            </a:r>
          </a:p>
          <a:p>
            <a:pPr algn="l">
              <a:spcAft>
                <a:spcPts val="300"/>
              </a:spcAft>
            </a:pPr>
            <a:r>
              <a:rPr sz="1200" b="0">
                <a:solidFill>
                  <a:srgbClr val="5B6372"/>
                </a:solidFill>
                <a:latin typeface="Arial"/>
              </a:rPr>
              <a:t>Motion should not be required for understanding.</a:t>
            </a:r>
          </a:p>
        </p:txBody>
      </p:sp>
      <p:sp>
        <p:nvSpPr>
          <p:cNvPr id="27" name="TextBox 26"/>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28" name="TextBox 27"/>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29" name="TextBox 28"/>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113</a:t>
            </a:r>
          </a:p>
        </p:txBody>
      </p:sp>
    </p:spTree>
  </p:cSld>
  <p:clrMapOvr>
    <a:masterClrMapping/>
  </p:clrMapOvr>
  <p:transition spd="fast">
    <p:fade/>
  </p:transition>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37744"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47472"/>
            <a:ext cx="10698480" cy="292608"/>
          </a:xfrm>
          <a:prstGeom prst="rect">
            <a:avLst/>
          </a:prstGeom>
          <a:noFill/>
        </p:spPr>
        <p:txBody>
          <a:bodyPr wrap="square" anchor="t" lIns="54864" rIns="54864" tIns="54864" bIns="54864">
            <a:spAutoFit/>
          </a:bodyPr>
          <a:lstStyle/>
          <a:p>
            <a:pPr algn="l">
              <a:spcAft>
                <a:spcPts val="300"/>
              </a:spcAft>
            </a:pPr>
            <a:r>
              <a:rPr sz="1200" b="1">
                <a:solidFill>
                  <a:srgbClr val="7C3AED"/>
                </a:solidFill>
                <a:latin typeface="Arial"/>
              </a:rPr>
              <a:t>OFFICIAL OBJECTIVE · DOMAIN 3</a:t>
            </a:r>
          </a:p>
        </p:txBody>
      </p:sp>
      <p:sp>
        <p:nvSpPr>
          <p:cNvPr id="5" name="TextBox 4"/>
          <p:cNvSpPr txBox="1"/>
          <p:nvPr/>
        </p:nvSpPr>
        <p:spPr>
          <a:xfrm>
            <a:off x="749808" y="713232"/>
            <a:ext cx="10744200" cy="731520"/>
          </a:xfrm>
          <a:prstGeom prst="rect">
            <a:avLst/>
          </a:prstGeom>
          <a:noFill/>
        </p:spPr>
        <p:txBody>
          <a:bodyPr wrap="square" anchor="ctr" lIns="54864" rIns="54864" tIns="54864" bIns="54864">
            <a:spAutoFit/>
          </a:bodyPr>
          <a:lstStyle/>
          <a:p>
            <a:pPr algn="l">
              <a:spcAft>
                <a:spcPts val="300"/>
              </a:spcAft>
            </a:pPr>
            <a:r>
              <a:rPr sz="2700" b="1">
                <a:solidFill>
                  <a:srgbClr val="161B26"/>
                </a:solidFill>
                <a:latin typeface="Arial"/>
              </a:rPr>
              <a:t>3.1.5 · Change mark size</a:t>
            </a:r>
          </a:p>
        </p:txBody>
      </p:sp>
      <p:sp>
        <p:nvSpPr>
          <p:cNvPr id="6" name="Rectangle 5"/>
          <p:cNvSpPr/>
          <p:nvPr/>
        </p:nvSpPr>
        <p:spPr>
          <a:xfrm>
            <a:off x="749808" y="1536192"/>
            <a:ext cx="106984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8096"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68096" y="1764792"/>
            <a:ext cx="82296" cy="206197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96695" y="2548890"/>
            <a:ext cx="493776" cy="49377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5"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1</a:t>
            </a:r>
          </a:p>
        </p:txBody>
      </p:sp>
      <p:sp>
        <p:nvSpPr>
          <p:cNvPr id="11" name="TextBox 10"/>
          <p:cNvSpPr txBox="1"/>
          <p:nvPr/>
        </p:nvSpPr>
        <p:spPr>
          <a:xfrm>
            <a:off x="1664207"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What it means</a:t>
            </a:r>
          </a:p>
          <a:p>
            <a:pPr algn="l">
              <a:spcAft>
                <a:spcPts val="300"/>
              </a:spcAft>
            </a:pPr>
            <a:r>
              <a:rPr sz="1200" b="0">
                <a:solidFill>
                  <a:srgbClr val="5B6372"/>
                </a:solidFill>
                <a:latin typeface="Arial"/>
              </a:rPr>
              <a:t>Size can encode magnitude or improve legibility.</a:t>
            </a:r>
          </a:p>
        </p:txBody>
      </p:sp>
      <p:sp>
        <p:nvSpPr>
          <p:cNvPr id="12" name="Rectangle 11"/>
          <p:cNvSpPr/>
          <p:nvPr/>
        </p:nvSpPr>
        <p:spPr>
          <a:xfrm>
            <a:off x="6222492"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22492" y="1764792"/>
            <a:ext cx="82296" cy="206197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51092" y="2548890"/>
            <a:ext cx="493776" cy="49377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51092"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2</a:t>
            </a:r>
          </a:p>
        </p:txBody>
      </p:sp>
      <p:sp>
        <p:nvSpPr>
          <p:cNvPr id="16" name="TextBox 15"/>
          <p:cNvSpPr txBox="1"/>
          <p:nvPr/>
        </p:nvSpPr>
        <p:spPr>
          <a:xfrm>
            <a:off x="7118604"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Use it when</a:t>
            </a:r>
          </a:p>
          <a:p>
            <a:pPr algn="l">
              <a:spcAft>
                <a:spcPts val="300"/>
              </a:spcAft>
            </a:pPr>
            <a:r>
              <a:rPr sz="1200" b="0">
                <a:solidFill>
                  <a:srgbClr val="5B6372"/>
                </a:solidFill>
                <a:latin typeface="Arial"/>
              </a:rPr>
              <a:t>Use measure-driven size for proportional symbols.</a:t>
            </a:r>
          </a:p>
        </p:txBody>
      </p:sp>
      <p:sp>
        <p:nvSpPr>
          <p:cNvPr id="17" name="Rectangle 16"/>
          <p:cNvSpPr/>
          <p:nvPr/>
        </p:nvSpPr>
        <p:spPr>
          <a:xfrm>
            <a:off x="768096"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68096" y="4046220"/>
            <a:ext cx="82296" cy="206197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96695" y="4830318"/>
            <a:ext cx="493776" cy="49377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96695"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3</a:t>
            </a:r>
          </a:p>
        </p:txBody>
      </p:sp>
      <p:sp>
        <p:nvSpPr>
          <p:cNvPr id="21" name="TextBox 20"/>
          <p:cNvSpPr txBox="1"/>
          <p:nvPr/>
        </p:nvSpPr>
        <p:spPr>
          <a:xfrm>
            <a:off x="1664207"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Exam clue</a:t>
            </a:r>
          </a:p>
          <a:p>
            <a:pPr algn="l">
              <a:spcAft>
                <a:spcPts val="300"/>
              </a:spcAft>
            </a:pPr>
            <a:r>
              <a:rPr sz="1200" b="0">
                <a:solidFill>
                  <a:srgbClr val="5B6372"/>
                </a:solidFill>
                <a:latin typeface="Arial"/>
              </a:rPr>
              <a:t>Area, not radius, is perceived in circles.</a:t>
            </a:r>
          </a:p>
        </p:txBody>
      </p:sp>
      <p:sp>
        <p:nvSpPr>
          <p:cNvPr id="22" name="Rectangle 21"/>
          <p:cNvSpPr/>
          <p:nvPr/>
        </p:nvSpPr>
        <p:spPr>
          <a:xfrm>
            <a:off x="6222492"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22492" y="4046220"/>
            <a:ext cx="82296" cy="206197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51092" y="4830318"/>
            <a:ext cx="493776" cy="49377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51092"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4</a:t>
            </a:r>
          </a:p>
        </p:txBody>
      </p:sp>
      <p:sp>
        <p:nvSpPr>
          <p:cNvPr id="26" name="TextBox 25"/>
          <p:cNvSpPr txBox="1"/>
          <p:nvPr/>
        </p:nvSpPr>
        <p:spPr>
          <a:xfrm>
            <a:off x="7118604"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Common pitfall</a:t>
            </a:r>
          </a:p>
          <a:p>
            <a:pPr algn="l">
              <a:spcAft>
                <a:spcPts val="300"/>
              </a:spcAft>
            </a:pPr>
            <a:r>
              <a:rPr sz="1200" b="0">
                <a:solidFill>
                  <a:srgbClr val="5B6372"/>
                </a:solidFill>
                <a:latin typeface="Arial"/>
              </a:rPr>
              <a:t>Large marks overlap and small marks disappear.</a:t>
            </a:r>
          </a:p>
        </p:txBody>
      </p:sp>
      <p:sp>
        <p:nvSpPr>
          <p:cNvPr id="27" name="TextBox 26"/>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28" name="TextBox 27"/>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29" name="TextBox 28"/>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114</a:t>
            </a:r>
          </a:p>
        </p:txBody>
      </p:sp>
    </p:spTree>
  </p:cSld>
  <p:clrMapOvr>
    <a:masterClrMapping/>
  </p:clrMapOvr>
  <p:transition spd="fast">
    <p:fade/>
  </p:transition>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37744"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47472"/>
            <a:ext cx="10698480" cy="292608"/>
          </a:xfrm>
          <a:prstGeom prst="rect">
            <a:avLst/>
          </a:prstGeom>
          <a:noFill/>
        </p:spPr>
        <p:txBody>
          <a:bodyPr wrap="square" anchor="t" lIns="54864" rIns="54864" tIns="54864" bIns="54864">
            <a:spAutoFit/>
          </a:bodyPr>
          <a:lstStyle/>
          <a:p>
            <a:pPr algn="l">
              <a:spcAft>
                <a:spcPts val="300"/>
              </a:spcAft>
            </a:pPr>
            <a:r>
              <a:rPr sz="1200" b="1">
                <a:solidFill>
                  <a:srgbClr val="7C3AED"/>
                </a:solidFill>
                <a:latin typeface="Arial"/>
              </a:rPr>
              <a:t>OFFICIAL OBJECTIVE · DOMAIN 3</a:t>
            </a:r>
          </a:p>
        </p:txBody>
      </p:sp>
      <p:sp>
        <p:nvSpPr>
          <p:cNvPr id="5" name="TextBox 4"/>
          <p:cNvSpPr txBox="1"/>
          <p:nvPr/>
        </p:nvSpPr>
        <p:spPr>
          <a:xfrm>
            <a:off x="749808" y="713232"/>
            <a:ext cx="10744200" cy="731520"/>
          </a:xfrm>
          <a:prstGeom prst="rect">
            <a:avLst/>
          </a:prstGeom>
          <a:noFill/>
        </p:spPr>
        <p:txBody>
          <a:bodyPr wrap="square" anchor="ctr" lIns="54864" rIns="54864" tIns="54864" bIns="54864">
            <a:spAutoFit/>
          </a:bodyPr>
          <a:lstStyle/>
          <a:p>
            <a:pPr algn="l">
              <a:spcAft>
                <a:spcPts val="300"/>
              </a:spcAft>
            </a:pPr>
            <a:r>
              <a:rPr sz="2700" b="1">
                <a:solidFill>
                  <a:srgbClr val="161B26"/>
                </a:solidFill>
                <a:latin typeface="Arial"/>
              </a:rPr>
              <a:t>3.1.6 · Show and hide legends</a:t>
            </a:r>
          </a:p>
        </p:txBody>
      </p:sp>
      <p:sp>
        <p:nvSpPr>
          <p:cNvPr id="6" name="Rectangle 5"/>
          <p:cNvSpPr/>
          <p:nvPr/>
        </p:nvSpPr>
        <p:spPr>
          <a:xfrm>
            <a:off x="749808" y="1536192"/>
            <a:ext cx="106984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8096"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68096" y="1764792"/>
            <a:ext cx="82296" cy="206197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96695" y="2548890"/>
            <a:ext cx="493776" cy="49377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5"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1</a:t>
            </a:r>
          </a:p>
        </p:txBody>
      </p:sp>
      <p:sp>
        <p:nvSpPr>
          <p:cNvPr id="11" name="TextBox 10"/>
          <p:cNvSpPr txBox="1"/>
          <p:nvPr/>
        </p:nvSpPr>
        <p:spPr>
          <a:xfrm>
            <a:off x="1664207"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What it means</a:t>
            </a:r>
          </a:p>
          <a:p>
            <a:pPr algn="l">
              <a:spcAft>
                <a:spcPts val="300"/>
              </a:spcAft>
            </a:pPr>
            <a:r>
              <a:rPr sz="1200" b="0">
                <a:solidFill>
                  <a:srgbClr val="5B6372"/>
                </a:solidFill>
                <a:latin typeface="Arial"/>
              </a:rPr>
              <a:t>Legends decode visual channels and can highlight marks.</a:t>
            </a:r>
          </a:p>
        </p:txBody>
      </p:sp>
      <p:sp>
        <p:nvSpPr>
          <p:cNvPr id="12" name="Rectangle 11"/>
          <p:cNvSpPr/>
          <p:nvPr/>
        </p:nvSpPr>
        <p:spPr>
          <a:xfrm>
            <a:off x="6222492"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22492" y="1764792"/>
            <a:ext cx="82296" cy="206197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51092" y="2548890"/>
            <a:ext cx="493776" cy="49377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51092"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2</a:t>
            </a:r>
          </a:p>
        </p:txBody>
      </p:sp>
      <p:sp>
        <p:nvSpPr>
          <p:cNvPr id="16" name="TextBox 15"/>
          <p:cNvSpPr txBox="1"/>
          <p:nvPr/>
        </p:nvSpPr>
        <p:spPr>
          <a:xfrm>
            <a:off x="7118604"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Use it when</a:t>
            </a:r>
          </a:p>
          <a:p>
            <a:pPr algn="l">
              <a:spcAft>
                <a:spcPts val="300"/>
              </a:spcAft>
            </a:pPr>
            <a:r>
              <a:rPr sz="1200" b="0">
                <a:solidFill>
                  <a:srgbClr val="5B6372"/>
                </a:solidFill>
                <a:latin typeface="Arial"/>
              </a:rPr>
              <a:t>Show when encoding is not self-evident; hide redundant cards.</a:t>
            </a:r>
          </a:p>
        </p:txBody>
      </p:sp>
      <p:sp>
        <p:nvSpPr>
          <p:cNvPr id="17" name="Rectangle 16"/>
          <p:cNvSpPr/>
          <p:nvPr/>
        </p:nvSpPr>
        <p:spPr>
          <a:xfrm>
            <a:off x="768096"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68096" y="4046220"/>
            <a:ext cx="82296" cy="206197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96695" y="4830318"/>
            <a:ext cx="493776" cy="49377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96695"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3</a:t>
            </a:r>
          </a:p>
        </p:txBody>
      </p:sp>
      <p:sp>
        <p:nvSpPr>
          <p:cNvPr id="21" name="TextBox 20"/>
          <p:cNvSpPr txBox="1"/>
          <p:nvPr/>
        </p:nvSpPr>
        <p:spPr>
          <a:xfrm>
            <a:off x="1664207"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Exam clue</a:t>
            </a:r>
          </a:p>
          <a:p>
            <a:pPr algn="l">
              <a:spcAft>
                <a:spcPts val="300"/>
              </a:spcAft>
            </a:pPr>
            <a:r>
              <a:rPr sz="1200" b="0">
                <a:solidFill>
                  <a:srgbClr val="5B6372"/>
                </a:solidFill>
                <a:latin typeface="Arial"/>
              </a:rPr>
              <a:t>Use the card menu or Analysis &gt; Legends.</a:t>
            </a:r>
          </a:p>
        </p:txBody>
      </p:sp>
      <p:sp>
        <p:nvSpPr>
          <p:cNvPr id="22" name="Rectangle 21"/>
          <p:cNvSpPr/>
          <p:nvPr/>
        </p:nvSpPr>
        <p:spPr>
          <a:xfrm>
            <a:off x="6222492"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22492" y="4046220"/>
            <a:ext cx="82296" cy="206197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51092" y="4830318"/>
            <a:ext cx="493776" cy="49377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51092"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4</a:t>
            </a:r>
          </a:p>
        </p:txBody>
      </p:sp>
      <p:sp>
        <p:nvSpPr>
          <p:cNvPr id="26" name="TextBox 25"/>
          <p:cNvSpPr txBox="1"/>
          <p:nvPr/>
        </p:nvSpPr>
        <p:spPr>
          <a:xfrm>
            <a:off x="7118604"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Common pitfall</a:t>
            </a:r>
          </a:p>
          <a:p>
            <a:pPr algn="l">
              <a:spcAft>
                <a:spcPts val="300"/>
              </a:spcAft>
            </a:pPr>
            <a:r>
              <a:rPr sz="1200" b="0">
                <a:solidFill>
                  <a:srgbClr val="5B6372"/>
                </a:solidFill>
                <a:latin typeface="Arial"/>
              </a:rPr>
              <a:t>Removing a necessary legend makes marks ambiguous.</a:t>
            </a:r>
          </a:p>
        </p:txBody>
      </p:sp>
      <p:sp>
        <p:nvSpPr>
          <p:cNvPr id="27" name="TextBox 26"/>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28" name="TextBox 27"/>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29" name="TextBox 28"/>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115</a:t>
            </a:r>
          </a:p>
        </p:txBody>
      </p:sp>
    </p:spTree>
  </p:cSld>
  <p:clrMapOvr>
    <a:masterClrMapping/>
  </p:clrMapOvr>
  <p:transition spd="fast">
    <p:fade/>
  </p:transition>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37744"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47472"/>
            <a:ext cx="10698480" cy="292608"/>
          </a:xfrm>
          <a:prstGeom prst="rect">
            <a:avLst/>
          </a:prstGeom>
          <a:noFill/>
        </p:spPr>
        <p:txBody>
          <a:bodyPr wrap="square" anchor="t" lIns="54864" rIns="54864" tIns="54864" bIns="54864">
            <a:spAutoFit/>
          </a:bodyPr>
          <a:lstStyle/>
          <a:p>
            <a:pPr algn="l">
              <a:spcAft>
                <a:spcPts val="300"/>
              </a:spcAft>
            </a:pPr>
            <a:r>
              <a:rPr sz="1200" b="1">
                <a:solidFill>
                  <a:srgbClr val="7C3AED"/>
                </a:solidFill>
                <a:latin typeface="Arial"/>
              </a:rPr>
              <a:t>DOMAIN 3 · SECTION 2</a:t>
            </a:r>
          </a:p>
        </p:txBody>
      </p:sp>
      <p:sp>
        <p:nvSpPr>
          <p:cNvPr id="5" name="TextBox 4"/>
          <p:cNvSpPr txBox="1"/>
          <p:nvPr/>
        </p:nvSpPr>
        <p:spPr>
          <a:xfrm>
            <a:off x="749808" y="713232"/>
            <a:ext cx="10744200" cy="731520"/>
          </a:xfrm>
          <a:prstGeom prst="rect">
            <a:avLst/>
          </a:prstGeom>
          <a:noFill/>
        </p:spPr>
        <p:txBody>
          <a:bodyPr wrap="square" anchor="ctr" lIns="54864" rIns="54864" tIns="54864" bIns="54864">
            <a:spAutoFit/>
          </a:bodyPr>
          <a:lstStyle/>
          <a:p>
            <a:pPr algn="l">
              <a:spcAft>
                <a:spcPts val="300"/>
              </a:spcAft>
            </a:pPr>
            <a:r>
              <a:rPr sz="2700" b="1">
                <a:solidFill>
                  <a:srgbClr val="161B26"/>
                </a:solidFill>
                <a:latin typeface="Arial"/>
              </a:rPr>
              <a:t>Create and modify a dashboard</a:t>
            </a:r>
          </a:p>
        </p:txBody>
      </p:sp>
      <p:sp>
        <p:nvSpPr>
          <p:cNvPr id="6" name="Rectangle 5"/>
          <p:cNvSpPr/>
          <p:nvPr/>
        </p:nvSpPr>
        <p:spPr>
          <a:xfrm>
            <a:off x="749808" y="1536192"/>
            <a:ext cx="106984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8096"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68096" y="1764792"/>
            <a:ext cx="82296" cy="206197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96695" y="2548890"/>
            <a:ext cx="493776" cy="49377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5"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1</a:t>
            </a:r>
          </a:p>
        </p:txBody>
      </p:sp>
      <p:sp>
        <p:nvSpPr>
          <p:cNvPr id="11" name="TextBox 10"/>
          <p:cNvSpPr txBox="1"/>
          <p:nvPr/>
        </p:nvSpPr>
        <p:spPr>
          <a:xfrm>
            <a:off x="1664207"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Worksheets</a:t>
            </a:r>
          </a:p>
          <a:p>
            <a:pPr algn="l">
              <a:spcAft>
                <a:spcPts val="300"/>
              </a:spcAft>
            </a:pPr>
            <a:r>
              <a:rPr sz="1200" b="0">
                <a:solidFill>
                  <a:srgbClr val="5B6372"/>
                </a:solidFill>
                <a:latin typeface="Arial"/>
              </a:rPr>
              <a:t>Place views that support one decision purpose.</a:t>
            </a:r>
          </a:p>
        </p:txBody>
      </p:sp>
      <p:sp>
        <p:nvSpPr>
          <p:cNvPr id="12" name="Rectangle 11"/>
          <p:cNvSpPr/>
          <p:nvPr/>
        </p:nvSpPr>
        <p:spPr>
          <a:xfrm>
            <a:off x="6222492"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22492" y="1764792"/>
            <a:ext cx="82296" cy="206197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51092" y="2548890"/>
            <a:ext cx="493776" cy="49377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51092"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2</a:t>
            </a:r>
          </a:p>
        </p:txBody>
      </p:sp>
      <p:sp>
        <p:nvSpPr>
          <p:cNvPr id="16" name="TextBox 15"/>
          <p:cNvSpPr txBox="1"/>
          <p:nvPr/>
        </p:nvSpPr>
        <p:spPr>
          <a:xfrm>
            <a:off x="7118604"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Objects</a:t>
            </a:r>
          </a:p>
          <a:p>
            <a:pPr algn="l">
              <a:spcAft>
                <a:spcPts val="300"/>
              </a:spcAft>
            </a:pPr>
            <a:r>
              <a:rPr sz="1200" b="0">
                <a:solidFill>
                  <a:srgbClr val="5B6372"/>
                </a:solidFill>
                <a:latin typeface="Arial"/>
              </a:rPr>
              <a:t>Use tiled/floating containers and navigation deliberately.</a:t>
            </a:r>
          </a:p>
        </p:txBody>
      </p:sp>
      <p:sp>
        <p:nvSpPr>
          <p:cNvPr id="17" name="Rectangle 16"/>
          <p:cNvSpPr/>
          <p:nvPr/>
        </p:nvSpPr>
        <p:spPr>
          <a:xfrm>
            <a:off x="768096"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68096" y="4046220"/>
            <a:ext cx="82296" cy="206197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96695" y="4830318"/>
            <a:ext cx="493776" cy="49377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96695"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3</a:t>
            </a:r>
          </a:p>
        </p:txBody>
      </p:sp>
      <p:sp>
        <p:nvSpPr>
          <p:cNvPr id="21" name="TextBox 20"/>
          <p:cNvSpPr txBox="1"/>
          <p:nvPr/>
        </p:nvSpPr>
        <p:spPr>
          <a:xfrm>
            <a:off x="1664207"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Actions</a:t>
            </a:r>
          </a:p>
          <a:p>
            <a:pPr algn="l">
              <a:spcAft>
                <a:spcPts val="300"/>
              </a:spcAft>
            </a:pPr>
            <a:r>
              <a:rPr sz="1200" b="0">
                <a:solidFill>
                  <a:srgbClr val="5B6372"/>
                </a:solidFill>
                <a:latin typeface="Arial"/>
              </a:rPr>
              <a:t>Filter, highlight, parameter, set and URL actions define experience.</a:t>
            </a:r>
          </a:p>
        </p:txBody>
      </p:sp>
      <p:sp>
        <p:nvSpPr>
          <p:cNvPr id="22" name="Rectangle 21"/>
          <p:cNvSpPr/>
          <p:nvPr/>
        </p:nvSpPr>
        <p:spPr>
          <a:xfrm>
            <a:off x="6222492"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22492" y="4046220"/>
            <a:ext cx="82296" cy="206197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51092" y="4830318"/>
            <a:ext cx="493776" cy="49377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51092"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4</a:t>
            </a:r>
          </a:p>
        </p:txBody>
      </p:sp>
      <p:sp>
        <p:nvSpPr>
          <p:cNvPr id="26" name="TextBox 25"/>
          <p:cNvSpPr txBox="1"/>
          <p:nvPr/>
        </p:nvSpPr>
        <p:spPr>
          <a:xfrm>
            <a:off x="7118604"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Devices and stories</a:t>
            </a:r>
          </a:p>
          <a:p>
            <a:pPr algn="l">
              <a:spcAft>
                <a:spcPts val="300"/>
              </a:spcAft>
            </a:pPr>
            <a:r>
              <a:rPr sz="1200" b="0">
                <a:solidFill>
                  <a:srgbClr val="5B6372"/>
                </a:solidFill>
                <a:latin typeface="Arial"/>
              </a:rPr>
              <a:t>Adapt layouts for screens; sequence a guided narrative.</a:t>
            </a:r>
          </a:p>
        </p:txBody>
      </p:sp>
      <p:sp>
        <p:nvSpPr>
          <p:cNvPr id="27" name="TextBox 26"/>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28" name="TextBox 27"/>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29" name="TextBox 28"/>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116</a:t>
            </a:r>
          </a:p>
        </p:txBody>
      </p:sp>
    </p:spTree>
  </p:cSld>
  <p:clrMapOvr>
    <a:masterClrMapping/>
  </p:clrMapOvr>
  <p:transition spd="fast">
    <p:fade/>
  </p:transition>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37744"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47472"/>
            <a:ext cx="10698480" cy="292608"/>
          </a:xfrm>
          <a:prstGeom prst="rect">
            <a:avLst/>
          </a:prstGeom>
          <a:noFill/>
        </p:spPr>
        <p:txBody>
          <a:bodyPr wrap="square" anchor="t" lIns="54864" rIns="54864" tIns="54864" bIns="54864">
            <a:spAutoFit/>
          </a:bodyPr>
          <a:lstStyle/>
          <a:p>
            <a:pPr algn="l">
              <a:spcAft>
                <a:spcPts val="300"/>
              </a:spcAft>
            </a:pPr>
            <a:r>
              <a:rPr sz="1200" b="1">
                <a:solidFill>
                  <a:srgbClr val="7C3AED"/>
                </a:solidFill>
                <a:latin typeface="Arial"/>
              </a:rPr>
              <a:t>CONCEPTUAL DECISION FLOW</a:t>
            </a:r>
          </a:p>
        </p:txBody>
      </p:sp>
      <p:sp>
        <p:nvSpPr>
          <p:cNvPr id="5" name="TextBox 4"/>
          <p:cNvSpPr txBox="1"/>
          <p:nvPr/>
        </p:nvSpPr>
        <p:spPr>
          <a:xfrm>
            <a:off x="749808" y="713232"/>
            <a:ext cx="10744200" cy="731520"/>
          </a:xfrm>
          <a:prstGeom prst="rect">
            <a:avLst/>
          </a:prstGeom>
          <a:noFill/>
        </p:spPr>
        <p:txBody>
          <a:bodyPr wrap="square" anchor="ctr" lIns="54864" rIns="54864" tIns="54864" bIns="54864">
            <a:spAutoFit/>
          </a:bodyPr>
          <a:lstStyle/>
          <a:p>
            <a:pPr algn="l">
              <a:spcAft>
                <a:spcPts val="300"/>
              </a:spcAft>
            </a:pPr>
            <a:r>
              <a:rPr sz="2700" b="1">
                <a:solidFill>
                  <a:srgbClr val="161B26"/>
                </a:solidFill>
                <a:latin typeface="Arial"/>
              </a:rPr>
              <a:t>Reasoning Pattern — Create and modify a dashboard</a:t>
            </a:r>
          </a:p>
        </p:txBody>
      </p:sp>
      <p:sp>
        <p:nvSpPr>
          <p:cNvPr id="6" name="Rectangle 5"/>
          <p:cNvSpPr/>
          <p:nvPr/>
        </p:nvSpPr>
        <p:spPr>
          <a:xfrm>
            <a:off x="749808" y="1536192"/>
            <a:ext cx="106984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8096" y="2057400"/>
            <a:ext cx="1947672" cy="2971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68096" y="2057400"/>
            <a:ext cx="1947672"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76172" y="2423160"/>
            <a:ext cx="731520" cy="7315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6172" y="2423160"/>
            <a:ext cx="731520" cy="731520"/>
          </a:xfrm>
          <a:prstGeom prst="rect">
            <a:avLst/>
          </a:prstGeom>
          <a:noFill/>
        </p:spPr>
        <p:txBody>
          <a:bodyPr wrap="square" anchor="ctr" lIns="54864" rIns="54864" tIns="54864" bIns="54864">
            <a:spAutoFit/>
          </a:bodyPr>
          <a:lstStyle/>
          <a:p>
            <a:pPr algn="ctr">
              <a:spcAft>
                <a:spcPts val="300"/>
              </a:spcAft>
            </a:pPr>
            <a:r>
              <a:rPr sz="2400" b="1">
                <a:solidFill>
                  <a:srgbClr val="FFFFFF"/>
                </a:solidFill>
                <a:latin typeface="Arial"/>
              </a:rPr>
              <a:t>1</a:t>
            </a:r>
          </a:p>
        </p:txBody>
      </p:sp>
      <p:sp>
        <p:nvSpPr>
          <p:cNvPr id="11" name="TextBox 10"/>
          <p:cNvSpPr txBox="1"/>
          <p:nvPr/>
        </p:nvSpPr>
        <p:spPr>
          <a:xfrm>
            <a:off x="877824" y="3429000"/>
            <a:ext cx="1728216" cy="1143000"/>
          </a:xfrm>
          <a:prstGeom prst="rect">
            <a:avLst/>
          </a:prstGeom>
          <a:noFill/>
        </p:spPr>
        <p:txBody>
          <a:bodyPr wrap="square" anchor="ctr" lIns="54864" rIns="54864" tIns="54864" bIns="54864">
            <a:spAutoFit/>
          </a:bodyPr>
          <a:lstStyle/>
          <a:p>
            <a:pPr algn="ctr">
              <a:spcAft>
                <a:spcPts val="300"/>
              </a:spcAft>
            </a:pPr>
            <a:r>
              <a:rPr sz="1250" b="0">
                <a:solidFill>
                  <a:srgbClr val="161B26"/>
                </a:solidFill>
                <a:latin typeface="Arial"/>
              </a:rPr>
              <a:t>Worksheets</a:t>
            </a:r>
          </a:p>
        </p:txBody>
      </p:sp>
      <p:sp>
        <p:nvSpPr>
          <p:cNvPr id="12" name="TextBox 11"/>
          <p:cNvSpPr txBox="1"/>
          <p:nvPr/>
        </p:nvSpPr>
        <p:spPr>
          <a:xfrm>
            <a:off x="2697479" y="3246120"/>
            <a:ext cx="274320" cy="365760"/>
          </a:xfrm>
          <a:prstGeom prst="rect">
            <a:avLst/>
          </a:prstGeom>
          <a:noFill/>
        </p:spPr>
        <p:txBody>
          <a:bodyPr wrap="square" anchor="t" lIns="54864" rIns="54864" tIns="54864" bIns="54864">
            <a:spAutoFit/>
          </a:bodyPr>
          <a:lstStyle/>
          <a:p>
            <a:pPr algn="ctr">
              <a:spcAft>
                <a:spcPts val="300"/>
              </a:spcAft>
            </a:pPr>
            <a:r>
              <a:rPr sz="1200" b="1">
                <a:solidFill>
                  <a:srgbClr val="7C3AED"/>
                </a:solidFill>
                <a:latin typeface="Arial"/>
              </a:rPr>
              <a:t>▶</a:t>
            </a:r>
          </a:p>
        </p:txBody>
      </p:sp>
      <p:sp>
        <p:nvSpPr>
          <p:cNvPr id="13" name="Rectangle 12"/>
          <p:cNvSpPr/>
          <p:nvPr/>
        </p:nvSpPr>
        <p:spPr>
          <a:xfrm>
            <a:off x="2944368" y="2057400"/>
            <a:ext cx="1947672" cy="2971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44368" y="2057400"/>
            <a:ext cx="1947672"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52444" y="2423160"/>
            <a:ext cx="731520" cy="7315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52444" y="2423160"/>
            <a:ext cx="731520" cy="731520"/>
          </a:xfrm>
          <a:prstGeom prst="rect">
            <a:avLst/>
          </a:prstGeom>
          <a:noFill/>
        </p:spPr>
        <p:txBody>
          <a:bodyPr wrap="square" anchor="ctr" lIns="54864" rIns="54864" tIns="54864" bIns="54864">
            <a:spAutoFit/>
          </a:bodyPr>
          <a:lstStyle/>
          <a:p>
            <a:pPr algn="ctr">
              <a:spcAft>
                <a:spcPts val="300"/>
              </a:spcAft>
            </a:pPr>
            <a:r>
              <a:rPr sz="2400" b="1">
                <a:solidFill>
                  <a:srgbClr val="FFFFFF"/>
                </a:solidFill>
                <a:latin typeface="Arial"/>
              </a:rPr>
              <a:t>2</a:t>
            </a:r>
          </a:p>
        </p:txBody>
      </p:sp>
      <p:sp>
        <p:nvSpPr>
          <p:cNvPr id="17" name="TextBox 16"/>
          <p:cNvSpPr txBox="1"/>
          <p:nvPr/>
        </p:nvSpPr>
        <p:spPr>
          <a:xfrm>
            <a:off x="3054096" y="3429000"/>
            <a:ext cx="1728216" cy="1143000"/>
          </a:xfrm>
          <a:prstGeom prst="rect">
            <a:avLst/>
          </a:prstGeom>
          <a:noFill/>
        </p:spPr>
        <p:txBody>
          <a:bodyPr wrap="square" anchor="ctr" lIns="54864" rIns="54864" tIns="54864" bIns="54864">
            <a:spAutoFit/>
          </a:bodyPr>
          <a:lstStyle/>
          <a:p>
            <a:pPr algn="ctr">
              <a:spcAft>
                <a:spcPts val="300"/>
              </a:spcAft>
            </a:pPr>
            <a:r>
              <a:rPr sz="1250" b="0">
                <a:solidFill>
                  <a:srgbClr val="161B26"/>
                </a:solidFill>
                <a:latin typeface="Arial"/>
              </a:rPr>
              <a:t>Objects</a:t>
            </a:r>
          </a:p>
        </p:txBody>
      </p:sp>
      <p:sp>
        <p:nvSpPr>
          <p:cNvPr id="18" name="TextBox 17"/>
          <p:cNvSpPr txBox="1"/>
          <p:nvPr/>
        </p:nvSpPr>
        <p:spPr>
          <a:xfrm>
            <a:off x="4873752" y="3246120"/>
            <a:ext cx="274320" cy="365760"/>
          </a:xfrm>
          <a:prstGeom prst="rect">
            <a:avLst/>
          </a:prstGeom>
          <a:noFill/>
        </p:spPr>
        <p:txBody>
          <a:bodyPr wrap="square" anchor="t" lIns="54864" rIns="54864" tIns="54864" bIns="54864">
            <a:spAutoFit/>
          </a:bodyPr>
          <a:lstStyle/>
          <a:p>
            <a:pPr algn="ctr">
              <a:spcAft>
                <a:spcPts val="300"/>
              </a:spcAft>
            </a:pPr>
            <a:r>
              <a:rPr sz="1200" b="1">
                <a:solidFill>
                  <a:srgbClr val="7C3AED"/>
                </a:solidFill>
                <a:latin typeface="Arial"/>
              </a:rPr>
              <a:t>▶</a:t>
            </a:r>
          </a:p>
        </p:txBody>
      </p:sp>
      <p:sp>
        <p:nvSpPr>
          <p:cNvPr id="19" name="Rectangle 18"/>
          <p:cNvSpPr/>
          <p:nvPr/>
        </p:nvSpPr>
        <p:spPr>
          <a:xfrm>
            <a:off x="5120640" y="2057400"/>
            <a:ext cx="1947672" cy="2971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0" y="2057400"/>
            <a:ext cx="1947672"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28715" y="2423160"/>
            <a:ext cx="731520" cy="7315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28715" y="2423160"/>
            <a:ext cx="731520" cy="731520"/>
          </a:xfrm>
          <a:prstGeom prst="rect">
            <a:avLst/>
          </a:prstGeom>
          <a:noFill/>
        </p:spPr>
        <p:txBody>
          <a:bodyPr wrap="square" anchor="ctr" lIns="54864" rIns="54864" tIns="54864" bIns="54864">
            <a:spAutoFit/>
          </a:bodyPr>
          <a:lstStyle/>
          <a:p>
            <a:pPr algn="ctr">
              <a:spcAft>
                <a:spcPts val="300"/>
              </a:spcAft>
            </a:pPr>
            <a:r>
              <a:rPr sz="2400" b="1">
                <a:solidFill>
                  <a:srgbClr val="FFFFFF"/>
                </a:solidFill>
                <a:latin typeface="Arial"/>
              </a:rPr>
              <a:t>3</a:t>
            </a:r>
          </a:p>
        </p:txBody>
      </p:sp>
      <p:sp>
        <p:nvSpPr>
          <p:cNvPr id="23" name="TextBox 22"/>
          <p:cNvSpPr txBox="1"/>
          <p:nvPr/>
        </p:nvSpPr>
        <p:spPr>
          <a:xfrm>
            <a:off x="5230368" y="3429000"/>
            <a:ext cx="1728216" cy="1143000"/>
          </a:xfrm>
          <a:prstGeom prst="rect">
            <a:avLst/>
          </a:prstGeom>
          <a:noFill/>
        </p:spPr>
        <p:txBody>
          <a:bodyPr wrap="square" anchor="ctr" lIns="54864" rIns="54864" tIns="54864" bIns="54864">
            <a:spAutoFit/>
          </a:bodyPr>
          <a:lstStyle/>
          <a:p>
            <a:pPr algn="ctr">
              <a:spcAft>
                <a:spcPts val="300"/>
              </a:spcAft>
            </a:pPr>
            <a:r>
              <a:rPr sz="1250" b="0">
                <a:solidFill>
                  <a:srgbClr val="161B26"/>
                </a:solidFill>
                <a:latin typeface="Arial"/>
              </a:rPr>
              <a:t>Actions</a:t>
            </a:r>
          </a:p>
        </p:txBody>
      </p:sp>
      <p:sp>
        <p:nvSpPr>
          <p:cNvPr id="24" name="TextBox 23"/>
          <p:cNvSpPr txBox="1"/>
          <p:nvPr/>
        </p:nvSpPr>
        <p:spPr>
          <a:xfrm>
            <a:off x="7050024" y="3246120"/>
            <a:ext cx="274320" cy="365760"/>
          </a:xfrm>
          <a:prstGeom prst="rect">
            <a:avLst/>
          </a:prstGeom>
          <a:noFill/>
        </p:spPr>
        <p:txBody>
          <a:bodyPr wrap="square" anchor="t" lIns="54864" rIns="54864" tIns="54864" bIns="54864">
            <a:spAutoFit/>
          </a:bodyPr>
          <a:lstStyle/>
          <a:p>
            <a:pPr algn="ctr">
              <a:spcAft>
                <a:spcPts val="300"/>
              </a:spcAft>
            </a:pPr>
            <a:r>
              <a:rPr sz="1200" b="1">
                <a:solidFill>
                  <a:srgbClr val="7C3AED"/>
                </a:solidFill>
                <a:latin typeface="Arial"/>
              </a:rPr>
              <a:t>▶</a:t>
            </a:r>
          </a:p>
        </p:txBody>
      </p:sp>
      <p:sp>
        <p:nvSpPr>
          <p:cNvPr id="25" name="Rectangle 24"/>
          <p:cNvSpPr/>
          <p:nvPr/>
        </p:nvSpPr>
        <p:spPr>
          <a:xfrm>
            <a:off x="7296912" y="2057400"/>
            <a:ext cx="1947672" cy="2971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296912" y="2057400"/>
            <a:ext cx="1947672"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04988" y="2423160"/>
            <a:ext cx="731520" cy="7315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4988" y="2423160"/>
            <a:ext cx="731520" cy="731520"/>
          </a:xfrm>
          <a:prstGeom prst="rect">
            <a:avLst/>
          </a:prstGeom>
          <a:noFill/>
        </p:spPr>
        <p:txBody>
          <a:bodyPr wrap="square" anchor="ctr" lIns="54864" rIns="54864" tIns="54864" bIns="54864">
            <a:spAutoFit/>
          </a:bodyPr>
          <a:lstStyle/>
          <a:p>
            <a:pPr algn="ctr">
              <a:spcAft>
                <a:spcPts val="300"/>
              </a:spcAft>
            </a:pPr>
            <a:r>
              <a:rPr sz="2400" b="1">
                <a:solidFill>
                  <a:srgbClr val="FFFFFF"/>
                </a:solidFill>
                <a:latin typeface="Arial"/>
              </a:rPr>
              <a:t>4</a:t>
            </a:r>
          </a:p>
        </p:txBody>
      </p:sp>
      <p:sp>
        <p:nvSpPr>
          <p:cNvPr id="29" name="TextBox 28"/>
          <p:cNvSpPr txBox="1"/>
          <p:nvPr/>
        </p:nvSpPr>
        <p:spPr>
          <a:xfrm>
            <a:off x="7406640" y="3429000"/>
            <a:ext cx="1728216" cy="1143000"/>
          </a:xfrm>
          <a:prstGeom prst="rect">
            <a:avLst/>
          </a:prstGeom>
          <a:noFill/>
        </p:spPr>
        <p:txBody>
          <a:bodyPr wrap="square" anchor="ctr" lIns="54864" rIns="54864" tIns="54864" bIns="54864">
            <a:spAutoFit/>
          </a:bodyPr>
          <a:lstStyle/>
          <a:p>
            <a:pPr algn="ctr">
              <a:spcAft>
                <a:spcPts val="300"/>
              </a:spcAft>
            </a:pPr>
            <a:r>
              <a:rPr sz="1250" b="0">
                <a:solidFill>
                  <a:srgbClr val="161B26"/>
                </a:solidFill>
                <a:latin typeface="Arial"/>
              </a:rPr>
              <a:t>Devices and stories</a:t>
            </a:r>
          </a:p>
        </p:txBody>
      </p:sp>
      <p:sp>
        <p:nvSpPr>
          <p:cNvPr id="30" name="TextBox 29"/>
          <p:cNvSpPr txBox="1"/>
          <p:nvPr/>
        </p:nvSpPr>
        <p:spPr>
          <a:xfrm>
            <a:off x="9226296" y="3246120"/>
            <a:ext cx="274320" cy="365760"/>
          </a:xfrm>
          <a:prstGeom prst="rect">
            <a:avLst/>
          </a:prstGeom>
          <a:noFill/>
        </p:spPr>
        <p:txBody>
          <a:bodyPr wrap="square" anchor="t" lIns="54864" rIns="54864" tIns="54864" bIns="54864">
            <a:spAutoFit/>
          </a:bodyPr>
          <a:lstStyle/>
          <a:p>
            <a:pPr algn="ctr">
              <a:spcAft>
                <a:spcPts val="300"/>
              </a:spcAft>
            </a:pPr>
            <a:r>
              <a:rPr sz="1200" b="1">
                <a:solidFill>
                  <a:srgbClr val="7C3AED"/>
                </a:solidFill>
                <a:latin typeface="Arial"/>
              </a:rPr>
              <a:t>▶</a:t>
            </a:r>
          </a:p>
        </p:txBody>
      </p:sp>
      <p:sp>
        <p:nvSpPr>
          <p:cNvPr id="31" name="Rectangle 30"/>
          <p:cNvSpPr/>
          <p:nvPr/>
        </p:nvSpPr>
        <p:spPr>
          <a:xfrm>
            <a:off x="9473184" y="2057400"/>
            <a:ext cx="1947672" cy="2971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473184" y="2057400"/>
            <a:ext cx="1947672"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81259" y="2423160"/>
            <a:ext cx="731520" cy="7315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81259" y="2423160"/>
            <a:ext cx="731520" cy="731520"/>
          </a:xfrm>
          <a:prstGeom prst="rect">
            <a:avLst/>
          </a:prstGeom>
          <a:noFill/>
        </p:spPr>
        <p:txBody>
          <a:bodyPr wrap="square" anchor="ctr" lIns="54864" rIns="54864" tIns="54864" bIns="54864">
            <a:spAutoFit/>
          </a:bodyPr>
          <a:lstStyle/>
          <a:p>
            <a:pPr algn="ctr">
              <a:spcAft>
                <a:spcPts val="300"/>
              </a:spcAft>
            </a:pPr>
            <a:r>
              <a:rPr sz="2400" b="1">
                <a:solidFill>
                  <a:srgbClr val="FFFFFF"/>
                </a:solidFill>
                <a:latin typeface="Arial"/>
              </a:rPr>
              <a:t>5</a:t>
            </a:r>
          </a:p>
        </p:txBody>
      </p:sp>
      <p:sp>
        <p:nvSpPr>
          <p:cNvPr id="35" name="TextBox 34"/>
          <p:cNvSpPr txBox="1"/>
          <p:nvPr/>
        </p:nvSpPr>
        <p:spPr>
          <a:xfrm>
            <a:off x="9582911" y="3429000"/>
            <a:ext cx="1728216" cy="1143000"/>
          </a:xfrm>
          <a:prstGeom prst="rect">
            <a:avLst/>
          </a:prstGeom>
          <a:noFill/>
        </p:spPr>
        <p:txBody>
          <a:bodyPr wrap="square" anchor="ctr" lIns="54864" rIns="54864" tIns="54864" bIns="54864">
            <a:spAutoFit/>
          </a:bodyPr>
          <a:lstStyle/>
          <a:p>
            <a:pPr algn="ctr">
              <a:spcAft>
                <a:spcPts val="300"/>
              </a:spcAft>
            </a:pPr>
            <a:r>
              <a:rPr sz="1250" b="0">
                <a:solidFill>
                  <a:srgbClr val="161B26"/>
                </a:solidFill>
                <a:latin typeface="Arial"/>
              </a:rPr>
              <a:t>Validate result</a:t>
            </a:r>
          </a:p>
        </p:txBody>
      </p:sp>
      <p:sp>
        <p:nvSpPr>
          <p:cNvPr id="36" name="TextBox 35"/>
          <p:cNvSpPr txBox="1"/>
          <p:nvPr/>
        </p:nvSpPr>
        <p:spPr>
          <a:xfrm>
            <a:off x="777240" y="5394960"/>
            <a:ext cx="10607040" cy="411480"/>
          </a:xfrm>
          <a:prstGeom prst="rect">
            <a:avLst/>
          </a:prstGeom>
          <a:noFill/>
        </p:spPr>
        <p:txBody>
          <a:bodyPr wrap="square" anchor="t" lIns="54864" rIns="54864" tIns="54864" bIns="54864">
            <a:spAutoFit/>
          </a:bodyPr>
          <a:lstStyle/>
          <a:p>
            <a:pPr algn="ctr">
              <a:spcAft>
                <a:spcPts val="300"/>
              </a:spcAft>
            </a:pPr>
            <a:r>
              <a:rPr sz="1250" b="0">
                <a:solidFill>
                  <a:srgbClr val="5B6372"/>
                </a:solidFill>
                <a:latin typeface="Arial"/>
              </a:rPr>
              <a:t>This is a reasoning map, not a click-by-click lab procedure.</a:t>
            </a:r>
          </a:p>
        </p:txBody>
      </p:sp>
      <p:sp>
        <p:nvSpPr>
          <p:cNvPr id="37" name="TextBox 36"/>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38" name="TextBox 37"/>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39" name="TextBox 38"/>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117</a:t>
            </a:r>
          </a:p>
        </p:txBody>
      </p:sp>
    </p:spTree>
  </p:cSld>
  <p:clrMapOvr>
    <a:masterClrMapping/>
  </p:clrMapOvr>
  <p:transition spd="fast">
    <p:fade/>
  </p:transition>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37744"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47472"/>
            <a:ext cx="10698480" cy="292608"/>
          </a:xfrm>
          <a:prstGeom prst="rect">
            <a:avLst/>
          </a:prstGeom>
          <a:noFill/>
        </p:spPr>
        <p:txBody>
          <a:bodyPr wrap="square" anchor="t" lIns="54864" rIns="54864" tIns="54864" bIns="54864">
            <a:spAutoFit/>
          </a:bodyPr>
          <a:lstStyle/>
          <a:p>
            <a:pPr algn="l">
              <a:spcAft>
                <a:spcPts val="300"/>
              </a:spcAft>
            </a:pPr>
            <a:r>
              <a:rPr sz="1200" b="1">
                <a:solidFill>
                  <a:srgbClr val="7C3AED"/>
                </a:solidFill>
                <a:latin typeface="Arial"/>
              </a:rPr>
              <a:t>OFFICIAL OBJECTIVE · DOMAIN 3</a:t>
            </a:r>
          </a:p>
        </p:txBody>
      </p:sp>
      <p:sp>
        <p:nvSpPr>
          <p:cNvPr id="5" name="TextBox 4"/>
          <p:cNvSpPr txBox="1"/>
          <p:nvPr/>
        </p:nvSpPr>
        <p:spPr>
          <a:xfrm>
            <a:off x="749808" y="713232"/>
            <a:ext cx="10744200" cy="731520"/>
          </a:xfrm>
          <a:prstGeom prst="rect">
            <a:avLst/>
          </a:prstGeom>
          <a:noFill/>
        </p:spPr>
        <p:txBody>
          <a:bodyPr wrap="square" anchor="ctr" lIns="54864" rIns="54864" tIns="54864" bIns="54864">
            <a:spAutoFit/>
          </a:bodyPr>
          <a:lstStyle/>
          <a:p>
            <a:pPr algn="l">
              <a:spcAft>
                <a:spcPts val="300"/>
              </a:spcAft>
            </a:pPr>
            <a:r>
              <a:rPr sz="2700" b="1">
                <a:solidFill>
                  <a:srgbClr val="161B26"/>
                </a:solidFill>
                <a:latin typeface="Arial"/>
              </a:rPr>
              <a:t>3.2.1 · Add worksheets to a dashboard</a:t>
            </a:r>
          </a:p>
        </p:txBody>
      </p:sp>
      <p:sp>
        <p:nvSpPr>
          <p:cNvPr id="6" name="Rectangle 5"/>
          <p:cNvSpPr/>
          <p:nvPr/>
        </p:nvSpPr>
        <p:spPr>
          <a:xfrm>
            <a:off x="749808" y="1536192"/>
            <a:ext cx="106984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8096"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68096" y="1764792"/>
            <a:ext cx="82296" cy="206197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96695" y="2548890"/>
            <a:ext cx="493776" cy="49377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5"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1</a:t>
            </a:r>
          </a:p>
        </p:txBody>
      </p:sp>
      <p:sp>
        <p:nvSpPr>
          <p:cNvPr id="11" name="TextBox 10"/>
          <p:cNvSpPr txBox="1"/>
          <p:nvPr/>
        </p:nvSpPr>
        <p:spPr>
          <a:xfrm>
            <a:off x="1664207"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What it means</a:t>
            </a:r>
          </a:p>
          <a:p>
            <a:pPr algn="l">
              <a:spcAft>
                <a:spcPts val="300"/>
              </a:spcAft>
            </a:pPr>
            <a:r>
              <a:rPr sz="1200" b="0">
                <a:solidFill>
                  <a:srgbClr val="5B6372"/>
                </a:solidFill>
                <a:latin typeface="Arial"/>
              </a:rPr>
              <a:t>A dashboard composes sheets and objects into one canvas.</a:t>
            </a:r>
          </a:p>
        </p:txBody>
      </p:sp>
      <p:sp>
        <p:nvSpPr>
          <p:cNvPr id="12" name="Rectangle 11"/>
          <p:cNvSpPr/>
          <p:nvPr/>
        </p:nvSpPr>
        <p:spPr>
          <a:xfrm>
            <a:off x="6222492"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22492" y="1764792"/>
            <a:ext cx="82296" cy="206197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51092" y="2548890"/>
            <a:ext cx="493776" cy="49377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51092"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2</a:t>
            </a:r>
          </a:p>
        </p:txBody>
      </p:sp>
      <p:sp>
        <p:nvSpPr>
          <p:cNvPr id="16" name="TextBox 15"/>
          <p:cNvSpPr txBox="1"/>
          <p:nvPr/>
        </p:nvSpPr>
        <p:spPr>
          <a:xfrm>
            <a:off x="7118604"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Use it when</a:t>
            </a:r>
          </a:p>
          <a:p>
            <a:pPr algn="l">
              <a:spcAft>
                <a:spcPts val="300"/>
              </a:spcAft>
            </a:pPr>
            <a:r>
              <a:rPr sz="1200" b="0">
                <a:solidFill>
                  <a:srgbClr val="5B6372"/>
                </a:solidFill>
                <a:latin typeface="Arial"/>
              </a:rPr>
              <a:t>Create a clear hierarchy with the key view first.</a:t>
            </a:r>
          </a:p>
        </p:txBody>
      </p:sp>
      <p:sp>
        <p:nvSpPr>
          <p:cNvPr id="17" name="Rectangle 16"/>
          <p:cNvSpPr/>
          <p:nvPr/>
        </p:nvSpPr>
        <p:spPr>
          <a:xfrm>
            <a:off x="768096"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68096" y="4046220"/>
            <a:ext cx="82296" cy="206197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96695" y="4830318"/>
            <a:ext cx="493776" cy="49377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96695"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3</a:t>
            </a:r>
          </a:p>
        </p:txBody>
      </p:sp>
      <p:sp>
        <p:nvSpPr>
          <p:cNvPr id="21" name="TextBox 20"/>
          <p:cNvSpPr txBox="1"/>
          <p:nvPr/>
        </p:nvSpPr>
        <p:spPr>
          <a:xfrm>
            <a:off x="1664207"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Exam clue</a:t>
            </a:r>
          </a:p>
          <a:p>
            <a:pPr algn="l">
              <a:spcAft>
                <a:spcPts val="300"/>
              </a:spcAft>
            </a:pPr>
            <a:r>
              <a:rPr sz="1200" b="0">
                <a:solidFill>
                  <a:srgbClr val="5B6372"/>
                </a:solidFill>
                <a:latin typeface="Arial"/>
              </a:rPr>
              <a:t>Tiled items join containers; floating items use absolute position.</a:t>
            </a:r>
          </a:p>
        </p:txBody>
      </p:sp>
      <p:sp>
        <p:nvSpPr>
          <p:cNvPr id="22" name="Rectangle 21"/>
          <p:cNvSpPr/>
          <p:nvPr/>
        </p:nvSpPr>
        <p:spPr>
          <a:xfrm>
            <a:off x="6222492"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22492" y="4046220"/>
            <a:ext cx="82296" cy="206197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51092" y="4830318"/>
            <a:ext cx="493776" cy="49377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51092"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4</a:t>
            </a:r>
          </a:p>
        </p:txBody>
      </p:sp>
      <p:sp>
        <p:nvSpPr>
          <p:cNvPr id="26" name="TextBox 25"/>
          <p:cNvSpPr txBox="1"/>
          <p:nvPr/>
        </p:nvSpPr>
        <p:spPr>
          <a:xfrm>
            <a:off x="7118604"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Common pitfall</a:t>
            </a:r>
          </a:p>
          <a:p>
            <a:pPr algn="l">
              <a:spcAft>
                <a:spcPts val="300"/>
              </a:spcAft>
            </a:pPr>
            <a:r>
              <a:rPr sz="1200" b="0">
                <a:solidFill>
                  <a:srgbClr val="5B6372"/>
                </a:solidFill>
                <a:latin typeface="Arial"/>
              </a:rPr>
              <a:t>Adding every sheet creates noise.</a:t>
            </a:r>
          </a:p>
        </p:txBody>
      </p:sp>
      <p:sp>
        <p:nvSpPr>
          <p:cNvPr id="27" name="TextBox 26"/>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28" name="TextBox 27"/>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29" name="TextBox 28"/>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118</a:t>
            </a:r>
          </a:p>
        </p:txBody>
      </p:sp>
    </p:spTree>
  </p:cSld>
  <p:clrMapOvr>
    <a:masterClrMapping/>
  </p:clrMapOvr>
  <p:transition spd="fast">
    <p:fade/>
  </p:transition>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37744"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47472"/>
            <a:ext cx="10698480" cy="292608"/>
          </a:xfrm>
          <a:prstGeom prst="rect">
            <a:avLst/>
          </a:prstGeom>
          <a:noFill/>
        </p:spPr>
        <p:txBody>
          <a:bodyPr wrap="square" anchor="t" lIns="54864" rIns="54864" tIns="54864" bIns="54864">
            <a:spAutoFit/>
          </a:bodyPr>
          <a:lstStyle/>
          <a:p>
            <a:pPr algn="l">
              <a:spcAft>
                <a:spcPts val="300"/>
              </a:spcAft>
            </a:pPr>
            <a:r>
              <a:rPr sz="1200" b="1">
                <a:solidFill>
                  <a:srgbClr val="7C3AED"/>
                </a:solidFill>
                <a:latin typeface="Arial"/>
              </a:rPr>
              <a:t>OFFICIAL OBJECTIVE · DOMAIN 3</a:t>
            </a:r>
          </a:p>
        </p:txBody>
      </p:sp>
      <p:sp>
        <p:nvSpPr>
          <p:cNvPr id="5" name="TextBox 4"/>
          <p:cNvSpPr txBox="1"/>
          <p:nvPr/>
        </p:nvSpPr>
        <p:spPr>
          <a:xfrm>
            <a:off x="749808" y="713232"/>
            <a:ext cx="10744200" cy="731520"/>
          </a:xfrm>
          <a:prstGeom prst="rect">
            <a:avLst/>
          </a:prstGeom>
          <a:noFill/>
        </p:spPr>
        <p:txBody>
          <a:bodyPr wrap="square" anchor="ctr" lIns="54864" rIns="54864" tIns="54864" bIns="54864">
            <a:spAutoFit/>
          </a:bodyPr>
          <a:lstStyle/>
          <a:p>
            <a:pPr algn="l">
              <a:spcAft>
                <a:spcPts val="300"/>
              </a:spcAft>
            </a:pPr>
            <a:r>
              <a:rPr sz="2700" b="1">
                <a:solidFill>
                  <a:srgbClr val="161B26"/>
                </a:solidFill>
                <a:latin typeface="Arial"/>
              </a:rPr>
              <a:t>3.2.2 · Add consumer interactions</a:t>
            </a:r>
          </a:p>
        </p:txBody>
      </p:sp>
      <p:sp>
        <p:nvSpPr>
          <p:cNvPr id="6" name="Rectangle 5"/>
          <p:cNvSpPr/>
          <p:nvPr/>
        </p:nvSpPr>
        <p:spPr>
          <a:xfrm>
            <a:off x="749808" y="1536192"/>
            <a:ext cx="106984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8096"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68096" y="1764792"/>
            <a:ext cx="82296" cy="206197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96695" y="2548890"/>
            <a:ext cx="493776" cy="49377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5"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1</a:t>
            </a:r>
          </a:p>
        </p:txBody>
      </p:sp>
      <p:sp>
        <p:nvSpPr>
          <p:cNvPr id="11" name="TextBox 10"/>
          <p:cNvSpPr txBox="1"/>
          <p:nvPr/>
        </p:nvSpPr>
        <p:spPr>
          <a:xfrm>
            <a:off x="1664207"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What it means</a:t>
            </a:r>
          </a:p>
          <a:p>
            <a:pPr algn="l">
              <a:spcAft>
                <a:spcPts val="300"/>
              </a:spcAft>
            </a:pPr>
            <a:r>
              <a:rPr sz="1200" b="0">
                <a:solidFill>
                  <a:srgbClr val="5B6372"/>
                </a:solidFill>
                <a:latin typeface="Arial"/>
              </a:rPr>
              <a:t>Filters, highlighters, tooltips and navigation support exploration.</a:t>
            </a:r>
          </a:p>
        </p:txBody>
      </p:sp>
      <p:sp>
        <p:nvSpPr>
          <p:cNvPr id="12" name="Rectangle 11"/>
          <p:cNvSpPr/>
          <p:nvPr/>
        </p:nvSpPr>
        <p:spPr>
          <a:xfrm>
            <a:off x="6222492"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22492" y="1764792"/>
            <a:ext cx="82296" cy="206197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51092" y="2548890"/>
            <a:ext cx="493776" cy="49377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51092"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2</a:t>
            </a:r>
          </a:p>
        </p:txBody>
      </p:sp>
      <p:sp>
        <p:nvSpPr>
          <p:cNvPr id="16" name="TextBox 15"/>
          <p:cNvSpPr txBox="1"/>
          <p:nvPr/>
        </p:nvSpPr>
        <p:spPr>
          <a:xfrm>
            <a:off x="7118604"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Use it when</a:t>
            </a:r>
          </a:p>
          <a:p>
            <a:pPr algn="l">
              <a:spcAft>
                <a:spcPts val="300"/>
              </a:spcAft>
            </a:pPr>
            <a:r>
              <a:rPr sz="1200" b="0">
                <a:solidFill>
                  <a:srgbClr val="5B6372"/>
                </a:solidFill>
                <a:latin typeface="Arial"/>
              </a:rPr>
              <a:t>Use controls that match likely questions and correct scope.</a:t>
            </a:r>
          </a:p>
        </p:txBody>
      </p:sp>
      <p:sp>
        <p:nvSpPr>
          <p:cNvPr id="17" name="Rectangle 16"/>
          <p:cNvSpPr/>
          <p:nvPr/>
        </p:nvSpPr>
        <p:spPr>
          <a:xfrm>
            <a:off x="768096"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68096" y="4046220"/>
            <a:ext cx="82296" cy="206197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96695" y="4830318"/>
            <a:ext cx="493776" cy="49377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96695"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3</a:t>
            </a:r>
          </a:p>
        </p:txBody>
      </p:sp>
      <p:sp>
        <p:nvSpPr>
          <p:cNvPr id="21" name="TextBox 20"/>
          <p:cNvSpPr txBox="1"/>
          <p:nvPr/>
        </p:nvSpPr>
        <p:spPr>
          <a:xfrm>
            <a:off x="1664207"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Exam clue</a:t>
            </a:r>
          </a:p>
          <a:p>
            <a:pPr algn="l">
              <a:spcAft>
                <a:spcPts val="300"/>
              </a:spcAft>
            </a:pPr>
            <a:r>
              <a:rPr sz="1200" b="0">
                <a:solidFill>
                  <a:srgbClr val="5B6372"/>
                </a:solidFill>
                <a:latin typeface="Arial"/>
              </a:rPr>
              <a:t>Apply to Worksheets defines controlled sheets.</a:t>
            </a:r>
          </a:p>
        </p:txBody>
      </p:sp>
      <p:sp>
        <p:nvSpPr>
          <p:cNvPr id="22" name="Rectangle 21"/>
          <p:cNvSpPr/>
          <p:nvPr/>
        </p:nvSpPr>
        <p:spPr>
          <a:xfrm>
            <a:off x="6222492"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22492" y="4046220"/>
            <a:ext cx="82296" cy="206197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51092" y="4830318"/>
            <a:ext cx="493776" cy="49377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51092"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4</a:t>
            </a:r>
          </a:p>
        </p:txBody>
      </p:sp>
      <p:sp>
        <p:nvSpPr>
          <p:cNvPr id="26" name="TextBox 25"/>
          <p:cNvSpPr txBox="1"/>
          <p:nvPr/>
        </p:nvSpPr>
        <p:spPr>
          <a:xfrm>
            <a:off x="7118604"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Common pitfall</a:t>
            </a:r>
          </a:p>
          <a:p>
            <a:pPr algn="l">
              <a:spcAft>
                <a:spcPts val="300"/>
              </a:spcAft>
            </a:pPr>
            <a:r>
              <a:rPr sz="1200" b="0">
                <a:solidFill>
                  <a:srgbClr val="5B6372"/>
                </a:solidFill>
                <a:latin typeface="Arial"/>
              </a:rPr>
              <a:t>Too many controls create contradictory states.</a:t>
            </a:r>
          </a:p>
        </p:txBody>
      </p:sp>
      <p:sp>
        <p:nvSpPr>
          <p:cNvPr id="27" name="TextBox 26"/>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28" name="TextBox 27"/>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29" name="TextBox 28"/>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119</a:t>
            </a:r>
          </a:p>
        </p:txBody>
      </p:sp>
    </p:spTree>
  </p:cSld>
  <p:clrMapOvr>
    <a:masterClrMapping/>
  </p:clrMapOvr>
  <p:transition spd="fast">
    <p:fade/>
  </p:transition>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37744"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47472"/>
            <a:ext cx="10698480" cy="292608"/>
          </a:xfrm>
          <a:prstGeom prst="rect">
            <a:avLst/>
          </a:prstGeom>
          <a:noFill/>
        </p:spPr>
        <p:txBody>
          <a:bodyPr wrap="square" anchor="t" lIns="54864" rIns="54864" tIns="54864" bIns="54864">
            <a:spAutoFit/>
          </a:bodyPr>
          <a:lstStyle/>
          <a:p>
            <a:pPr algn="l">
              <a:spcAft>
                <a:spcPts val="300"/>
              </a:spcAft>
            </a:pPr>
            <a:r>
              <a:rPr sz="1200" b="1">
                <a:solidFill>
                  <a:srgbClr val="7C3AED"/>
                </a:solidFill>
                <a:latin typeface="Arial"/>
              </a:rPr>
              <a:t>OFFICIAL OBJECTIVE · DOMAIN 3</a:t>
            </a:r>
          </a:p>
        </p:txBody>
      </p:sp>
      <p:sp>
        <p:nvSpPr>
          <p:cNvPr id="5" name="TextBox 4"/>
          <p:cNvSpPr txBox="1"/>
          <p:nvPr/>
        </p:nvSpPr>
        <p:spPr>
          <a:xfrm>
            <a:off x="749808" y="713232"/>
            <a:ext cx="10744200" cy="731520"/>
          </a:xfrm>
          <a:prstGeom prst="rect">
            <a:avLst/>
          </a:prstGeom>
          <a:noFill/>
        </p:spPr>
        <p:txBody>
          <a:bodyPr wrap="square" anchor="ctr" lIns="54864" rIns="54864" tIns="54864" bIns="54864">
            <a:spAutoFit/>
          </a:bodyPr>
          <a:lstStyle/>
          <a:p>
            <a:pPr algn="l">
              <a:spcAft>
                <a:spcPts val="300"/>
              </a:spcAft>
            </a:pPr>
            <a:r>
              <a:rPr sz="2700" b="1">
                <a:solidFill>
                  <a:srgbClr val="161B26"/>
                </a:solidFill>
                <a:latin typeface="Arial"/>
              </a:rPr>
              <a:t>3.2.3 · Add dashboard actions</a:t>
            </a:r>
          </a:p>
        </p:txBody>
      </p:sp>
      <p:sp>
        <p:nvSpPr>
          <p:cNvPr id="6" name="Rectangle 5"/>
          <p:cNvSpPr/>
          <p:nvPr/>
        </p:nvSpPr>
        <p:spPr>
          <a:xfrm>
            <a:off x="749808" y="1536192"/>
            <a:ext cx="106984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8096"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68096" y="1764792"/>
            <a:ext cx="82296" cy="206197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96695" y="2548890"/>
            <a:ext cx="493776" cy="49377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5"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1</a:t>
            </a:r>
          </a:p>
        </p:txBody>
      </p:sp>
      <p:sp>
        <p:nvSpPr>
          <p:cNvPr id="11" name="TextBox 10"/>
          <p:cNvSpPr txBox="1"/>
          <p:nvPr/>
        </p:nvSpPr>
        <p:spPr>
          <a:xfrm>
            <a:off x="1664207"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What it means</a:t>
            </a:r>
          </a:p>
          <a:p>
            <a:pPr algn="l">
              <a:spcAft>
                <a:spcPts val="300"/>
              </a:spcAft>
            </a:pPr>
            <a:r>
              <a:rPr sz="1200" b="0">
                <a:solidFill>
                  <a:srgbClr val="5B6372"/>
                </a:solidFill>
                <a:latin typeface="Arial"/>
              </a:rPr>
              <a:t>Actions respond to select, hover or menu events.</a:t>
            </a:r>
          </a:p>
        </p:txBody>
      </p:sp>
      <p:sp>
        <p:nvSpPr>
          <p:cNvPr id="12" name="Rectangle 11"/>
          <p:cNvSpPr/>
          <p:nvPr/>
        </p:nvSpPr>
        <p:spPr>
          <a:xfrm>
            <a:off x="6222492"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22492" y="1764792"/>
            <a:ext cx="82296" cy="206197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51092" y="2548890"/>
            <a:ext cx="493776" cy="49377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51092"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2</a:t>
            </a:r>
          </a:p>
        </p:txBody>
      </p:sp>
      <p:sp>
        <p:nvSpPr>
          <p:cNvPr id="16" name="TextBox 15"/>
          <p:cNvSpPr txBox="1"/>
          <p:nvPr/>
        </p:nvSpPr>
        <p:spPr>
          <a:xfrm>
            <a:off x="7118604"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Use it when</a:t>
            </a:r>
          </a:p>
          <a:p>
            <a:pPr algn="l">
              <a:spcAft>
                <a:spcPts val="300"/>
              </a:spcAft>
            </a:pPr>
            <a:r>
              <a:rPr sz="1200" b="0">
                <a:solidFill>
                  <a:srgbClr val="5B6372"/>
                </a:solidFill>
                <a:latin typeface="Arial"/>
              </a:rPr>
              <a:t>Use filter, highlight, parameter, set and URL actions.</a:t>
            </a:r>
          </a:p>
        </p:txBody>
      </p:sp>
      <p:sp>
        <p:nvSpPr>
          <p:cNvPr id="17" name="Rectangle 16"/>
          <p:cNvSpPr/>
          <p:nvPr/>
        </p:nvSpPr>
        <p:spPr>
          <a:xfrm>
            <a:off x="768096"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68096" y="4046220"/>
            <a:ext cx="82296" cy="206197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96695" y="4830318"/>
            <a:ext cx="493776" cy="49377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96695"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3</a:t>
            </a:r>
          </a:p>
        </p:txBody>
      </p:sp>
      <p:sp>
        <p:nvSpPr>
          <p:cNvPr id="21" name="TextBox 20"/>
          <p:cNvSpPr txBox="1"/>
          <p:nvPr/>
        </p:nvSpPr>
        <p:spPr>
          <a:xfrm>
            <a:off x="1664207"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Exam clue</a:t>
            </a:r>
          </a:p>
          <a:p>
            <a:pPr algn="l">
              <a:spcAft>
                <a:spcPts val="300"/>
              </a:spcAft>
            </a:pPr>
            <a:r>
              <a:rPr sz="1200" b="0">
                <a:solidFill>
                  <a:srgbClr val="5B6372"/>
                </a:solidFill>
                <a:latin typeface="Arial"/>
              </a:rPr>
              <a:t>Define source, target, event and clearing behaviour.</a:t>
            </a:r>
          </a:p>
        </p:txBody>
      </p:sp>
      <p:sp>
        <p:nvSpPr>
          <p:cNvPr id="22" name="Rectangle 21"/>
          <p:cNvSpPr/>
          <p:nvPr/>
        </p:nvSpPr>
        <p:spPr>
          <a:xfrm>
            <a:off x="6222492"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22492" y="4046220"/>
            <a:ext cx="82296" cy="206197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51092" y="4830318"/>
            <a:ext cx="493776" cy="49377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51092"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4</a:t>
            </a:r>
          </a:p>
        </p:txBody>
      </p:sp>
      <p:sp>
        <p:nvSpPr>
          <p:cNvPr id="26" name="TextBox 25"/>
          <p:cNvSpPr txBox="1"/>
          <p:nvPr/>
        </p:nvSpPr>
        <p:spPr>
          <a:xfrm>
            <a:off x="7118604"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Common pitfall</a:t>
            </a:r>
          </a:p>
          <a:p>
            <a:pPr algn="l">
              <a:spcAft>
                <a:spcPts val="300"/>
              </a:spcAft>
            </a:pPr>
            <a:r>
              <a:rPr sz="1200" b="0">
                <a:solidFill>
                  <a:srgbClr val="5B6372"/>
                </a:solidFill>
                <a:latin typeface="Arial"/>
              </a:rPr>
              <a:t>Wrong clearing behaviour can leave blank dashboards.</a:t>
            </a:r>
          </a:p>
        </p:txBody>
      </p:sp>
      <p:sp>
        <p:nvSpPr>
          <p:cNvPr id="27" name="TextBox 26"/>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28" name="TextBox 27"/>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29" name="TextBox 28"/>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120</a:t>
            </a:r>
          </a:p>
        </p:txBody>
      </p:sp>
    </p:spTree>
  </p:cSld>
  <p:clrMapOvr>
    <a:masterClrMapping/>
  </p:clrMapOvr>
  <p:transition spd="fast">
    <p:fade/>
  </p:transition>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37744"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47472"/>
            <a:ext cx="10698480" cy="292608"/>
          </a:xfrm>
          <a:prstGeom prst="rect">
            <a:avLst/>
          </a:prstGeom>
          <a:noFill/>
        </p:spPr>
        <p:txBody>
          <a:bodyPr wrap="square" anchor="t" lIns="54864" rIns="54864" tIns="54864" bIns="54864">
            <a:spAutoFit/>
          </a:bodyPr>
          <a:lstStyle/>
          <a:p>
            <a:pPr algn="l">
              <a:spcAft>
                <a:spcPts val="300"/>
              </a:spcAft>
            </a:pPr>
            <a:r>
              <a:rPr sz="1200" b="1">
                <a:solidFill>
                  <a:srgbClr val="7C3AED"/>
                </a:solidFill>
                <a:latin typeface="Arial"/>
              </a:rPr>
              <a:t>OFFICIAL OBJECTIVE · DOMAIN 3</a:t>
            </a:r>
          </a:p>
        </p:txBody>
      </p:sp>
      <p:sp>
        <p:nvSpPr>
          <p:cNvPr id="5" name="TextBox 4"/>
          <p:cNvSpPr txBox="1"/>
          <p:nvPr/>
        </p:nvSpPr>
        <p:spPr>
          <a:xfrm>
            <a:off x="749808" y="713232"/>
            <a:ext cx="10744200" cy="731520"/>
          </a:xfrm>
          <a:prstGeom prst="rect">
            <a:avLst/>
          </a:prstGeom>
          <a:noFill/>
        </p:spPr>
        <p:txBody>
          <a:bodyPr wrap="square" anchor="ctr" lIns="54864" rIns="54864" tIns="54864" bIns="54864">
            <a:spAutoFit/>
          </a:bodyPr>
          <a:lstStyle/>
          <a:p>
            <a:pPr algn="l">
              <a:spcAft>
                <a:spcPts val="300"/>
              </a:spcAft>
            </a:pPr>
            <a:r>
              <a:rPr sz="2700" b="1">
                <a:solidFill>
                  <a:srgbClr val="161B26"/>
                </a:solidFill>
                <a:latin typeface="Arial"/>
              </a:rPr>
              <a:t>3.2.4 · Configure layouts and devices</a:t>
            </a:r>
          </a:p>
        </p:txBody>
      </p:sp>
      <p:sp>
        <p:nvSpPr>
          <p:cNvPr id="6" name="Rectangle 5"/>
          <p:cNvSpPr/>
          <p:nvPr/>
        </p:nvSpPr>
        <p:spPr>
          <a:xfrm>
            <a:off x="749808" y="1536192"/>
            <a:ext cx="106984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8096"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68096" y="1764792"/>
            <a:ext cx="82296" cy="206197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96695" y="2548890"/>
            <a:ext cx="493776" cy="49377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5"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1</a:t>
            </a:r>
          </a:p>
        </p:txBody>
      </p:sp>
      <p:sp>
        <p:nvSpPr>
          <p:cNvPr id="11" name="TextBox 10"/>
          <p:cNvSpPr txBox="1"/>
          <p:nvPr/>
        </p:nvSpPr>
        <p:spPr>
          <a:xfrm>
            <a:off x="1664207"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What it means</a:t>
            </a:r>
          </a:p>
          <a:p>
            <a:pPr algn="l">
              <a:spcAft>
                <a:spcPts val="300"/>
              </a:spcAft>
            </a:pPr>
            <a:r>
              <a:rPr sz="1200" b="0">
                <a:solidFill>
                  <a:srgbClr val="5B6372"/>
                </a:solidFill>
                <a:latin typeface="Arial"/>
              </a:rPr>
              <a:t>Containers and item hierarchy govern responsive alignment.</a:t>
            </a:r>
          </a:p>
        </p:txBody>
      </p:sp>
      <p:sp>
        <p:nvSpPr>
          <p:cNvPr id="12" name="Rectangle 11"/>
          <p:cNvSpPr/>
          <p:nvPr/>
        </p:nvSpPr>
        <p:spPr>
          <a:xfrm>
            <a:off x="6222492"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22492" y="1764792"/>
            <a:ext cx="82296" cy="206197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51092" y="2548890"/>
            <a:ext cx="493776" cy="49377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51092"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2</a:t>
            </a:r>
          </a:p>
        </p:txBody>
      </p:sp>
      <p:sp>
        <p:nvSpPr>
          <p:cNvPr id="16" name="TextBox 15"/>
          <p:cNvSpPr txBox="1"/>
          <p:nvPr/>
        </p:nvSpPr>
        <p:spPr>
          <a:xfrm>
            <a:off x="7118604"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Use it when</a:t>
            </a:r>
          </a:p>
          <a:p>
            <a:pPr algn="l">
              <a:spcAft>
                <a:spcPts val="300"/>
              </a:spcAft>
            </a:pPr>
            <a:r>
              <a:rPr sz="1200" b="0">
                <a:solidFill>
                  <a:srgbClr val="5B6372"/>
                </a:solidFill>
                <a:latin typeface="Arial"/>
              </a:rPr>
              <a:t>Use fixed/range/automatic sizes and device layouts.</a:t>
            </a:r>
          </a:p>
        </p:txBody>
      </p:sp>
      <p:sp>
        <p:nvSpPr>
          <p:cNvPr id="17" name="Rectangle 16"/>
          <p:cNvSpPr/>
          <p:nvPr/>
        </p:nvSpPr>
        <p:spPr>
          <a:xfrm>
            <a:off x="768096"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68096" y="4046220"/>
            <a:ext cx="82296" cy="206197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96695" y="4830318"/>
            <a:ext cx="493776" cy="49377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96695"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3</a:t>
            </a:r>
          </a:p>
        </p:txBody>
      </p:sp>
      <p:sp>
        <p:nvSpPr>
          <p:cNvPr id="21" name="TextBox 20"/>
          <p:cNvSpPr txBox="1"/>
          <p:nvPr/>
        </p:nvSpPr>
        <p:spPr>
          <a:xfrm>
            <a:off x="1664207"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Exam clue</a:t>
            </a:r>
          </a:p>
          <a:p>
            <a:pPr algn="l">
              <a:spcAft>
                <a:spcPts val="300"/>
              </a:spcAft>
            </a:pPr>
            <a:r>
              <a:rPr sz="1200" b="0">
                <a:solidFill>
                  <a:srgbClr val="5B6372"/>
                </a:solidFill>
                <a:latin typeface="Arial"/>
              </a:rPr>
              <a:t>Phone layouts can rearrange or omit objects.</a:t>
            </a:r>
          </a:p>
        </p:txBody>
      </p:sp>
      <p:sp>
        <p:nvSpPr>
          <p:cNvPr id="22" name="Rectangle 21"/>
          <p:cNvSpPr/>
          <p:nvPr/>
        </p:nvSpPr>
        <p:spPr>
          <a:xfrm>
            <a:off x="6222492"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22492" y="4046220"/>
            <a:ext cx="82296" cy="206197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51092" y="4830318"/>
            <a:ext cx="493776" cy="49377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51092"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4</a:t>
            </a:r>
          </a:p>
        </p:txBody>
      </p:sp>
      <p:sp>
        <p:nvSpPr>
          <p:cNvPr id="26" name="TextBox 25"/>
          <p:cNvSpPr txBox="1"/>
          <p:nvPr/>
        </p:nvSpPr>
        <p:spPr>
          <a:xfrm>
            <a:off x="7118604"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Common pitfall</a:t>
            </a:r>
          </a:p>
          <a:p>
            <a:pPr algn="l">
              <a:spcAft>
                <a:spcPts val="300"/>
              </a:spcAft>
            </a:pPr>
            <a:r>
              <a:rPr sz="1200" b="0">
                <a:solidFill>
                  <a:srgbClr val="5B6372"/>
                </a:solidFill>
                <a:latin typeface="Arial"/>
              </a:rPr>
              <a:t>Automatic sizing alone does not ensure mobile usability.</a:t>
            </a:r>
          </a:p>
        </p:txBody>
      </p:sp>
      <p:sp>
        <p:nvSpPr>
          <p:cNvPr id="27" name="TextBox 26"/>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28" name="TextBox 27"/>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29" name="TextBox 28"/>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121</a:t>
            </a:r>
          </a:p>
        </p:txBody>
      </p:sp>
    </p:spTree>
  </p:cSld>
  <p:clrMapOvr>
    <a:masterClrMapping/>
  </p:clrMapOvr>
  <p:transition spd="fast">
    <p:fade/>
  </p:transition>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37744"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47472"/>
            <a:ext cx="10698480" cy="292608"/>
          </a:xfrm>
          <a:prstGeom prst="rect">
            <a:avLst/>
          </a:prstGeom>
          <a:noFill/>
        </p:spPr>
        <p:txBody>
          <a:bodyPr wrap="square" anchor="t" lIns="54864" rIns="54864" tIns="54864" bIns="54864">
            <a:spAutoFit/>
          </a:bodyPr>
          <a:lstStyle/>
          <a:p>
            <a:pPr algn="l">
              <a:spcAft>
                <a:spcPts val="300"/>
              </a:spcAft>
            </a:pPr>
            <a:r>
              <a:rPr sz="1200" b="1">
                <a:solidFill>
                  <a:srgbClr val="7C3AED"/>
                </a:solidFill>
                <a:latin typeface="Arial"/>
              </a:rPr>
              <a:t>OFFICIAL OBJECTIVE · DOMAIN 3</a:t>
            </a:r>
          </a:p>
        </p:txBody>
      </p:sp>
      <p:sp>
        <p:nvSpPr>
          <p:cNvPr id="5" name="TextBox 4"/>
          <p:cNvSpPr txBox="1"/>
          <p:nvPr/>
        </p:nvSpPr>
        <p:spPr>
          <a:xfrm>
            <a:off x="749808" y="713232"/>
            <a:ext cx="10744200" cy="731520"/>
          </a:xfrm>
          <a:prstGeom prst="rect">
            <a:avLst/>
          </a:prstGeom>
          <a:noFill/>
        </p:spPr>
        <p:txBody>
          <a:bodyPr wrap="square" anchor="ctr" lIns="54864" rIns="54864" tIns="54864" bIns="54864">
            <a:spAutoFit/>
          </a:bodyPr>
          <a:lstStyle/>
          <a:p>
            <a:pPr algn="l">
              <a:spcAft>
                <a:spcPts val="300"/>
              </a:spcAft>
            </a:pPr>
            <a:r>
              <a:rPr sz="2700" b="1">
                <a:solidFill>
                  <a:srgbClr val="161B26"/>
                </a:solidFill>
                <a:latin typeface="Arial"/>
              </a:rPr>
              <a:t>3.2.5 · Create a story</a:t>
            </a:r>
          </a:p>
        </p:txBody>
      </p:sp>
      <p:sp>
        <p:nvSpPr>
          <p:cNvPr id="6" name="Rectangle 5"/>
          <p:cNvSpPr/>
          <p:nvPr/>
        </p:nvSpPr>
        <p:spPr>
          <a:xfrm>
            <a:off x="749808" y="1536192"/>
            <a:ext cx="106984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8096"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68096" y="1764792"/>
            <a:ext cx="82296" cy="206197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96695" y="2548890"/>
            <a:ext cx="493776" cy="49377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5"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1</a:t>
            </a:r>
          </a:p>
        </p:txBody>
      </p:sp>
      <p:sp>
        <p:nvSpPr>
          <p:cNvPr id="11" name="TextBox 10"/>
          <p:cNvSpPr txBox="1"/>
          <p:nvPr/>
        </p:nvSpPr>
        <p:spPr>
          <a:xfrm>
            <a:off x="1664207"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What it means</a:t>
            </a:r>
          </a:p>
          <a:p>
            <a:pPr algn="l">
              <a:spcAft>
                <a:spcPts val="300"/>
              </a:spcAft>
            </a:pPr>
            <a:r>
              <a:rPr sz="1200" b="0">
                <a:solidFill>
                  <a:srgbClr val="5B6372"/>
                </a:solidFill>
                <a:latin typeface="Arial"/>
              </a:rPr>
              <a:t>A story sequences sheets or dashboards as annotated points.</a:t>
            </a:r>
          </a:p>
        </p:txBody>
      </p:sp>
      <p:sp>
        <p:nvSpPr>
          <p:cNvPr id="12" name="Rectangle 11"/>
          <p:cNvSpPr/>
          <p:nvPr/>
        </p:nvSpPr>
        <p:spPr>
          <a:xfrm>
            <a:off x="6222492"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22492" y="1764792"/>
            <a:ext cx="82296" cy="206197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51092" y="2548890"/>
            <a:ext cx="493776" cy="49377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51092"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2</a:t>
            </a:r>
          </a:p>
        </p:txBody>
      </p:sp>
      <p:sp>
        <p:nvSpPr>
          <p:cNvPr id="16" name="TextBox 15"/>
          <p:cNvSpPr txBox="1"/>
          <p:nvPr/>
        </p:nvSpPr>
        <p:spPr>
          <a:xfrm>
            <a:off x="7118604"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Use it when</a:t>
            </a:r>
          </a:p>
          <a:p>
            <a:pPr algn="l">
              <a:spcAft>
                <a:spcPts val="300"/>
              </a:spcAft>
            </a:pPr>
            <a:r>
              <a:rPr sz="1200" b="0">
                <a:solidFill>
                  <a:srgbClr val="5B6372"/>
                </a:solidFill>
                <a:latin typeface="Arial"/>
              </a:rPr>
              <a:t>Use for guided explanation rather than open exploration.</a:t>
            </a:r>
          </a:p>
        </p:txBody>
      </p:sp>
      <p:sp>
        <p:nvSpPr>
          <p:cNvPr id="17" name="Rectangle 16"/>
          <p:cNvSpPr/>
          <p:nvPr/>
        </p:nvSpPr>
        <p:spPr>
          <a:xfrm>
            <a:off x="768096"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68096" y="4046220"/>
            <a:ext cx="82296" cy="206197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96695" y="4830318"/>
            <a:ext cx="493776" cy="49377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96695"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3</a:t>
            </a:r>
          </a:p>
        </p:txBody>
      </p:sp>
      <p:sp>
        <p:nvSpPr>
          <p:cNvPr id="21" name="TextBox 20"/>
          <p:cNvSpPr txBox="1"/>
          <p:nvPr/>
        </p:nvSpPr>
        <p:spPr>
          <a:xfrm>
            <a:off x="1664207"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Exam clue</a:t>
            </a:r>
          </a:p>
          <a:p>
            <a:pPr algn="l">
              <a:spcAft>
                <a:spcPts val="300"/>
              </a:spcAft>
            </a:pPr>
            <a:r>
              <a:rPr sz="1200" b="0">
                <a:solidFill>
                  <a:srgbClr val="5B6372"/>
                </a:solidFill>
                <a:latin typeface="Arial"/>
              </a:rPr>
              <a:t>Each point stores a view state and caption.</a:t>
            </a:r>
          </a:p>
        </p:txBody>
      </p:sp>
      <p:sp>
        <p:nvSpPr>
          <p:cNvPr id="22" name="Rectangle 21"/>
          <p:cNvSpPr/>
          <p:nvPr/>
        </p:nvSpPr>
        <p:spPr>
          <a:xfrm>
            <a:off x="6222492"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22492" y="4046220"/>
            <a:ext cx="82296" cy="206197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51092" y="4830318"/>
            <a:ext cx="493776" cy="49377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51092"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4</a:t>
            </a:r>
          </a:p>
        </p:txBody>
      </p:sp>
      <p:sp>
        <p:nvSpPr>
          <p:cNvPr id="26" name="TextBox 25"/>
          <p:cNvSpPr txBox="1"/>
          <p:nvPr/>
        </p:nvSpPr>
        <p:spPr>
          <a:xfrm>
            <a:off x="7118604"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Common pitfall</a:t>
            </a:r>
          </a:p>
          <a:p>
            <a:pPr algn="l">
              <a:spcAft>
                <a:spcPts val="300"/>
              </a:spcAft>
            </a:pPr>
            <a:r>
              <a:rPr sz="1200" b="0">
                <a:solidFill>
                  <a:srgbClr val="5B6372"/>
                </a:solidFill>
                <a:latin typeface="Arial"/>
              </a:rPr>
              <a:t>Stories do not replace a coherent dashboard.</a:t>
            </a:r>
          </a:p>
        </p:txBody>
      </p:sp>
      <p:sp>
        <p:nvSpPr>
          <p:cNvPr id="27" name="TextBox 26"/>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28" name="TextBox 27"/>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29" name="TextBox 28"/>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122</a:t>
            </a:r>
          </a:p>
        </p:txBody>
      </p:sp>
    </p:spTree>
  </p:cSld>
  <p:clrMapOvr>
    <a:masterClrMapping/>
  </p:clrMapOvr>
  <p:transition spd="fast">
    <p:fade/>
  </p:transition>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37744"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47472"/>
            <a:ext cx="10698480" cy="292608"/>
          </a:xfrm>
          <a:prstGeom prst="rect">
            <a:avLst/>
          </a:prstGeom>
          <a:noFill/>
        </p:spPr>
        <p:txBody>
          <a:bodyPr wrap="square" anchor="t" lIns="54864" rIns="54864" tIns="54864" bIns="54864">
            <a:spAutoFit/>
          </a:bodyPr>
          <a:lstStyle/>
          <a:p>
            <a:pPr algn="l">
              <a:spcAft>
                <a:spcPts val="300"/>
              </a:spcAft>
            </a:pPr>
            <a:r>
              <a:rPr sz="1200" b="1">
                <a:solidFill>
                  <a:srgbClr val="7C3AED"/>
                </a:solidFill>
                <a:latin typeface="Arial"/>
              </a:rPr>
              <a:t>DOMAIN 3 · SECTION 3</a:t>
            </a:r>
          </a:p>
        </p:txBody>
      </p:sp>
      <p:sp>
        <p:nvSpPr>
          <p:cNvPr id="5" name="TextBox 4"/>
          <p:cNvSpPr txBox="1"/>
          <p:nvPr/>
        </p:nvSpPr>
        <p:spPr>
          <a:xfrm>
            <a:off x="749808" y="713232"/>
            <a:ext cx="10744200" cy="731520"/>
          </a:xfrm>
          <a:prstGeom prst="rect">
            <a:avLst/>
          </a:prstGeom>
          <a:noFill/>
        </p:spPr>
        <p:txBody>
          <a:bodyPr wrap="square" anchor="ctr" lIns="54864" rIns="54864" tIns="54864" bIns="54864">
            <a:spAutoFit/>
          </a:bodyPr>
          <a:lstStyle/>
          <a:p>
            <a:pPr algn="l">
              <a:spcAft>
                <a:spcPts val="300"/>
              </a:spcAft>
            </a:pPr>
            <a:r>
              <a:rPr sz="2700" b="1">
                <a:solidFill>
                  <a:srgbClr val="161B26"/>
                </a:solidFill>
                <a:latin typeface="Arial"/>
              </a:rPr>
              <a:t>View and share workbook data</a:t>
            </a:r>
          </a:p>
        </p:txBody>
      </p:sp>
      <p:sp>
        <p:nvSpPr>
          <p:cNvPr id="6" name="Rectangle 5"/>
          <p:cNvSpPr/>
          <p:nvPr/>
        </p:nvSpPr>
        <p:spPr>
          <a:xfrm>
            <a:off x="749808" y="1536192"/>
            <a:ext cx="106984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8096"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68096" y="1764792"/>
            <a:ext cx="82296" cy="206197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96695" y="2548890"/>
            <a:ext cx="493776" cy="49377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5"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1</a:t>
            </a:r>
          </a:p>
        </p:txBody>
      </p:sp>
      <p:sp>
        <p:nvSpPr>
          <p:cNvPr id="11" name="TextBox 10"/>
          <p:cNvSpPr txBox="1"/>
          <p:nvPr/>
        </p:nvSpPr>
        <p:spPr>
          <a:xfrm>
            <a:off x="1664207"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.twb and .twbx</a:t>
            </a:r>
          </a:p>
          <a:p>
            <a:pPr algn="l">
              <a:spcAft>
                <a:spcPts val="300"/>
              </a:spcAft>
            </a:pPr>
            <a:r>
              <a:rPr sz="1200" b="0">
                <a:solidFill>
                  <a:srgbClr val="5B6372"/>
                </a:solidFill>
                <a:latin typeface="Arial"/>
              </a:rPr>
              <a:t>TWB stores XML metadata; TWBX packages local dependencies.</a:t>
            </a:r>
          </a:p>
        </p:txBody>
      </p:sp>
      <p:sp>
        <p:nvSpPr>
          <p:cNvPr id="12" name="Rectangle 11"/>
          <p:cNvSpPr/>
          <p:nvPr/>
        </p:nvSpPr>
        <p:spPr>
          <a:xfrm>
            <a:off x="6222492"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22492" y="1764792"/>
            <a:ext cx="82296" cy="206197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51092" y="2548890"/>
            <a:ext cx="493776" cy="49377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51092"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2</a:t>
            </a:r>
          </a:p>
        </p:txBody>
      </p:sp>
      <p:sp>
        <p:nvSpPr>
          <p:cNvPr id="16" name="TextBox 15"/>
          <p:cNvSpPr txBox="1"/>
          <p:nvPr/>
        </p:nvSpPr>
        <p:spPr>
          <a:xfrm>
            <a:off x="7118604"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Publish</a:t>
            </a:r>
          </a:p>
          <a:p>
            <a:pPr algn="l">
              <a:spcAft>
                <a:spcPts val="300"/>
              </a:spcAft>
            </a:pPr>
            <a:r>
              <a:rPr sz="1200" b="0">
                <a:solidFill>
                  <a:srgbClr val="5B6372"/>
                </a:solidFill>
                <a:latin typeface="Arial"/>
              </a:rPr>
              <a:t>Server/Cloud adds permissions, refresh, governance and browser use.</a:t>
            </a:r>
          </a:p>
        </p:txBody>
      </p:sp>
      <p:sp>
        <p:nvSpPr>
          <p:cNvPr id="17" name="Rectangle 16"/>
          <p:cNvSpPr/>
          <p:nvPr/>
        </p:nvSpPr>
        <p:spPr>
          <a:xfrm>
            <a:off x="768096"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68096" y="4046220"/>
            <a:ext cx="82296" cy="206197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96695" y="4830318"/>
            <a:ext cx="493776" cy="49377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96695"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3</a:t>
            </a:r>
          </a:p>
        </p:txBody>
      </p:sp>
      <p:sp>
        <p:nvSpPr>
          <p:cNvPr id="21" name="TextBox 20"/>
          <p:cNvSpPr txBox="1"/>
          <p:nvPr/>
        </p:nvSpPr>
        <p:spPr>
          <a:xfrm>
            <a:off x="1664207"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Export</a:t>
            </a:r>
          </a:p>
          <a:p>
            <a:pPr algn="l">
              <a:spcAft>
                <a:spcPts val="300"/>
              </a:spcAft>
            </a:pPr>
            <a:r>
              <a:rPr sz="1200" b="0">
                <a:solidFill>
                  <a:srgbClr val="5B6372"/>
                </a:solidFill>
                <a:latin typeface="Arial"/>
              </a:rPr>
              <a:t>PDF, image and PowerPoint are static communication formats.</a:t>
            </a:r>
          </a:p>
        </p:txBody>
      </p:sp>
      <p:sp>
        <p:nvSpPr>
          <p:cNvPr id="22" name="Rectangle 21"/>
          <p:cNvSpPr/>
          <p:nvPr/>
        </p:nvSpPr>
        <p:spPr>
          <a:xfrm>
            <a:off x="6222492"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22492" y="4046220"/>
            <a:ext cx="82296" cy="206197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51092" y="4830318"/>
            <a:ext cx="493776" cy="49377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51092"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4</a:t>
            </a:r>
          </a:p>
        </p:txBody>
      </p:sp>
      <p:sp>
        <p:nvSpPr>
          <p:cNvPr id="26" name="TextBox 25"/>
          <p:cNvSpPr txBox="1"/>
          <p:nvPr/>
        </p:nvSpPr>
        <p:spPr>
          <a:xfrm>
            <a:off x="7118604"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Underlying data</a:t>
            </a:r>
          </a:p>
          <a:p>
            <a:pPr algn="l">
              <a:spcAft>
                <a:spcPts val="300"/>
              </a:spcAft>
            </a:pPr>
            <a:r>
              <a:rPr sz="1200" b="0">
                <a:solidFill>
                  <a:srgbClr val="5B6372"/>
                </a:solidFill>
                <a:latin typeface="Arial"/>
              </a:rPr>
              <a:t>Summary/full-data export can expose detail; verify privacy.</a:t>
            </a:r>
          </a:p>
        </p:txBody>
      </p:sp>
      <p:sp>
        <p:nvSpPr>
          <p:cNvPr id="27" name="TextBox 26"/>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28" name="TextBox 27"/>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29" name="TextBox 28"/>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123</a:t>
            </a:r>
          </a:p>
        </p:txBody>
      </p:sp>
    </p:spTree>
  </p:cSld>
  <p:clrMapOvr>
    <a:masterClrMapping/>
  </p:clrMapOvr>
  <p:transition spd="fast">
    <p:fade/>
  </p:transition>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37744"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47472"/>
            <a:ext cx="10698480" cy="292608"/>
          </a:xfrm>
          <a:prstGeom prst="rect">
            <a:avLst/>
          </a:prstGeom>
          <a:noFill/>
        </p:spPr>
        <p:txBody>
          <a:bodyPr wrap="square" anchor="t" lIns="54864" rIns="54864" tIns="54864" bIns="54864">
            <a:spAutoFit/>
          </a:bodyPr>
          <a:lstStyle/>
          <a:p>
            <a:pPr algn="l">
              <a:spcAft>
                <a:spcPts val="300"/>
              </a:spcAft>
            </a:pPr>
            <a:r>
              <a:rPr sz="1200" b="1">
                <a:solidFill>
                  <a:srgbClr val="7C3AED"/>
                </a:solidFill>
                <a:latin typeface="Arial"/>
              </a:rPr>
              <a:t>CONCEPTUAL DECISION FLOW</a:t>
            </a:r>
          </a:p>
        </p:txBody>
      </p:sp>
      <p:sp>
        <p:nvSpPr>
          <p:cNvPr id="5" name="TextBox 4"/>
          <p:cNvSpPr txBox="1"/>
          <p:nvPr/>
        </p:nvSpPr>
        <p:spPr>
          <a:xfrm>
            <a:off x="749808" y="713232"/>
            <a:ext cx="10744200" cy="731520"/>
          </a:xfrm>
          <a:prstGeom prst="rect">
            <a:avLst/>
          </a:prstGeom>
          <a:noFill/>
        </p:spPr>
        <p:txBody>
          <a:bodyPr wrap="square" anchor="ctr" lIns="54864" rIns="54864" tIns="54864" bIns="54864">
            <a:spAutoFit/>
          </a:bodyPr>
          <a:lstStyle/>
          <a:p>
            <a:pPr algn="l">
              <a:spcAft>
                <a:spcPts val="300"/>
              </a:spcAft>
            </a:pPr>
            <a:r>
              <a:rPr sz="2700" b="1">
                <a:solidFill>
                  <a:srgbClr val="161B26"/>
                </a:solidFill>
                <a:latin typeface="Arial"/>
              </a:rPr>
              <a:t>Reasoning Pattern — View and share workbook data</a:t>
            </a:r>
          </a:p>
        </p:txBody>
      </p:sp>
      <p:sp>
        <p:nvSpPr>
          <p:cNvPr id="6" name="Rectangle 5"/>
          <p:cNvSpPr/>
          <p:nvPr/>
        </p:nvSpPr>
        <p:spPr>
          <a:xfrm>
            <a:off x="749808" y="1536192"/>
            <a:ext cx="106984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8096" y="2057400"/>
            <a:ext cx="1947672" cy="2971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68096" y="2057400"/>
            <a:ext cx="1947672"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76172" y="2423160"/>
            <a:ext cx="731520" cy="7315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6172" y="2423160"/>
            <a:ext cx="731520" cy="731520"/>
          </a:xfrm>
          <a:prstGeom prst="rect">
            <a:avLst/>
          </a:prstGeom>
          <a:noFill/>
        </p:spPr>
        <p:txBody>
          <a:bodyPr wrap="square" anchor="ctr" lIns="54864" rIns="54864" tIns="54864" bIns="54864">
            <a:spAutoFit/>
          </a:bodyPr>
          <a:lstStyle/>
          <a:p>
            <a:pPr algn="ctr">
              <a:spcAft>
                <a:spcPts val="300"/>
              </a:spcAft>
            </a:pPr>
            <a:r>
              <a:rPr sz="2400" b="1">
                <a:solidFill>
                  <a:srgbClr val="FFFFFF"/>
                </a:solidFill>
                <a:latin typeface="Arial"/>
              </a:rPr>
              <a:t>1</a:t>
            </a:r>
          </a:p>
        </p:txBody>
      </p:sp>
      <p:sp>
        <p:nvSpPr>
          <p:cNvPr id="11" name="TextBox 10"/>
          <p:cNvSpPr txBox="1"/>
          <p:nvPr/>
        </p:nvSpPr>
        <p:spPr>
          <a:xfrm>
            <a:off x="877824" y="3429000"/>
            <a:ext cx="1728216" cy="1143000"/>
          </a:xfrm>
          <a:prstGeom prst="rect">
            <a:avLst/>
          </a:prstGeom>
          <a:noFill/>
        </p:spPr>
        <p:txBody>
          <a:bodyPr wrap="square" anchor="ctr" lIns="54864" rIns="54864" tIns="54864" bIns="54864">
            <a:spAutoFit/>
          </a:bodyPr>
          <a:lstStyle/>
          <a:p>
            <a:pPr algn="ctr">
              <a:spcAft>
                <a:spcPts val="300"/>
              </a:spcAft>
            </a:pPr>
            <a:r>
              <a:rPr sz="1250" b="0">
                <a:solidFill>
                  <a:srgbClr val="161B26"/>
                </a:solidFill>
                <a:latin typeface="Arial"/>
              </a:rPr>
              <a:t>.twb and .twbx</a:t>
            </a:r>
          </a:p>
        </p:txBody>
      </p:sp>
      <p:sp>
        <p:nvSpPr>
          <p:cNvPr id="12" name="TextBox 11"/>
          <p:cNvSpPr txBox="1"/>
          <p:nvPr/>
        </p:nvSpPr>
        <p:spPr>
          <a:xfrm>
            <a:off x="2697479" y="3246120"/>
            <a:ext cx="274320" cy="365760"/>
          </a:xfrm>
          <a:prstGeom prst="rect">
            <a:avLst/>
          </a:prstGeom>
          <a:noFill/>
        </p:spPr>
        <p:txBody>
          <a:bodyPr wrap="square" anchor="t" lIns="54864" rIns="54864" tIns="54864" bIns="54864">
            <a:spAutoFit/>
          </a:bodyPr>
          <a:lstStyle/>
          <a:p>
            <a:pPr algn="ctr">
              <a:spcAft>
                <a:spcPts val="300"/>
              </a:spcAft>
            </a:pPr>
            <a:r>
              <a:rPr sz="1200" b="1">
                <a:solidFill>
                  <a:srgbClr val="7C3AED"/>
                </a:solidFill>
                <a:latin typeface="Arial"/>
              </a:rPr>
              <a:t>▶</a:t>
            </a:r>
          </a:p>
        </p:txBody>
      </p:sp>
      <p:sp>
        <p:nvSpPr>
          <p:cNvPr id="13" name="Rectangle 12"/>
          <p:cNvSpPr/>
          <p:nvPr/>
        </p:nvSpPr>
        <p:spPr>
          <a:xfrm>
            <a:off x="2944368" y="2057400"/>
            <a:ext cx="1947672" cy="2971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44368" y="2057400"/>
            <a:ext cx="1947672"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52444" y="2423160"/>
            <a:ext cx="731520" cy="7315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52444" y="2423160"/>
            <a:ext cx="731520" cy="731520"/>
          </a:xfrm>
          <a:prstGeom prst="rect">
            <a:avLst/>
          </a:prstGeom>
          <a:noFill/>
        </p:spPr>
        <p:txBody>
          <a:bodyPr wrap="square" anchor="ctr" lIns="54864" rIns="54864" tIns="54864" bIns="54864">
            <a:spAutoFit/>
          </a:bodyPr>
          <a:lstStyle/>
          <a:p>
            <a:pPr algn="ctr">
              <a:spcAft>
                <a:spcPts val="300"/>
              </a:spcAft>
            </a:pPr>
            <a:r>
              <a:rPr sz="2400" b="1">
                <a:solidFill>
                  <a:srgbClr val="FFFFFF"/>
                </a:solidFill>
                <a:latin typeface="Arial"/>
              </a:rPr>
              <a:t>2</a:t>
            </a:r>
          </a:p>
        </p:txBody>
      </p:sp>
      <p:sp>
        <p:nvSpPr>
          <p:cNvPr id="17" name="TextBox 16"/>
          <p:cNvSpPr txBox="1"/>
          <p:nvPr/>
        </p:nvSpPr>
        <p:spPr>
          <a:xfrm>
            <a:off x="3054096" y="3429000"/>
            <a:ext cx="1728216" cy="1143000"/>
          </a:xfrm>
          <a:prstGeom prst="rect">
            <a:avLst/>
          </a:prstGeom>
          <a:noFill/>
        </p:spPr>
        <p:txBody>
          <a:bodyPr wrap="square" anchor="ctr" lIns="54864" rIns="54864" tIns="54864" bIns="54864">
            <a:spAutoFit/>
          </a:bodyPr>
          <a:lstStyle/>
          <a:p>
            <a:pPr algn="ctr">
              <a:spcAft>
                <a:spcPts val="300"/>
              </a:spcAft>
            </a:pPr>
            <a:r>
              <a:rPr sz="1250" b="0">
                <a:solidFill>
                  <a:srgbClr val="161B26"/>
                </a:solidFill>
                <a:latin typeface="Arial"/>
              </a:rPr>
              <a:t>Publish</a:t>
            </a:r>
          </a:p>
        </p:txBody>
      </p:sp>
      <p:sp>
        <p:nvSpPr>
          <p:cNvPr id="18" name="TextBox 17"/>
          <p:cNvSpPr txBox="1"/>
          <p:nvPr/>
        </p:nvSpPr>
        <p:spPr>
          <a:xfrm>
            <a:off x="4873752" y="3246120"/>
            <a:ext cx="274320" cy="365760"/>
          </a:xfrm>
          <a:prstGeom prst="rect">
            <a:avLst/>
          </a:prstGeom>
          <a:noFill/>
        </p:spPr>
        <p:txBody>
          <a:bodyPr wrap="square" anchor="t" lIns="54864" rIns="54864" tIns="54864" bIns="54864">
            <a:spAutoFit/>
          </a:bodyPr>
          <a:lstStyle/>
          <a:p>
            <a:pPr algn="ctr">
              <a:spcAft>
                <a:spcPts val="300"/>
              </a:spcAft>
            </a:pPr>
            <a:r>
              <a:rPr sz="1200" b="1">
                <a:solidFill>
                  <a:srgbClr val="7C3AED"/>
                </a:solidFill>
                <a:latin typeface="Arial"/>
              </a:rPr>
              <a:t>▶</a:t>
            </a:r>
          </a:p>
        </p:txBody>
      </p:sp>
      <p:sp>
        <p:nvSpPr>
          <p:cNvPr id="19" name="Rectangle 18"/>
          <p:cNvSpPr/>
          <p:nvPr/>
        </p:nvSpPr>
        <p:spPr>
          <a:xfrm>
            <a:off x="5120640" y="2057400"/>
            <a:ext cx="1947672" cy="2971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0" y="2057400"/>
            <a:ext cx="1947672"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28715" y="2423160"/>
            <a:ext cx="731520" cy="7315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28715" y="2423160"/>
            <a:ext cx="731520" cy="731520"/>
          </a:xfrm>
          <a:prstGeom prst="rect">
            <a:avLst/>
          </a:prstGeom>
          <a:noFill/>
        </p:spPr>
        <p:txBody>
          <a:bodyPr wrap="square" anchor="ctr" lIns="54864" rIns="54864" tIns="54864" bIns="54864">
            <a:spAutoFit/>
          </a:bodyPr>
          <a:lstStyle/>
          <a:p>
            <a:pPr algn="ctr">
              <a:spcAft>
                <a:spcPts val="300"/>
              </a:spcAft>
            </a:pPr>
            <a:r>
              <a:rPr sz="2400" b="1">
                <a:solidFill>
                  <a:srgbClr val="FFFFFF"/>
                </a:solidFill>
                <a:latin typeface="Arial"/>
              </a:rPr>
              <a:t>3</a:t>
            </a:r>
          </a:p>
        </p:txBody>
      </p:sp>
      <p:sp>
        <p:nvSpPr>
          <p:cNvPr id="23" name="TextBox 22"/>
          <p:cNvSpPr txBox="1"/>
          <p:nvPr/>
        </p:nvSpPr>
        <p:spPr>
          <a:xfrm>
            <a:off x="5230368" y="3429000"/>
            <a:ext cx="1728216" cy="1143000"/>
          </a:xfrm>
          <a:prstGeom prst="rect">
            <a:avLst/>
          </a:prstGeom>
          <a:noFill/>
        </p:spPr>
        <p:txBody>
          <a:bodyPr wrap="square" anchor="ctr" lIns="54864" rIns="54864" tIns="54864" bIns="54864">
            <a:spAutoFit/>
          </a:bodyPr>
          <a:lstStyle/>
          <a:p>
            <a:pPr algn="ctr">
              <a:spcAft>
                <a:spcPts val="300"/>
              </a:spcAft>
            </a:pPr>
            <a:r>
              <a:rPr sz="1250" b="0">
                <a:solidFill>
                  <a:srgbClr val="161B26"/>
                </a:solidFill>
                <a:latin typeface="Arial"/>
              </a:rPr>
              <a:t>Export</a:t>
            </a:r>
          </a:p>
        </p:txBody>
      </p:sp>
      <p:sp>
        <p:nvSpPr>
          <p:cNvPr id="24" name="TextBox 23"/>
          <p:cNvSpPr txBox="1"/>
          <p:nvPr/>
        </p:nvSpPr>
        <p:spPr>
          <a:xfrm>
            <a:off x="7050024" y="3246120"/>
            <a:ext cx="274320" cy="365760"/>
          </a:xfrm>
          <a:prstGeom prst="rect">
            <a:avLst/>
          </a:prstGeom>
          <a:noFill/>
        </p:spPr>
        <p:txBody>
          <a:bodyPr wrap="square" anchor="t" lIns="54864" rIns="54864" tIns="54864" bIns="54864">
            <a:spAutoFit/>
          </a:bodyPr>
          <a:lstStyle/>
          <a:p>
            <a:pPr algn="ctr">
              <a:spcAft>
                <a:spcPts val="300"/>
              </a:spcAft>
            </a:pPr>
            <a:r>
              <a:rPr sz="1200" b="1">
                <a:solidFill>
                  <a:srgbClr val="7C3AED"/>
                </a:solidFill>
                <a:latin typeface="Arial"/>
              </a:rPr>
              <a:t>▶</a:t>
            </a:r>
          </a:p>
        </p:txBody>
      </p:sp>
      <p:sp>
        <p:nvSpPr>
          <p:cNvPr id="25" name="Rectangle 24"/>
          <p:cNvSpPr/>
          <p:nvPr/>
        </p:nvSpPr>
        <p:spPr>
          <a:xfrm>
            <a:off x="7296912" y="2057400"/>
            <a:ext cx="1947672" cy="2971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296912" y="2057400"/>
            <a:ext cx="1947672"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04988" y="2423160"/>
            <a:ext cx="731520" cy="7315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4988" y="2423160"/>
            <a:ext cx="731520" cy="731520"/>
          </a:xfrm>
          <a:prstGeom prst="rect">
            <a:avLst/>
          </a:prstGeom>
          <a:noFill/>
        </p:spPr>
        <p:txBody>
          <a:bodyPr wrap="square" anchor="ctr" lIns="54864" rIns="54864" tIns="54864" bIns="54864">
            <a:spAutoFit/>
          </a:bodyPr>
          <a:lstStyle/>
          <a:p>
            <a:pPr algn="ctr">
              <a:spcAft>
                <a:spcPts val="300"/>
              </a:spcAft>
            </a:pPr>
            <a:r>
              <a:rPr sz="2400" b="1">
                <a:solidFill>
                  <a:srgbClr val="FFFFFF"/>
                </a:solidFill>
                <a:latin typeface="Arial"/>
              </a:rPr>
              <a:t>4</a:t>
            </a:r>
          </a:p>
        </p:txBody>
      </p:sp>
      <p:sp>
        <p:nvSpPr>
          <p:cNvPr id="29" name="TextBox 28"/>
          <p:cNvSpPr txBox="1"/>
          <p:nvPr/>
        </p:nvSpPr>
        <p:spPr>
          <a:xfrm>
            <a:off x="7406640" y="3429000"/>
            <a:ext cx="1728216" cy="1143000"/>
          </a:xfrm>
          <a:prstGeom prst="rect">
            <a:avLst/>
          </a:prstGeom>
          <a:noFill/>
        </p:spPr>
        <p:txBody>
          <a:bodyPr wrap="square" anchor="ctr" lIns="54864" rIns="54864" tIns="54864" bIns="54864">
            <a:spAutoFit/>
          </a:bodyPr>
          <a:lstStyle/>
          <a:p>
            <a:pPr algn="ctr">
              <a:spcAft>
                <a:spcPts val="300"/>
              </a:spcAft>
            </a:pPr>
            <a:r>
              <a:rPr sz="1250" b="0">
                <a:solidFill>
                  <a:srgbClr val="161B26"/>
                </a:solidFill>
                <a:latin typeface="Arial"/>
              </a:rPr>
              <a:t>Underlying data</a:t>
            </a:r>
          </a:p>
        </p:txBody>
      </p:sp>
      <p:sp>
        <p:nvSpPr>
          <p:cNvPr id="30" name="TextBox 29"/>
          <p:cNvSpPr txBox="1"/>
          <p:nvPr/>
        </p:nvSpPr>
        <p:spPr>
          <a:xfrm>
            <a:off x="9226296" y="3246120"/>
            <a:ext cx="274320" cy="365760"/>
          </a:xfrm>
          <a:prstGeom prst="rect">
            <a:avLst/>
          </a:prstGeom>
          <a:noFill/>
        </p:spPr>
        <p:txBody>
          <a:bodyPr wrap="square" anchor="t" lIns="54864" rIns="54864" tIns="54864" bIns="54864">
            <a:spAutoFit/>
          </a:bodyPr>
          <a:lstStyle/>
          <a:p>
            <a:pPr algn="ctr">
              <a:spcAft>
                <a:spcPts val="300"/>
              </a:spcAft>
            </a:pPr>
            <a:r>
              <a:rPr sz="1200" b="1">
                <a:solidFill>
                  <a:srgbClr val="7C3AED"/>
                </a:solidFill>
                <a:latin typeface="Arial"/>
              </a:rPr>
              <a:t>▶</a:t>
            </a:r>
          </a:p>
        </p:txBody>
      </p:sp>
      <p:sp>
        <p:nvSpPr>
          <p:cNvPr id="31" name="Rectangle 30"/>
          <p:cNvSpPr/>
          <p:nvPr/>
        </p:nvSpPr>
        <p:spPr>
          <a:xfrm>
            <a:off x="9473184" y="2057400"/>
            <a:ext cx="1947672" cy="2971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473184" y="2057400"/>
            <a:ext cx="1947672"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81259" y="2423160"/>
            <a:ext cx="731520" cy="7315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81259" y="2423160"/>
            <a:ext cx="731520" cy="731520"/>
          </a:xfrm>
          <a:prstGeom prst="rect">
            <a:avLst/>
          </a:prstGeom>
          <a:noFill/>
        </p:spPr>
        <p:txBody>
          <a:bodyPr wrap="square" anchor="ctr" lIns="54864" rIns="54864" tIns="54864" bIns="54864">
            <a:spAutoFit/>
          </a:bodyPr>
          <a:lstStyle/>
          <a:p>
            <a:pPr algn="ctr">
              <a:spcAft>
                <a:spcPts val="300"/>
              </a:spcAft>
            </a:pPr>
            <a:r>
              <a:rPr sz="2400" b="1">
                <a:solidFill>
                  <a:srgbClr val="FFFFFF"/>
                </a:solidFill>
                <a:latin typeface="Arial"/>
              </a:rPr>
              <a:t>5</a:t>
            </a:r>
          </a:p>
        </p:txBody>
      </p:sp>
      <p:sp>
        <p:nvSpPr>
          <p:cNvPr id="35" name="TextBox 34"/>
          <p:cNvSpPr txBox="1"/>
          <p:nvPr/>
        </p:nvSpPr>
        <p:spPr>
          <a:xfrm>
            <a:off x="9582911" y="3429000"/>
            <a:ext cx="1728216" cy="1143000"/>
          </a:xfrm>
          <a:prstGeom prst="rect">
            <a:avLst/>
          </a:prstGeom>
          <a:noFill/>
        </p:spPr>
        <p:txBody>
          <a:bodyPr wrap="square" anchor="ctr" lIns="54864" rIns="54864" tIns="54864" bIns="54864">
            <a:spAutoFit/>
          </a:bodyPr>
          <a:lstStyle/>
          <a:p>
            <a:pPr algn="ctr">
              <a:spcAft>
                <a:spcPts val="300"/>
              </a:spcAft>
            </a:pPr>
            <a:r>
              <a:rPr sz="1250" b="0">
                <a:solidFill>
                  <a:srgbClr val="161B26"/>
                </a:solidFill>
                <a:latin typeface="Arial"/>
              </a:rPr>
              <a:t>Validate result</a:t>
            </a:r>
          </a:p>
        </p:txBody>
      </p:sp>
      <p:sp>
        <p:nvSpPr>
          <p:cNvPr id="36" name="TextBox 35"/>
          <p:cNvSpPr txBox="1"/>
          <p:nvPr/>
        </p:nvSpPr>
        <p:spPr>
          <a:xfrm>
            <a:off x="777240" y="5394960"/>
            <a:ext cx="10607040" cy="411480"/>
          </a:xfrm>
          <a:prstGeom prst="rect">
            <a:avLst/>
          </a:prstGeom>
          <a:noFill/>
        </p:spPr>
        <p:txBody>
          <a:bodyPr wrap="square" anchor="t" lIns="54864" rIns="54864" tIns="54864" bIns="54864">
            <a:spAutoFit/>
          </a:bodyPr>
          <a:lstStyle/>
          <a:p>
            <a:pPr algn="ctr">
              <a:spcAft>
                <a:spcPts val="300"/>
              </a:spcAft>
            </a:pPr>
            <a:r>
              <a:rPr sz="1250" b="0">
                <a:solidFill>
                  <a:srgbClr val="5B6372"/>
                </a:solidFill>
                <a:latin typeface="Arial"/>
              </a:rPr>
              <a:t>This is a reasoning map, not a click-by-click lab procedure.</a:t>
            </a:r>
          </a:p>
        </p:txBody>
      </p:sp>
      <p:sp>
        <p:nvSpPr>
          <p:cNvPr id="37" name="TextBox 36"/>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38" name="TextBox 37"/>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39" name="TextBox 38"/>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124</a:t>
            </a:r>
          </a:p>
        </p:txBody>
      </p:sp>
    </p:spTree>
  </p:cSld>
  <p:clrMapOvr>
    <a:masterClrMapping/>
  </p:clrMapOvr>
  <p:transition spd="fast">
    <p:fade/>
  </p:transition>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37744"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47472"/>
            <a:ext cx="10698480" cy="292608"/>
          </a:xfrm>
          <a:prstGeom prst="rect">
            <a:avLst/>
          </a:prstGeom>
          <a:noFill/>
        </p:spPr>
        <p:txBody>
          <a:bodyPr wrap="square" anchor="t" lIns="54864" rIns="54864" tIns="54864" bIns="54864">
            <a:spAutoFit/>
          </a:bodyPr>
          <a:lstStyle/>
          <a:p>
            <a:pPr algn="l">
              <a:spcAft>
                <a:spcPts val="300"/>
              </a:spcAft>
            </a:pPr>
            <a:r>
              <a:rPr sz="1200" b="1">
                <a:solidFill>
                  <a:srgbClr val="7C3AED"/>
                </a:solidFill>
                <a:latin typeface="Arial"/>
              </a:rPr>
              <a:t>OFFICIAL OBJECTIVE · DOMAIN 3</a:t>
            </a:r>
          </a:p>
        </p:txBody>
      </p:sp>
      <p:sp>
        <p:nvSpPr>
          <p:cNvPr id="5" name="TextBox 4"/>
          <p:cNvSpPr txBox="1"/>
          <p:nvPr/>
        </p:nvSpPr>
        <p:spPr>
          <a:xfrm>
            <a:off x="749808" y="713232"/>
            <a:ext cx="10744200" cy="731520"/>
          </a:xfrm>
          <a:prstGeom prst="rect">
            <a:avLst/>
          </a:prstGeom>
          <a:noFill/>
        </p:spPr>
        <p:txBody>
          <a:bodyPr wrap="square" anchor="ctr" lIns="54864" rIns="54864" tIns="54864" bIns="54864">
            <a:spAutoFit/>
          </a:bodyPr>
          <a:lstStyle/>
          <a:p>
            <a:pPr algn="l">
              <a:spcAft>
                <a:spcPts val="300"/>
              </a:spcAft>
            </a:pPr>
            <a:r>
              <a:rPr sz="2700" b="1">
                <a:solidFill>
                  <a:srgbClr val="161B26"/>
                </a:solidFill>
                <a:latin typeface="Arial"/>
              </a:rPr>
              <a:t>3.3.1 · Share a workbook</a:t>
            </a:r>
          </a:p>
        </p:txBody>
      </p:sp>
      <p:sp>
        <p:nvSpPr>
          <p:cNvPr id="6" name="Rectangle 5"/>
          <p:cNvSpPr/>
          <p:nvPr/>
        </p:nvSpPr>
        <p:spPr>
          <a:xfrm>
            <a:off x="749808" y="1536192"/>
            <a:ext cx="106984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8096"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68096" y="1764792"/>
            <a:ext cx="82296" cy="206197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96695" y="2548890"/>
            <a:ext cx="493776" cy="49377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5"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1</a:t>
            </a:r>
          </a:p>
        </p:txBody>
      </p:sp>
      <p:sp>
        <p:nvSpPr>
          <p:cNvPr id="11" name="TextBox 10"/>
          <p:cNvSpPr txBox="1"/>
          <p:nvPr/>
        </p:nvSpPr>
        <p:spPr>
          <a:xfrm>
            <a:off x="1664207"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What it means</a:t>
            </a:r>
          </a:p>
          <a:p>
            <a:pPr algn="l">
              <a:spcAft>
                <a:spcPts val="300"/>
              </a:spcAft>
            </a:pPr>
            <a:r>
              <a:rPr sz="1200" b="0">
                <a:solidFill>
                  <a:srgbClr val="5B6372"/>
                </a:solidFill>
                <a:latin typeface="Arial"/>
              </a:rPr>
              <a:t>Workbooks can be saved, packaged, exported or published.</a:t>
            </a:r>
          </a:p>
        </p:txBody>
      </p:sp>
      <p:sp>
        <p:nvSpPr>
          <p:cNvPr id="12" name="Rectangle 11"/>
          <p:cNvSpPr/>
          <p:nvPr/>
        </p:nvSpPr>
        <p:spPr>
          <a:xfrm>
            <a:off x="6222492"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22492" y="1764792"/>
            <a:ext cx="82296" cy="206197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51092" y="2548890"/>
            <a:ext cx="493776" cy="49377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51092"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2</a:t>
            </a:r>
          </a:p>
        </p:txBody>
      </p:sp>
      <p:sp>
        <p:nvSpPr>
          <p:cNvPr id="16" name="TextBox 15"/>
          <p:cNvSpPr txBox="1"/>
          <p:nvPr/>
        </p:nvSpPr>
        <p:spPr>
          <a:xfrm>
            <a:off x="7118604"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Use it when</a:t>
            </a:r>
          </a:p>
          <a:p>
            <a:pPr algn="l">
              <a:spcAft>
                <a:spcPts val="300"/>
              </a:spcAft>
            </a:pPr>
            <a:r>
              <a:rPr sz="1200" b="0">
                <a:solidFill>
                  <a:srgbClr val="5B6372"/>
                </a:solidFill>
                <a:latin typeface="Arial"/>
              </a:rPr>
              <a:t>Use TWBX for portability and Server/Cloud for governed collaboration.</a:t>
            </a:r>
          </a:p>
        </p:txBody>
      </p:sp>
      <p:sp>
        <p:nvSpPr>
          <p:cNvPr id="17" name="Rectangle 16"/>
          <p:cNvSpPr/>
          <p:nvPr/>
        </p:nvSpPr>
        <p:spPr>
          <a:xfrm>
            <a:off x="768096"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68096" y="4046220"/>
            <a:ext cx="82296" cy="206197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96695" y="4830318"/>
            <a:ext cx="493776" cy="49377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96695"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3</a:t>
            </a:r>
          </a:p>
        </p:txBody>
      </p:sp>
      <p:sp>
        <p:nvSpPr>
          <p:cNvPr id="21" name="TextBox 20"/>
          <p:cNvSpPr txBox="1"/>
          <p:nvPr/>
        </p:nvSpPr>
        <p:spPr>
          <a:xfrm>
            <a:off x="1664207"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Exam clue</a:t>
            </a:r>
          </a:p>
          <a:p>
            <a:pPr algn="l">
              <a:spcAft>
                <a:spcPts val="300"/>
              </a:spcAft>
            </a:pPr>
            <a:r>
              <a:rPr sz="1200" b="0">
                <a:solidFill>
                  <a:srgbClr val="5B6372"/>
                </a:solidFill>
                <a:latin typeface="Arial"/>
              </a:rPr>
              <a:t>A TWB may break if recipients cannot reach dependencies.</a:t>
            </a:r>
          </a:p>
        </p:txBody>
      </p:sp>
      <p:sp>
        <p:nvSpPr>
          <p:cNvPr id="22" name="Rectangle 21"/>
          <p:cNvSpPr/>
          <p:nvPr/>
        </p:nvSpPr>
        <p:spPr>
          <a:xfrm>
            <a:off x="6222492"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22492" y="4046220"/>
            <a:ext cx="82296" cy="206197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51092" y="4830318"/>
            <a:ext cx="493776" cy="49377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51092"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4</a:t>
            </a:r>
          </a:p>
        </p:txBody>
      </p:sp>
      <p:sp>
        <p:nvSpPr>
          <p:cNvPr id="26" name="TextBox 25"/>
          <p:cNvSpPr txBox="1"/>
          <p:nvPr/>
        </p:nvSpPr>
        <p:spPr>
          <a:xfrm>
            <a:off x="7118604"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Common pitfall</a:t>
            </a:r>
          </a:p>
          <a:p>
            <a:pPr algn="l">
              <a:spcAft>
                <a:spcPts val="300"/>
              </a:spcAft>
            </a:pPr>
            <a:r>
              <a:rPr sz="1200" b="0">
                <a:solidFill>
                  <a:srgbClr val="5B6372"/>
                </a:solidFill>
                <a:latin typeface="Arial"/>
              </a:rPr>
              <a:t>Publishing does not automatically make content public.</a:t>
            </a:r>
          </a:p>
        </p:txBody>
      </p:sp>
      <p:sp>
        <p:nvSpPr>
          <p:cNvPr id="27" name="TextBox 26"/>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28" name="TextBox 27"/>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29" name="TextBox 28"/>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125</a:t>
            </a:r>
          </a:p>
        </p:txBody>
      </p:sp>
    </p:spTree>
  </p:cSld>
  <p:clrMapOvr>
    <a:masterClrMapping/>
  </p:clrMapOvr>
  <p:transition spd="fast">
    <p:fade/>
  </p:transition>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37744"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47472"/>
            <a:ext cx="10698480" cy="292608"/>
          </a:xfrm>
          <a:prstGeom prst="rect">
            <a:avLst/>
          </a:prstGeom>
          <a:noFill/>
        </p:spPr>
        <p:txBody>
          <a:bodyPr wrap="square" anchor="t" lIns="54864" rIns="54864" tIns="54864" bIns="54864">
            <a:spAutoFit/>
          </a:bodyPr>
          <a:lstStyle/>
          <a:p>
            <a:pPr algn="l">
              <a:spcAft>
                <a:spcPts val="300"/>
              </a:spcAft>
            </a:pPr>
            <a:r>
              <a:rPr sz="1200" b="1">
                <a:solidFill>
                  <a:srgbClr val="7C3AED"/>
                </a:solidFill>
                <a:latin typeface="Arial"/>
              </a:rPr>
              <a:t>OFFICIAL OBJECTIVE · DOMAIN 3</a:t>
            </a:r>
          </a:p>
        </p:txBody>
      </p:sp>
      <p:sp>
        <p:nvSpPr>
          <p:cNvPr id="5" name="TextBox 4"/>
          <p:cNvSpPr txBox="1"/>
          <p:nvPr/>
        </p:nvSpPr>
        <p:spPr>
          <a:xfrm>
            <a:off x="749808" y="713232"/>
            <a:ext cx="10744200" cy="731520"/>
          </a:xfrm>
          <a:prstGeom prst="rect">
            <a:avLst/>
          </a:prstGeom>
          <a:noFill/>
        </p:spPr>
        <p:txBody>
          <a:bodyPr wrap="square" anchor="ctr" lIns="54864" rIns="54864" tIns="54864" bIns="54864">
            <a:spAutoFit/>
          </a:bodyPr>
          <a:lstStyle/>
          <a:p>
            <a:pPr algn="l">
              <a:spcAft>
                <a:spcPts val="300"/>
              </a:spcAft>
            </a:pPr>
            <a:r>
              <a:rPr sz="2700" b="1">
                <a:solidFill>
                  <a:srgbClr val="161B26"/>
                </a:solidFill>
                <a:latin typeface="Arial"/>
              </a:rPr>
              <a:t>3.3.2 · View and export underlying data</a:t>
            </a:r>
          </a:p>
        </p:txBody>
      </p:sp>
      <p:sp>
        <p:nvSpPr>
          <p:cNvPr id="6" name="Rectangle 5"/>
          <p:cNvSpPr/>
          <p:nvPr/>
        </p:nvSpPr>
        <p:spPr>
          <a:xfrm>
            <a:off x="749808" y="1536192"/>
            <a:ext cx="106984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8096"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68096" y="1764792"/>
            <a:ext cx="82296" cy="206197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96695" y="2548890"/>
            <a:ext cx="493776" cy="49377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5"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1</a:t>
            </a:r>
          </a:p>
        </p:txBody>
      </p:sp>
      <p:sp>
        <p:nvSpPr>
          <p:cNvPr id="11" name="TextBox 10"/>
          <p:cNvSpPr txBox="1"/>
          <p:nvPr/>
        </p:nvSpPr>
        <p:spPr>
          <a:xfrm>
            <a:off x="1664207"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What it means</a:t>
            </a:r>
          </a:p>
          <a:p>
            <a:pPr algn="l">
              <a:spcAft>
                <a:spcPts val="300"/>
              </a:spcAft>
            </a:pPr>
            <a:r>
              <a:rPr sz="1200" b="0">
                <a:solidFill>
                  <a:srgbClr val="5B6372"/>
                </a:solidFill>
                <a:latin typeface="Arial"/>
              </a:rPr>
              <a:t>View Data exposes summary and permitted underlying rows.</a:t>
            </a:r>
          </a:p>
        </p:txBody>
      </p:sp>
      <p:sp>
        <p:nvSpPr>
          <p:cNvPr id="12" name="Rectangle 11"/>
          <p:cNvSpPr/>
          <p:nvPr/>
        </p:nvSpPr>
        <p:spPr>
          <a:xfrm>
            <a:off x="6222492"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22492" y="1764792"/>
            <a:ext cx="82296" cy="206197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51092" y="2548890"/>
            <a:ext cx="493776" cy="49377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51092"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2</a:t>
            </a:r>
          </a:p>
        </p:txBody>
      </p:sp>
      <p:sp>
        <p:nvSpPr>
          <p:cNvPr id="16" name="TextBox 15"/>
          <p:cNvSpPr txBox="1"/>
          <p:nvPr/>
        </p:nvSpPr>
        <p:spPr>
          <a:xfrm>
            <a:off x="7118604"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Use it when</a:t>
            </a:r>
          </a:p>
          <a:p>
            <a:pPr algn="l">
              <a:spcAft>
                <a:spcPts val="300"/>
              </a:spcAft>
            </a:pPr>
            <a:r>
              <a:rPr sz="1200" b="0">
                <a:solidFill>
                  <a:srgbClr val="5B6372"/>
                </a:solidFill>
                <a:latin typeface="Arial"/>
              </a:rPr>
              <a:t>Use to audit marks or export support records.</a:t>
            </a:r>
          </a:p>
        </p:txBody>
      </p:sp>
      <p:sp>
        <p:nvSpPr>
          <p:cNvPr id="17" name="Rectangle 16"/>
          <p:cNvSpPr/>
          <p:nvPr/>
        </p:nvSpPr>
        <p:spPr>
          <a:xfrm>
            <a:off x="768096"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68096" y="4046220"/>
            <a:ext cx="82296" cy="206197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96695" y="4830318"/>
            <a:ext cx="493776" cy="49377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96695"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3</a:t>
            </a:r>
          </a:p>
        </p:txBody>
      </p:sp>
      <p:sp>
        <p:nvSpPr>
          <p:cNvPr id="21" name="TextBox 20"/>
          <p:cNvSpPr txBox="1"/>
          <p:nvPr/>
        </p:nvSpPr>
        <p:spPr>
          <a:xfrm>
            <a:off x="1664207"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Exam clue</a:t>
            </a:r>
          </a:p>
          <a:p>
            <a:pPr algn="l">
              <a:spcAft>
                <a:spcPts val="300"/>
              </a:spcAft>
            </a:pPr>
            <a:r>
              <a:rPr sz="1200" b="0">
                <a:solidFill>
                  <a:srgbClr val="5B6372"/>
                </a:solidFill>
                <a:latin typeface="Arial"/>
              </a:rPr>
              <a:t>Selected marks and permissions define available data.</a:t>
            </a:r>
          </a:p>
        </p:txBody>
      </p:sp>
      <p:sp>
        <p:nvSpPr>
          <p:cNvPr id="22" name="Rectangle 21"/>
          <p:cNvSpPr/>
          <p:nvPr/>
        </p:nvSpPr>
        <p:spPr>
          <a:xfrm>
            <a:off x="6222492"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22492" y="4046220"/>
            <a:ext cx="82296" cy="206197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51092" y="4830318"/>
            <a:ext cx="493776" cy="49377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51092"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4</a:t>
            </a:r>
          </a:p>
        </p:txBody>
      </p:sp>
      <p:sp>
        <p:nvSpPr>
          <p:cNvPr id="26" name="TextBox 25"/>
          <p:cNvSpPr txBox="1"/>
          <p:nvPr/>
        </p:nvSpPr>
        <p:spPr>
          <a:xfrm>
            <a:off x="7118604"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Common pitfall</a:t>
            </a:r>
          </a:p>
          <a:p>
            <a:pPr algn="l">
              <a:spcAft>
                <a:spcPts val="300"/>
              </a:spcAft>
            </a:pPr>
            <a:r>
              <a:rPr sz="1200" b="0">
                <a:solidFill>
                  <a:srgbClr val="5B6372"/>
                </a:solidFill>
                <a:latin typeface="Arial"/>
              </a:rPr>
              <a:t>Exports can leak sensitive detail.</a:t>
            </a:r>
          </a:p>
        </p:txBody>
      </p:sp>
      <p:sp>
        <p:nvSpPr>
          <p:cNvPr id="27" name="TextBox 26"/>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28" name="TextBox 27"/>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29" name="TextBox 28"/>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126</a:t>
            </a:r>
          </a:p>
        </p:txBody>
      </p:sp>
    </p:spTree>
  </p:cSld>
  <p:clrMapOvr>
    <a:masterClrMapping/>
  </p:clrMapOvr>
  <p:transition spd="fast">
    <p:fade/>
  </p:transition>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37744"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47472"/>
            <a:ext cx="10698480" cy="292608"/>
          </a:xfrm>
          <a:prstGeom prst="rect">
            <a:avLst/>
          </a:prstGeom>
          <a:noFill/>
        </p:spPr>
        <p:txBody>
          <a:bodyPr wrap="square" anchor="t" lIns="54864" rIns="54864" tIns="54864" bIns="54864">
            <a:spAutoFit/>
          </a:bodyPr>
          <a:lstStyle/>
          <a:p>
            <a:pPr algn="l">
              <a:spcAft>
                <a:spcPts val="300"/>
              </a:spcAft>
            </a:pPr>
            <a:r>
              <a:rPr sz="1200" b="1">
                <a:solidFill>
                  <a:srgbClr val="7C3AED"/>
                </a:solidFill>
                <a:latin typeface="Arial"/>
              </a:rPr>
              <a:t>OFFICIAL OBJECTIVE · DOMAIN 3</a:t>
            </a:r>
          </a:p>
        </p:txBody>
      </p:sp>
      <p:sp>
        <p:nvSpPr>
          <p:cNvPr id="5" name="TextBox 4"/>
          <p:cNvSpPr txBox="1"/>
          <p:nvPr/>
        </p:nvSpPr>
        <p:spPr>
          <a:xfrm>
            <a:off x="749808" y="713232"/>
            <a:ext cx="10744200" cy="731520"/>
          </a:xfrm>
          <a:prstGeom prst="rect">
            <a:avLst/>
          </a:prstGeom>
          <a:noFill/>
        </p:spPr>
        <p:txBody>
          <a:bodyPr wrap="square" anchor="ctr" lIns="54864" rIns="54864" tIns="54864" bIns="54864">
            <a:spAutoFit/>
          </a:bodyPr>
          <a:lstStyle/>
          <a:p>
            <a:pPr algn="l">
              <a:spcAft>
                <a:spcPts val="300"/>
              </a:spcAft>
            </a:pPr>
            <a:r>
              <a:rPr sz="2700" b="1">
                <a:solidFill>
                  <a:srgbClr val="161B26"/>
                </a:solidFill>
                <a:latin typeface="Arial"/>
              </a:rPr>
              <a:t>3.3.3 · Export to PowerPoint</a:t>
            </a:r>
          </a:p>
        </p:txBody>
      </p:sp>
      <p:sp>
        <p:nvSpPr>
          <p:cNvPr id="6" name="Rectangle 5"/>
          <p:cNvSpPr/>
          <p:nvPr/>
        </p:nvSpPr>
        <p:spPr>
          <a:xfrm>
            <a:off x="749808" y="1536192"/>
            <a:ext cx="106984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8096"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68096" y="1764792"/>
            <a:ext cx="82296" cy="206197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96695" y="2548890"/>
            <a:ext cx="493776" cy="49377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5"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1</a:t>
            </a:r>
          </a:p>
        </p:txBody>
      </p:sp>
      <p:sp>
        <p:nvSpPr>
          <p:cNvPr id="11" name="TextBox 10"/>
          <p:cNvSpPr txBox="1"/>
          <p:nvPr/>
        </p:nvSpPr>
        <p:spPr>
          <a:xfrm>
            <a:off x="1664207"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What it means</a:t>
            </a:r>
          </a:p>
          <a:p>
            <a:pPr algn="l">
              <a:spcAft>
                <a:spcPts val="300"/>
              </a:spcAft>
            </a:pPr>
            <a:r>
              <a:rPr sz="1200" b="0">
                <a:solidFill>
                  <a:srgbClr val="5B6372"/>
                </a:solidFill>
                <a:latin typeface="Arial"/>
              </a:rPr>
              <a:t>Tableau exports views as static PowerPoint images.</a:t>
            </a:r>
          </a:p>
        </p:txBody>
      </p:sp>
      <p:sp>
        <p:nvSpPr>
          <p:cNvPr id="12" name="Rectangle 11"/>
          <p:cNvSpPr/>
          <p:nvPr/>
        </p:nvSpPr>
        <p:spPr>
          <a:xfrm>
            <a:off x="6222492"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22492" y="1764792"/>
            <a:ext cx="82296" cy="206197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51092" y="2548890"/>
            <a:ext cx="493776" cy="49377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51092"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2</a:t>
            </a:r>
          </a:p>
        </p:txBody>
      </p:sp>
      <p:sp>
        <p:nvSpPr>
          <p:cNvPr id="16" name="TextBox 15"/>
          <p:cNvSpPr txBox="1"/>
          <p:nvPr/>
        </p:nvSpPr>
        <p:spPr>
          <a:xfrm>
            <a:off x="7118604"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Use it when</a:t>
            </a:r>
          </a:p>
          <a:p>
            <a:pPr algn="l">
              <a:spcAft>
                <a:spcPts val="300"/>
              </a:spcAft>
            </a:pPr>
            <a:r>
              <a:rPr sz="1200" b="0">
                <a:solidFill>
                  <a:srgbClr val="5B6372"/>
                </a:solidFill>
                <a:latin typeface="Arial"/>
              </a:rPr>
              <a:t>Use for offline briefings without interactivity.</a:t>
            </a:r>
          </a:p>
        </p:txBody>
      </p:sp>
      <p:sp>
        <p:nvSpPr>
          <p:cNvPr id="17" name="Rectangle 16"/>
          <p:cNvSpPr/>
          <p:nvPr/>
        </p:nvSpPr>
        <p:spPr>
          <a:xfrm>
            <a:off x="768096"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68096" y="4046220"/>
            <a:ext cx="82296" cy="206197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96695" y="4830318"/>
            <a:ext cx="493776" cy="49377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96695"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3</a:t>
            </a:r>
          </a:p>
        </p:txBody>
      </p:sp>
      <p:sp>
        <p:nvSpPr>
          <p:cNvPr id="21" name="TextBox 20"/>
          <p:cNvSpPr txBox="1"/>
          <p:nvPr/>
        </p:nvSpPr>
        <p:spPr>
          <a:xfrm>
            <a:off x="1664207"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Exam clue</a:t>
            </a:r>
          </a:p>
          <a:p>
            <a:pPr algn="l">
              <a:spcAft>
                <a:spcPts val="300"/>
              </a:spcAft>
            </a:pPr>
            <a:r>
              <a:rPr sz="1200" b="0">
                <a:solidFill>
                  <a:srgbClr val="5B6372"/>
                </a:solidFill>
                <a:latin typeface="Arial"/>
              </a:rPr>
              <a:t>Appearance is preserved, not filters or actions.</a:t>
            </a:r>
          </a:p>
        </p:txBody>
      </p:sp>
      <p:sp>
        <p:nvSpPr>
          <p:cNvPr id="22" name="Rectangle 21"/>
          <p:cNvSpPr/>
          <p:nvPr/>
        </p:nvSpPr>
        <p:spPr>
          <a:xfrm>
            <a:off x="6222492"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22492" y="4046220"/>
            <a:ext cx="82296" cy="206197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51092" y="4830318"/>
            <a:ext cx="493776" cy="49377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51092"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4</a:t>
            </a:r>
          </a:p>
        </p:txBody>
      </p:sp>
      <p:sp>
        <p:nvSpPr>
          <p:cNvPr id="26" name="TextBox 25"/>
          <p:cNvSpPr txBox="1"/>
          <p:nvPr/>
        </p:nvSpPr>
        <p:spPr>
          <a:xfrm>
            <a:off x="7118604"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Common pitfall</a:t>
            </a:r>
          </a:p>
          <a:p>
            <a:pPr algn="l">
              <a:spcAft>
                <a:spcPts val="300"/>
              </a:spcAft>
            </a:pPr>
            <a:r>
              <a:rPr sz="1200" b="0">
                <a:solidFill>
                  <a:srgbClr val="5B6372"/>
                </a:solidFill>
                <a:latin typeface="Arial"/>
              </a:rPr>
              <a:t>Label snapshots with a data-as-of date.</a:t>
            </a:r>
          </a:p>
        </p:txBody>
      </p:sp>
      <p:sp>
        <p:nvSpPr>
          <p:cNvPr id="27" name="TextBox 26"/>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28" name="TextBox 27"/>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29" name="TextBox 28"/>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127</a:t>
            </a:r>
          </a:p>
        </p:txBody>
      </p:sp>
    </p:spTree>
  </p:cSld>
  <p:clrMapOvr>
    <a:masterClrMapping/>
  </p:clrMapOvr>
  <p:transition spd="fast">
    <p:fade/>
  </p:transition>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37744"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47472"/>
            <a:ext cx="10698480" cy="292608"/>
          </a:xfrm>
          <a:prstGeom prst="rect">
            <a:avLst/>
          </a:prstGeom>
          <a:noFill/>
        </p:spPr>
        <p:txBody>
          <a:bodyPr wrap="square" anchor="t" lIns="54864" rIns="54864" tIns="54864" bIns="54864">
            <a:spAutoFit/>
          </a:bodyPr>
          <a:lstStyle/>
          <a:p>
            <a:pPr algn="l">
              <a:spcAft>
                <a:spcPts val="300"/>
              </a:spcAft>
            </a:pPr>
            <a:r>
              <a:rPr sz="1200" b="1">
                <a:solidFill>
                  <a:srgbClr val="10B981"/>
                </a:solidFill>
                <a:latin typeface="Arial"/>
              </a:rPr>
              <a:t>LAB 08 · TOPIC 03 · OVERVIEW ONLY</a:t>
            </a:r>
          </a:p>
        </p:txBody>
      </p:sp>
      <p:sp>
        <p:nvSpPr>
          <p:cNvPr id="5" name="TextBox 4"/>
          <p:cNvSpPr txBox="1"/>
          <p:nvPr/>
        </p:nvSpPr>
        <p:spPr>
          <a:xfrm>
            <a:off x="749808" y="713232"/>
            <a:ext cx="10744200" cy="731520"/>
          </a:xfrm>
          <a:prstGeom prst="rect">
            <a:avLst/>
          </a:prstGeom>
          <a:noFill/>
        </p:spPr>
        <p:txBody>
          <a:bodyPr wrap="square" anchor="ctr" lIns="54864" rIns="54864" tIns="54864" bIns="54864">
            <a:spAutoFit/>
          </a:bodyPr>
          <a:lstStyle/>
          <a:p>
            <a:pPr algn="l">
              <a:spcAft>
                <a:spcPts val="300"/>
              </a:spcAft>
            </a:pPr>
            <a:r>
              <a:rPr sz="2700" b="1">
                <a:solidFill>
                  <a:srgbClr val="161B26"/>
                </a:solidFill>
                <a:latin typeface="Arial"/>
              </a:rPr>
              <a:t>Build an Interactive Service Operations Dashboard</a:t>
            </a:r>
          </a:p>
        </p:txBody>
      </p:sp>
      <p:sp>
        <p:nvSpPr>
          <p:cNvPr id="6" name="Rectangle 5"/>
          <p:cNvSpPr/>
          <p:nvPr/>
        </p:nvSpPr>
        <p:spPr>
          <a:xfrm>
            <a:off x="749808" y="1536192"/>
            <a:ext cx="106984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64792"/>
            <a:ext cx="10652760" cy="749808"/>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87552" y="1847088"/>
            <a:ext cx="10241280" cy="566928"/>
          </a:xfrm>
          <a:prstGeom prst="rect">
            <a:avLst/>
          </a:prstGeom>
          <a:noFill/>
        </p:spPr>
        <p:txBody>
          <a:bodyPr wrap="square" anchor="ctr" lIns="54864" rIns="54864" tIns="54864" bIns="54864">
            <a:spAutoFit/>
          </a:bodyPr>
          <a:lstStyle/>
          <a:p>
            <a:pPr algn="l">
              <a:spcAft>
                <a:spcPts val="300"/>
              </a:spcAft>
            </a:pPr>
            <a:r>
              <a:rPr sz="1400" b="0">
                <a:solidFill>
                  <a:srgbClr val="161B26"/>
                </a:solidFill>
                <a:latin typeface="Arial"/>
              </a:rPr>
              <a:t>ApexCare's service director needs a daily dashboard for backlog, SLA risk, channel demand and team performance.</a:t>
            </a:r>
          </a:p>
        </p:txBody>
      </p:sp>
      <p:sp>
        <p:nvSpPr>
          <p:cNvPr id="9" name="Rectangle 8"/>
          <p:cNvSpPr/>
          <p:nvPr/>
        </p:nvSpPr>
        <p:spPr>
          <a:xfrm>
            <a:off x="777240" y="2788920"/>
            <a:ext cx="1998878" cy="11704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2788920"/>
            <a:ext cx="1998878"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2971800"/>
            <a:ext cx="1815998" cy="713232"/>
          </a:xfrm>
          <a:prstGeom prst="rect">
            <a:avLst/>
          </a:prstGeom>
          <a:noFill/>
        </p:spPr>
        <p:txBody>
          <a:bodyPr wrap="square" anchor="ctr" lIns="54864" rIns="54864" tIns="54864" bIns="54864">
            <a:spAutoFit/>
          </a:bodyPr>
          <a:lstStyle/>
          <a:p>
            <a:pPr algn="ctr">
              <a:spcAft>
                <a:spcPts val="300"/>
              </a:spcAft>
            </a:pPr>
            <a:r>
              <a:rPr sz="1250" b="1">
                <a:solidFill>
                  <a:srgbClr val="161B26"/>
                </a:solidFill>
                <a:latin typeface="Arial"/>
              </a:rPr>
              <a:t>1. Frame decision</a:t>
            </a:r>
          </a:p>
        </p:txBody>
      </p:sp>
      <p:sp>
        <p:nvSpPr>
          <p:cNvPr id="12" name="Rectangle 11"/>
          <p:cNvSpPr/>
          <p:nvPr/>
        </p:nvSpPr>
        <p:spPr>
          <a:xfrm>
            <a:off x="2940710" y="2788920"/>
            <a:ext cx="1998878" cy="11704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940710" y="2788920"/>
            <a:ext cx="199887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032150" y="2971800"/>
            <a:ext cx="1815998" cy="713232"/>
          </a:xfrm>
          <a:prstGeom prst="rect">
            <a:avLst/>
          </a:prstGeom>
          <a:noFill/>
        </p:spPr>
        <p:txBody>
          <a:bodyPr wrap="square" anchor="ctr" lIns="54864" rIns="54864" tIns="54864" bIns="54864">
            <a:spAutoFit/>
          </a:bodyPr>
          <a:lstStyle/>
          <a:p>
            <a:pPr algn="ctr">
              <a:spcAft>
                <a:spcPts val="300"/>
              </a:spcAft>
            </a:pPr>
            <a:r>
              <a:rPr sz="1250" b="1">
                <a:solidFill>
                  <a:srgbClr val="161B26"/>
                </a:solidFill>
                <a:latin typeface="Arial"/>
              </a:rPr>
              <a:t>2. Compose views</a:t>
            </a:r>
          </a:p>
        </p:txBody>
      </p:sp>
      <p:sp>
        <p:nvSpPr>
          <p:cNvPr id="15" name="Rectangle 14"/>
          <p:cNvSpPr/>
          <p:nvPr/>
        </p:nvSpPr>
        <p:spPr>
          <a:xfrm>
            <a:off x="5104180" y="2788920"/>
            <a:ext cx="1998878" cy="11704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104180" y="2788920"/>
            <a:ext cx="1998878"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195620" y="2971800"/>
            <a:ext cx="1815998" cy="713232"/>
          </a:xfrm>
          <a:prstGeom prst="rect">
            <a:avLst/>
          </a:prstGeom>
          <a:noFill/>
        </p:spPr>
        <p:txBody>
          <a:bodyPr wrap="square" anchor="ctr" lIns="54864" rIns="54864" tIns="54864" bIns="54864">
            <a:spAutoFit/>
          </a:bodyPr>
          <a:lstStyle/>
          <a:p>
            <a:pPr algn="ctr">
              <a:spcAft>
                <a:spcPts val="300"/>
              </a:spcAft>
            </a:pPr>
            <a:r>
              <a:rPr sz="1250" b="1">
                <a:solidFill>
                  <a:srgbClr val="161B26"/>
                </a:solidFill>
                <a:latin typeface="Arial"/>
              </a:rPr>
              <a:t>3. Arrange layout</a:t>
            </a:r>
          </a:p>
        </p:txBody>
      </p:sp>
      <p:sp>
        <p:nvSpPr>
          <p:cNvPr id="18" name="Rectangle 17"/>
          <p:cNvSpPr/>
          <p:nvPr/>
        </p:nvSpPr>
        <p:spPr>
          <a:xfrm>
            <a:off x="7267651" y="2788920"/>
            <a:ext cx="1998878" cy="11704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267651" y="2788920"/>
            <a:ext cx="1998878"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59091" y="2971800"/>
            <a:ext cx="1815998" cy="713232"/>
          </a:xfrm>
          <a:prstGeom prst="rect">
            <a:avLst/>
          </a:prstGeom>
          <a:noFill/>
        </p:spPr>
        <p:txBody>
          <a:bodyPr wrap="square" anchor="ctr" lIns="54864" rIns="54864" tIns="54864" bIns="54864">
            <a:spAutoFit/>
          </a:bodyPr>
          <a:lstStyle/>
          <a:p>
            <a:pPr algn="ctr">
              <a:spcAft>
                <a:spcPts val="300"/>
              </a:spcAft>
            </a:pPr>
            <a:r>
              <a:rPr sz="1250" b="1">
                <a:solidFill>
                  <a:srgbClr val="161B26"/>
                </a:solidFill>
                <a:latin typeface="Arial"/>
              </a:rPr>
              <a:t>4. Add actions</a:t>
            </a:r>
          </a:p>
        </p:txBody>
      </p:sp>
      <p:sp>
        <p:nvSpPr>
          <p:cNvPr id="21" name="Rectangle 20"/>
          <p:cNvSpPr/>
          <p:nvPr/>
        </p:nvSpPr>
        <p:spPr>
          <a:xfrm>
            <a:off x="9431121" y="2788920"/>
            <a:ext cx="1998878" cy="11704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431121" y="2788920"/>
            <a:ext cx="1998878"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522561" y="2971800"/>
            <a:ext cx="1815998" cy="713232"/>
          </a:xfrm>
          <a:prstGeom prst="rect">
            <a:avLst/>
          </a:prstGeom>
          <a:noFill/>
        </p:spPr>
        <p:txBody>
          <a:bodyPr wrap="square" anchor="ctr" lIns="54864" rIns="54864" tIns="54864" bIns="54864">
            <a:spAutoFit/>
          </a:bodyPr>
          <a:lstStyle/>
          <a:p>
            <a:pPr algn="ctr">
              <a:spcAft>
                <a:spcPts val="300"/>
              </a:spcAft>
            </a:pPr>
            <a:r>
              <a:rPr sz="1250" b="1">
                <a:solidFill>
                  <a:srgbClr val="161B26"/>
                </a:solidFill>
                <a:latin typeface="Arial"/>
              </a:rPr>
              <a:t>5. Test consumers</a:t>
            </a:r>
          </a:p>
        </p:txBody>
      </p:sp>
      <p:sp>
        <p:nvSpPr>
          <p:cNvPr id="24" name="Rectangle 23"/>
          <p:cNvSpPr/>
          <p:nvPr/>
        </p:nvSpPr>
        <p:spPr>
          <a:xfrm>
            <a:off x="777240" y="4279392"/>
            <a:ext cx="10652760"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87552" y="4370832"/>
            <a:ext cx="10195560" cy="777240"/>
          </a:xfrm>
          <a:prstGeom prst="rect">
            <a:avLst/>
          </a:prstGeom>
          <a:noFill/>
        </p:spPr>
        <p:txBody>
          <a:bodyPr wrap="square" anchor="ctr" lIns="54864" rIns="54864" tIns="54864" bIns="54864">
            <a:spAutoFit/>
          </a:bodyPr>
          <a:lstStyle/>
          <a:p>
            <a:pPr algn="l">
              <a:spcAft>
                <a:spcPts val="300"/>
              </a:spcAft>
            </a:pPr>
            <a:r>
              <a:rPr sz="1100" b="1">
                <a:solidFill>
                  <a:srgbClr val="10B981"/>
                </a:solidFill>
                <a:latin typeface="Arial"/>
              </a:rPr>
              <a:t>OUTPUT  </a:t>
            </a:r>
            <a:r>
              <a:rPr sz="1300" b="0">
                <a:solidFill>
                  <a:srgbClr val="161B26"/>
                </a:solidFill>
                <a:latin typeface="Arial"/>
              </a:rPr>
              <a:t>A 1366×768 operational dashboard with KPIs, four views, scoped filters, highlight/filter actions and accessible tooltips</a:t>
            </a:r>
          </a:p>
        </p:txBody>
      </p:sp>
      <p:sp>
        <p:nvSpPr>
          <p:cNvPr id="26" name="TextBox 25"/>
          <p:cNvSpPr txBox="1"/>
          <p:nvPr/>
        </p:nvSpPr>
        <p:spPr>
          <a:xfrm>
            <a:off x="822960" y="5504688"/>
            <a:ext cx="10515600" cy="457200"/>
          </a:xfrm>
          <a:prstGeom prst="rect">
            <a:avLst/>
          </a:prstGeom>
          <a:noFill/>
        </p:spPr>
        <p:txBody>
          <a:bodyPr wrap="square" anchor="t" lIns="54864" rIns="54864" tIns="54864" bIns="54864">
            <a:spAutoFit/>
          </a:bodyPr>
          <a:lstStyle/>
          <a:p>
            <a:pPr algn="ctr">
              <a:spcAft>
                <a:spcPts val="300"/>
              </a:spcAft>
            </a:pPr>
            <a:r>
              <a:rPr sz="1100" b="0">
                <a:solidFill>
                  <a:srgbClr val="5B6372"/>
                </a:solidFill>
                <a:latin typeface="Arial"/>
              </a:rPr>
              <a:t>Detailed click-by-click procedure: Learner Guide and this lab folder · Tools: </a:t>
            </a:r>
            <a:r>
              <a:rPr sz="1100" b="1">
                <a:solidFill>
                  <a:srgbClr val="5B6372"/>
                </a:solidFill>
                <a:latin typeface="Arial"/>
              </a:rPr>
              <a:t>Tableau Desktop · dashboards · layout containers · filters · actions · tooltips</a:t>
            </a:r>
          </a:p>
        </p:txBody>
      </p:sp>
      <p:sp>
        <p:nvSpPr>
          <p:cNvPr id="27" name="TextBox 26"/>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28" name="TextBox 27"/>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29" name="TextBox 28"/>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128</a:t>
            </a:r>
          </a:p>
        </p:txBody>
      </p:sp>
    </p:spTree>
  </p:cSld>
  <p:clrMapOvr>
    <a:masterClrMapping/>
  </p:clrMapOvr>
  <p:transition spd="fast">
    <p:fade/>
  </p:transition>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37744"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47472"/>
            <a:ext cx="10698480" cy="292608"/>
          </a:xfrm>
          <a:prstGeom prst="rect">
            <a:avLst/>
          </a:prstGeom>
          <a:noFill/>
        </p:spPr>
        <p:txBody>
          <a:bodyPr wrap="square" anchor="t" lIns="54864" rIns="54864" tIns="54864" bIns="54864">
            <a:spAutoFit/>
          </a:bodyPr>
          <a:lstStyle/>
          <a:p>
            <a:pPr algn="l">
              <a:spcAft>
                <a:spcPts val="300"/>
              </a:spcAft>
            </a:pPr>
            <a:r>
              <a:rPr sz="1200" b="1">
                <a:solidFill>
                  <a:srgbClr val="10B981"/>
                </a:solidFill>
                <a:latin typeface="Arial"/>
              </a:rPr>
              <a:t>VERIFY THE OUTCOME</a:t>
            </a:r>
          </a:p>
        </p:txBody>
      </p:sp>
      <p:sp>
        <p:nvSpPr>
          <p:cNvPr id="5" name="TextBox 4"/>
          <p:cNvSpPr txBox="1"/>
          <p:nvPr/>
        </p:nvSpPr>
        <p:spPr>
          <a:xfrm>
            <a:off x="749808" y="713232"/>
            <a:ext cx="10744200" cy="731520"/>
          </a:xfrm>
          <a:prstGeom prst="rect">
            <a:avLst/>
          </a:prstGeom>
          <a:noFill/>
        </p:spPr>
        <p:txBody>
          <a:bodyPr wrap="square" anchor="ctr" lIns="54864" rIns="54864" tIns="54864" bIns="54864">
            <a:spAutoFit/>
          </a:bodyPr>
          <a:lstStyle/>
          <a:p>
            <a:pPr algn="l">
              <a:spcAft>
                <a:spcPts val="300"/>
              </a:spcAft>
            </a:pPr>
            <a:r>
              <a:rPr sz="2700" b="1">
                <a:solidFill>
                  <a:srgbClr val="161B26"/>
                </a:solidFill>
                <a:latin typeface="Arial"/>
              </a:rPr>
              <a:t>Lab 08 — Acceptance Test</a:t>
            </a:r>
          </a:p>
        </p:txBody>
      </p:sp>
      <p:sp>
        <p:nvSpPr>
          <p:cNvPr id="6" name="Rectangle 5"/>
          <p:cNvSpPr/>
          <p:nvPr/>
        </p:nvSpPr>
        <p:spPr>
          <a:xfrm>
            <a:off x="749808" y="1536192"/>
            <a:ext cx="106984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965960"/>
            <a:ext cx="10652760" cy="228600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240280"/>
            <a:ext cx="9966960" cy="457200"/>
          </a:xfrm>
          <a:prstGeom prst="rect">
            <a:avLst/>
          </a:prstGeom>
          <a:noFill/>
        </p:spPr>
        <p:txBody>
          <a:bodyPr wrap="square" anchor="t" lIns="54864" rIns="54864" tIns="54864" bIns="54864">
            <a:spAutoFit/>
          </a:bodyPr>
          <a:lstStyle/>
          <a:p>
            <a:pPr algn="l">
              <a:spcAft>
                <a:spcPts val="300"/>
              </a:spcAft>
            </a:pPr>
            <a:r>
              <a:rPr sz="1900" b="1">
                <a:solidFill>
                  <a:srgbClr val="127A3E"/>
                </a:solidFill>
                <a:latin typeface="Arial"/>
              </a:rPr>
              <a:t>✓  Evidence standard</a:t>
            </a:r>
          </a:p>
        </p:txBody>
      </p:sp>
      <p:sp>
        <p:nvSpPr>
          <p:cNvPr id="9" name="TextBox 8"/>
          <p:cNvSpPr txBox="1"/>
          <p:nvPr/>
        </p:nvSpPr>
        <p:spPr>
          <a:xfrm>
            <a:off x="1097280" y="2880360"/>
            <a:ext cx="9875520" cy="1051560"/>
          </a:xfrm>
          <a:prstGeom prst="rect">
            <a:avLst/>
          </a:prstGeom>
          <a:noFill/>
        </p:spPr>
        <p:txBody>
          <a:bodyPr wrap="square" anchor="ctr" lIns="54864" rIns="54864" tIns="54864" bIns="54864">
            <a:spAutoFit/>
          </a:bodyPr>
          <a:lstStyle/>
          <a:p>
            <a:pPr algn="l">
              <a:spcAft>
                <a:spcPts val="300"/>
              </a:spcAft>
            </a:pPr>
            <a:r>
              <a:rPr sz="1600" b="0">
                <a:solidFill>
                  <a:srgbClr val="161B26"/>
                </a:solidFill>
                <a:latin typeface="Arial"/>
              </a:rPr>
              <a:t>The dashboard loads in the target size, KPIs match Control, filters are scoped, actions clear correctly, no object overlaps, and a manager can answer the three stated operational questions.</a:t>
            </a:r>
          </a:p>
        </p:txBody>
      </p:sp>
      <p:sp>
        <p:nvSpPr>
          <p:cNvPr id="10" name="TextBox 9"/>
          <p:cNvSpPr txBox="1"/>
          <p:nvPr/>
        </p:nvSpPr>
        <p:spPr>
          <a:xfrm>
            <a:off x="868680" y="4754880"/>
            <a:ext cx="10424160" cy="640080"/>
          </a:xfrm>
          <a:prstGeom prst="rect">
            <a:avLst/>
          </a:prstGeom>
          <a:noFill/>
        </p:spPr>
        <p:txBody>
          <a:bodyPr wrap="square" anchor="t" lIns="54864" rIns="54864" tIns="54864" bIns="54864">
            <a:spAutoFit/>
          </a:bodyPr>
          <a:lstStyle/>
          <a:p>
            <a:pPr algn="ctr">
              <a:spcAft>
                <a:spcPts val="300"/>
              </a:spcAft>
            </a:pPr>
            <a:r>
              <a:rPr sz="1300" b="0">
                <a:solidFill>
                  <a:srgbClr val="5B6372"/>
                </a:solidFill>
                <a:latin typeface="Arial"/>
              </a:rPr>
              <a:t>Submit the Tableau workbook, requested screenshots/exports and completed acceptance-checklist.md from the lab folder.</a:t>
            </a:r>
          </a:p>
        </p:txBody>
      </p:sp>
      <p:sp>
        <p:nvSpPr>
          <p:cNvPr id="11" name="TextBox 10"/>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12" name="TextBox 11"/>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13" name="TextBox 12"/>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129</a:t>
            </a:r>
          </a:p>
        </p:txBody>
      </p:sp>
    </p:spTree>
  </p:cSld>
  <p:clrMapOvr>
    <a:masterClrMapping/>
  </p:clrMapOvr>
  <p:transition spd="fast">
    <p:fade/>
  </p:transition>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37744"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47472"/>
            <a:ext cx="10698480" cy="292608"/>
          </a:xfrm>
          <a:prstGeom prst="rect">
            <a:avLst/>
          </a:prstGeom>
          <a:noFill/>
        </p:spPr>
        <p:txBody>
          <a:bodyPr wrap="square" anchor="t" lIns="54864" rIns="54864" tIns="54864" bIns="54864">
            <a:spAutoFit/>
          </a:bodyPr>
          <a:lstStyle/>
          <a:p>
            <a:pPr algn="l">
              <a:spcAft>
                <a:spcPts val="300"/>
              </a:spcAft>
            </a:pPr>
            <a:r>
              <a:rPr sz="1200" b="1">
                <a:solidFill>
                  <a:srgbClr val="10B981"/>
                </a:solidFill>
                <a:latin typeface="Arial"/>
              </a:rPr>
              <a:t>LAB 09 · TOPIC 03 · OVERVIEW ONLY</a:t>
            </a:r>
          </a:p>
        </p:txBody>
      </p:sp>
      <p:sp>
        <p:nvSpPr>
          <p:cNvPr id="5" name="TextBox 4"/>
          <p:cNvSpPr txBox="1"/>
          <p:nvPr/>
        </p:nvSpPr>
        <p:spPr>
          <a:xfrm>
            <a:off x="749808" y="713232"/>
            <a:ext cx="10744200" cy="731520"/>
          </a:xfrm>
          <a:prstGeom prst="rect">
            <a:avLst/>
          </a:prstGeom>
          <a:noFill/>
        </p:spPr>
        <p:txBody>
          <a:bodyPr wrap="square" anchor="ctr" lIns="54864" rIns="54864" tIns="54864" bIns="54864">
            <a:spAutoFit/>
          </a:bodyPr>
          <a:lstStyle/>
          <a:p>
            <a:pPr algn="l">
              <a:spcAft>
                <a:spcPts val="300"/>
              </a:spcAft>
            </a:pPr>
            <a:r>
              <a:rPr sz="2700" b="1">
                <a:solidFill>
                  <a:srgbClr val="161B26"/>
                </a:solidFill>
                <a:latin typeface="Arial"/>
              </a:rPr>
              <a:t>Optimise, Package and Share an Executive Workbook</a:t>
            </a:r>
          </a:p>
        </p:txBody>
      </p:sp>
      <p:sp>
        <p:nvSpPr>
          <p:cNvPr id="6" name="Rectangle 5"/>
          <p:cNvSpPr/>
          <p:nvPr/>
        </p:nvSpPr>
        <p:spPr>
          <a:xfrm>
            <a:off x="749808" y="1536192"/>
            <a:ext cx="106984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64792"/>
            <a:ext cx="10652760" cy="749808"/>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87552" y="1847088"/>
            <a:ext cx="10241280" cy="566928"/>
          </a:xfrm>
          <a:prstGeom prst="rect">
            <a:avLst/>
          </a:prstGeom>
          <a:noFill/>
        </p:spPr>
        <p:txBody>
          <a:bodyPr wrap="square" anchor="ctr" lIns="54864" rIns="54864" tIns="54864" bIns="54864">
            <a:spAutoFit/>
          </a:bodyPr>
          <a:lstStyle/>
          <a:p>
            <a:pPr algn="l">
              <a:spcAft>
                <a:spcPts val="300"/>
              </a:spcAft>
            </a:pPr>
            <a:r>
              <a:rPr sz="1400" b="0">
                <a:solidFill>
                  <a:srgbClr val="161B26"/>
                </a:solidFill>
                <a:latin typeface="Arial"/>
              </a:rPr>
              <a:t>Sentinel Energy must brief executives while giving analysts a governed interactive workbook.</a:t>
            </a:r>
          </a:p>
        </p:txBody>
      </p:sp>
      <p:sp>
        <p:nvSpPr>
          <p:cNvPr id="9" name="Rectangle 8"/>
          <p:cNvSpPr/>
          <p:nvPr/>
        </p:nvSpPr>
        <p:spPr>
          <a:xfrm>
            <a:off x="777240" y="2788920"/>
            <a:ext cx="1998878" cy="11704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2788920"/>
            <a:ext cx="1998878"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2971800"/>
            <a:ext cx="1815998" cy="713232"/>
          </a:xfrm>
          <a:prstGeom prst="rect">
            <a:avLst/>
          </a:prstGeom>
          <a:noFill/>
        </p:spPr>
        <p:txBody>
          <a:bodyPr wrap="square" anchor="ctr" lIns="54864" rIns="54864" tIns="54864" bIns="54864">
            <a:spAutoFit/>
          </a:bodyPr>
          <a:lstStyle/>
          <a:p>
            <a:pPr algn="ctr">
              <a:spcAft>
                <a:spcPts val="300"/>
              </a:spcAft>
            </a:pPr>
            <a:r>
              <a:rPr sz="1250" b="1">
                <a:solidFill>
                  <a:srgbClr val="161B26"/>
                </a:solidFill>
                <a:latin typeface="Arial"/>
              </a:rPr>
              <a:t>1. Format view</a:t>
            </a:r>
          </a:p>
        </p:txBody>
      </p:sp>
      <p:sp>
        <p:nvSpPr>
          <p:cNvPr id="12" name="Rectangle 11"/>
          <p:cNvSpPr/>
          <p:nvPr/>
        </p:nvSpPr>
        <p:spPr>
          <a:xfrm>
            <a:off x="2940710" y="2788920"/>
            <a:ext cx="1998878" cy="11704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940710" y="2788920"/>
            <a:ext cx="199887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032150" y="2971800"/>
            <a:ext cx="1815998" cy="713232"/>
          </a:xfrm>
          <a:prstGeom prst="rect">
            <a:avLst/>
          </a:prstGeom>
          <a:noFill/>
        </p:spPr>
        <p:txBody>
          <a:bodyPr wrap="square" anchor="ctr" lIns="54864" rIns="54864" tIns="54864" bIns="54864">
            <a:spAutoFit/>
          </a:bodyPr>
          <a:lstStyle/>
          <a:p>
            <a:pPr algn="ctr">
              <a:spcAft>
                <a:spcPts val="300"/>
              </a:spcAft>
            </a:pPr>
            <a:r>
              <a:rPr sz="1250" b="1">
                <a:solidFill>
                  <a:srgbClr val="161B26"/>
                </a:solidFill>
                <a:latin typeface="Arial"/>
              </a:rPr>
              <a:t>2. Design devices</a:t>
            </a:r>
          </a:p>
        </p:txBody>
      </p:sp>
      <p:sp>
        <p:nvSpPr>
          <p:cNvPr id="15" name="Rectangle 14"/>
          <p:cNvSpPr/>
          <p:nvPr/>
        </p:nvSpPr>
        <p:spPr>
          <a:xfrm>
            <a:off x="5104180" y="2788920"/>
            <a:ext cx="1998878" cy="11704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104180" y="2788920"/>
            <a:ext cx="1998878"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195620" y="2971800"/>
            <a:ext cx="1815998" cy="713232"/>
          </a:xfrm>
          <a:prstGeom prst="rect">
            <a:avLst/>
          </a:prstGeom>
          <a:noFill/>
        </p:spPr>
        <p:txBody>
          <a:bodyPr wrap="square" anchor="ctr" lIns="54864" rIns="54864" tIns="54864" bIns="54864">
            <a:spAutoFit/>
          </a:bodyPr>
          <a:lstStyle/>
          <a:p>
            <a:pPr algn="ctr">
              <a:spcAft>
                <a:spcPts val="300"/>
              </a:spcAft>
            </a:pPr>
            <a:r>
              <a:rPr sz="1250" b="1">
                <a:solidFill>
                  <a:srgbClr val="161B26"/>
                </a:solidFill>
                <a:latin typeface="Arial"/>
              </a:rPr>
              <a:t>3. Build story</a:t>
            </a:r>
          </a:p>
        </p:txBody>
      </p:sp>
      <p:sp>
        <p:nvSpPr>
          <p:cNvPr id="18" name="Rectangle 17"/>
          <p:cNvSpPr/>
          <p:nvPr/>
        </p:nvSpPr>
        <p:spPr>
          <a:xfrm>
            <a:off x="7267651" y="2788920"/>
            <a:ext cx="1998878" cy="11704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267651" y="2788920"/>
            <a:ext cx="1998878"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59091" y="2971800"/>
            <a:ext cx="1815998" cy="713232"/>
          </a:xfrm>
          <a:prstGeom prst="rect">
            <a:avLst/>
          </a:prstGeom>
          <a:noFill/>
        </p:spPr>
        <p:txBody>
          <a:bodyPr wrap="square" anchor="ctr" lIns="54864" rIns="54864" tIns="54864" bIns="54864">
            <a:spAutoFit/>
          </a:bodyPr>
          <a:lstStyle/>
          <a:p>
            <a:pPr algn="ctr">
              <a:spcAft>
                <a:spcPts val="300"/>
              </a:spcAft>
            </a:pPr>
            <a:r>
              <a:rPr sz="1250" b="1">
                <a:solidFill>
                  <a:srgbClr val="161B26"/>
                </a:solidFill>
                <a:latin typeface="Arial"/>
              </a:rPr>
              <a:t>4. Package files</a:t>
            </a:r>
          </a:p>
        </p:txBody>
      </p:sp>
      <p:sp>
        <p:nvSpPr>
          <p:cNvPr id="21" name="Rectangle 20"/>
          <p:cNvSpPr/>
          <p:nvPr/>
        </p:nvSpPr>
        <p:spPr>
          <a:xfrm>
            <a:off x="9431121" y="2788920"/>
            <a:ext cx="1998878" cy="11704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431121" y="2788920"/>
            <a:ext cx="1998878"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522561" y="2971800"/>
            <a:ext cx="1815998" cy="713232"/>
          </a:xfrm>
          <a:prstGeom prst="rect">
            <a:avLst/>
          </a:prstGeom>
          <a:noFill/>
        </p:spPr>
        <p:txBody>
          <a:bodyPr wrap="square" anchor="ctr" lIns="54864" rIns="54864" tIns="54864" bIns="54864">
            <a:spAutoFit/>
          </a:bodyPr>
          <a:lstStyle/>
          <a:p>
            <a:pPr algn="ctr">
              <a:spcAft>
                <a:spcPts val="300"/>
              </a:spcAft>
            </a:pPr>
            <a:r>
              <a:rPr sz="1250" b="1">
                <a:solidFill>
                  <a:srgbClr val="161B26"/>
                </a:solidFill>
                <a:latin typeface="Arial"/>
              </a:rPr>
              <a:t>5. Govern sharing</a:t>
            </a:r>
          </a:p>
        </p:txBody>
      </p:sp>
      <p:sp>
        <p:nvSpPr>
          <p:cNvPr id="24" name="Rectangle 23"/>
          <p:cNvSpPr/>
          <p:nvPr/>
        </p:nvSpPr>
        <p:spPr>
          <a:xfrm>
            <a:off x="777240" y="4279392"/>
            <a:ext cx="10652760"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87552" y="4370832"/>
            <a:ext cx="10195560" cy="777240"/>
          </a:xfrm>
          <a:prstGeom prst="rect">
            <a:avLst/>
          </a:prstGeom>
          <a:noFill/>
        </p:spPr>
        <p:txBody>
          <a:bodyPr wrap="square" anchor="ctr" lIns="54864" rIns="54864" tIns="54864" bIns="54864">
            <a:spAutoFit/>
          </a:bodyPr>
          <a:lstStyle/>
          <a:p>
            <a:pPr algn="l">
              <a:spcAft>
                <a:spcPts val="300"/>
              </a:spcAft>
            </a:pPr>
            <a:r>
              <a:rPr sz="1100" b="1">
                <a:solidFill>
                  <a:srgbClr val="10B981"/>
                </a:solidFill>
                <a:latin typeface="Arial"/>
              </a:rPr>
              <a:t>OUTPUT  </a:t>
            </a:r>
            <a:r>
              <a:rPr sz="1300" b="0">
                <a:solidFill>
                  <a:srgbClr val="161B26"/>
                </a:solidFill>
                <a:latin typeface="Arial"/>
              </a:rPr>
              <a:t>Desktop and phone layouts, three story points, TWB/TWBX comparison, PDF/PNG/PPT exports and a publishing checklist</a:t>
            </a:r>
          </a:p>
        </p:txBody>
      </p:sp>
      <p:sp>
        <p:nvSpPr>
          <p:cNvPr id="26" name="TextBox 25"/>
          <p:cNvSpPr txBox="1"/>
          <p:nvPr/>
        </p:nvSpPr>
        <p:spPr>
          <a:xfrm>
            <a:off x="822960" y="5504688"/>
            <a:ext cx="10515600" cy="457200"/>
          </a:xfrm>
          <a:prstGeom prst="rect">
            <a:avLst/>
          </a:prstGeom>
          <a:noFill/>
        </p:spPr>
        <p:txBody>
          <a:bodyPr wrap="square" anchor="t" lIns="54864" rIns="54864" tIns="54864" bIns="54864">
            <a:spAutoFit/>
          </a:bodyPr>
          <a:lstStyle/>
          <a:p>
            <a:pPr algn="ctr">
              <a:spcAft>
                <a:spcPts val="300"/>
              </a:spcAft>
            </a:pPr>
            <a:r>
              <a:rPr sz="1100" b="0">
                <a:solidFill>
                  <a:srgbClr val="5B6372"/>
                </a:solidFill>
                <a:latin typeface="Arial"/>
              </a:rPr>
              <a:t>Detailed click-by-click procedure: Learner Guide and this lab folder · Tools: </a:t>
            </a:r>
            <a:r>
              <a:rPr sz="1100" b="1">
                <a:solidFill>
                  <a:srgbClr val="5B6372"/>
                </a:solidFill>
                <a:latin typeface="Arial"/>
              </a:rPr>
              <a:t>Tableau Desktop · Device Designer · stories · TWBX · PDF/PNG/PPT · Server/Cloud</a:t>
            </a:r>
          </a:p>
        </p:txBody>
      </p:sp>
      <p:sp>
        <p:nvSpPr>
          <p:cNvPr id="27" name="TextBox 26"/>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28" name="TextBox 27"/>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29" name="TextBox 28"/>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130</a:t>
            </a:r>
          </a:p>
        </p:txBody>
      </p:sp>
    </p:spTree>
  </p:cSld>
  <p:clrMapOvr>
    <a:masterClrMapping/>
  </p:clrMapOvr>
  <p:transition spd="fast">
    <p:fade/>
  </p:transition>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37744"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47472"/>
            <a:ext cx="10698480" cy="292608"/>
          </a:xfrm>
          <a:prstGeom prst="rect">
            <a:avLst/>
          </a:prstGeom>
          <a:noFill/>
        </p:spPr>
        <p:txBody>
          <a:bodyPr wrap="square" anchor="t" lIns="54864" rIns="54864" tIns="54864" bIns="54864">
            <a:spAutoFit/>
          </a:bodyPr>
          <a:lstStyle/>
          <a:p>
            <a:pPr algn="l">
              <a:spcAft>
                <a:spcPts val="300"/>
              </a:spcAft>
            </a:pPr>
            <a:r>
              <a:rPr sz="1200" b="1">
                <a:solidFill>
                  <a:srgbClr val="10B981"/>
                </a:solidFill>
                <a:latin typeface="Arial"/>
              </a:rPr>
              <a:t>VERIFY THE OUTCOME</a:t>
            </a:r>
          </a:p>
        </p:txBody>
      </p:sp>
      <p:sp>
        <p:nvSpPr>
          <p:cNvPr id="5" name="TextBox 4"/>
          <p:cNvSpPr txBox="1"/>
          <p:nvPr/>
        </p:nvSpPr>
        <p:spPr>
          <a:xfrm>
            <a:off x="749808" y="713232"/>
            <a:ext cx="10744200" cy="731520"/>
          </a:xfrm>
          <a:prstGeom prst="rect">
            <a:avLst/>
          </a:prstGeom>
          <a:noFill/>
        </p:spPr>
        <p:txBody>
          <a:bodyPr wrap="square" anchor="ctr" lIns="54864" rIns="54864" tIns="54864" bIns="54864">
            <a:spAutoFit/>
          </a:bodyPr>
          <a:lstStyle/>
          <a:p>
            <a:pPr algn="l">
              <a:spcAft>
                <a:spcPts val="300"/>
              </a:spcAft>
            </a:pPr>
            <a:r>
              <a:rPr sz="2700" b="1">
                <a:solidFill>
                  <a:srgbClr val="161B26"/>
                </a:solidFill>
                <a:latin typeface="Arial"/>
              </a:rPr>
              <a:t>Lab 09 — Acceptance Test</a:t>
            </a:r>
          </a:p>
        </p:txBody>
      </p:sp>
      <p:sp>
        <p:nvSpPr>
          <p:cNvPr id="6" name="Rectangle 5"/>
          <p:cNvSpPr/>
          <p:nvPr/>
        </p:nvSpPr>
        <p:spPr>
          <a:xfrm>
            <a:off x="749808" y="1536192"/>
            <a:ext cx="106984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965960"/>
            <a:ext cx="10652760" cy="228600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240280"/>
            <a:ext cx="9966960" cy="457200"/>
          </a:xfrm>
          <a:prstGeom prst="rect">
            <a:avLst/>
          </a:prstGeom>
          <a:noFill/>
        </p:spPr>
        <p:txBody>
          <a:bodyPr wrap="square" anchor="t" lIns="54864" rIns="54864" tIns="54864" bIns="54864">
            <a:spAutoFit/>
          </a:bodyPr>
          <a:lstStyle/>
          <a:p>
            <a:pPr algn="l">
              <a:spcAft>
                <a:spcPts val="300"/>
              </a:spcAft>
            </a:pPr>
            <a:r>
              <a:rPr sz="1900" b="1">
                <a:solidFill>
                  <a:srgbClr val="127A3E"/>
                </a:solidFill>
                <a:latin typeface="Arial"/>
              </a:rPr>
              <a:t>✓  Evidence standard</a:t>
            </a:r>
          </a:p>
        </p:txBody>
      </p:sp>
      <p:sp>
        <p:nvSpPr>
          <p:cNvPr id="9" name="TextBox 8"/>
          <p:cNvSpPr txBox="1"/>
          <p:nvPr/>
        </p:nvSpPr>
        <p:spPr>
          <a:xfrm>
            <a:off x="1097280" y="2880360"/>
            <a:ext cx="9875520" cy="1051560"/>
          </a:xfrm>
          <a:prstGeom prst="rect">
            <a:avLst/>
          </a:prstGeom>
          <a:noFill/>
        </p:spPr>
        <p:txBody>
          <a:bodyPr wrap="square" anchor="ctr" lIns="54864" rIns="54864" tIns="54864" bIns="54864">
            <a:spAutoFit/>
          </a:bodyPr>
          <a:lstStyle/>
          <a:p>
            <a:pPr algn="l">
              <a:spcAft>
                <a:spcPts val="300"/>
              </a:spcAft>
            </a:pPr>
            <a:r>
              <a:rPr sz="1600" b="0">
                <a:solidFill>
                  <a:srgbClr val="161B26"/>
                </a:solidFill>
                <a:latin typeface="Arial"/>
              </a:rPr>
              <a:t>Desktop and phone layouts are usable, the story has three coherent points, TWBX is portable, static exports are labelled with data-as-of context, and the publish plan protects underlying data.</a:t>
            </a:r>
          </a:p>
        </p:txBody>
      </p:sp>
      <p:sp>
        <p:nvSpPr>
          <p:cNvPr id="10" name="TextBox 9"/>
          <p:cNvSpPr txBox="1"/>
          <p:nvPr/>
        </p:nvSpPr>
        <p:spPr>
          <a:xfrm>
            <a:off x="868680" y="4754880"/>
            <a:ext cx="10424160" cy="640080"/>
          </a:xfrm>
          <a:prstGeom prst="rect">
            <a:avLst/>
          </a:prstGeom>
          <a:noFill/>
        </p:spPr>
        <p:txBody>
          <a:bodyPr wrap="square" anchor="t" lIns="54864" rIns="54864" tIns="54864" bIns="54864">
            <a:spAutoFit/>
          </a:bodyPr>
          <a:lstStyle/>
          <a:p>
            <a:pPr algn="ctr">
              <a:spcAft>
                <a:spcPts val="300"/>
              </a:spcAft>
            </a:pPr>
            <a:r>
              <a:rPr sz="1300" b="0">
                <a:solidFill>
                  <a:srgbClr val="5B6372"/>
                </a:solidFill>
                <a:latin typeface="Arial"/>
              </a:rPr>
              <a:t>Submit the Tableau workbook, requested screenshots/exports and completed acceptance-checklist.md from the lab folder.</a:t>
            </a:r>
          </a:p>
        </p:txBody>
      </p:sp>
      <p:sp>
        <p:nvSpPr>
          <p:cNvPr id="11" name="TextBox 10"/>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12" name="TextBox 11"/>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13" name="TextBox 12"/>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131</a:t>
            </a:r>
          </a:p>
        </p:txBody>
      </p:sp>
    </p:spTree>
  </p:cSld>
  <p:clrMapOvr>
    <a:masterClrMapping/>
  </p:clrMapOvr>
  <p:transition spd="fast">
    <p:fade/>
  </p:transition>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37744"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47472"/>
            <a:ext cx="10698480" cy="292608"/>
          </a:xfrm>
          <a:prstGeom prst="rect">
            <a:avLst/>
          </a:prstGeom>
          <a:noFill/>
        </p:spPr>
        <p:txBody>
          <a:bodyPr wrap="square" anchor="t" lIns="54864" rIns="54864" tIns="54864" bIns="54864">
            <a:spAutoFit/>
          </a:bodyPr>
          <a:lstStyle/>
          <a:p>
            <a:pPr algn="l">
              <a:spcAft>
                <a:spcPts val="300"/>
              </a:spcAft>
            </a:pPr>
            <a:r>
              <a:rPr sz="1200" b="1">
                <a:solidFill>
                  <a:srgbClr val="7C3AED"/>
                </a:solidFill>
                <a:latin typeface="Arial"/>
              </a:rPr>
              <a:t>RECAP</a:t>
            </a:r>
          </a:p>
        </p:txBody>
      </p:sp>
      <p:sp>
        <p:nvSpPr>
          <p:cNvPr id="5" name="TextBox 4"/>
          <p:cNvSpPr txBox="1"/>
          <p:nvPr/>
        </p:nvSpPr>
        <p:spPr>
          <a:xfrm>
            <a:off x="749808" y="713232"/>
            <a:ext cx="10744200" cy="731520"/>
          </a:xfrm>
          <a:prstGeom prst="rect">
            <a:avLst/>
          </a:prstGeom>
          <a:noFill/>
        </p:spPr>
        <p:txBody>
          <a:bodyPr wrap="square" anchor="ctr" lIns="54864" rIns="54864" tIns="54864" bIns="54864">
            <a:spAutoFit/>
          </a:bodyPr>
          <a:lstStyle/>
          <a:p>
            <a:pPr algn="l">
              <a:spcAft>
                <a:spcPts val="300"/>
              </a:spcAft>
            </a:pPr>
            <a:r>
              <a:rPr sz="2700" b="1">
                <a:solidFill>
                  <a:srgbClr val="161B26"/>
                </a:solidFill>
                <a:latin typeface="Arial"/>
              </a:rPr>
              <a:t>Topic 03 — Exam Check</a:t>
            </a:r>
          </a:p>
        </p:txBody>
      </p:sp>
      <p:sp>
        <p:nvSpPr>
          <p:cNvPr id="6" name="Rectangle 5"/>
          <p:cNvSpPr/>
          <p:nvPr/>
        </p:nvSpPr>
        <p:spPr>
          <a:xfrm>
            <a:off x="749808" y="1536192"/>
            <a:ext cx="106984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8096"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68096" y="1764792"/>
            <a:ext cx="82296" cy="206197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96695" y="2548890"/>
            <a:ext cx="493776" cy="49377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5"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1</a:t>
            </a:r>
          </a:p>
        </p:txBody>
      </p:sp>
      <p:sp>
        <p:nvSpPr>
          <p:cNvPr id="11" name="TextBox 10"/>
          <p:cNvSpPr txBox="1"/>
          <p:nvPr/>
        </p:nvSpPr>
        <p:spPr>
          <a:xfrm>
            <a:off x="1664207"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Explain</a:t>
            </a:r>
          </a:p>
          <a:p>
            <a:pPr algn="l">
              <a:spcAft>
                <a:spcPts val="300"/>
              </a:spcAft>
            </a:pPr>
            <a:r>
              <a:rPr sz="1200" b="0">
                <a:solidFill>
                  <a:srgbClr val="5B6372"/>
                </a:solidFill>
                <a:latin typeface="Arial"/>
              </a:rPr>
              <a:t>Define the key ideas in sharing insights with dashboards and workbooks.</a:t>
            </a:r>
          </a:p>
        </p:txBody>
      </p:sp>
      <p:sp>
        <p:nvSpPr>
          <p:cNvPr id="12" name="Rectangle 11"/>
          <p:cNvSpPr/>
          <p:nvPr/>
        </p:nvSpPr>
        <p:spPr>
          <a:xfrm>
            <a:off x="6222492"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22492" y="1764792"/>
            <a:ext cx="82296" cy="206197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51092" y="2548890"/>
            <a:ext cx="493776" cy="49377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51092"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2</a:t>
            </a:r>
          </a:p>
        </p:txBody>
      </p:sp>
      <p:sp>
        <p:nvSpPr>
          <p:cNvPr id="16" name="TextBox 15"/>
          <p:cNvSpPr txBox="1"/>
          <p:nvPr/>
        </p:nvSpPr>
        <p:spPr>
          <a:xfrm>
            <a:off x="7118604"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Choose</a:t>
            </a:r>
          </a:p>
          <a:p>
            <a:pPr algn="l">
              <a:spcAft>
                <a:spcPts val="300"/>
              </a:spcAft>
            </a:pPr>
            <a:r>
              <a:rPr sz="1200" b="0">
                <a:solidFill>
                  <a:srgbClr val="5B6372"/>
                </a:solidFill>
                <a:latin typeface="Arial"/>
              </a:rPr>
              <a:t>Select the right feature from a short business scenario.</a:t>
            </a:r>
          </a:p>
        </p:txBody>
      </p:sp>
      <p:sp>
        <p:nvSpPr>
          <p:cNvPr id="17" name="Rectangle 16"/>
          <p:cNvSpPr/>
          <p:nvPr/>
        </p:nvSpPr>
        <p:spPr>
          <a:xfrm>
            <a:off x="768096"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68096" y="4046220"/>
            <a:ext cx="82296" cy="206197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96695" y="4830318"/>
            <a:ext cx="493776" cy="49377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96695"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3</a:t>
            </a:r>
          </a:p>
        </p:txBody>
      </p:sp>
      <p:sp>
        <p:nvSpPr>
          <p:cNvPr id="21" name="TextBox 20"/>
          <p:cNvSpPr txBox="1"/>
          <p:nvPr/>
        </p:nvSpPr>
        <p:spPr>
          <a:xfrm>
            <a:off x="1664207"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Predict</a:t>
            </a:r>
          </a:p>
          <a:p>
            <a:pPr algn="l">
              <a:spcAft>
                <a:spcPts val="300"/>
              </a:spcAft>
            </a:pPr>
            <a:r>
              <a:rPr sz="1200" b="0">
                <a:solidFill>
                  <a:srgbClr val="5B6372"/>
                </a:solidFill>
                <a:latin typeface="Arial"/>
              </a:rPr>
              <a:t>Reason about the result of shelf, model or formatting changes.</a:t>
            </a:r>
          </a:p>
        </p:txBody>
      </p:sp>
      <p:sp>
        <p:nvSpPr>
          <p:cNvPr id="22" name="Rectangle 21"/>
          <p:cNvSpPr/>
          <p:nvPr/>
        </p:nvSpPr>
        <p:spPr>
          <a:xfrm>
            <a:off x="6222492"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22492" y="4046220"/>
            <a:ext cx="82296" cy="206197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51092" y="4830318"/>
            <a:ext cx="493776" cy="49377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51092"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4</a:t>
            </a:r>
          </a:p>
        </p:txBody>
      </p:sp>
      <p:sp>
        <p:nvSpPr>
          <p:cNvPr id="26" name="TextBox 25"/>
          <p:cNvSpPr txBox="1"/>
          <p:nvPr/>
        </p:nvSpPr>
        <p:spPr>
          <a:xfrm>
            <a:off x="7118604"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Prove</a:t>
            </a:r>
          </a:p>
          <a:p>
            <a:pPr algn="l">
              <a:spcAft>
                <a:spcPts val="300"/>
              </a:spcAft>
            </a:pPr>
            <a:r>
              <a:rPr sz="1200" b="0">
                <a:solidFill>
                  <a:srgbClr val="5B6372"/>
                </a:solidFill>
                <a:latin typeface="Arial"/>
              </a:rPr>
              <a:t>Use the lab workbook and acceptance evidence to validate the outcome.</a:t>
            </a:r>
          </a:p>
        </p:txBody>
      </p:sp>
      <p:sp>
        <p:nvSpPr>
          <p:cNvPr id="27" name="TextBox 26"/>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28" name="TextBox 27"/>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29" name="TextBox 28"/>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132</a:t>
            </a:r>
          </a:p>
        </p:txBody>
      </p:sp>
    </p:spTree>
  </p:cSld>
  <p:clrMapOvr>
    <a:masterClrMapping/>
  </p:clrMapOvr>
  <p:transition spd="fast">
    <p:fade/>
  </p:transition>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148840"/>
            <a:ext cx="109728" cy="19659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148840"/>
            <a:ext cx="9601200" cy="365760"/>
          </a:xfrm>
          <a:prstGeom prst="rect">
            <a:avLst/>
          </a:prstGeom>
          <a:noFill/>
        </p:spPr>
        <p:txBody>
          <a:bodyPr wrap="square" anchor="t" lIns="54864" rIns="54864" tIns="54864" bIns="54864">
            <a:spAutoFit/>
          </a:bodyPr>
          <a:lstStyle/>
          <a:p>
            <a:pPr algn="l">
              <a:spcAft>
                <a:spcPts val="300"/>
              </a:spcAft>
            </a:pPr>
            <a:r>
              <a:rPr sz="1600" b="1">
                <a:solidFill>
                  <a:srgbClr val="1F6FEB"/>
                </a:solidFill>
                <a:latin typeface="Arial"/>
              </a:rPr>
              <a:t>TOPIC 04</a:t>
            </a:r>
          </a:p>
        </p:txBody>
      </p:sp>
      <p:sp>
        <p:nvSpPr>
          <p:cNvPr id="6" name="TextBox 5"/>
          <p:cNvSpPr txBox="1"/>
          <p:nvPr/>
        </p:nvSpPr>
        <p:spPr>
          <a:xfrm>
            <a:off x="1143000" y="2560320"/>
            <a:ext cx="9875520" cy="1463040"/>
          </a:xfrm>
          <a:prstGeom prst="rect">
            <a:avLst/>
          </a:prstGeom>
          <a:noFill/>
        </p:spPr>
        <p:txBody>
          <a:bodyPr wrap="square" anchor="ctr" lIns="54864" rIns="54864" tIns="54864" bIns="54864">
            <a:spAutoFit/>
          </a:bodyPr>
          <a:lstStyle/>
          <a:p>
            <a:pPr algn="l">
              <a:spcAft>
                <a:spcPts val="300"/>
              </a:spcAft>
            </a:pPr>
            <a:r>
              <a:rPr sz="3000" b="1">
                <a:solidFill>
                  <a:srgbClr val="161B26"/>
                </a:solidFill>
                <a:latin typeface="Arial"/>
              </a:rPr>
              <a:t>Understanding Tableau Concepts and Certification Preparation</a:t>
            </a:r>
          </a:p>
        </p:txBody>
      </p:sp>
      <p:sp>
        <p:nvSpPr>
          <p:cNvPr id="7" name="TextBox 6"/>
          <p:cNvSpPr txBox="1"/>
          <p:nvPr/>
        </p:nvSpPr>
        <p:spPr>
          <a:xfrm>
            <a:off x="1161288" y="4160520"/>
            <a:ext cx="9692640" cy="640080"/>
          </a:xfrm>
          <a:prstGeom prst="rect">
            <a:avLst/>
          </a:prstGeom>
          <a:noFill/>
        </p:spPr>
        <p:txBody>
          <a:bodyPr wrap="square" anchor="t" lIns="54864" rIns="54864" tIns="54864" bIns="54864">
            <a:spAutoFit/>
          </a:bodyPr>
          <a:lstStyle/>
          <a:p>
            <a:pPr algn="l">
              <a:spcAft>
                <a:spcPts val="300"/>
              </a:spcAft>
            </a:pPr>
            <a:r>
              <a:rPr sz="1500" b="0">
                <a:solidFill>
                  <a:srgbClr val="5B6372"/>
                </a:solidFill>
                <a:latin typeface="Arial"/>
              </a:rPr>
              <a:t>Official exam weighting 15% · Dimensions · measures · discrete · continuous · aggregation · exam strategy</a:t>
            </a:r>
          </a:p>
        </p:txBody>
      </p:sp>
      <p:sp>
        <p:nvSpPr>
          <p:cNvPr id="8" name="TextBox 7"/>
          <p:cNvSpPr txBox="1"/>
          <p:nvPr/>
        </p:nvSpPr>
        <p:spPr>
          <a:xfrm>
            <a:off x="9235440" y="594360"/>
            <a:ext cx="2286000" cy="1371600"/>
          </a:xfrm>
          <a:prstGeom prst="rect">
            <a:avLst/>
          </a:prstGeom>
          <a:noFill/>
        </p:spPr>
        <p:txBody>
          <a:bodyPr wrap="square" anchor="t" lIns="54864" rIns="54864" tIns="54864" bIns="54864">
            <a:spAutoFit/>
          </a:bodyPr>
          <a:lstStyle/>
          <a:p>
            <a:pPr algn="r">
              <a:spcAft>
                <a:spcPts val="300"/>
              </a:spcAft>
            </a:pPr>
            <a:r>
              <a:rPr sz="6400" b="1">
                <a:solidFill>
                  <a:srgbClr val="E2E8F0"/>
                </a:solidFill>
                <a:latin typeface="Arial"/>
              </a:rPr>
              <a:t>04</a:t>
            </a:r>
          </a:p>
        </p:txBody>
      </p:sp>
      <p:sp>
        <p:nvSpPr>
          <p:cNvPr id="9" name="TextBox 8"/>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10" name="TextBox 9"/>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11" name="TextBox 10"/>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133</a:t>
            </a:r>
          </a:p>
        </p:txBody>
      </p:sp>
    </p:spTree>
  </p:cSld>
  <p:clrMapOvr>
    <a:masterClrMapping/>
  </p:clrMapOvr>
  <p:transition spd="fast">
    <p:fade/>
  </p:transition>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37744"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47472"/>
            <a:ext cx="10698480" cy="292608"/>
          </a:xfrm>
          <a:prstGeom prst="rect">
            <a:avLst/>
          </a:prstGeom>
          <a:noFill/>
        </p:spPr>
        <p:txBody>
          <a:bodyPr wrap="square" anchor="t" lIns="54864" rIns="54864" tIns="54864" bIns="54864">
            <a:spAutoFit/>
          </a:bodyPr>
          <a:lstStyle/>
          <a:p>
            <a:pPr algn="l">
              <a:spcAft>
                <a:spcPts val="300"/>
              </a:spcAft>
            </a:pPr>
            <a:r>
              <a:rPr sz="1200" b="1">
                <a:solidFill>
                  <a:srgbClr val="F59E0B"/>
                </a:solidFill>
                <a:latin typeface="Arial"/>
              </a:rPr>
              <a:t>EXAM WEIGHTING 15%</a:t>
            </a:r>
          </a:p>
        </p:txBody>
      </p:sp>
      <p:sp>
        <p:nvSpPr>
          <p:cNvPr id="5" name="TextBox 4"/>
          <p:cNvSpPr txBox="1"/>
          <p:nvPr/>
        </p:nvSpPr>
        <p:spPr>
          <a:xfrm>
            <a:off x="749808" y="713232"/>
            <a:ext cx="10744200" cy="731520"/>
          </a:xfrm>
          <a:prstGeom prst="rect">
            <a:avLst/>
          </a:prstGeom>
          <a:noFill/>
        </p:spPr>
        <p:txBody>
          <a:bodyPr wrap="square" anchor="ctr" lIns="54864" rIns="54864" tIns="54864" bIns="54864">
            <a:spAutoFit/>
          </a:bodyPr>
          <a:lstStyle/>
          <a:p>
            <a:pPr algn="l">
              <a:spcAft>
                <a:spcPts val="300"/>
              </a:spcAft>
            </a:pPr>
            <a:r>
              <a:rPr sz="2700" b="1">
                <a:solidFill>
                  <a:srgbClr val="161B26"/>
                </a:solidFill>
                <a:latin typeface="Arial"/>
              </a:rPr>
              <a:t>Topic 04 — Core Ideas</a:t>
            </a:r>
          </a:p>
        </p:txBody>
      </p:sp>
      <p:sp>
        <p:nvSpPr>
          <p:cNvPr id="6" name="Rectangle 5"/>
          <p:cNvSpPr/>
          <p:nvPr/>
        </p:nvSpPr>
        <p:spPr>
          <a:xfrm>
            <a:off x="749808" y="1536192"/>
            <a:ext cx="106984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8096"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68096" y="1764792"/>
            <a:ext cx="82296" cy="206197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96695" y="2548890"/>
            <a:ext cx="493776" cy="49377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5"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1</a:t>
            </a:r>
          </a:p>
        </p:txBody>
      </p:sp>
      <p:sp>
        <p:nvSpPr>
          <p:cNvPr id="11" name="TextBox 10"/>
          <p:cNvSpPr txBox="1"/>
          <p:nvPr/>
        </p:nvSpPr>
        <p:spPr>
          <a:xfrm>
            <a:off x="1664207"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Role and type differ</a:t>
            </a:r>
          </a:p>
          <a:p>
            <a:pPr algn="l">
              <a:spcAft>
                <a:spcPts val="300"/>
              </a:spcAft>
            </a:pPr>
            <a:r>
              <a:rPr sz="1200" b="0">
                <a:solidFill>
                  <a:srgbClr val="5B6372"/>
                </a:solidFill>
                <a:latin typeface="Arial"/>
              </a:rPr>
              <a:t>Dimension/measure is analytical role; discrete/continuous is display behaviour.</a:t>
            </a:r>
          </a:p>
        </p:txBody>
      </p:sp>
      <p:sp>
        <p:nvSpPr>
          <p:cNvPr id="12" name="Rectangle 11"/>
          <p:cNvSpPr/>
          <p:nvPr/>
        </p:nvSpPr>
        <p:spPr>
          <a:xfrm>
            <a:off x="6222492"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22492" y="1764792"/>
            <a:ext cx="82296" cy="206197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51092" y="2548890"/>
            <a:ext cx="493776" cy="49377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51092"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2</a:t>
            </a:r>
          </a:p>
        </p:txBody>
      </p:sp>
      <p:sp>
        <p:nvSpPr>
          <p:cNvPr id="16" name="TextBox 15"/>
          <p:cNvSpPr txBox="1"/>
          <p:nvPr/>
        </p:nvSpPr>
        <p:spPr>
          <a:xfrm>
            <a:off x="7118604"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Blue and green</a:t>
            </a:r>
          </a:p>
          <a:p>
            <a:pPr algn="l">
              <a:spcAft>
                <a:spcPts val="300"/>
              </a:spcAft>
            </a:pPr>
            <a:r>
              <a:rPr sz="1200" b="0">
                <a:solidFill>
                  <a:srgbClr val="5B6372"/>
                </a:solidFill>
                <a:latin typeface="Arial"/>
              </a:rPr>
              <a:t>Blue discrete pills make headers; green continuous pills make axes.</a:t>
            </a:r>
          </a:p>
        </p:txBody>
      </p:sp>
      <p:sp>
        <p:nvSpPr>
          <p:cNvPr id="17" name="Rectangle 16"/>
          <p:cNvSpPr/>
          <p:nvPr/>
        </p:nvSpPr>
        <p:spPr>
          <a:xfrm>
            <a:off x="768096"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68096" y="4046220"/>
            <a:ext cx="82296" cy="206197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96695" y="4830318"/>
            <a:ext cx="493776" cy="49377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96695"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3</a:t>
            </a:r>
          </a:p>
        </p:txBody>
      </p:sp>
      <p:sp>
        <p:nvSpPr>
          <p:cNvPr id="21" name="TextBox 20"/>
          <p:cNvSpPr txBox="1"/>
          <p:nvPr/>
        </p:nvSpPr>
        <p:spPr>
          <a:xfrm>
            <a:off x="1664207"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Aggregation follows grain</a:t>
            </a:r>
          </a:p>
          <a:p>
            <a:pPr algn="l">
              <a:spcAft>
                <a:spcPts val="300"/>
              </a:spcAft>
            </a:pPr>
            <a:r>
              <a:rPr sz="1200" b="0">
                <a:solidFill>
                  <a:srgbClr val="5B6372"/>
                </a:solidFill>
                <a:latin typeface="Arial"/>
              </a:rPr>
              <a:t>Measures aggregate at the level defined by dimensions.</a:t>
            </a:r>
          </a:p>
        </p:txBody>
      </p:sp>
      <p:sp>
        <p:nvSpPr>
          <p:cNvPr id="22" name="Rectangle 21"/>
          <p:cNvSpPr/>
          <p:nvPr/>
        </p:nvSpPr>
        <p:spPr>
          <a:xfrm>
            <a:off x="6222492"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22492" y="4046220"/>
            <a:ext cx="82296" cy="206197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51092" y="4830318"/>
            <a:ext cx="493776" cy="49377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51092"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4</a:t>
            </a:r>
          </a:p>
        </p:txBody>
      </p:sp>
      <p:sp>
        <p:nvSpPr>
          <p:cNvPr id="26" name="TextBox 25"/>
          <p:cNvSpPr txBox="1"/>
          <p:nvPr/>
        </p:nvSpPr>
        <p:spPr>
          <a:xfrm>
            <a:off x="7118604"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Reason from consequences</a:t>
            </a:r>
          </a:p>
          <a:p>
            <a:pPr algn="l">
              <a:spcAft>
                <a:spcPts val="300"/>
              </a:spcAft>
            </a:pPr>
            <a:r>
              <a:rPr sz="1200" b="0">
                <a:solidFill>
                  <a:srgbClr val="5B6372"/>
                </a:solidFill>
                <a:latin typeface="Arial"/>
              </a:rPr>
              <a:t>Use pill colour, shelf placement, grain and order of operations.</a:t>
            </a:r>
          </a:p>
        </p:txBody>
      </p:sp>
      <p:sp>
        <p:nvSpPr>
          <p:cNvPr id="27" name="TextBox 26"/>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28" name="TextBox 27"/>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29" name="TextBox 28"/>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134</a:t>
            </a:r>
          </a:p>
        </p:txBody>
      </p:sp>
    </p:spTree>
  </p:cSld>
  <p:clrMapOvr>
    <a:masterClrMapping/>
  </p:clrMapOvr>
  <p:transition spd="fast">
    <p:fade/>
  </p:transition>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37744"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47472"/>
            <a:ext cx="10698480" cy="292608"/>
          </a:xfrm>
          <a:prstGeom prst="rect">
            <a:avLst/>
          </a:prstGeom>
          <a:noFill/>
        </p:spPr>
        <p:txBody>
          <a:bodyPr wrap="square" anchor="t" lIns="54864" rIns="54864" tIns="54864" bIns="54864">
            <a:spAutoFit/>
          </a:bodyPr>
          <a:lstStyle/>
          <a:p>
            <a:pPr algn="l">
              <a:spcAft>
                <a:spcPts val="300"/>
              </a:spcAft>
            </a:pPr>
            <a:r>
              <a:rPr sz="1200" b="1">
                <a:solidFill>
                  <a:srgbClr val="F59E0B"/>
                </a:solidFill>
                <a:latin typeface="Arial"/>
              </a:rPr>
              <a:t>OFFICIAL SCOPE</a:t>
            </a:r>
          </a:p>
        </p:txBody>
      </p:sp>
      <p:sp>
        <p:nvSpPr>
          <p:cNvPr id="5" name="TextBox 4"/>
          <p:cNvSpPr txBox="1"/>
          <p:nvPr/>
        </p:nvSpPr>
        <p:spPr>
          <a:xfrm>
            <a:off x="749808" y="713232"/>
            <a:ext cx="10744200" cy="731520"/>
          </a:xfrm>
          <a:prstGeom prst="rect">
            <a:avLst/>
          </a:prstGeom>
          <a:noFill/>
        </p:spPr>
        <p:txBody>
          <a:bodyPr wrap="square" anchor="ctr" lIns="54864" rIns="54864" tIns="54864" bIns="54864">
            <a:spAutoFit/>
          </a:bodyPr>
          <a:lstStyle/>
          <a:p>
            <a:pPr algn="l">
              <a:spcAft>
                <a:spcPts val="300"/>
              </a:spcAft>
            </a:pPr>
            <a:r>
              <a:rPr sz="2700" b="1">
                <a:solidFill>
                  <a:srgbClr val="161B26"/>
                </a:solidFill>
                <a:latin typeface="Arial"/>
              </a:rPr>
              <a:t>Topic 04 Blueprint</a:t>
            </a:r>
          </a:p>
        </p:txBody>
      </p:sp>
      <p:sp>
        <p:nvSpPr>
          <p:cNvPr id="6" name="Rectangle 5"/>
          <p:cNvSpPr/>
          <p:nvPr/>
        </p:nvSpPr>
        <p:spPr>
          <a:xfrm>
            <a:off x="749808" y="1536192"/>
            <a:ext cx="106984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8096" y="1783080"/>
            <a:ext cx="3550920" cy="108585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1801368"/>
            <a:ext cx="3477768" cy="1049274"/>
          </a:xfrm>
          <a:prstGeom prst="rect">
            <a:avLst/>
          </a:prstGeom>
          <a:noFill/>
        </p:spPr>
        <p:txBody>
          <a:bodyPr wrap="square" anchor="ctr" lIns="54864" rIns="54864" tIns="54864" bIns="54864">
            <a:spAutoFit/>
          </a:bodyPr>
          <a:lstStyle/>
          <a:p>
            <a:pPr algn="ctr">
              <a:spcAft>
                <a:spcPts val="300"/>
              </a:spcAft>
            </a:pPr>
            <a:r>
              <a:rPr sz="1150" b="1">
                <a:solidFill>
                  <a:srgbClr val="FFFFFF"/>
                </a:solidFill>
                <a:latin typeface="Arial"/>
              </a:rPr>
              <a:t>Objective group</a:t>
            </a:r>
          </a:p>
        </p:txBody>
      </p:sp>
      <p:sp>
        <p:nvSpPr>
          <p:cNvPr id="9" name="Rectangle 8"/>
          <p:cNvSpPr/>
          <p:nvPr/>
        </p:nvSpPr>
        <p:spPr>
          <a:xfrm>
            <a:off x="4319016" y="1783080"/>
            <a:ext cx="3550920" cy="108585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355592" y="1801368"/>
            <a:ext cx="3477768" cy="1049274"/>
          </a:xfrm>
          <a:prstGeom prst="rect">
            <a:avLst/>
          </a:prstGeom>
          <a:noFill/>
        </p:spPr>
        <p:txBody>
          <a:bodyPr wrap="square" anchor="ctr" lIns="54864" rIns="54864" tIns="54864" bIns="54864">
            <a:spAutoFit/>
          </a:bodyPr>
          <a:lstStyle/>
          <a:p>
            <a:pPr algn="ctr">
              <a:spcAft>
                <a:spcPts val="300"/>
              </a:spcAft>
            </a:pPr>
            <a:r>
              <a:rPr sz="1150" b="1">
                <a:solidFill>
                  <a:srgbClr val="FFFFFF"/>
                </a:solidFill>
                <a:latin typeface="Arial"/>
              </a:rPr>
              <a:t>Codes</a:t>
            </a:r>
          </a:p>
        </p:txBody>
      </p:sp>
      <p:sp>
        <p:nvSpPr>
          <p:cNvPr id="11" name="Rectangle 10"/>
          <p:cNvSpPr/>
          <p:nvPr/>
        </p:nvSpPr>
        <p:spPr>
          <a:xfrm>
            <a:off x="7869936" y="1783080"/>
            <a:ext cx="3550920" cy="108585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906512" y="1801368"/>
            <a:ext cx="3477768" cy="1049274"/>
          </a:xfrm>
          <a:prstGeom prst="rect">
            <a:avLst/>
          </a:prstGeom>
          <a:noFill/>
        </p:spPr>
        <p:txBody>
          <a:bodyPr wrap="square" anchor="ctr" lIns="54864" rIns="54864" tIns="54864" bIns="54864">
            <a:spAutoFit/>
          </a:bodyPr>
          <a:lstStyle/>
          <a:p>
            <a:pPr algn="ctr">
              <a:spcAft>
                <a:spcPts val="300"/>
              </a:spcAft>
            </a:pPr>
            <a:r>
              <a:rPr sz="1150" b="1">
                <a:solidFill>
                  <a:srgbClr val="FFFFFF"/>
                </a:solidFill>
                <a:latin typeface="Arial"/>
              </a:rPr>
              <a:t>Objectives</a:t>
            </a:r>
          </a:p>
        </p:txBody>
      </p:sp>
      <p:sp>
        <p:nvSpPr>
          <p:cNvPr id="13" name="Rectangle 12"/>
          <p:cNvSpPr/>
          <p:nvPr/>
        </p:nvSpPr>
        <p:spPr>
          <a:xfrm>
            <a:off x="768096" y="2868930"/>
            <a:ext cx="3550920" cy="108585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 y="2887218"/>
            <a:ext cx="3441192" cy="1049274"/>
          </a:xfrm>
          <a:prstGeom prst="rect">
            <a:avLst/>
          </a:prstGeom>
          <a:noFill/>
        </p:spPr>
        <p:txBody>
          <a:bodyPr wrap="square" anchor="ctr" lIns="54864" rIns="54864" tIns="54864" bIns="54864">
            <a:spAutoFit/>
          </a:bodyPr>
          <a:lstStyle/>
          <a:p>
            <a:pPr algn="l">
              <a:spcAft>
                <a:spcPts val="300"/>
              </a:spcAft>
            </a:pPr>
            <a:r>
              <a:rPr sz="1050" b="1">
                <a:solidFill>
                  <a:srgbClr val="161B26"/>
                </a:solidFill>
                <a:latin typeface="Arial"/>
              </a:rPr>
              <a:t>Understand dimensions and measures</a:t>
            </a:r>
          </a:p>
        </p:txBody>
      </p:sp>
      <p:sp>
        <p:nvSpPr>
          <p:cNvPr id="15" name="Rectangle 14"/>
          <p:cNvSpPr/>
          <p:nvPr/>
        </p:nvSpPr>
        <p:spPr>
          <a:xfrm>
            <a:off x="4319016" y="2868930"/>
            <a:ext cx="3550920" cy="108585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73880" y="2887218"/>
            <a:ext cx="3441192" cy="1049274"/>
          </a:xfrm>
          <a:prstGeom prst="rect">
            <a:avLst/>
          </a:prstGeom>
          <a:noFill/>
        </p:spPr>
        <p:txBody>
          <a:bodyPr wrap="square" anchor="ctr" lIns="54864" rIns="54864" tIns="54864" bIns="54864">
            <a:spAutoFit/>
          </a:bodyPr>
          <a:lstStyle/>
          <a:p>
            <a:pPr algn="l">
              <a:spcAft>
                <a:spcPts val="300"/>
              </a:spcAft>
            </a:pPr>
            <a:r>
              <a:rPr sz="1050" b="0">
                <a:solidFill>
                  <a:srgbClr val="161B26"/>
                </a:solidFill>
                <a:latin typeface="Arial"/>
              </a:rPr>
              <a:t>4.1.1–4.1.3</a:t>
            </a:r>
          </a:p>
        </p:txBody>
      </p:sp>
      <p:sp>
        <p:nvSpPr>
          <p:cNvPr id="17" name="Rectangle 16"/>
          <p:cNvSpPr/>
          <p:nvPr/>
        </p:nvSpPr>
        <p:spPr>
          <a:xfrm>
            <a:off x="7869936" y="2868930"/>
            <a:ext cx="3550920" cy="108585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24799" y="2887218"/>
            <a:ext cx="3441192" cy="1049274"/>
          </a:xfrm>
          <a:prstGeom prst="rect">
            <a:avLst/>
          </a:prstGeom>
          <a:noFill/>
        </p:spPr>
        <p:txBody>
          <a:bodyPr wrap="square" anchor="ctr" lIns="54864" rIns="54864" tIns="54864" bIns="54864">
            <a:spAutoFit/>
          </a:bodyPr>
          <a:lstStyle/>
          <a:p>
            <a:pPr algn="l">
              <a:spcAft>
                <a:spcPts val="300"/>
              </a:spcAft>
            </a:pPr>
            <a:r>
              <a:rPr sz="1050" b="0">
                <a:solidFill>
                  <a:srgbClr val="161B26"/>
                </a:solidFill>
                <a:latin typeface="Arial"/>
              </a:rPr>
              <a:t>3</a:t>
            </a:r>
          </a:p>
        </p:txBody>
      </p:sp>
      <p:sp>
        <p:nvSpPr>
          <p:cNvPr id="19" name="Rectangle 18"/>
          <p:cNvSpPr/>
          <p:nvPr/>
        </p:nvSpPr>
        <p:spPr>
          <a:xfrm>
            <a:off x="768096" y="3954780"/>
            <a:ext cx="3550920" cy="108585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60" y="3973068"/>
            <a:ext cx="3441192" cy="1049274"/>
          </a:xfrm>
          <a:prstGeom prst="rect">
            <a:avLst/>
          </a:prstGeom>
          <a:noFill/>
        </p:spPr>
        <p:txBody>
          <a:bodyPr wrap="square" anchor="ctr" lIns="54864" rIns="54864" tIns="54864" bIns="54864">
            <a:spAutoFit/>
          </a:bodyPr>
          <a:lstStyle/>
          <a:p>
            <a:pPr algn="l">
              <a:spcAft>
                <a:spcPts val="300"/>
              </a:spcAft>
            </a:pPr>
            <a:r>
              <a:rPr sz="1050" b="1">
                <a:solidFill>
                  <a:srgbClr val="161B26"/>
                </a:solidFill>
                <a:latin typeface="Arial"/>
              </a:rPr>
              <a:t>Understand discrete and continuous fields</a:t>
            </a:r>
          </a:p>
        </p:txBody>
      </p:sp>
      <p:sp>
        <p:nvSpPr>
          <p:cNvPr id="21" name="Rectangle 20"/>
          <p:cNvSpPr/>
          <p:nvPr/>
        </p:nvSpPr>
        <p:spPr>
          <a:xfrm>
            <a:off x="4319016" y="3954780"/>
            <a:ext cx="3550920" cy="108585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373880" y="3973068"/>
            <a:ext cx="3441192" cy="1049274"/>
          </a:xfrm>
          <a:prstGeom prst="rect">
            <a:avLst/>
          </a:prstGeom>
          <a:noFill/>
        </p:spPr>
        <p:txBody>
          <a:bodyPr wrap="square" anchor="ctr" lIns="54864" rIns="54864" tIns="54864" bIns="54864">
            <a:spAutoFit/>
          </a:bodyPr>
          <a:lstStyle/>
          <a:p>
            <a:pPr algn="l">
              <a:spcAft>
                <a:spcPts val="300"/>
              </a:spcAft>
            </a:pPr>
            <a:r>
              <a:rPr sz="1050" b="0">
                <a:solidFill>
                  <a:srgbClr val="161B26"/>
                </a:solidFill>
                <a:latin typeface="Arial"/>
              </a:rPr>
              <a:t>4.2.1–4.2.3</a:t>
            </a:r>
          </a:p>
        </p:txBody>
      </p:sp>
      <p:sp>
        <p:nvSpPr>
          <p:cNvPr id="23" name="Rectangle 22"/>
          <p:cNvSpPr/>
          <p:nvPr/>
        </p:nvSpPr>
        <p:spPr>
          <a:xfrm>
            <a:off x="7869936" y="3954780"/>
            <a:ext cx="3550920" cy="1085850"/>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924799" y="3973068"/>
            <a:ext cx="3441192" cy="1049274"/>
          </a:xfrm>
          <a:prstGeom prst="rect">
            <a:avLst/>
          </a:prstGeom>
          <a:noFill/>
        </p:spPr>
        <p:txBody>
          <a:bodyPr wrap="square" anchor="ctr" lIns="54864" rIns="54864" tIns="54864" bIns="54864">
            <a:spAutoFit/>
          </a:bodyPr>
          <a:lstStyle/>
          <a:p>
            <a:pPr algn="l">
              <a:spcAft>
                <a:spcPts val="300"/>
              </a:spcAft>
            </a:pPr>
            <a:r>
              <a:rPr sz="1050" b="0">
                <a:solidFill>
                  <a:srgbClr val="161B26"/>
                </a:solidFill>
                <a:latin typeface="Arial"/>
              </a:rPr>
              <a:t>3</a:t>
            </a:r>
          </a:p>
        </p:txBody>
      </p:sp>
      <p:sp>
        <p:nvSpPr>
          <p:cNvPr id="25" name="Rectangle 24"/>
          <p:cNvSpPr/>
          <p:nvPr/>
        </p:nvSpPr>
        <p:spPr>
          <a:xfrm>
            <a:off x="768096" y="5040630"/>
            <a:ext cx="3550920" cy="108585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2960" y="5058918"/>
            <a:ext cx="3441192" cy="1049274"/>
          </a:xfrm>
          <a:prstGeom prst="rect">
            <a:avLst/>
          </a:prstGeom>
          <a:noFill/>
        </p:spPr>
        <p:txBody>
          <a:bodyPr wrap="square" anchor="ctr" lIns="54864" rIns="54864" tIns="54864" bIns="54864">
            <a:spAutoFit/>
          </a:bodyPr>
          <a:lstStyle/>
          <a:p>
            <a:pPr algn="l">
              <a:spcAft>
                <a:spcPts val="300"/>
              </a:spcAft>
            </a:pPr>
            <a:r>
              <a:rPr sz="1050" b="1">
                <a:solidFill>
                  <a:srgbClr val="161B26"/>
                </a:solidFill>
                <a:latin typeface="Arial"/>
              </a:rPr>
              <a:t>Understand aggregations</a:t>
            </a:r>
          </a:p>
        </p:txBody>
      </p:sp>
      <p:sp>
        <p:nvSpPr>
          <p:cNvPr id="27" name="Rectangle 26"/>
          <p:cNvSpPr/>
          <p:nvPr/>
        </p:nvSpPr>
        <p:spPr>
          <a:xfrm>
            <a:off x="4319016" y="5040630"/>
            <a:ext cx="3550920" cy="108585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373880" y="5058918"/>
            <a:ext cx="3441192" cy="1049274"/>
          </a:xfrm>
          <a:prstGeom prst="rect">
            <a:avLst/>
          </a:prstGeom>
          <a:noFill/>
        </p:spPr>
        <p:txBody>
          <a:bodyPr wrap="square" anchor="ctr" lIns="54864" rIns="54864" tIns="54864" bIns="54864">
            <a:spAutoFit/>
          </a:bodyPr>
          <a:lstStyle/>
          <a:p>
            <a:pPr algn="l">
              <a:spcAft>
                <a:spcPts val="300"/>
              </a:spcAft>
            </a:pPr>
            <a:r>
              <a:rPr sz="1050" b="0">
                <a:solidFill>
                  <a:srgbClr val="161B26"/>
                </a:solidFill>
                <a:latin typeface="Arial"/>
              </a:rPr>
              <a:t>4.3.1–4.3.2</a:t>
            </a:r>
          </a:p>
        </p:txBody>
      </p:sp>
      <p:sp>
        <p:nvSpPr>
          <p:cNvPr id="29" name="Rectangle 28"/>
          <p:cNvSpPr/>
          <p:nvPr/>
        </p:nvSpPr>
        <p:spPr>
          <a:xfrm>
            <a:off x="7869936" y="5040630"/>
            <a:ext cx="3550920" cy="108585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924799" y="5058918"/>
            <a:ext cx="3441192" cy="1049274"/>
          </a:xfrm>
          <a:prstGeom prst="rect">
            <a:avLst/>
          </a:prstGeom>
          <a:noFill/>
        </p:spPr>
        <p:txBody>
          <a:bodyPr wrap="square" anchor="ctr" lIns="54864" rIns="54864" tIns="54864" bIns="54864">
            <a:spAutoFit/>
          </a:bodyPr>
          <a:lstStyle/>
          <a:p>
            <a:pPr algn="l">
              <a:spcAft>
                <a:spcPts val="300"/>
              </a:spcAft>
            </a:pPr>
            <a:r>
              <a:rPr sz="1050" b="0">
                <a:solidFill>
                  <a:srgbClr val="161B26"/>
                </a:solidFill>
                <a:latin typeface="Arial"/>
              </a:rPr>
              <a:t>2</a:t>
            </a:r>
          </a:p>
        </p:txBody>
      </p:sp>
      <p:sp>
        <p:nvSpPr>
          <p:cNvPr id="31" name="TextBox 30"/>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32" name="TextBox 31"/>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33" name="TextBox 32"/>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135</a:t>
            </a:r>
          </a:p>
        </p:txBody>
      </p:sp>
    </p:spTree>
  </p:cSld>
  <p:clrMapOvr>
    <a:masterClrMapping/>
  </p:clrMapOvr>
  <p:transition spd="fast">
    <p:fade/>
  </p:transition>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37744"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47472"/>
            <a:ext cx="10698480" cy="292608"/>
          </a:xfrm>
          <a:prstGeom prst="rect">
            <a:avLst/>
          </a:prstGeom>
          <a:noFill/>
        </p:spPr>
        <p:txBody>
          <a:bodyPr wrap="square" anchor="t" lIns="54864" rIns="54864" tIns="54864" bIns="54864">
            <a:spAutoFit/>
          </a:bodyPr>
          <a:lstStyle/>
          <a:p>
            <a:pPr algn="l">
              <a:spcAft>
                <a:spcPts val="300"/>
              </a:spcAft>
            </a:pPr>
            <a:r>
              <a:rPr sz="1200" b="1">
                <a:solidFill>
                  <a:srgbClr val="F59E0B"/>
                </a:solidFill>
                <a:latin typeface="Arial"/>
              </a:rPr>
              <a:t>EDITABLE POWERPOINT CHART · CONCEPT VISUAL</a:t>
            </a:r>
          </a:p>
        </p:txBody>
      </p:sp>
      <p:sp>
        <p:nvSpPr>
          <p:cNvPr id="5" name="TextBox 4"/>
          <p:cNvSpPr txBox="1"/>
          <p:nvPr/>
        </p:nvSpPr>
        <p:spPr>
          <a:xfrm>
            <a:off x="749808" y="713232"/>
            <a:ext cx="10744200" cy="731520"/>
          </a:xfrm>
          <a:prstGeom prst="rect">
            <a:avLst/>
          </a:prstGeom>
          <a:noFill/>
        </p:spPr>
        <p:txBody>
          <a:bodyPr wrap="square" anchor="ctr" lIns="54864" rIns="54864" tIns="54864" bIns="54864">
            <a:spAutoFit/>
          </a:bodyPr>
          <a:lstStyle/>
          <a:p>
            <a:pPr algn="l">
              <a:spcAft>
                <a:spcPts val="300"/>
              </a:spcAft>
            </a:pPr>
            <a:r>
              <a:rPr sz="2700" b="1">
                <a:solidFill>
                  <a:srgbClr val="161B26"/>
                </a:solidFill>
                <a:latin typeface="Arial"/>
              </a:rPr>
              <a:t>Dimensions Change the Level of Detail</a:t>
            </a:r>
          </a:p>
        </p:txBody>
      </p:sp>
      <p:sp>
        <p:nvSpPr>
          <p:cNvPr id="6" name="Rectangle 5"/>
          <p:cNvSpPr/>
          <p:nvPr/>
        </p:nvSpPr>
        <p:spPr>
          <a:xfrm>
            <a:off x="749808" y="1536192"/>
            <a:ext cx="106984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Chart 6"/>
          <p:cNvGraphicFramePr>
            <a:graphicFrameLocks noGrp="1"/>
          </p:cNvGraphicFramePr>
          <p:nvPr/>
        </p:nvGraphicFramePr>
        <p:xfrm>
          <a:off x="914400" y="1828800"/>
          <a:ext cx="10332720" cy="3886200"/>
        </p:xfrm>
        <a:graphic>
          <a:graphicData uri="http://schemas.openxmlformats.org/drawingml/2006/chart">
            <c:chart xmlns:c="http://schemas.openxmlformats.org/drawingml/2006/chart" r:id="rId2"/>
          </a:graphicData>
        </a:graphic>
      </p:graphicFrame>
      <p:sp>
        <p:nvSpPr>
          <p:cNvPr id="8" name="TextBox 7"/>
          <p:cNvSpPr txBox="1"/>
          <p:nvPr/>
        </p:nvSpPr>
        <p:spPr>
          <a:xfrm>
            <a:off x="914400" y="5760720"/>
            <a:ext cx="10241280" cy="411480"/>
          </a:xfrm>
          <a:prstGeom prst="rect">
            <a:avLst/>
          </a:prstGeom>
          <a:noFill/>
        </p:spPr>
        <p:txBody>
          <a:bodyPr wrap="square" anchor="t" lIns="54864" rIns="54864" tIns="54864" bIns="54864">
            <a:spAutoFit/>
          </a:bodyPr>
          <a:lstStyle/>
          <a:p>
            <a:pPr algn="ctr">
              <a:spcAft>
                <a:spcPts val="300"/>
              </a:spcAft>
            </a:pPr>
            <a:r>
              <a:rPr sz="1150" b="0">
                <a:solidFill>
                  <a:srgbClr val="5B6372"/>
                </a:solidFill>
                <a:latin typeface="Arial"/>
              </a:rPr>
              <a:t>Adding dimensions partitions records into finer marks; it does not create new source rows.</a:t>
            </a:r>
          </a:p>
        </p:txBody>
      </p:sp>
      <p:sp>
        <p:nvSpPr>
          <p:cNvPr id="9" name="TextBox 8"/>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10" name="TextBox 9"/>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11" name="TextBox 10"/>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136</a:t>
            </a:r>
          </a:p>
        </p:txBody>
      </p:sp>
    </p:spTree>
  </p:cSld>
  <p:clrMapOvr>
    <a:masterClrMapping/>
  </p:clrMapOvr>
  <p:transition spd="fast">
    <p:fade/>
  </p:transition>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37744"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47472"/>
            <a:ext cx="10698480" cy="292608"/>
          </a:xfrm>
          <a:prstGeom prst="rect">
            <a:avLst/>
          </a:prstGeom>
          <a:noFill/>
        </p:spPr>
        <p:txBody>
          <a:bodyPr wrap="square" anchor="t" lIns="54864" rIns="54864" tIns="54864" bIns="54864">
            <a:spAutoFit/>
          </a:bodyPr>
          <a:lstStyle/>
          <a:p>
            <a:pPr algn="l">
              <a:spcAft>
                <a:spcPts val="300"/>
              </a:spcAft>
            </a:pPr>
            <a:r>
              <a:rPr sz="1200" b="1">
                <a:solidFill>
                  <a:srgbClr val="F59E0B"/>
                </a:solidFill>
                <a:latin typeface="Arial"/>
              </a:rPr>
              <a:t>DOMAIN 4 · SECTION 1</a:t>
            </a:r>
          </a:p>
        </p:txBody>
      </p:sp>
      <p:sp>
        <p:nvSpPr>
          <p:cNvPr id="5" name="TextBox 4"/>
          <p:cNvSpPr txBox="1"/>
          <p:nvPr/>
        </p:nvSpPr>
        <p:spPr>
          <a:xfrm>
            <a:off x="749808" y="713232"/>
            <a:ext cx="10744200" cy="731520"/>
          </a:xfrm>
          <a:prstGeom prst="rect">
            <a:avLst/>
          </a:prstGeom>
          <a:noFill/>
        </p:spPr>
        <p:txBody>
          <a:bodyPr wrap="square" anchor="ctr" lIns="54864" rIns="54864" tIns="54864" bIns="54864">
            <a:spAutoFit/>
          </a:bodyPr>
          <a:lstStyle/>
          <a:p>
            <a:pPr algn="l">
              <a:spcAft>
                <a:spcPts val="300"/>
              </a:spcAft>
            </a:pPr>
            <a:r>
              <a:rPr sz="2700" b="1">
                <a:solidFill>
                  <a:srgbClr val="161B26"/>
                </a:solidFill>
                <a:latin typeface="Arial"/>
              </a:rPr>
              <a:t>Understand dimensions and measures</a:t>
            </a:r>
          </a:p>
        </p:txBody>
      </p:sp>
      <p:sp>
        <p:nvSpPr>
          <p:cNvPr id="6" name="Rectangle 5"/>
          <p:cNvSpPr/>
          <p:nvPr/>
        </p:nvSpPr>
        <p:spPr>
          <a:xfrm>
            <a:off x="749808" y="1536192"/>
            <a:ext cx="106984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8096"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68096" y="1764792"/>
            <a:ext cx="82296" cy="206197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96695" y="2548890"/>
            <a:ext cx="493776" cy="49377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5"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1</a:t>
            </a:r>
          </a:p>
        </p:txBody>
      </p:sp>
      <p:sp>
        <p:nvSpPr>
          <p:cNvPr id="11" name="TextBox 10"/>
          <p:cNvSpPr txBox="1"/>
          <p:nvPr/>
        </p:nvSpPr>
        <p:spPr>
          <a:xfrm>
            <a:off x="1664207"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Dimension</a:t>
            </a:r>
          </a:p>
          <a:p>
            <a:pPr algn="l">
              <a:spcAft>
                <a:spcPts val="300"/>
              </a:spcAft>
            </a:pPr>
            <a:r>
              <a:rPr sz="1200" b="0">
                <a:solidFill>
                  <a:srgbClr val="5B6372"/>
                </a:solidFill>
                <a:latin typeface="Arial"/>
              </a:rPr>
              <a:t>Qualitative field that slices, groups or labels marks.</a:t>
            </a:r>
          </a:p>
        </p:txBody>
      </p:sp>
      <p:sp>
        <p:nvSpPr>
          <p:cNvPr id="12" name="Rectangle 11"/>
          <p:cNvSpPr/>
          <p:nvPr/>
        </p:nvSpPr>
        <p:spPr>
          <a:xfrm>
            <a:off x="6222492"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22492" y="1764792"/>
            <a:ext cx="82296" cy="206197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51092" y="2548890"/>
            <a:ext cx="493776" cy="49377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51092"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2</a:t>
            </a:r>
          </a:p>
        </p:txBody>
      </p:sp>
      <p:sp>
        <p:nvSpPr>
          <p:cNvPr id="16" name="TextBox 15"/>
          <p:cNvSpPr txBox="1"/>
          <p:nvPr/>
        </p:nvSpPr>
        <p:spPr>
          <a:xfrm>
            <a:off x="7118604"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Measure</a:t>
            </a:r>
          </a:p>
          <a:p>
            <a:pPr algn="l">
              <a:spcAft>
                <a:spcPts val="300"/>
              </a:spcAft>
            </a:pPr>
            <a:r>
              <a:rPr sz="1200" b="0">
                <a:solidFill>
                  <a:srgbClr val="5B6372"/>
                </a:solidFill>
                <a:latin typeface="Arial"/>
              </a:rPr>
              <a:t>Quantitative field usually aggregated across dimensions.</a:t>
            </a:r>
          </a:p>
        </p:txBody>
      </p:sp>
      <p:sp>
        <p:nvSpPr>
          <p:cNvPr id="17" name="Rectangle 16"/>
          <p:cNvSpPr/>
          <p:nvPr/>
        </p:nvSpPr>
        <p:spPr>
          <a:xfrm>
            <a:off x="768096"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68096" y="4046220"/>
            <a:ext cx="82296" cy="206197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96695" y="4830318"/>
            <a:ext cx="493776" cy="49377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96695"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3</a:t>
            </a:r>
          </a:p>
        </p:txBody>
      </p:sp>
      <p:sp>
        <p:nvSpPr>
          <p:cNvPr id="21" name="TextBox 20"/>
          <p:cNvSpPr txBox="1"/>
          <p:nvPr/>
        </p:nvSpPr>
        <p:spPr>
          <a:xfrm>
            <a:off x="1664207"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Convertible role</a:t>
            </a:r>
          </a:p>
          <a:p>
            <a:pPr algn="l">
              <a:spcAft>
                <a:spcPts val="300"/>
              </a:spcAft>
            </a:pPr>
            <a:r>
              <a:rPr sz="1200" b="0">
                <a:solidFill>
                  <a:srgbClr val="5B6372"/>
                </a:solidFill>
                <a:latin typeface="Arial"/>
              </a:rPr>
              <a:t>A numeric ID may be a dimension; categories can be counted.</a:t>
            </a:r>
          </a:p>
        </p:txBody>
      </p:sp>
      <p:sp>
        <p:nvSpPr>
          <p:cNvPr id="22" name="Rectangle 21"/>
          <p:cNvSpPr/>
          <p:nvPr/>
        </p:nvSpPr>
        <p:spPr>
          <a:xfrm>
            <a:off x="6222492"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22492" y="4046220"/>
            <a:ext cx="82296" cy="206197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51092" y="4830318"/>
            <a:ext cx="493776" cy="49377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51092"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4</a:t>
            </a:r>
          </a:p>
        </p:txBody>
      </p:sp>
      <p:sp>
        <p:nvSpPr>
          <p:cNvPr id="26" name="TextBox 25"/>
          <p:cNvSpPr txBox="1"/>
          <p:nvPr/>
        </p:nvSpPr>
        <p:spPr>
          <a:xfrm>
            <a:off x="7118604"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Level of detail</a:t>
            </a:r>
          </a:p>
          <a:p>
            <a:pPr algn="l">
              <a:spcAft>
                <a:spcPts val="300"/>
              </a:spcAft>
            </a:pPr>
            <a:r>
              <a:rPr sz="1200" b="0">
                <a:solidFill>
                  <a:srgbClr val="5B6372"/>
                </a:solidFill>
                <a:latin typeface="Arial"/>
              </a:rPr>
              <a:t>Every dimension changes the granularity of marks.</a:t>
            </a:r>
          </a:p>
        </p:txBody>
      </p:sp>
      <p:sp>
        <p:nvSpPr>
          <p:cNvPr id="27" name="TextBox 26"/>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28" name="TextBox 27"/>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29" name="TextBox 28"/>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137</a:t>
            </a:r>
          </a:p>
        </p:txBody>
      </p:sp>
    </p:spTree>
  </p:cSld>
  <p:clrMapOvr>
    <a:masterClrMapping/>
  </p:clrMapOvr>
  <p:transition spd="fast">
    <p:fade/>
  </p:transition>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37744"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47472"/>
            <a:ext cx="10698480" cy="292608"/>
          </a:xfrm>
          <a:prstGeom prst="rect">
            <a:avLst/>
          </a:prstGeom>
          <a:noFill/>
        </p:spPr>
        <p:txBody>
          <a:bodyPr wrap="square" anchor="t" lIns="54864" rIns="54864" tIns="54864" bIns="54864">
            <a:spAutoFit/>
          </a:bodyPr>
          <a:lstStyle/>
          <a:p>
            <a:pPr algn="l">
              <a:spcAft>
                <a:spcPts val="300"/>
              </a:spcAft>
            </a:pPr>
            <a:r>
              <a:rPr sz="1200" b="1">
                <a:solidFill>
                  <a:srgbClr val="F59E0B"/>
                </a:solidFill>
                <a:latin typeface="Arial"/>
              </a:rPr>
              <a:t>CONCEPTUAL DECISION FLOW</a:t>
            </a:r>
          </a:p>
        </p:txBody>
      </p:sp>
      <p:sp>
        <p:nvSpPr>
          <p:cNvPr id="5" name="TextBox 4"/>
          <p:cNvSpPr txBox="1"/>
          <p:nvPr/>
        </p:nvSpPr>
        <p:spPr>
          <a:xfrm>
            <a:off x="749808" y="713232"/>
            <a:ext cx="10744200" cy="731520"/>
          </a:xfrm>
          <a:prstGeom prst="rect">
            <a:avLst/>
          </a:prstGeom>
          <a:noFill/>
        </p:spPr>
        <p:txBody>
          <a:bodyPr wrap="square" anchor="ctr" lIns="54864" rIns="54864" tIns="54864" bIns="54864">
            <a:spAutoFit/>
          </a:bodyPr>
          <a:lstStyle/>
          <a:p>
            <a:pPr algn="l">
              <a:spcAft>
                <a:spcPts val="300"/>
              </a:spcAft>
            </a:pPr>
            <a:r>
              <a:rPr sz="2700" b="1">
                <a:solidFill>
                  <a:srgbClr val="161B26"/>
                </a:solidFill>
                <a:latin typeface="Arial"/>
              </a:rPr>
              <a:t>Reasoning Pattern — Understand dimensions and measures</a:t>
            </a:r>
          </a:p>
        </p:txBody>
      </p:sp>
      <p:sp>
        <p:nvSpPr>
          <p:cNvPr id="6" name="Rectangle 5"/>
          <p:cNvSpPr/>
          <p:nvPr/>
        </p:nvSpPr>
        <p:spPr>
          <a:xfrm>
            <a:off x="749808" y="1536192"/>
            <a:ext cx="106984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8096" y="2057400"/>
            <a:ext cx="1947672" cy="2971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68096" y="2057400"/>
            <a:ext cx="194767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76172" y="2423160"/>
            <a:ext cx="731520" cy="7315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6172" y="2423160"/>
            <a:ext cx="731520" cy="731520"/>
          </a:xfrm>
          <a:prstGeom prst="rect">
            <a:avLst/>
          </a:prstGeom>
          <a:noFill/>
        </p:spPr>
        <p:txBody>
          <a:bodyPr wrap="square" anchor="ctr" lIns="54864" rIns="54864" tIns="54864" bIns="54864">
            <a:spAutoFit/>
          </a:bodyPr>
          <a:lstStyle/>
          <a:p>
            <a:pPr algn="ctr">
              <a:spcAft>
                <a:spcPts val="300"/>
              </a:spcAft>
            </a:pPr>
            <a:r>
              <a:rPr sz="2400" b="1">
                <a:solidFill>
                  <a:srgbClr val="FFFFFF"/>
                </a:solidFill>
                <a:latin typeface="Arial"/>
              </a:rPr>
              <a:t>1</a:t>
            </a:r>
          </a:p>
        </p:txBody>
      </p:sp>
      <p:sp>
        <p:nvSpPr>
          <p:cNvPr id="11" name="TextBox 10"/>
          <p:cNvSpPr txBox="1"/>
          <p:nvPr/>
        </p:nvSpPr>
        <p:spPr>
          <a:xfrm>
            <a:off x="877824" y="3429000"/>
            <a:ext cx="1728216" cy="1143000"/>
          </a:xfrm>
          <a:prstGeom prst="rect">
            <a:avLst/>
          </a:prstGeom>
          <a:noFill/>
        </p:spPr>
        <p:txBody>
          <a:bodyPr wrap="square" anchor="ctr" lIns="54864" rIns="54864" tIns="54864" bIns="54864">
            <a:spAutoFit/>
          </a:bodyPr>
          <a:lstStyle/>
          <a:p>
            <a:pPr algn="ctr">
              <a:spcAft>
                <a:spcPts val="300"/>
              </a:spcAft>
            </a:pPr>
            <a:r>
              <a:rPr sz="1250" b="0">
                <a:solidFill>
                  <a:srgbClr val="161B26"/>
                </a:solidFill>
                <a:latin typeface="Arial"/>
              </a:rPr>
              <a:t>Dimension</a:t>
            </a:r>
          </a:p>
        </p:txBody>
      </p:sp>
      <p:sp>
        <p:nvSpPr>
          <p:cNvPr id="12" name="TextBox 11"/>
          <p:cNvSpPr txBox="1"/>
          <p:nvPr/>
        </p:nvSpPr>
        <p:spPr>
          <a:xfrm>
            <a:off x="2697479" y="3246120"/>
            <a:ext cx="274320" cy="365760"/>
          </a:xfrm>
          <a:prstGeom prst="rect">
            <a:avLst/>
          </a:prstGeom>
          <a:noFill/>
        </p:spPr>
        <p:txBody>
          <a:bodyPr wrap="square" anchor="t" lIns="54864" rIns="54864" tIns="54864" bIns="54864">
            <a:spAutoFit/>
          </a:bodyPr>
          <a:lstStyle/>
          <a:p>
            <a:pPr algn="ctr">
              <a:spcAft>
                <a:spcPts val="300"/>
              </a:spcAft>
            </a:pPr>
            <a:r>
              <a:rPr sz="1200" b="1">
                <a:solidFill>
                  <a:srgbClr val="F59E0B"/>
                </a:solidFill>
                <a:latin typeface="Arial"/>
              </a:rPr>
              <a:t>▶</a:t>
            </a:r>
          </a:p>
        </p:txBody>
      </p:sp>
      <p:sp>
        <p:nvSpPr>
          <p:cNvPr id="13" name="Rectangle 12"/>
          <p:cNvSpPr/>
          <p:nvPr/>
        </p:nvSpPr>
        <p:spPr>
          <a:xfrm>
            <a:off x="2944368" y="2057400"/>
            <a:ext cx="1947672" cy="2971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44368" y="2057400"/>
            <a:ext cx="194767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52444" y="2423160"/>
            <a:ext cx="731520" cy="7315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52444" y="2423160"/>
            <a:ext cx="731520" cy="731520"/>
          </a:xfrm>
          <a:prstGeom prst="rect">
            <a:avLst/>
          </a:prstGeom>
          <a:noFill/>
        </p:spPr>
        <p:txBody>
          <a:bodyPr wrap="square" anchor="ctr" lIns="54864" rIns="54864" tIns="54864" bIns="54864">
            <a:spAutoFit/>
          </a:bodyPr>
          <a:lstStyle/>
          <a:p>
            <a:pPr algn="ctr">
              <a:spcAft>
                <a:spcPts val="300"/>
              </a:spcAft>
            </a:pPr>
            <a:r>
              <a:rPr sz="2400" b="1">
                <a:solidFill>
                  <a:srgbClr val="FFFFFF"/>
                </a:solidFill>
                <a:latin typeface="Arial"/>
              </a:rPr>
              <a:t>2</a:t>
            </a:r>
          </a:p>
        </p:txBody>
      </p:sp>
      <p:sp>
        <p:nvSpPr>
          <p:cNvPr id="17" name="TextBox 16"/>
          <p:cNvSpPr txBox="1"/>
          <p:nvPr/>
        </p:nvSpPr>
        <p:spPr>
          <a:xfrm>
            <a:off x="3054096" y="3429000"/>
            <a:ext cx="1728216" cy="1143000"/>
          </a:xfrm>
          <a:prstGeom prst="rect">
            <a:avLst/>
          </a:prstGeom>
          <a:noFill/>
        </p:spPr>
        <p:txBody>
          <a:bodyPr wrap="square" anchor="ctr" lIns="54864" rIns="54864" tIns="54864" bIns="54864">
            <a:spAutoFit/>
          </a:bodyPr>
          <a:lstStyle/>
          <a:p>
            <a:pPr algn="ctr">
              <a:spcAft>
                <a:spcPts val="300"/>
              </a:spcAft>
            </a:pPr>
            <a:r>
              <a:rPr sz="1250" b="0">
                <a:solidFill>
                  <a:srgbClr val="161B26"/>
                </a:solidFill>
                <a:latin typeface="Arial"/>
              </a:rPr>
              <a:t>Measure</a:t>
            </a:r>
          </a:p>
        </p:txBody>
      </p:sp>
      <p:sp>
        <p:nvSpPr>
          <p:cNvPr id="18" name="TextBox 17"/>
          <p:cNvSpPr txBox="1"/>
          <p:nvPr/>
        </p:nvSpPr>
        <p:spPr>
          <a:xfrm>
            <a:off x="4873752" y="3246120"/>
            <a:ext cx="274320" cy="365760"/>
          </a:xfrm>
          <a:prstGeom prst="rect">
            <a:avLst/>
          </a:prstGeom>
          <a:noFill/>
        </p:spPr>
        <p:txBody>
          <a:bodyPr wrap="square" anchor="t" lIns="54864" rIns="54864" tIns="54864" bIns="54864">
            <a:spAutoFit/>
          </a:bodyPr>
          <a:lstStyle/>
          <a:p>
            <a:pPr algn="ctr">
              <a:spcAft>
                <a:spcPts val="300"/>
              </a:spcAft>
            </a:pPr>
            <a:r>
              <a:rPr sz="1200" b="1">
                <a:solidFill>
                  <a:srgbClr val="F59E0B"/>
                </a:solidFill>
                <a:latin typeface="Arial"/>
              </a:rPr>
              <a:t>▶</a:t>
            </a:r>
          </a:p>
        </p:txBody>
      </p:sp>
      <p:sp>
        <p:nvSpPr>
          <p:cNvPr id="19" name="Rectangle 18"/>
          <p:cNvSpPr/>
          <p:nvPr/>
        </p:nvSpPr>
        <p:spPr>
          <a:xfrm>
            <a:off x="5120640" y="2057400"/>
            <a:ext cx="1947672" cy="2971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0" y="2057400"/>
            <a:ext cx="194767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28715" y="2423160"/>
            <a:ext cx="731520" cy="7315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28715" y="2423160"/>
            <a:ext cx="731520" cy="731520"/>
          </a:xfrm>
          <a:prstGeom prst="rect">
            <a:avLst/>
          </a:prstGeom>
          <a:noFill/>
        </p:spPr>
        <p:txBody>
          <a:bodyPr wrap="square" anchor="ctr" lIns="54864" rIns="54864" tIns="54864" bIns="54864">
            <a:spAutoFit/>
          </a:bodyPr>
          <a:lstStyle/>
          <a:p>
            <a:pPr algn="ctr">
              <a:spcAft>
                <a:spcPts val="300"/>
              </a:spcAft>
            </a:pPr>
            <a:r>
              <a:rPr sz="2400" b="1">
                <a:solidFill>
                  <a:srgbClr val="FFFFFF"/>
                </a:solidFill>
                <a:latin typeface="Arial"/>
              </a:rPr>
              <a:t>3</a:t>
            </a:r>
          </a:p>
        </p:txBody>
      </p:sp>
      <p:sp>
        <p:nvSpPr>
          <p:cNvPr id="23" name="TextBox 22"/>
          <p:cNvSpPr txBox="1"/>
          <p:nvPr/>
        </p:nvSpPr>
        <p:spPr>
          <a:xfrm>
            <a:off x="5230368" y="3429000"/>
            <a:ext cx="1728216" cy="1143000"/>
          </a:xfrm>
          <a:prstGeom prst="rect">
            <a:avLst/>
          </a:prstGeom>
          <a:noFill/>
        </p:spPr>
        <p:txBody>
          <a:bodyPr wrap="square" anchor="ctr" lIns="54864" rIns="54864" tIns="54864" bIns="54864">
            <a:spAutoFit/>
          </a:bodyPr>
          <a:lstStyle/>
          <a:p>
            <a:pPr algn="ctr">
              <a:spcAft>
                <a:spcPts val="300"/>
              </a:spcAft>
            </a:pPr>
            <a:r>
              <a:rPr sz="1250" b="0">
                <a:solidFill>
                  <a:srgbClr val="161B26"/>
                </a:solidFill>
                <a:latin typeface="Arial"/>
              </a:rPr>
              <a:t>Convertible role</a:t>
            </a:r>
          </a:p>
        </p:txBody>
      </p:sp>
      <p:sp>
        <p:nvSpPr>
          <p:cNvPr id="24" name="TextBox 23"/>
          <p:cNvSpPr txBox="1"/>
          <p:nvPr/>
        </p:nvSpPr>
        <p:spPr>
          <a:xfrm>
            <a:off x="7050024" y="3246120"/>
            <a:ext cx="274320" cy="365760"/>
          </a:xfrm>
          <a:prstGeom prst="rect">
            <a:avLst/>
          </a:prstGeom>
          <a:noFill/>
        </p:spPr>
        <p:txBody>
          <a:bodyPr wrap="square" anchor="t" lIns="54864" rIns="54864" tIns="54864" bIns="54864">
            <a:spAutoFit/>
          </a:bodyPr>
          <a:lstStyle/>
          <a:p>
            <a:pPr algn="ctr">
              <a:spcAft>
                <a:spcPts val="300"/>
              </a:spcAft>
            </a:pPr>
            <a:r>
              <a:rPr sz="1200" b="1">
                <a:solidFill>
                  <a:srgbClr val="F59E0B"/>
                </a:solidFill>
                <a:latin typeface="Arial"/>
              </a:rPr>
              <a:t>▶</a:t>
            </a:r>
          </a:p>
        </p:txBody>
      </p:sp>
      <p:sp>
        <p:nvSpPr>
          <p:cNvPr id="25" name="Rectangle 24"/>
          <p:cNvSpPr/>
          <p:nvPr/>
        </p:nvSpPr>
        <p:spPr>
          <a:xfrm>
            <a:off x="7296912" y="2057400"/>
            <a:ext cx="1947672" cy="2971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296912" y="2057400"/>
            <a:ext cx="194767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04988" y="2423160"/>
            <a:ext cx="731520" cy="7315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4988" y="2423160"/>
            <a:ext cx="731520" cy="731520"/>
          </a:xfrm>
          <a:prstGeom prst="rect">
            <a:avLst/>
          </a:prstGeom>
          <a:noFill/>
        </p:spPr>
        <p:txBody>
          <a:bodyPr wrap="square" anchor="ctr" lIns="54864" rIns="54864" tIns="54864" bIns="54864">
            <a:spAutoFit/>
          </a:bodyPr>
          <a:lstStyle/>
          <a:p>
            <a:pPr algn="ctr">
              <a:spcAft>
                <a:spcPts val="300"/>
              </a:spcAft>
            </a:pPr>
            <a:r>
              <a:rPr sz="2400" b="1">
                <a:solidFill>
                  <a:srgbClr val="FFFFFF"/>
                </a:solidFill>
                <a:latin typeface="Arial"/>
              </a:rPr>
              <a:t>4</a:t>
            </a:r>
          </a:p>
        </p:txBody>
      </p:sp>
      <p:sp>
        <p:nvSpPr>
          <p:cNvPr id="29" name="TextBox 28"/>
          <p:cNvSpPr txBox="1"/>
          <p:nvPr/>
        </p:nvSpPr>
        <p:spPr>
          <a:xfrm>
            <a:off x="7406640" y="3429000"/>
            <a:ext cx="1728216" cy="1143000"/>
          </a:xfrm>
          <a:prstGeom prst="rect">
            <a:avLst/>
          </a:prstGeom>
          <a:noFill/>
        </p:spPr>
        <p:txBody>
          <a:bodyPr wrap="square" anchor="ctr" lIns="54864" rIns="54864" tIns="54864" bIns="54864">
            <a:spAutoFit/>
          </a:bodyPr>
          <a:lstStyle/>
          <a:p>
            <a:pPr algn="ctr">
              <a:spcAft>
                <a:spcPts val="300"/>
              </a:spcAft>
            </a:pPr>
            <a:r>
              <a:rPr sz="1250" b="0">
                <a:solidFill>
                  <a:srgbClr val="161B26"/>
                </a:solidFill>
                <a:latin typeface="Arial"/>
              </a:rPr>
              <a:t>Level of detail</a:t>
            </a:r>
          </a:p>
        </p:txBody>
      </p:sp>
      <p:sp>
        <p:nvSpPr>
          <p:cNvPr id="30" name="TextBox 29"/>
          <p:cNvSpPr txBox="1"/>
          <p:nvPr/>
        </p:nvSpPr>
        <p:spPr>
          <a:xfrm>
            <a:off x="9226296" y="3246120"/>
            <a:ext cx="274320" cy="365760"/>
          </a:xfrm>
          <a:prstGeom prst="rect">
            <a:avLst/>
          </a:prstGeom>
          <a:noFill/>
        </p:spPr>
        <p:txBody>
          <a:bodyPr wrap="square" anchor="t" lIns="54864" rIns="54864" tIns="54864" bIns="54864">
            <a:spAutoFit/>
          </a:bodyPr>
          <a:lstStyle/>
          <a:p>
            <a:pPr algn="ctr">
              <a:spcAft>
                <a:spcPts val="300"/>
              </a:spcAft>
            </a:pPr>
            <a:r>
              <a:rPr sz="1200" b="1">
                <a:solidFill>
                  <a:srgbClr val="F59E0B"/>
                </a:solidFill>
                <a:latin typeface="Arial"/>
              </a:rPr>
              <a:t>▶</a:t>
            </a:r>
          </a:p>
        </p:txBody>
      </p:sp>
      <p:sp>
        <p:nvSpPr>
          <p:cNvPr id="31" name="Rectangle 30"/>
          <p:cNvSpPr/>
          <p:nvPr/>
        </p:nvSpPr>
        <p:spPr>
          <a:xfrm>
            <a:off x="9473184" y="2057400"/>
            <a:ext cx="1947672" cy="2971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473184" y="2057400"/>
            <a:ext cx="194767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81259" y="2423160"/>
            <a:ext cx="731520" cy="7315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81259" y="2423160"/>
            <a:ext cx="731520" cy="731520"/>
          </a:xfrm>
          <a:prstGeom prst="rect">
            <a:avLst/>
          </a:prstGeom>
          <a:noFill/>
        </p:spPr>
        <p:txBody>
          <a:bodyPr wrap="square" anchor="ctr" lIns="54864" rIns="54864" tIns="54864" bIns="54864">
            <a:spAutoFit/>
          </a:bodyPr>
          <a:lstStyle/>
          <a:p>
            <a:pPr algn="ctr">
              <a:spcAft>
                <a:spcPts val="300"/>
              </a:spcAft>
            </a:pPr>
            <a:r>
              <a:rPr sz="2400" b="1">
                <a:solidFill>
                  <a:srgbClr val="FFFFFF"/>
                </a:solidFill>
                <a:latin typeface="Arial"/>
              </a:rPr>
              <a:t>5</a:t>
            </a:r>
          </a:p>
        </p:txBody>
      </p:sp>
      <p:sp>
        <p:nvSpPr>
          <p:cNvPr id="35" name="TextBox 34"/>
          <p:cNvSpPr txBox="1"/>
          <p:nvPr/>
        </p:nvSpPr>
        <p:spPr>
          <a:xfrm>
            <a:off x="9582911" y="3429000"/>
            <a:ext cx="1728216" cy="1143000"/>
          </a:xfrm>
          <a:prstGeom prst="rect">
            <a:avLst/>
          </a:prstGeom>
          <a:noFill/>
        </p:spPr>
        <p:txBody>
          <a:bodyPr wrap="square" anchor="ctr" lIns="54864" rIns="54864" tIns="54864" bIns="54864">
            <a:spAutoFit/>
          </a:bodyPr>
          <a:lstStyle/>
          <a:p>
            <a:pPr algn="ctr">
              <a:spcAft>
                <a:spcPts val="300"/>
              </a:spcAft>
            </a:pPr>
            <a:r>
              <a:rPr sz="1250" b="0">
                <a:solidFill>
                  <a:srgbClr val="161B26"/>
                </a:solidFill>
                <a:latin typeface="Arial"/>
              </a:rPr>
              <a:t>Validate result</a:t>
            </a:r>
          </a:p>
        </p:txBody>
      </p:sp>
      <p:sp>
        <p:nvSpPr>
          <p:cNvPr id="36" name="TextBox 35"/>
          <p:cNvSpPr txBox="1"/>
          <p:nvPr/>
        </p:nvSpPr>
        <p:spPr>
          <a:xfrm>
            <a:off x="777240" y="5394960"/>
            <a:ext cx="10607040" cy="411480"/>
          </a:xfrm>
          <a:prstGeom prst="rect">
            <a:avLst/>
          </a:prstGeom>
          <a:noFill/>
        </p:spPr>
        <p:txBody>
          <a:bodyPr wrap="square" anchor="t" lIns="54864" rIns="54864" tIns="54864" bIns="54864">
            <a:spAutoFit/>
          </a:bodyPr>
          <a:lstStyle/>
          <a:p>
            <a:pPr algn="ctr">
              <a:spcAft>
                <a:spcPts val="300"/>
              </a:spcAft>
            </a:pPr>
            <a:r>
              <a:rPr sz="1250" b="0">
                <a:solidFill>
                  <a:srgbClr val="5B6372"/>
                </a:solidFill>
                <a:latin typeface="Arial"/>
              </a:rPr>
              <a:t>This is a reasoning map, not a click-by-click lab procedure.</a:t>
            </a:r>
          </a:p>
        </p:txBody>
      </p:sp>
      <p:sp>
        <p:nvSpPr>
          <p:cNvPr id="37" name="TextBox 36"/>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38" name="TextBox 37"/>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39" name="TextBox 38"/>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138</a:t>
            </a:r>
          </a:p>
        </p:txBody>
      </p:sp>
    </p:spTree>
  </p:cSld>
  <p:clrMapOvr>
    <a:masterClrMapping/>
  </p:clrMapOvr>
  <p:transition spd="fast">
    <p:fade/>
  </p:transition>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37744"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47472"/>
            <a:ext cx="10698480" cy="292608"/>
          </a:xfrm>
          <a:prstGeom prst="rect">
            <a:avLst/>
          </a:prstGeom>
          <a:noFill/>
        </p:spPr>
        <p:txBody>
          <a:bodyPr wrap="square" anchor="t" lIns="54864" rIns="54864" tIns="54864" bIns="54864">
            <a:spAutoFit/>
          </a:bodyPr>
          <a:lstStyle/>
          <a:p>
            <a:pPr algn="l">
              <a:spcAft>
                <a:spcPts val="300"/>
              </a:spcAft>
            </a:pPr>
            <a:r>
              <a:rPr sz="1200" b="1">
                <a:solidFill>
                  <a:srgbClr val="F59E0B"/>
                </a:solidFill>
                <a:latin typeface="Arial"/>
              </a:rPr>
              <a:t>OFFICIAL OBJECTIVE · DOMAIN 4</a:t>
            </a:r>
          </a:p>
        </p:txBody>
      </p:sp>
      <p:sp>
        <p:nvSpPr>
          <p:cNvPr id="5" name="TextBox 4"/>
          <p:cNvSpPr txBox="1"/>
          <p:nvPr/>
        </p:nvSpPr>
        <p:spPr>
          <a:xfrm>
            <a:off x="749808" y="713232"/>
            <a:ext cx="10744200" cy="731520"/>
          </a:xfrm>
          <a:prstGeom prst="rect">
            <a:avLst/>
          </a:prstGeom>
          <a:noFill/>
        </p:spPr>
        <p:txBody>
          <a:bodyPr wrap="square" anchor="ctr" lIns="54864" rIns="54864" tIns="54864" bIns="54864">
            <a:spAutoFit/>
          </a:bodyPr>
          <a:lstStyle/>
          <a:p>
            <a:pPr algn="l">
              <a:spcAft>
                <a:spcPts val="300"/>
              </a:spcAft>
            </a:pPr>
            <a:r>
              <a:rPr sz="2700" b="1">
                <a:solidFill>
                  <a:srgbClr val="161B26"/>
                </a:solidFill>
                <a:latin typeface="Arial"/>
              </a:rPr>
              <a:t>4.1.1 · What dimensions contain</a:t>
            </a:r>
          </a:p>
        </p:txBody>
      </p:sp>
      <p:sp>
        <p:nvSpPr>
          <p:cNvPr id="6" name="Rectangle 5"/>
          <p:cNvSpPr/>
          <p:nvPr/>
        </p:nvSpPr>
        <p:spPr>
          <a:xfrm>
            <a:off x="749808" y="1536192"/>
            <a:ext cx="106984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8096"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68096" y="1764792"/>
            <a:ext cx="82296" cy="206197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96695" y="2548890"/>
            <a:ext cx="493776" cy="49377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5"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1</a:t>
            </a:r>
          </a:p>
        </p:txBody>
      </p:sp>
      <p:sp>
        <p:nvSpPr>
          <p:cNvPr id="11" name="TextBox 10"/>
          <p:cNvSpPr txBox="1"/>
          <p:nvPr/>
        </p:nvSpPr>
        <p:spPr>
          <a:xfrm>
            <a:off x="1664207"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What it means</a:t>
            </a:r>
          </a:p>
          <a:p>
            <a:pPr algn="l">
              <a:spcAft>
                <a:spcPts val="300"/>
              </a:spcAft>
            </a:pPr>
            <a:r>
              <a:rPr sz="1200" b="0">
                <a:solidFill>
                  <a:srgbClr val="5B6372"/>
                </a:solidFill>
                <a:latin typeface="Arial"/>
              </a:rPr>
              <a:t>Dimensions usually contain names, categories, dates and locations.</a:t>
            </a:r>
          </a:p>
        </p:txBody>
      </p:sp>
      <p:sp>
        <p:nvSpPr>
          <p:cNvPr id="12" name="Rectangle 11"/>
          <p:cNvSpPr/>
          <p:nvPr/>
        </p:nvSpPr>
        <p:spPr>
          <a:xfrm>
            <a:off x="6222492"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22492" y="1764792"/>
            <a:ext cx="82296" cy="206197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51092" y="2548890"/>
            <a:ext cx="493776" cy="49377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51092"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2</a:t>
            </a:r>
          </a:p>
        </p:txBody>
      </p:sp>
      <p:sp>
        <p:nvSpPr>
          <p:cNvPr id="16" name="TextBox 15"/>
          <p:cNvSpPr txBox="1"/>
          <p:nvPr/>
        </p:nvSpPr>
        <p:spPr>
          <a:xfrm>
            <a:off x="7118604"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Use it when</a:t>
            </a:r>
          </a:p>
          <a:p>
            <a:pPr algn="l">
              <a:spcAft>
                <a:spcPts val="300"/>
              </a:spcAft>
            </a:pPr>
            <a:r>
              <a:rPr sz="1200" b="0">
                <a:solidFill>
                  <a:srgbClr val="5B6372"/>
                </a:solidFill>
                <a:latin typeface="Arial"/>
              </a:rPr>
              <a:t>Use them to segment, label, filter and define detail.</a:t>
            </a:r>
          </a:p>
        </p:txBody>
      </p:sp>
      <p:sp>
        <p:nvSpPr>
          <p:cNvPr id="17" name="Rectangle 16"/>
          <p:cNvSpPr/>
          <p:nvPr/>
        </p:nvSpPr>
        <p:spPr>
          <a:xfrm>
            <a:off x="768096"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68096" y="4046220"/>
            <a:ext cx="82296" cy="206197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96695" y="4830318"/>
            <a:ext cx="493776" cy="49377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96695"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3</a:t>
            </a:r>
          </a:p>
        </p:txBody>
      </p:sp>
      <p:sp>
        <p:nvSpPr>
          <p:cNvPr id="21" name="TextBox 20"/>
          <p:cNvSpPr txBox="1"/>
          <p:nvPr/>
        </p:nvSpPr>
        <p:spPr>
          <a:xfrm>
            <a:off x="1664207"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Exam clue</a:t>
            </a:r>
          </a:p>
          <a:p>
            <a:pPr algn="l">
              <a:spcAft>
                <a:spcPts val="300"/>
              </a:spcAft>
            </a:pPr>
            <a:r>
              <a:rPr sz="1200" b="0">
                <a:solidFill>
                  <a:srgbClr val="5B6372"/>
                </a:solidFill>
                <a:latin typeface="Arial"/>
              </a:rPr>
              <a:t>They often create headers and partitions.</a:t>
            </a:r>
          </a:p>
        </p:txBody>
      </p:sp>
      <p:sp>
        <p:nvSpPr>
          <p:cNvPr id="22" name="Rectangle 21"/>
          <p:cNvSpPr/>
          <p:nvPr/>
        </p:nvSpPr>
        <p:spPr>
          <a:xfrm>
            <a:off x="6222492"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22492" y="4046220"/>
            <a:ext cx="82296" cy="206197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51092" y="4830318"/>
            <a:ext cx="493776" cy="49377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51092"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4</a:t>
            </a:r>
          </a:p>
        </p:txBody>
      </p:sp>
      <p:sp>
        <p:nvSpPr>
          <p:cNvPr id="26" name="TextBox 25"/>
          <p:cNvSpPr txBox="1"/>
          <p:nvPr/>
        </p:nvSpPr>
        <p:spPr>
          <a:xfrm>
            <a:off x="7118604"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Common pitfall</a:t>
            </a:r>
          </a:p>
          <a:p>
            <a:pPr algn="l">
              <a:spcAft>
                <a:spcPts val="300"/>
              </a:spcAft>
            </a:pPr>
            <a:r>
              <a:rPr sz="1200" b="0">
                <a:solidFill>
                  <a:srgbClr val="5B6372"/>
                </a:solidFill>
                <a:latin typeface="Arial"/>
              </a:rPr>
              <a:t>A numeric code is not automatically a measure.</a:t>
            </a:r>
          </a:p>
        </p:txBody>
      </p:sp>
      <p:sp>
        <p:nvSpPr>
          <p:cNvPr id="27" name="TextBox 26"/>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28" name="TextBox 27"/>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29" name="TextBox 28"/>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139</a:t>
            </a:r>
          </a:p>
        </p:txBody>
      </p:sp>
    </p:spTree>
  </p:cSld>
  <p:clrMapOvr>
    <a:masterClrMapping/>
  </p:clrMapOvr>
  <p:transition spd="fast">
    <p:fade/>
  </p:transition>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37744"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47472"/>
            <a:ext cx="10698480" cy="292608"/>
          </a:xfrm>
          <a:prstGeom prst="rect">
            <a:avLst/>
          </a:prstGeom>
          <a:noFill/>
        </p:spPr>
        <p:txBody>
          <a:bodyPr wrap="square" anchor="t" lIns="54864" rIns="54864" tIns="54864" bIns="54864">
            <a:spAutoFit/>
          </a:bodyPr>
          <a:lstStyle/>
          <a:p>
            <a:pPr algn="l">
              <a:spcAft>
                <a:spcPts val="300"/>
              </a:spcAft>
            </a:pPr>
            <a:r>
              <a:rPr sz="1200" b="1">
                <a:solidFill>
                  <a:srgbClr val="F59E0B"/>
                </a:solidFill>
                <a:latin typeface="Arial"/>
              </a:rPr>
              <a:t>OFFICIAL OBJECTIVE · DOMAIN 4</a:t>
            </a:r>
          </a:p>
        </p:txBody>
      </p:sp>
      <p:sp>
        <p:nvSpPr>
          <p:cNvPr id="5" name="TextBox 4"/>
          <p:cNvSpPr txBox="1"/>
          <p:nvPr/>
        </p:nvSpPr>
        <p:spPr>
          <a:xfrm>
            <a:off x="749808" y="713232"/>
            <a:ext cx="10744200" cy="731520"/>
          </a:xfrm>
          <a:prstGeom prst="rect">
            <a:avLst/>
          </a:prstGeom>
          <a:noFill/>
        </p:spPr>
        <p:txBody>
          <a:bodyPr wrap="square" anchor="ctr" lIns="54864" rIns="54864" tIns="54864" bIns="54864">
            <a:spAutoFit/>
          </a:bodyPr>
          <a:lstStyle/>
          <a:p>
            <a:pPr algn="l">
              <a:spcAft>
                <a:spcPts val="300"/>
              </a:spcAft>
            </a:pPr>
            <a:r>
              <a:rPr sz="2700" b="1">
                <a:solidFill>
                  <a:srgbClr val="161B26"/>
                </a:solidFill>
                <a:latin typeface="Arial"/>
              </a:rPr>
              <a:t>4.1.2 · What measures contain</a:t>
            </a:r>
          </a:p>
        </p:txBody>
      </p:sp>
      <p:sp>
        <p:nvSpPr>
          <p:cNvPr id="6" name="Rectangle 5"/>
          <p:cNvSpPr/>
          <p:nvPr/>
        </p:nvSpPr>
        <p:spPr>
          <a:xfrm>
            <a:off x="749808" y="1536192"/>
            <a:ext cx="106984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8096"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68096" y="1764792"/>
            <a:ext cx="82296" cy="206197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96695" y="2548890"/>
            <a:ext cx="493776" cy="49377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5"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1</a:t>
            </a:r>
          </a:p>
        </p:txBody>
      </p:sp>
      <p:sp>
        <p:nvSpPr>
          <p:cNvPr id="11" name="TextBox 10"/>
          <p:cNvSpPr txBox="1"/>
          <p:nvPr/>
        </p:nvSpPr>
        <p:spPr>
          <a:xfrm>
            <a:off x="1664207"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What it means</a:t>
            </a:r>
          </a:p>
          <a:p>
            <a:pPr algn="l">
              <a:spcAft>
                <a:spcPts val="300"/>
              </a:spcAft>
            </a:pPr>
            <a:r>
              <a:rPr sz="1200" b="0">
                <a:solidFill>
                  <a:srgbClr val="5B6372"/>
                </a:solidFill>
                <a:latin typeface="Arial"/>
              </a:rPr>
              <a:t>Measures usually contain quantitative values for aggregation.</a:t>
            </a:r>
          </a:p>
        </p:txBody>
      </p:sp>
      <p:sp>
        <p:nvSpPr>
          <p:cNvPr id="12" name="Rectangle 11"/>
          <p:cNvSpPr/>
          <p:nvPr/>
        </p:nvSpPr>
        <p:spPr>
          <a:xfrm>
            <a:off x="6222492"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22492" y="1764792"/>
            <a:ext cx="82296" cy="206197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51092" y="2548890"/>
            <a:ext cx="493776" cy="49377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51092"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2</a:t>
            </a:r>
          </a:p>
        </p:txBody>
      </p:sp>
      <p:sp>
        <p:nvSpPr>
          <p:cNvPr id="16" name="TextBox 15"/>
          <p:cNvSpPr txBox="1"/>
          <p:nvPr/>
        </p:nvSpPr>
        <p:spPr>
          <a:xfrm>
            <a:off x="7118604"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Use it when</a:t>
            </a:r>
          </a:p>
          <a:p>
            <a:pPr algn="l">
              <a:spcAft>
                <a:spcPts val="300"/>
              </a:spcAft>
            </a:pPr>
            <a:r>
              <a:rPr sz="1200" b="0">
                <a:solidFill>
                  <a:srgbClr val="5B6372"/>
                </a:solidFill>
                <a:latin typeface="Arial"/>
              </a:rPr>
              <a:t>Use for totals, averages, counts, ratios and axes.</a:t>
            </a:r>
          </a:p>
        </p:txBody>
      </p:sp>
      <p:sp>
        <p:nvSpPr>
          <p:cNvPr id="17" name="Rectangle 16"/>
          <p:cNvSpPr/>
          <p:nvPr/>
        </p:nvSpPr>
        <p:spPr>
          <a:xfrm>
            <a:off x="768096"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68096" y="4046220"/>
            <a:ext cx="82296" cy="206197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96695" y="4830318"/>
            <a:ext cx="493776" cy="49377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96695"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3</a:t>
            </a:r>
          </a:p>
        </p:txBody>
      </p:sp>
      <p:sp>
        <p:nvSpPr>
          <p:cNvPr id="21" name="TextBox 20"/>
          <p:cNvSpPr txBox="1"/>
          <p:nvPr/>
        </p:nvSpPr>
        <p:spPr>
          <a:xfrm>
            <a:off x="1664207"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Exam clue</a:t>
            </a:r>
          </a:p>
          <a:p>
            <a:pPr algn="l">
              <a:spcAft>
                <a:spcPts val="300"/>
              </a:spcAft>
            </a:pPr>
            <a:r>
              <a:rPr sz="1200" b="0">
                <a:solidFill>
                  <a:srgbClr val="5B6372"/>
                </a:solidFill>
                <a:latin typeface="Arial"/>
              </a:rPr>
              <a:t>Green measures create axes; blue measures can create headers.</a:t>
            </a:r>
          </a:p>
        </p:txBody>
      </p:sp>
      <p:sp>
        <p:nvSpPr>
          <p:cNvPr id="22" name="Rectangle 21"/>
          <p:cNvSpPr/>
          <p:nvPr/>
        </p:nvSpPr>
        <p:spPr>
          <a:xfrm>
            <a:off x="6222492"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22492" y="4046220"/>
            <a:ext cx="82296" cy="206197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51092" y="4830318"/>
            <a:ext cx="493776" cy="49377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51092"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4</a:t>
            </a:r>
          </a:p>
        </p:txBody>
      </p:sp>
      <p:sp>
        <p:nvSpPr>
          <p:cNvPr id="26" name="TextBox 25"/>
          <p:cNvSpPr txBox="1"/>
          <p:nvPr/>
        </p:nvSpPr>
        <p:spPr>
          <a:xfrm>
            <a:off x="7118604"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Common pitfall</a:t>
            </a:r>
          </a:p>
          <a:p>
            <a:pPr algn="l">
              <a:spcAft>
                <a:spcPts val="300"/>
              </a:spcAft>
            </a:pPr>
            <a:r>
              <a:rPr sz="1200" b="0">
                <a:solidFill>
                  <a:srgbClr val="5B6372"/>
                </a:solidFill>
                <a:latin typeface="Arial"/>
              </a:rPr>
              <a:t>Percentages and prices are not always additive.</a:t>
            </a:r>
          </a:p>
        </p:txBody>
      </p:sp>
      <p:sp>
        <p:nvSpPr>
          <p:cNvPr id="27" name="TextBox 26"/>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28" name="TextBox 27"/>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29" name="TextBox 28"/>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140</a:t>
            </a:r>
          </a:p>
        </p:txBody>
      </p:sp>
    </p:spTree>
  </p:cSld>
  <p:clrMapOvr>
    <a:masterClrMapping/>
  </p:clrMapOvr>
  <p:transition spd="fast">
    <p:fade/>
  </p:transition>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37744"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47472"/>
            <a:ext cx="10698480" cy="292608"/>
          </a:xfrm>
          <a:prstGeom prst="rect">
            <a:avLst/>
          </a:prstGeom>
          <a:noFill/>
        </p:spPr>
        <p:txBody>
          <a:bodyPr wrap="square" anchor="t" lIns="54864" rIns="54864" tIns="54864" bIns="54864">
            <a:spAutoFit/>
          </a:bodyPr>
          <a:lstStyle/>
          <a:p>
            <a:pPr algn="l">
              <a:spcAft>
                <a:spcPts val="300"/>
              </a:spcAft>
            </a:pPr>
            <a:r>
              <a:rPr sz="1200" b="1">
                <a:solidFill>
                  <a:srgbClr val="F59E0B"/>
                </a:solidFill>
                <a:latin typeface="Arial"/>
              </a:rPr>
              <a:t>OFFICIAL OBJECTIVE · DOMAIN 4</a:t>
            </a:r>
          </a:p>
        </p:txBody>
      </p:sp>
      <p:sp>
        <p:nvSpPr>
          <p:cNvPr id="5" name="TextBox 4"/>
          <p:cNvSpPr txBox="1"/>
          <p:nvPr/>
        </p:nvSpPr>
        <p:spPr>
          <a:xfrm>
            <a:off x="749808" y="713232"/>
            <a:ext cx="10744200" cy="731520"/>
          </a:xfrm>
          <a:prstGeom prst="rect">
            <a:avLst/>
          </a:prstGeom>
          <a:noFill/>
        </p:spPr>
        <p:txBody>
          <a:bodyPr wrap="square" anchor="ctr" lIns="54864" rIns="54864" tIns="54864" bIns="54864">
            <a:spAutoFit/>
          </a:bodyPr>
          <a:lstStyle/>
          <a:p>
            <a:pPr algn="l">
              <a:spcAft>
                <a:spcPts val="300"/>
              </a:spcAft>
            </a:pPr>
            <a:r>
              <a:rPr sz="2700" b="1">
                <a:solidFill>
                  <a:srgbClr val="161B26"/>
                </a:solidFill>
                <a:latin typeface="Arial"/>
              </a:rPr>
              <a:t>4.1.3 · Dimensions versus measures</a:t>
            </a:r>
          </a:p>
        </p:txBody>
      </p:sp>
      <p:sp>
        <p:nvSpPr>
          <p:cNvPr id="6" name="Rectangle 5"/>
          <p:cNvSpPr/>
          <p:nvPr/>
        </p:nvSpPr>
        <p:spPr>
          <a:xfrm>
            <a:off x="749808" y="1536192"/>
            <a:ext cx="106984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8096"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68096" y="1764792"/>
            <a:ext cx="82296" cy="206197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96695" y="2548890"/>
            <a:ext cx="493776" cy="49377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5"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1</a:t>
            </a:r>
          </a:p>
        </p:txBody>
      </p:sp>
      <p:sp>
        <p:nvSpPr>
          <p:cNvPr id="11" name="TextBox 10"/>
          <p:cNvSpPr txBox="1"/>
          <p:nvPr/>
        </p:nvSpPr>
        <p:spPr>
          <a:xfrm>
            <a:off x="1664207"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What it means</a:t>
            </a:r>
          </a:p>
          <a:p>
            <a:pPr algn="l">
              <a:spcAft>
                <a:spcPts val="300"/>
              </a:spcAft>
            </a:pPr>
            <a:r>
              <a:rPr sz="1200" b="0">
                <a:solidFill>
                  <a:srgbClr val="5B6372"/>
                </a:solidFill>
                <a:latin typeface="Arial"/>
              </a:rPr>
              <a:t>Dimensions answer who/what/where/when; measures answer how much/how many.</a:t>
            </a:r>
          </a:p>
        </p:txBody>
      </p:sp>
      <p:sp>
        <p:nvSpPr>
          <p:cNvPr id="12" name="Rectangle 11"/>
          <p:cNvSpPr/>
          <p:nvPr/>
        </p:nvSpPr>
        <p:spPr>
          <a:xfrm>
            <a:off x="6222492"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22492" y="1764792"/>
            <a:ext cx="82296" cy="206197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51092" y="2548890"/>
            <a:ext cx="493776" cy="49377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51092"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2</a:t>
            </a:r>
          </a:p>
        </p:txBody>
      </p:sp>
      <p:sp>
        <p:nvSpPr>
          <p:cNvPr id="16" name="TextBox 15"/>
          <p:cNvSpPr txBox="1"/>
          <p:nvPr/>
        </p:nvSpPr>
        <p:spPr>
          <a:xfrm>
            <a:off x="7118604"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Use it when</a:t>
            </a:r>
          </a:p>
          <a:p>
            <a:pPr algn="l">
              <a:spcAft>
                <a:spcPts val="300"/>
              </a:spcAft>
            </a:pPr>
            <a:r>
              <a:rPr sz="1200" b="0">
                <a:solidFill>
                  <a:srgbClr val="5B6372"/>
                </a:solidFill>
                <a:latin typeface="Arial"/>
              </a:rPr>
              <a:t>Use both to define grain and numerical result.</a:t>
            </a:r>
          </a:p>
        </p:txBody>
      </p:sp>
      <p:sp>
        <p:nvSpPr>
          <p:cNvPr id="17" name="Rectangle 16"/>
          <p:cNvSpPr/>
          <p:nvPr/>
        </p:nvSpPr>
        <p:spPr>
          <a:xfrm>
            <a:off x="768096"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68096" y="4046220"/>
            <a:ext cx="82296" cy="206197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96695" y="4830318"/>
            <a:ext cx="493776" cy="49377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96695"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3</a:t>
            </a:r>
          </a:p>
        </p:txBody>
      </p:sp>
      <p:sp>
        <p:nvSpPr>
          <p:cNvPr id="21" name="TextBox 20"/>
          <p:cNvSpPr txBox="1"/>
          <p:nvPr/>
        </p:nvSpPr>
        <p:spPr>
          <a:xfrm>
            <a:off x="1664207"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Exam clue</a:t>
            </a:r>
          </a:p>
          <a:p>
            <a:pPr algn="l">
              <a:spcAft>
                <a:spcPts val="300"/>
              </a:spcAft>
            </a:pPr>
            <a:r>
              <a:rPr sz="1200" b="0">
                <a:solidFill>
                  <a:srgbClr val="5B6372"/>
                </a:solidFill>
                <a:latin typeface="Arial"/>
              </a:rPr>
              <a:t>Converting role changes partitioning and aggregation.</a:t>
            </a:r>
          </a:p>
        </p:txBody>
      </p:sp>
      <p:sp>
        <p:nvSpPr>
          <p:cNvPr id="22" name="Rectangle 21"/>
          <p:cNvSpPr/>
          <p:nvPr/>
        </p:nvSpPr>
        <p:spPr>
          <a:xfrm>
            <a:off x="6222492"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22492" y="4046220"/>
            <a:ext cx="82296" cy="206197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51092" y="4830318"/>
            <a:ext cx="493776" cy="49377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51092"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4</a:t>
            </a:r>
          </a:p>
        </p:txBody>
      </p:sp>
      <p:sp>
        <p:nvSpPr>
          <p:cNvPr id="26" name="TextBox 25"/>
          <p:cNvSpPr txBox="1"/>
          <p:nvPr/>
        </p:nvSpPr>
        <p:spPr>
          <a:xfrm>
            <a:off x="7118604"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Common pitfall</a:t>
            </a:r>
          </a:p>
          <a:p>
            <a:pPr algn="l">
              <a:spcAft>
                <a:spcPts val="300"/>
              </a:spcAft>
            </a:pPr>
            <a:r>
              <a:rPr sz="1200" b="0">
                <a:solidFill>
                  <a:srgbClr val="5B6372"/>
                </a:solidFill>
                <a:latin typeface="Arial"/>
              </a:rPr>
              <a:t>Do not confuse role with data type.</a:t>
            </a:r>
          </a:p>
        </p:txBody>
      </p:sp>
      <p:sp>
        <p:nvSpPr>
          <p:cNvPr id="27" name="TextBox 26"/>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28" name="TextBox 27"/>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29" name="TextBox 28"/>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141</a:t>
            </a:r>
          </a:p>
        </p:txBody>
      </p:sp>
    </p:spTree>
  </p:cSld>
  <p:clrMapOvr>
    <a:masterClrMapping/>
  </p:clrMapOvr>
  <p:transition spd="fast">
    <p:fade/>
  </p:transition>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37744"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47472"/>
            <a:ext cx="10698480" cy="292608"/>
          </a:xfrm>
          <a:prstGeom prst="rect">
            <a:avLst/>
          </a:prstGeom>
          <a:noFill/>
        </p:spPr>
        <p:txBody>
          <a:bodyPr wrap="square" anchor="t" lIns="54864" rIns="54864" tIns="54864" bIns="54864">
            <a:spAutoFit/>
          </a:bodyPr>
          <a:lstStyle/>
          <a:p>
            <a:pPr algn="l">
              <a:spcAft>
                <a:spcPts val="300"/>
              </a:spcAft>
            </a:pPr>
            <a:r>
              <a:rPr sz="1200" b="1">
                <a:solidFill>
                  <a:srgbClr val="F59E0B"/>
                </a:solidFill>
                <a:latin typeface="Arial"/>
              </a:rPr>
              <a:t>DOMAIN 4 · SECTION 2</a:t>
            </a:r>
          </a:p>
        </p:txBody>
      </p:sp>
      <p:sp>
        <p:nvSpPr>
          <p:cNvPr id="5" name="TextBox 4"/>
          <p:cNvSpPr txBox="1"/>
          <p:nvPr/>
        </p:nvSpPr>
        <p:spPr>
          <a:xfrm>
            <a:off x="749808" y="713232"/>
            <a:ext cx="10744200" cy="731520"/>
          </a:xfrm>
          <a:prstGeom prst="rect">
            <a:avLst/>
          </a:prstGeom>
          <a:noFill/>
        </p:spPr>
        <p:txBody>
          <a:bodyPr wrap="square" anchor="ctr" lIns="54864" rIns="54864" tIns="54864" bIns="54864">
            <a:spAutoFit/>
          </a:bodyPr>
          <a:lstStyle/>
          <a:p>
            <a:pPr algn="l">
              <a:spcAft>
                <a:spcPts val="300"/>
              </a:spcAft>
            </a:pPr>
            <a:r>
              <a:rPr sz="2700" b="1">
                <a:solidFill>
                  <a:srgbClr val="161B26"/>
                </a:solidFill>
                <a:latin typeface="Arial"/>
              </a:rPr>
              <a:t>Understand discrete and continuous fields</a:t>
            </a:r>
          </a:p>
        </p:txBody>
      </p:sp>
      <p:sp>
        <p:nvSpPr>
          <p:cNvPr id="6" name="Rectangle 5"/>
          <p:cNvSpPr/>
          <p:nvPr/>
        </p:nvSpPr>
        <p:spPr>
          <a:xfrm>
            <a:off x="749808" y="1536192"/>
            <a:ext cx="106984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8096"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68096" y="1764792"/>
            <a:ext cx="82296" cy="206197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96695" y="2548890"/>
            <a:ext cx="493776" cy="49377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5"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1</a:t>
            </a:r>
          </a:p>
        </p:txBody>
      </p:sp>
      <p:sp>
        <p:nvSpPr>
          <p:cNvPr id="11" name="TextBox 10"/>
          <p:cNvSpPr txBox="1"/>
          <p:nvPr/>
        </p:nvSpPr>
        <p:spPr>
          <a:xfrm>
            <a:off x="1664207"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Discrete</a:t>
            </a:r>
          </a:p>
          <a:p>
            <a:pPr algn="l">
              <a:spcAft>
                <a:spcPts val="300"/>
              </a:spcAft>
            </a:pPr>
            <a:r>
              <a:rPr sz="1200" b="0">
                <a:solidFill>
                  <a:srgbClr val="5B6372"/>
                </a:solidFill>
                <a:latin typeface="Arial"/>
              </a:rPr>
              <a:t>Finite headers that partition the view; blue pills.</a:t>
            </a:r>
          </a:p>
        </p:txBody>
      </p:sp>
      <p:sp>
        <p:nvSpPr>
          <p:cNvPr id="12" name="Rectangle 11"/>
          <p:cNvSpPr/>
          <p:nvPr/>
        </p:nvSpPr>
        <p:spPr>
          <a:xfrm>
            <a:off x="6222492"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22492" y="1764792"/>
            <a:ext cx="82296" cy="206197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51092" y="2548890"/>
            <a:ext cx="493776" cy="49377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51092"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2</a:t>
            </a:r>
          </a:p>
        </p:txBody>
      </p:sp>
      <p:sp>
        <p:nvSpPr>
          <p:cNvPr id="16" name="TextBox 15"/>
          <p:cNvSpPr txBox="1"/>
          <p:nvPr/>
        </p:nvSpPr>
        <p:spPr>
          <a:xfrm>
            <a:off x="7118604"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Continuous</a:t>
            </a:r>
          </a:p>
          <a:p>
            <a:pPr algn="l">
              <a:spcAft>
                <a:spcPts val="300"/>
              </a:spcAft>
            </a:pPr>
            <a:r>
              <a:rPr sz="1200" b="0">
                <a:solidFill>
                  <a:srgbClr val="5B6372"/>
                </a:solidFill>
                <a:latin typeface="Arial"/>
              </a:rPr>
              <a:t>Numeric or temporal range on an axis; green pills.</a:t>
            </a:r>
          </a:p>
        </p:txBody>
      </p:sp>
      <p:sp>
        <p:nvSpPr>
          <p:cNvPr id="17" name="Rectangle 16"/>
          <p:cNvSpPr/>
          <p:nvPr/>
        </p:nvSpPr>
        <p:spPr>
          <a:xfrm>
            <a:off x="768096"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68096" y="4046220"/>
            <a:ext cx="82296" cy="206197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96695" y="4830318"/>
            <a:ext cx="493776" cy="49377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96695"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3</a:t>
            </a:r>
          </a:p>
        </p:txBody>
      </p:sp>
      <p:sp>
        <p:nvSpPr>
          <p:cNvPr id="21" name="TextBox 20"/>
          <p:cNvSpPr txBox="1"/>
          <p:nvPr/>
        </p:nvSpPr>
        <p:spPr>
          <a:xfrm>
            <a:off x="1664207"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Independent of role</a:t>
            </a:r>
          </a:p>
          <a:p>
            <a:pPr algn="l">
              <a:spcAft>
                <a:spcPts val="300"/>
              </a:spcAft>
            </a:pPr>
            <a:r>
              <a:rPr sz="1200" b="0">
                <a:solidFill>
                  <a:srgbClr val="5B6372"/>
                </a:solidFill>
                <a:latin typeface="Arial"/>
              </a:rPr>
              <a:t>Dimensions and measures can each be discrete or continuous.</a:t>
            </a:r>
          </a:p>
        </p:txBody>
      </p:sp>
      <p:sp>
        <p:nvSpPr>
          <p:cNvPr id="22" name="Rectangle 21"/>
          <p:cNvSpPr/>
          <p:nvPr/>
        </p:nvSpPr>
        <p:spPr>
          <a:xfrm>
            <a:off x="6222492"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22492" y="4046220"/>
            <a:ext cx="82296" cy="206197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51092" y="4830318"/>
            <a:ext cx="493776" cy="49377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51092"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4</a:t>
            </a:r>
          </a:p>
        </p:txBody>
      </p:sp>
      <p:sp>
        <p:nvSpPr>
          <p:cNvPr id="26" name="TextBox 25"/>
          <p:cNvSpPr txBox="1"/>
          <p:nvPr/>
        </p:nvSpPr>
        <p:spPr>
          <a:xfrm>
            <a:off x="7118604"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Dates reveal it</a:t>
            </a:r>
          </a:p>
          <a:p>
            <a:pPr algn="l">
              <a:spcAft>
                <a:spcPts val="300"/>
              </a:spcAft>
            </a:pPr>
            <a:r>
              <a:rPr sz="1200" b="0">
                <a:solidFill>
                  <a:srgbClr val="5B6372"/>
                </a:solidFill>
                <a:latin typeface="Arial"/>
              </a:rPr>
              <a:t>Date parts are commonly discrete; date values commonly continuous.</a:t>
            </a:r>
          </a:p>
        </p:txBody>
      </p:sp>
      <p:sp>
        <p:nvSpPr>
          <p:cNvPr id="27" name="TextBox 26"/>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28" name="TextBox 27"/>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29" name="TextBox 28"/>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142</a:t>
            </a:r>
          </a:p>
        </p:txBody>
      </p:sp>
    </p:spTree>
  </p:cSld>
  <p:clrMapOvr>
    <a:masterClrMapping/>
  </p:clrMapOvr>
  <p:transition spd="fast">
    <p:fade/>
  </p:transition>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37744"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47472"/>
            <a:ext cx="10698480" cy="292608"/>
          </a:xfrm>
          <a:prstGeom prst="rect">
            <a:avLst/>
          </a:prstGeom>
          <a:noFill/>
        </p:spPr>
        <p:txBody>
          <a:bodyPr wrap="square" anchor="t" lIns="54864" rIns="54864" tIns="54864" bIns="54864">
            <a:spAutoFit/>
          </a:bodyPr>
          <a:lstStyle/>
          <a:p>
            <a:pPr algn="l">
              <a:spcAft>
                <a:spcPts val="300"/>
              </a:spcAft>
            </a:pPr>
            <a:r>
              <a:rPr sz="1200" b="1">
                <a:solidFill>
                  <a:srgbClr val="F59E0B"/>
                </a:solidFill>
                <a:latin typeface="Arial"/>
              </a:rPr>
              <a:t>CONCEPTUAL DECISION FLOW</a:t>
            </a:r>
          </a:p>
        </p:txBody>
      </p:sp>
      <p:sp>
        <p:nvSpPr>
          <p:cNvPr id="5" name="TextBox 4"/>
          <p:cNvSpPr txBox="1"/>
          <p:nvPr/>
        </p:nvSpPr>
        <p:spPr>
          <a:xfrm>
            <a:off x="749808" y="713232"/>
            <a:ext cx="10744200" cy="731520"/>
          </a:xfrm>
          <a:prstGeom prst="rect">
            <a:avLst/>
          </a:prstGeom>
          <a:noFill/>
        </p:spPr>
        <p:txBody>
          <a:bodyPr wrap="square" anchor="ctr" lIns="54864" rIns="54864" tIns="54864" bIns="54864">
            <a:spAutoFit/>
          </a:bodyPr>
          <a:lstStyle/>
          <a:p>
            <a:pPr algn="l">
              <a:spcAft>
                <a:spcPts val="300"/>
              </a:spcAft>
            </a:pPr>
            <a:r>
              <a:rPr sz="2300" b="1">
                <a:solidFill>
                  <a:srgbClr val="161B26"/>
                </a:solidFill>
                <a:latin typeface="Arial"/>
              </a:rPr>
              <a:t>Reasoning Pattern — Understand discrete and continuous fields</a:t>
            </a:r>
          </a:p>
        </p:txBody>
      </p:sp>
      <p:sp>
        <p:nvSpPr>
          <p:cNvPr id="6" name="Rectangle 5"/>
          <p:cNvSpPr/>
          <p:nvPr/>
        </p:nvSpPr>
        <p:spPr>
          <a:xfrm>
            <a:off x="749808" y="1536192"/>
            <a:ext cx="106984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8096" y="2057400"/>
            <a:ext cx="1947672" cy="2971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68096" y="2057400"/>
            <a:ext cx="194767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76172" y="2423160"/>
            <a:ext cx="731520" cy="7315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6172" y="2423160"/>
            <a:ext cx="731520" cy="731520"/>
          </a:xfrm>
          <a:prstGeom prst="rect">
            <a:avLst/>
          </a:prstGeom>
          <a:noFill/>
        </p:spPr>
        <p:txBody>
          <a:bodyPr wrap="square" anchor="ctr" lIns="54864" rIns="54864" tIns="54864" bIns="54864">
            <a:spAutoFit/>
          </a:bodyPr>
          <a:lstStyle/>
          <a:p>
            <a:pPr algn="ctr">
              <a:spcAft>
                <a:spcPts val="300"/>
              </a:spcAft>
            </a:pPr>
            <a:r>
              <a:rPr sz="2400" b="1">
                <a:solidFill>
                  <a:srgbClr val="FFFFFF"/>
                </a:solidFill>
                <a:latin typeface="Arial"/>
              </a:rPr>
              <a:t>1</a:t>
            </a:r>
          </a:p>
        </p:txBody>
      </p:sp>
      <p:sp>
        <p:nvSpPr>
          <p:cNvPr id="11" name="TextBox 10"/>
          <p:cNvSpPr txBox="1"/>
          <p:nvPr/>
        </p:nvSpPr>
        <p:spPr>
          <a:xfrm>
            <a:off x="877824" y="3429000"/>
            <a:ext cx="1728216" cy="1143000"/>
          </a:xfrm>
          <a:prstGeom prst="rect">
            <a:avLst/>
          </a:prstGeom>
          <a:noFill/>
        </p:spPr>
        <p:txBody>
          <a:bodyPr wrap="square" anchor="ctr" lIns="54864" rIns="54864" tIns="54864" bIns="54864">
            <a:spAutoFit/>
          </a:bodyPr>
          <a:lstStyle/>
          <a:p>
            <a:pPr algn="ctr">
              <a:spcAft>
                <a:spcPts val="300"/>
              </a:spcAft>
            </a:pPr>
            <a:r>
              <a:rPr sz="1250" b="0">
                <a:solidFill>
                  <a:srgbClr val="161B26"/>
                </a:solidFill>
                <a:latin typeface="Arial"/>
              </a:rPr>
              <a:t>Discrete</a:t>
            </a:r>
          </a:p>
        </p:txBody>
      </p:sp>
      <p:sp>
        <p:nvSpPr>
          <p:cNvPr id="12" name="TextBox 11"/>
          <p:cNvSpPr txBox="1"/>
          <p:nvPr/>
        </p:nvSpPr>
        <p:spPr>
          <a:xfrm>
            <a:off x="2697479" y="3246120"/>
            <a:ext cx="274320" cy="365760"/>
          </a:xfrm>
          <a:prstGeom prst="rect">
            <a:avLst/>
          </a:prstGeom>
          <a:noFill/>
        </p:spPr>
        <p:txBody>
          <a:bodyPr wrap="square" anchor="t" lIns="54864" rIns="54864" tIns="54864" bIns="54864">
            <a:spAutoFit/>
          </a:bodyPr>
          <a:lstStyle/>
          <a:p>
            <a:pPr algn="ctr">
              <a:spcAft>
                <a:spcPts val="300"/>
              </a:spcAft>
            </a:pPr>
            <a:r>
              <a:rPr sz="1200" b="1">
                <a:solidFill>
                  <a:srgbClr val="F59E0B"/>
                </a:solidFill>
                <a:latin typeface="Arial"/>
              </a:rPr>
              <a:t>▶</a:t>
            </a:r>
          </a:p>
        </p:txBody>
      </p:sp>
      <p:sp>
        <p:nvSpPr>
          <p:cNvPr id="13" name="Rectangle 12"/>
          <p:cNvSpPr/>
          <p:nvPr/>
        </p:nvSpPr>
        <p:spPr>
          <a:xfrm>
            <a:off x="2944368" y="2057400"/>
            <a:ext cx="1947672" cy="2971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44368" y="2057400"/>
            <a:ext cx="194767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52444" y="2423160"/>
            <a:ext cx="731520" cy="7315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52444" y="2423160"/>
            <a:ext cx="731520" cy="731520"/>
          </a:xfrm>
          <a:prstGeom prst="rect">
            <a:avLst/>
          </a:prstGeom>
          <a:noFill/>
        </p:spPr>
        <p:txBody>
          <a:bodyPr wrap="square" anchor="ctr" lIns="54864" rIns="54864" tIns="54864" bIns="54864">
            <a:spAutoFit/>
          </a:bodyPr>
          <a:lstStyle/>
          <a:p>
            <a:pPr algn="ctr">
              <a:spcAft>
                <a:spcPts val="300"/>
              </a:spcAft>
            </a:pPr>
            <a:r>
              <a:rPr sz="2400" b="1">
                <a:solidFill>
                  <a:srgbClr val="FFFFFF"/>
                </a:solidFill>
                <a:latin typeface="Arial"/>
              </a:rPr>
              <a:t>2</a:t>
            </a:r>
          </a:p>
        </p:txBody>
      </p:sp>
      <p:sp>
        <p:nvSpPr>
          <p:cNvPr id="17" name="TextBox 16"/>
          <p:cNvSpPr txBox="1"/>
          <p:nvPr/>
        </p:nvSpPr>
        <p:spPr>
          <a:xfrm>
            <a:off x="3054096" y="3429000"/>
            <a:ext cx="1728216" cy="1143000"/>
          </a:xfrm>
          <a:prstGeom prst="rect">
            <a:avLst/>
          </a:prstGeom>
          <a:noFill/>
        </p:spPr>
        <p:txBody>
          <a:bodyPr wrap="square" anchor="ctr" lIns="54864" rIns="54864" tIns="54864" bIns="54864">
            <a:spAutoFit/>
          </a:bodyPr>
          <a:lstStyle/>
          <a:p>
            <a:pPr algn="ctr">
              <a:spcAft>
                <a:spcPts val="300"/>
              </a:spcAft>
            </a:pPr>
            <a:r>
              <a:rPr sz="1250" b="0">
                <a:solidFill>
                  <a:srgbClr val="161B26"/>
                </a:solidFill>
                <a:latin typeface="Arial"/>
              </a:rPr>
              <a:t>Continuous</a:t>
            </a:r>
          </a:p>
        </p:txBody>
      </p:sp>
      <p:sp>
        <p:nvSpPr>
          <p:cNvPr id="18" name="TextBox 17"/>
          <p:cNvSpPr txBox="1"/>
          <p:nvPr/>
        </p:nvSpPr>
        <p:spPr>
          <a:xfrm>
            <a:off x="4873752" y="3246120"/>
            <a:ext cx="274320" cy="365760"/>
          </a:xfrm>
          <a:prstGeom prst="rect">
            <a:avLst/>
          </a:prstGeom>
          <a:noFill/>
        </p:spPr>
        <p:txBody>
          <a:bodyPr wrap="square" anchor="t" lIns="54864" rIns="54864" tIns="54864" bIns="54864">
            <a:spAutoFit/>
          </a:bodyPr>
          <a:lstStyle/>
          <a:p>
            <a:pPr algn="ctr">
              <a:spcAft>
                <a:spcPts val="300"/>
              </a:spcAft>
            </a:pPr>
            <a:r>
              <a:rPr sz="1200" b="1">
                <a:solidFill>
                  <a:srgbClr val="F59E0B"/>
                </a:solidFill>
                <a:latin typeface="Arial"/>
              </a:rPr>
              <a:t>▶</a:t>
            </a:r>
          </a:p>
        </p:txBody>
      </p:sp>
      <p:sp>
        <p:nvSpPr>
          <p:cNvPr id="19" name="Rectangle 18"/>
          <p:cNvSpPr/>
          <p:nvPr/>
        </p:nvSpPr>
        <p:spPr>
          <a:xfrm>
            <a:off x="5120640" y="2057400"/>
            <a:ext cx="1947672" cy="2971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0" y="2057400"/>
            <a:ext cx="194767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28715" y="2423160"/>
            <a:ext cx="731520" cy="7315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28715" y="2423160"/>
            <a:ext cx="731520" cy="731520"/>
          </a:xfrm>
          <a:prstGeom prst="rect">
            <a:avLst/>
          </a:prstGeom>
          <a:noFill/>
        </p:spPr>
        <p:txBody>
          <a:bodyPr wrap="square" anchor="ctr" lIns="54864" rIns="54864" tIns="54864" bIns="54864">
            <a:spAutoFit/>
          </a:bodyPr>
          <a:lstStyle/>
          <a:p>
            <a:pPr algn="ctr">
              <a:spcAft>
                <a:spcPts val="300"/>
              </a:spcAft>
            </a:pPr>
            <a:r>
              <a:rPr sz="2400" b="1">
                <a:solidFill>
                  <a:srgbClr val="FFFFFF"/>
                </a:solidFill>
                <a:latin typeface="Arial"/>
              </a:rPr>
              <a:t>3</a:t>
            </a:r>
          </a:p>
        </p:txBody>
      </p:sp>
      <p:sp>
        <p:nvSpPr>
          <p:cNvPr id="23" name="TextBox 22"/>
          <p:cNvSpPr txBox="1"/>
          <p:nvPr/>
        </p:nvSpPr>
        <p:spPr>
          <a:xfrm>
            <a:off x="5230368" y="3429000"/>
            <a:ext cx="1728216" cy="1143000"/>
          </a:xfrm>
          <a:prstGeom prst="rect">
            <a:avLst/>
          </a:prstGeom>
          <a:noFill/>
        </p:spPr>
        <p:txBody>
          <a:bodyPr wrap="square" anchor="ctr" lIns="54864" rIns="54864" tIns="54864" bIns="54864">
            <a:spAutoFit/>
          </a:bodyPr>
          <a:lstStyle/>
          <a:p>
            <a:pPr algn="ctr">
              <a:spcAft>
                <a:spcPts val="300"/>
              </a:spcAft>
            </a:pPr>
            <a:r>
              <a:rPr sz="1250" b="0">
                <a:solidFill>
                  <a:srgbClr val="161B26"/>
                </a:solidFill>
                <a:latin typeface="Arial"/>
              </a:rPr>
              <a:t>Independent of role</a:t>
            </a:r>
          </a:p>
        </p:txBody>
      </p:sp>
      <p:sp>
        <p:nvSpPr>
          <p:cNvPr id="24" name="TextBox 23"/>
          <p:cNvSpPr txBox="1"/>
          <p:nvPr/>
        </p:nvSpPr>
        <p:spPr>
          <a:xfrm>
            <a:off x="7050024" y="3246120"/>
            <a:ext cx="274320" cy="365760"/>
          </a:xfrm>
          <a:prstGeom prst="rect">
            <a:avLst/>
          </a:prstGeom>
          <a:noFill/>
        </p:spPr>
        <p:txBody>
          <a:bodyPr wrap="square" anchor="t" lIns="54864" rIns="54864" tIns="54864" bIns="54864">
            <a:spAutoFit/>
          </a:bodyPr>
          <a:lstStyle/>
          <a:p>
            <a:pPr algn="ctr">
              <a:spcAft>
                <a:spcPts val="300"/>
              </a:spcAft>
            </a:pPr>
            <a:r>
              <a:rPr sz="1200" b="1">
                <a:solidFill>
                  <a:srgbClr val="F59E0B"/>
                </a:solidFill>
                <a:latin typeface="Arial"/>
              </a:rPr>
              <a:t>▶</a:t>
            </a:r>
          </a:p>
        </p:txBody>
      </p:sp>
      <p:sp>
        <p:nvSpPr>
          <p:cNvPr id="25" name="Rectangle 24"/>
          <p:cNvSpPr/>
          <p:nvPr/>
        </p:nvSpPr>
        <p:spPr>
          <a:xfrm>
            <a:off x="7296912" y="2057400"/>
            <a:ext cx="1947672" cy="2971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296912" y="2057400"/>
            <a:ext cx="194767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04988" y="2423160"/>
            <a:ext cx="731520" cy="7315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4988" y="2423160"/>
            <a:ext cx="731520" cy="731520"/>
          </a:xfrm>
          <a:prstGeom prst="rect">
            <a:avLst/>
          </a:prstGeom>
          <a:noFill/>
        </p:spPr>
        <p:txBody>
          <a:bodyPr wrap="square" anchor="ctr" lIns="54864" rIns="54864" tIns="54864" bIns="54864">
            <a:spAutoFit/>
          </a:bodyPr>
          <a:lstStyle/>
          <a:p>
            <a:pPr algn="ctr">
              <a:spcAft>
                <a:spcPts val="300"/>
              </a:spcAft>
            </a:pPr>
            <a:r>
              <a:rPr sz="2400" b="1">
                <a:solidFill>
                  <a:srgbClr val="FFFFFF"/>
                </a:solidFill>
                <a:latin typeface="Arial"/>
              </a:rPr>
              <a:t>4</a:t>
            </a:r>
          </a:p>
        </p:txBody>
      </p:sp>
      <p:sp>
        <p:nvSpPr>
          <p:cNvPr id="29" name="TextBox 28"/>
          <p:cNvSpPr txBox="1"/>
          <p:nvPr/>
        </p:nvSpPr>
        <p:spPr>
          <a:xfrm>
            <a:off x="7406640" y="3429000"/>
            <a:ext cx="1728216" cy="1143000"/>
          </a:xfrm>
          <a:prstGeom prst="rect">
            <a:avLst/>
          </a:prstGeom>
          <a:noFill/>
        </p:spPr>
        <p:txBody>
          <a:bodyPr wrap="square" anchor="ctr" lIns="54864" rIns="54864" tIns="54864" bIns="54864">
            <a:spAutoFit/>
          </a:bodyPr>
          <a:lstStyle/>
          <a:p>
            <a:pPr algn="ctr">
              <a:spcAft>
                <a:spcPts val="300"/>
              </a:spcAft>
            </a:pPr>
            <a:r>
              <a:rPr sz="1250" b="0">
                <a:solidFill>
                  <a:srgbClr val="161B26"/>
                </a:solidFill>
                <a:latin typeface="Arial"/>
              </a:rPr>
              <a:t>Dates reveal it</a:t>
            </a:r>
          </a:p>
        </p:txBody>
      </p:sp>
      <p:sp>
        <p:nvSpPr>
          <p:cNvPr id="30" name="TextBox 29"/>
          <p:cNvSpPr txBox="1"/>
          <p:nvPr/>
        </p:nvSpPr>
        <p:spPr>
          <a:xfrm>
            <a:off x="9226296" y="3246120"/>
            <a:ext cx="274320" cy="365760"/>
          </a:xfrm>
          <a:prstGeom prst="rect">
            <a:avLst/>
          </a:prstGeom>
          <a:noFill/>
        </p:spPr>
        <p:txBody>
          <a:bodyPr wrap="square" anchor="t" lIns="54864" rIns="54864" tIns="54864" bIns="54864">
            <a:spAutoFit/>
          </a:bodyPr>
          <a:lstStyle/>
          <a:p>
            <a:pPr algn="ctr">
              <a:spcAft>
                <a:spcPts val="300"/>
              </a:spcAft>
            </a:pPr>
            <a:r>
              <a:rPr sz="1200" b="1">
                <a:solidFill>
                  <a:srgbClr val="F59E0B"/>
                </a:solidFill>
                <a:latin typeface="Arial"/>
              </a:rPr>
              <a:t>▶</a:t>
            </a:r>
          </a:p>
        </p:txBody>
      </p:sp>
      <p:sp>
        <p:nvSpPr>
          <p:cNvPr id="31" name="Rectangle 30"/>
          <p:cNvSpPr/>
          <p:nvPr/>
        </p:nvSpPr>
        <p:spPr>
          <a:xfrm>
            <a:off x="9473184" y="2057400"/>
            <a:ext cx="1947672" cy="2971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473184" y="2057400"/>
            <a:ext cx="194767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81259" y="2423160"/>
            <a:ext cx="731520" cy="7315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81259" y="2423160"/>
            <a:ext cx="731520" cy="731520"/>
          </a:xfrm>
          <a:prstGeom prst="rect">
            <a:avLst/>
          </a:prstGeom>
          <a:noFill/>
        </p:spPr>
        <p:txBody>
          <a:bodyPr wrap="square" anchor="ctr" lIns="54864" rIns="54864" tIns="54864" bIns="54864">
            <a:spAutoFit/>
          </a:bodyPr>
          <a:lstStyle/>
          <a:p>
            <a:pPr algn="ctr">
              <a:spcAft>
                <a:spcPts val="300"/>
              </a:spcAft>
            </a:pPr>
            <a:r>
              <a:rPr sz="2400" b="1">
                <a:solidFill>
                  <a:srgbClr val="FFFFFF"/>
                </a:solidFill>
                <a:latin typeface="Arial"/>
              </a:rPr>
              <a:t>5</a:t>
            </a:r>
          </a:p>
        </p:txBody>
      </p:sp>
      <p:sp>
        <p:nvSpPr>
          <p:cNvPr id="35" name="TextBox 34"/>
          <p:cNvSpPr txBox="1"/>
          <p:nvPr/>
        </p:nvSpPr>
        <p:spPr>
          <a:xfrm>
            <a:off x="9582911" y="3429000"/>
            <a:ext cx="1728216" cy="1143000"/>
          </a:xfrm>
          <a:prstGeom prst="rect">
            <a:avLst/>
          </a:prstGeom>
          <a:noFill/>
        </p:spPr>
        <p:txBody>
          <a:bodyPr wrap="square" anchor="ctr" lIns="54864" rIns="54864" tIns="54864" bIns="54864">
            <a:spAutoFit/>
          </a:bodyPr>
          <a:lstStyle/>
          <a:p>
            <a:pPr algn="ctr">
              <a:spcAft>
                <a:spcPts val="300"/>
              </a:spcAft>
            </a:pPr>
            <a:r>
              <a:rPr sz="1250" b="0">
                <a:solidFill>
                  <a:srgbClr val="161B26"/>
                </a:solidFill>
                <a:latin typeface="Arial"/>
              </a:rPr>
              <a:t>Validate result</a:t>
            </a:r>
          </a:p>
        </p:txBody>
      </p:sp>
      <p:sp>
        <p:nvSpPr>
          <p:cNvPr id="36" name="TextBox 35"/>
          <p:cNvSpPr txBox="1"/>
          <p:nvPr/>
        </p:nvSpPr>
        <p:spPr>
          <a:xfrm>
            <a:off x="777240" y="5394960"/>
            <a:ext cx="10607040" cy="411480"/>
          </a:xfrm>
          <a:prstGeom prst="rect">
            <a:avLst/>
          </a:prstGeom>
          <a:noFill/>
        </p:spPr>
        <p:txBody>
          <a:bodyPr wrap="square" anchor="t" lIns="54864" rIns="54864" tIns="54864" bIns="54864">
            <a:spAutoFit/>
          </a:bodyPr>
          <a:lstStyle/>
          <a:p>
            <a:pPr algn="ctr">
              <a:spcAft>
                <a:spcPts val="300"/>
              </a:spcAft>
            </a:pPr>
            <a:r>
              <a:rPr sz="1250" b="0">
                <a:solidFill>
                  <a:srgbClr val="5B6372"/>
                </a:solidFill>
                <a:latin typeface="Arial"/>
              </a:rPr>
              <a:t>This is a reasoning map, not a click-by-click lab procedure.</a:t>
            </a:r>
          </a:p>
        </p:txBody>
      </p:sp>
      <p:sp>
        <p:nvSpPr>
          <p:cNvPr id="37" name="TextBox 36"/>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38" name="TextBox 37"/>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39" name="TextBox 38"/>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143</a:t>
            </a:r>
          </a:p>
        </p:txBody>
      </p:sp>
    </p:spTree>
  </p:cSld>
  <p:clrMapOvr>
    <a:masterClrMapping/>
  </p:clrMapOvr>
  <p:transition spd="fast">
    <p:fade/>
  </p:transition>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37744"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47472"/>
            <a:ext cx="10698480" cy="292608"/>
          </a:xfrm>
          <a:prstGeom prst="rect">
            <a:avLst/>
          </a:prstGeom>
          <a:noFill/>
        </p:spPr>
        <p:txBody>
          <a:bodyPr wrap="square" anchor="t" lIns="54864" rIns="54864" tIns="54864" bIns="54864">
            <a:spAutoFit/>
          </a:bodyPr>
          <a:lstStyle/>
          <a:p>
            <a:pPr algn="l">
              <a:spcAft>
                <a:spcPts val="300"/>
              </a:spcAft>
            </a:pPr>
            <a:r>
              <a:rPr sz="1200" b="1">
                <a:solidFill>
                  <a:srgbClr val="F59E0B"/>
                </a:solidFill>
                <a:latin typeface="Arial"/>
              </a:rPr>
              <a:t>OFFICIAL OBJECTIVE · DOMAIN 4</a:t>
            </a:r>
          </a:p>
        </p:txBody>
      </p:sp>
      <p:sp>
        <p:nvSpPr>
          <p:cNvPr id="5" name="TextBox 4"/>
          <p:cNvSpPr txBox="1"/>
          <p:nvPr/>
        </p:nvSpPr>
        <p:spPr>
          <a:xfrm>
            <a:off x="749808" y="713232"/>
            <a:ext cx="10744200" cy="731520"/>
          </a:xfrm>
          <a:prstGeom prst="rect">
            <a:avLst/>
          </a:prstGeom>
          <a:noFill/>
        </p:spPr>
        <p:txBody>
          <a:bodyPr wrap="square" anchor="ctr" lIns="54864" rIns="54864" tIns="54864" bIns="54864">
            <a:spAutoFit/>
          </a:bodyPr>
          <a:lstStyle/>
          <a:p>
            <a:pPr algn="l">
              <a:spcAft>
                <a:spcPts val="300"/>
              </a:spcAft>
            </a:pPr>
            <a:r>
              <a:rPr sz="2700" b="1">
                <a:solidFill>
                  <a:srgbClr val="161B26"/>
                </a:solidFill>
                <a:latin typeface="Arial"/>
              </a:rPr>
              <a:t>4.2.1 · How discrete fields display</a:t>
            </a:r>
          </a:p>
        </p:txBody>
      </p:sp>
      <p:sp>
        <p:nvSpPr>
          <p:cNvPr id="6" name="Rectangle 5"/>
          <p:cNvSpPr/>
          <p:nvPr/>
        </p:nvSpPr>
        <p:spPr>
          <a:xfrm>
            <a:off x="749808" y="1536192"/>
            <a:ext cx="106984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8096"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68096" y="1764792"/>
            <a:ext cx="82296" cy="206197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96695" y="2548890"/>
            <a:ext cx="493776" cy="49377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5"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1</a:t>
            </a:r>
          </a:p>
        </p:txBody>
      </p:sp>
      <p:sp>
        <p:nvSpPr>
          <p:cNvPr id="11" name="TextBox 10"/>
          <p:cNvSpPr txBox="1"/>
          <p:nvPr/>
        </p:nvSpPr>
        <p:spPr>
          <a:xfrm>
            <a:off x="1664207"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What it means</a:t>
            </a:r>
          </a:p>
          <a:p>
            <a:pPr algn="l">
              <a:spcAft>
                <a:spcPts val="300"/>
              </a:spcAft>
            </a:pPr>
            <a:r>
              <a:rPr sz="1200" b="0">
                <a:solidFill>
                  <a:srgbClr val="5B6372"/>
                </a:solidFill>
                <a:latin typeface="Arial"/>
              </a:rPr>
              <a:t>Discrete fields create headers and partitions.</a:t>
            </a:r>
          </a:p>
        </p:txBody>
      </p:sp>
      <p:sp>
        <p:nvSpPr>
          <p:cNvPr id="12" name="Rectangle 11"/>
          <p:cNvSpPr/>
          <p:nvPr/>
        </p:nvSpPr>
        <p:spPr>
          <a:xfrm>
            <a:off x="6222492"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22492" y="1764792"/>
            <a:ext cx="82296" cy="206197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51092" y="2548890"/>
            <a:ext cx="493776" cy="49377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51092"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2</a:t>
            </a:r>
          </a:p>
        </p:txBody>
      </p:sp>
      <p:sp>
        <p:nvSpPr>
          <p:cNvPr id="16" name="TextBox 15"/>
          <p:cNvSpPr txBox="1"/>
          <p:nvPr/>
        </p:nvSpPr>
        <p:spPr>
          <a:xfrm>
            <a:off x="7118604"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Use it when</a:t>
            </a:r>
          </a:p>
          <a:p>
            <a:pPr algn="l">
              <a:spcAft>
                <a:spcPts val="300"/>
              </a:spcAft>
            </a:pPr>
            <a:r>
              <a:rPr sz="1200" b="0">
                <a:solidFill>
                  <a:srgbClr val="5B6372"/>
                </a:solidFill>
                <a:latin typeface="Arial"/>
              </a:rPr>
              <a:t>Use for named groups, panes and exact date parts.</a:t>
            </a:r>
          </a:p>
        </p:txBody>
      </p:sp>
      <p:sp>
        <p:nvSpPr>
          <p:cNvPr id="17" name="Rectangle 16"/>
          <p:cNvSpPr/>
          <p:nvPr/>
        </p:nvSpPr>
        <p:spPr>
          <a:xfrm>
            <a:off x="768096"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68096" y="4046220"/>
            <a:ext cx="82296" cy="206197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96695" y="4830318"/>
            <a:ext cx="493776" cy="49377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96695"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3</a:t>
            </a:r>
          </a:p>
        </p:txBody>
      </p:sp>
      <p:sp>
        <p:nvSpPr>
          <p:cNvPr id="21" name="TextBox 20"/>
          <p:cNvSpPr txBox="1"/>
          <p:nvPr/>
        </p:nvSpPr>
        <p:spPr>
          <a:xfrm>
            <a:off x="1664207"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Exam clue</a:t>
            </a:r>
          </a:p>
          <a:p>
            <a:pPr algn="l">
              <a:spcAft>
                <a:spcPts val="300"/>
              </a:spcAft>
            </a:pPr>
            <a:r>
              <a:rPr sz="1200" b="0">
                <a:solidFill>
                  <a:srgbClr val="5B6372"/>
                </a:solidFill>
                <a:latin typeface="Arial"/>
              </a:rPr>
              <a:t>Blue pills mean discrete behaviour.</a:t>
            </a:r>
          </a:p>
        </p:txBody>
      </p:sp>
      <p:sp>
        <p:nvSpPr>
          <p:cNvPr id="22" name="Rectangle 21"/>
          <p:cNvSpPr/>
          <p:nvPr/>
        </p:nvSpPr>
        <p:spPr>
          <a:xfrm>
            <a:off x="6222492"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22492" y="4046220"/>
            <a:ext cx="82296" cy="206197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51092" y="4830318"/>
            <a:ext cx="493776" cy="49377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51092"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4</a:t>
            </a:r>
          </a:p>
        </p:txBody>
      </p:sp>
      <p:sp>
        <p:nvSpPr>
          <p:cNvPr id="26" name="TextBox 25"/>
          <p:cNvSpPr txBox="1"/>
          <p:nvPr/>
        </p:nvSpPr>
        <p:spPr>
          <a:xfrm>
            <a:off x="7118604"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Common pitfall</a:t>
            </a:r>
          </a:p>
          <a:p>
            <a:pPr algn="l">
              <a:spcAft>
                <a:spcPts val="300"/>
              </a:spcAft>
            </a:pPr>
            <a:r>
              <a:rPr sz="1200" b="0">
                <a:solidFill>
                  <a:srgbClr val="5B6372"/>
                </a:solidFill>
                <a:latin typeface="Arial"/>
              </a:rPr>
              <a:t>Discrete does not mean text.</a:t>
            </a:r>
          </a:p>
        </p:txBody>
      </p:sp>
      <p:sp>
        <p:nvSpPr>
          <p:cNvPr id="27" name="TextBox 26"/>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28" name="TextBox 27"/>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29" name="TextBox 28"/>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144</a:t>
            </a:r>
          </a:p>
        </p:txBody>
      </p:sp>
    </p:spTree>
  </p:cSld>
  <p:clrMapOvr>
    <a:masterClrMapping/>
  </p:clrMapOvr>
  <p:transition spd="fast">
    <p:fade/>
  </p:transition>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37744"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47472"/>
            <a:ext cx="10698480" cy="292608"/>
          </a:xfrm>
          <a:prstGeom prst="rect">
            <a:avLst/>
          </a:prstGeom>
          <a:noFill/>
        </p:spPr>
        <p:txBody>
          <a:bodyPr wrap="square" anchor="t" lIns="54864" rIns="54864" tIns="54864" bIns="54864">
            <a:spAutoFit/>
          </a:bodyPr>
          <a:lstStyle/>
          <a:p>
            <a:pPr algn="l">
              <a:spcAft>
                <a:spcPts val="300"/>
              </a:spcAft>
            </a:pPr>
            <a:r>
              <a:rPr sz="1200" b="1">
                <a:solidFill>
                  <a:srgbClr val="F59E0B"/>
                </a:solidFill>
                <a:latin typeface="Arial"/>
              </a:rPr>
              <a:t>OFFICIAL OBJECTIVE · DOMAIN 4</a:t>
            </a:r>
          </a:p>
        </p:txBody>
      </p:sp>
      <p:sp>
        <p:nvSpPr>
          <p:cNvPr id="5" name="TextBox 4"/>
          <p:cNvSpPr txBox="1"/>
          <p:nvPr/>
        </p:nvSpPr>
        <p:spPr>
          <a:xfrm>
            <a:off x="749808" y="713232"/>
            <a:ext cx="10744200" cy="731520"/>
          </a:xfrm>
          <a:prstGeom prst="rect">
            <a:avLst/>
          </a:prstGeom>
          <a:noFill/>
        </p:spPr>
        <p:txBody>
          <a:bodyPr wrap="square" anchor="ctr" lIns="54864" rIns="54864" tIns="54864" bIns="54864">
            <a:spAutoFit/>
          </a:bodyPr>
          <a:lstStyle/>
          <a:p>
            <a:pPr algn="l">
              <a:spcAft>
                <a:spcPts val="300"/>
              </a:spcAft>
            </a:pPr>
            <a:r>
              <a:rPr sz="2700" b="1">
                <a:solidFill>
                  <a:srgbClr val="161B26"/>
                </a:solidFill>
                <a:latin typeface="Arial"/>
              </a:rPr>
              <a:t>4.2.2 · How continuous fields display</a:t>
            </a:r>
          </a:p>
        </p:txBody>
      </p:sp>
      <p:sp>
        <p:nvSpPr>
          <p:cNvPr id="6" name="Rectangle 5"/>
          <p:cNvSpPr/>
          <p:nvPr/>
        </p:nvSpPr>
        <p:spPr>
          <a:xfrm>
            <a:off x="749808" y="1536192"/>
            <a:ext cx="106984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8096"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68096" y="1764792"/>
            <a:ext cx="82296" cy="206197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96695" y="2548890"/>
            <a:ext cx="493776" cy="49377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5"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1</a:t>
            </a:r>
          </a:p>
        </p:txBody>
      </p:sp>
      <p:sp>
        <p:nvSpPr>
          <p:cNvPr id="11" name="TextBox 10"/>
          <p:cNvSpPr txBox="1"/>
          <p:nvPr/>
        </p:nvSpPr>
        <p:spPr>
          <a:xfrm>
            <a:off x="1664207"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What it means</a:t>
            </a:r>
          </a:p>
          <a:p>
            <a:pPr algn="l">
              <a:spcAft>
                <a:spcPts val="300"/>
              </a:spcAft>
            </a:pPr>
            <a:r>
              <a:rPr sz="1200" b="0">
                <a:solidFill>
                  <a:srgbClr val="5B6372"/>
                </a:solidFill>
                <a:latin typeface="Arial"/>
              </a:rPr>
              <a:t>Continuous fields create axes over an unbroken range.</a:t>
            </a:r>
          </a:p>
        </p:txBody>
      </p:sp>
      <p:sp>
        <p:nvSpPr>
          <p:cNvPr id="12" name="Rectangle 11"/>
          <p:cNvSpPr/>
          <p:nvPr/>
        </p:nvSpPr>
        <p:spPr>
          <a:xfrm>
            <a:off x="6222492"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22492" y="1764792"/>
            <a:ext cx="82296" cy="206197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51092" y="2548890"/>
            <a:ext cx="493776" cy="49377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51092"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2</a:t>
            </a:r>
          </a:p>
        </p:txBody>
      </p:sp>
      <p:sp>
        <p:nvSpPr>
          <p:cNvPr id="16" name="TextBox 15"/>
          <p:cNvSpPr txBox="1"/>
          <p:nvPr/>
        </p:nvSpPr>
        <p:spPr>
          <a:xfrm>
            <a:off x="7118604"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Use it when</a:t>
            </a:r>
          </a:p>
          <a:p>
            <a:pPr algn="l">
              <a:spcAft>
                <a:spcPts val="300"/>
              </a:spcAft>
            </a:pPr>
            <a:r>
              <a:rPr sz="1200" b="0">
                <a:solidFill>
                  <a:srgbClr val="5B6372"/>
                </a:solidFill>
                <a:latin typeface="Arial"/>
              </a:rPr>
              <a:t>Use for quantitative scales and temporal trends.</a:t>
            </a:r>
          </a:p>
        </p:txBody>
      </p:sp>
      <p:sp>
        <p:nvSpPr>
          <p:cNvPr id="17" name="Rectangle 16"/>
          <p:cNvSpPr/>
          <p:nvPr/>
        </p:nvSpPr>
        <p:spPr>
          <a:xfrm>
            <a:off x="768096"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68096" y="4046220"/>
            <a:ext cx="82296" cy="206197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96695" y="4830318"/>
            <a:ext cx="493776" cy="49377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96695"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3</a:t>
            </a:r>
          </a:p>
        </p:txBody>
      </p:sp>
      <p:sp>
        <p:nvSpPr>
          <p:cNvPr id="21" name="TextBox 20"/>
          <p:cNvSpPr txBox="1"/>
          <p:nvPr/>
        </p:nvSpPr>
        <p:spPr>
          <a:xfrm>
            <a:off x="1664207"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Exam clue</a:t>
            </a:r>
          </a:p>
          <a:p>
            <a:pPr algn="l">
              <a:spcAft>
                <a:spcPts val="300"/>
              </a:spcAft>
            </a:pPr>
            <a:r>
              <a:rPr sz="1200" b="0">
                <a:solidFill>
                  <a:srgbClr val="5B6372"/>
                </a:solidFill>
                <a:latin typeface="Arial"/>
              </a:rPr>
              <a:t>Green pills mean continuous behaviour.</a:t>
            </a:r>
          </a:p>
        </p:txBody>
      </p:sp>
      <p:sp>
        <p:nvSpPr>
          <p:cNvPr id="22" name="Rectangle 21"/>
          <p:cNvSpPr/>
          <p:nvPr/>
        </p:nvSpPr>
        <p:spPr>
          <a:xfrm>
            <a:off x="6222492"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22492" y="4046220"/>
            <a:ext cx="82296" cy="206197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51092" y="4830318"/>
            <a:ext cx="493776" cy="49377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51092"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4</a:t>
            </a:r>
          </a:p>
        </p:txBody>
      </p:sp>
      <p:sp>
        <p:nvSpPr>
          <p:cNvPr id="26" name="TextBox 25"/>
          <p:cNvSpPr txBox="1"/>
          <p:nvPr/>
        </p:nvSpPr>
        <p:spPr>
          <a:xfrm>
            <a:off x="7118604"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Common pitfall</a:t>
            </a:r>
          </a:p>
          <a:p>
            <a:pPr algn="l">
              <a:spcAft>
                <a:spcPts val="300"/>
              </a:spcAft>
            </a:pPr>
            <a:r>
              <a:rPr sz="1200" b="0">
                <a:solidFill>
                  <a:srgbClr val="5B6372"/>
                </a:solidFill>
                <a:latin typeface="Arial"/>
              </a:rPr>
              <a:t>Continuous does not mean measure.</a:t>
            </a:r>
          </a:p>
        </p:txBody>
      </p:sp>
      <p:sp>
        <p:nvSpPr>
          <p:cNvPr id="27" name="TextBox 26"/>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28" name="TextBox 27"/>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29" name="TextBox 28"/>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145</a:t>
            </a:r>
          </a:p>
        </p:txBody>
      </p:sp>
    </p:spTree>
  </p:cSld>
  <p:clrMapOvr>
    <a:masterClrMapping/>
  </p:clrMapOvr>
  <p:transition spd="fast">
    <p:fade/>
  </p:transition>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37744"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47472"/>
            <a:ext cx="10698480" cy="292608"/>
          </a:xfrm>
          <a:prstGeom prst="rect">
            <a:avLst/>
          </a:prstGeom>
          <a:noFill/>
        </p:spPr>
        <p:txBody>
          <a:bodyPr wrap="square" anchor="t" lIns="54864" rIns="54864" tIns="54864" bIns="54864">
            <a:spAutoFit/>
          </a:bodyPr>
          <a:lstStyle/>
          <a:p>
            <a:pPr algn="l">
              <a:spcAft>
                <a:spcPts val="300"/>
              </a:spcAft>
            </a:pPr>
            <a:r>
              <a:rPr sz="1200" b="1">
                <a:solidFill>
                  <a:srgbClr val="F59E0B"/>
                </a:solidFill>
                <a:latin typeface="Arial"/>
              </a:rPr>
              <a:t>OFFICIAL OBJECTIVE · DOMAIN 4</a:t>
            </a:r>
          </a:p>
        </p:txBody>
      </p:sp>
      <p:sp>
        <p:nvSpPr>
          <p:cNvPr id="5" name="TextBox 4"/>
          <p:cNvSpPr txBox="1"/>
          <p:nvPr/>
        </p:nvSpPr>
        <p:spPr>
          <a:xfrm>
            <a:off x="749808" y="713232"/>
            <a:ext cx="10744200" cy="731520"/>
          </a:xfrm>
          <a:prstGeom prst="rect">
            <a:avLst/>
          </a:prstGeom>
          <a:noFill/>
        </p:spPr>
        <p:txBody>
          <a:bodyPr wrap="square" anchor="ctr" lIns="54864" rIns="54864" tIns="54864" bIns="54864">
            <a:spAutoFit/>
          </a:bodyPr>
          <a:lstStyle/>
          <a:p>
            <a:pPr algn="l">
              <a:spcAft>
                <a:spcPts val="300"/>
              </a:spcAft>
            </a:pPr>
            <a:r>
              <a:rPr sz="2700" b="1">
                <a:solidFill>
                  <a:srgbClr val="161B26"/>
                </a:solidFill>
                <a:latin typeface="Arial"/>
              </a:rPr>
              <a:t>4.2.3 · Discrete date parts vs values</a:t>
            </a:r>
          </a:p>
        </p:txBody>
      </p:sp>
      <p:sp>
        <p:nvSpPr>
          <p:cNvPr id="6" name="Rectangle 5"/>
          <p:cNvSpPr/>
          <p:nvPr/>
        </p:nvSpPr>
        <p:spPr>
          <a:xfrm>
            <a:off x="749808" y="1536192"/>
            <a:ext cx="106984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8096"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68096" y="1764792"/>
            <a:ext cx="82296" cy="206197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96695" y="2548890"/>
            <a:ext cx="493776" cy="49377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5"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1</a:t>
            </a:r>
          </a:p>
        </p:txBody>
      </p:sp>
      <p:sp>
        <p:nvSpPr>
          <p:cNvPr id="11" name="TextBox 10"/>
          <p:cNvSpPr txBox="1"/>
          <p:nvPr/>
        </p:nvSpPr>
        <p:spPr>
          <a:xfrm>
            <a:off x="1664207"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What it means</a:t>
            </a:r>
          </a:p>
          <a:p>
            <a:pPr algn="l">
              <a:spcAft>
                <a:spcPts val="300"/>
              </a:spcAft>
            </a:pPr>
            <a:r>
              <a:rPr sz="1200" b="0">
                <a:solidFill>
                  <a:srgbClr val="5B6372"/>
                </a:solidFill>
                <a:latin typeface="Arial"/>
              </a:rPr>
              <a:t>Date parts classify recurring members; date values preserve chronology.</a:t>
            </a:r>
          </a:p>
        </p:txBody>
      </p:sp>
      <p:sp>
        <p:nvSpPr>
          <p:cNvPr id="12" name="Rectangle 11"/>
          <p:cNvSpPr/>
          <p:nvPr/>
        </p:nvSpPr>
        <p:spPr>
          <a:xfrm>
            <a:off x="6222492"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22492" y="1764792"/>
            <a:ext cx="82296" cy="206197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51092" y="2548890"/>
            <a:ext cx="493776" cy="49377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51092"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2</a:t>
            </a:r>
          </a:p>
        </p:txBody>
      </p:sp>
      <p:sp>
        <p:nvSpPr>
          <p:cNvPr id="16" name="TextBox 15"/>
          <p:cNvSpPr txBox="1"/>
          <p:nvPr/>
        </p:nvSpPr>
        <p:spPr>
          <a:xfrm>
            <a:off x="7118604"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Use it when</a:t>
            </a:r>
          </a:p>
          <a:p>
            <a:pPr algn="l">
              <a:spcAft>
                <a:spcPts val="300"/>
              </a:spcAft>
            </a:pPr>
            <a:r>
              <a:rPr sz="1200" b="0">
                <a:solidFill>
                  <a:srgbClr val="5B6372"/>
                </a:solidFill>
                <a:latin typeface="Arial"/>
              </a:rPr>
              <a:t>Use continuous dates for timelines and parts for seasonal grouping.</a:t>
            </a:r>
          </a:p>
        </p:txBody>
      </p:sp>
      <p:sp>
        <p:nvSpPr>
          <p:cNvPr id="17" name="Rectangle 16"/>
          <p:cNvSpPr/>
          <p:nvPr/>
        </p:nvSpPr>
        <p:spPr>
          <a:xfrm>
            <a:off x="768096"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68096" y="4046220"/>
            <a:ext cx="82296" cy="206197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96695" y="4830318"/>
            <a:ext cx="493776" cy="49377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96695"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3</a:t>
            </a:r>
          </a:p>
        </p:txBody>
      </p:sp>
      <p:sp>
        <p:nvSpPr>
          <p:cNvPr id="21" name="TextBox 20"/>
          <p:cNvSpPr txBox="1"/>
          <p:nvPr/>
        </p:nvSpPr>
        <p:spPr>
          <a:xfrm>
            <a:off x="1664207"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Exam clue</a:t>
            </a:r>
          </a:p>
          <a:p>
            <a:pPr algn="l">
              <a:spcAft>
                <a:spcPts val="300"/>
              </a:spcAft>
            </a:pPr>
            <a:r>
              <a:rPr sz="1200" b="0">
                <a:solidFill>
                  <a:srgbClr val="5B6372"/>
                </a:solidFill>
                <a:latin typeface="Arial"/>
              </a:rPr>
              <a:t>Blue MONTH shows Jan-Dec; green MONTH spans time.</a:t>
            </a:r>
          </a:p>
        </p:txBody>
      </p:sp>
      <p:sp>
        <p:nvSpPr>
          <p:cNvPr id="22" name="Rectangle 21"/>
          <p:cNvSpPr/>
          <p:nvPr/>
        </p:nvSpPr>
        <p:spPr>
          <a:xfrm>
            <a:off x="6222492"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22492" y="4046220"/>
            <a:ext cx="82296" cy="206197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51092" y="4830318"/>
            <a:ext cx="493776" cy="49377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51092"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4</a:t>
            </a:r>
          </a:p>
        </p:txBody>
      </p:sp>
      <p:sp>
        <p:nvSpPr>
          <p:cNvPr id="26" name="TextBox 25"/>
          <p:cNvSpPr txBox="1"/>
          <p:nvPr/>
        </p:nvSpPr>
        <p:spPr>
          <a:xfrm>
            <a:off x="7118604"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Common pitfall</a:t>
            </a:r>
          </a:p>
          <a:p>
            <a:pPr algn="l">
              <a:spcAft>
                <a:spcPts val="300"/>
              </a:spcAft>
            </a:pPr>
            <a:r>
              <a:rPr sz="1200" b="0">
                <a:solidFill>
                  <a:srgbClr val="5B6372"/>
                </a:solidFill>
                <a:latin typeface="Arial"/>
              </a:rPr>
              <a:t>Month-only can aggregate multiple years together.</a:t>
            </a:r>
          </a:p>
        </p:txBody>
      </p:sp>
      <p:sp>
        <p:nvSpPr>
          <p:cNvPr id="27" name="TextBox 26"/>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28" name="TextBox 27"/>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29" name="TextBox 28"/>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146</a:t>
            </a:r>
          </a:p>
        </p:txBody>
      </p:sp>
    </p:spTree>
  </p:cSld>
  <p:clrMapOvr>
    <a:masterClrMapping/>
  </p:clrMapOvr>
  <p:transition spd="fast">
    <p:fade/>
  </p:transition>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37744"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47472"/>
            <a:ext cx="10698480" cy="292608"/>
          </a:xfrm>
          <a:prstGeom prst="rect">
            <a:avLst/>
          </a:prstGeom>
          <a:noFill/>
        </p:spPr>
        <p:txBody>
          <a:bodyPr wrap="square" anchor="t" lIns="54864" rIns="54864" tIns="54864" bIns="54864">
            <a:spAutoFit/>
          </a:bodyPr>
          <a:lstStyle/>
          <a:p>
            <a:pPr algn="l">
              <a:spcAft>
                <a:spcPts val="300"/>
              </a:spcAft>
            </a:pPr>
            <a:r>
              <a:rPr sz="1200" b="1">
                <a:solidFill>
                  <a:srgbClr val="F59E0B"/>
                </a:solidFill>
                <a:latin typeface="Arial"/>
              </a:rPr>
              <a:t>DOMAIN 4 · SECTION 3</a:t>
            </a:r>
          </a:p>
        </p:txBody>
      </p:sp>
      <p:sp>
        <p:nvSpPr>
          <p:cNvPr id="5" name="TextBox 4"/>
          <p:cNvSpPr txBox="1"/>
          <p:nvPr/>
        </p:nvSpPr>
        <p:spPr>
          <a:xfrm>
            <a:off x="749808" y="713232"/>
            <a:ext cx="10744200" cy="731520"/>
          </a:xfrm>
          <a:prstGeom prst="rect">
            <a:avLst/>
          </a:prstGeom>
          <a:noFill/>
        </p:spPr>
        <p:txBody>
          <a:bodyPr wrap="square" anchor="ctr" lIns="54864" rIns="54864" tIns="54864" bIns="54864">
            <a:spAutoFit/>
          </a:bodyPr>
          <a:lstStyle/>
          <a:p>
            <a:pPr algn="l">
              <a:spcAft>
                <a:spcPts val="300"/>
              </a:spcAft>
            </a:pPr>
            <a:r>
              <a:rPr sz="2700" b="1">
                <a:solidFill>
                  <a:srgbClr val="161B26"/>
                </a:solidFill>
                <a:latin typeface="Arial"/>
              </a:rPr>
              <a:t>Understand aggregations</a:t>
            </a:r>
          </a:p>
        </p:txBody>
      </p:sp>
      <p:sp>
        <p:nvSpPr>
          <p:cNvPr id="6" name="Rectangle 5"/>
          <p:cNvSpPr/>
          <p:nvPr/>
        </p:nvSpPr>
        <p:spPr>
          <a:xfrm>
            <a:off x="749808" y="1536192"/>
            <a:ext cx="106984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8096"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68096" y="1764792"/>
            <a:ext cx="82296" cy="206197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96695" y="2548890"/>
            <a:ext cx="493776" cy="49377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5"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1</a:t>
            </a:r>
          </a:p>
        </p:txBody>
      </p:sp>
      <p:sp>
        <p:nvSpPr>
          <p:cNvPr id="11" name="TextBox 10"/>
          <p:cNvSpPr txBox="1"/>
          <p:nvPr/>
        </p:nvSpPr>
        <p:spPr>
          <a:xfrm>
            <a:off x="1664207"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Default behaviour</a:t>
            </a:r>
          </a:p>
          <a:p>
            <a:pPr algn="l">
              <a:spcAft>
                <a:spcPts val="300"/>
              </a:spcAft>
            </a:pPr>
            <a:r>
              <a:rPr sz="1200" b="0">
                <a:solidFill>
                  <a:srgbClr val="5B6372"/>
                </a:solidFill>
                <a:latin typeface="Arial"/>
              </a:rPr>
              <a:t>Numeric measures usually aggregate as SUM.</a:t>
            </a:r>
          </a:p>
        </p:txBody>
      </p:sp>
      <p:sp>
        <p:nvSpPr>
          <p:cNvPr id="12" name="Rectangle 11"/>
          <p:cNvSpPr/>
          <p:nvPr/>
        </p:nvSpPr>
        <p:spPr>
          <a:xfrm>
            <a:off x="6222492"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22492" y="1764792"/>
            <a:ext cx="82296" cy="206197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51092" y="2548890"/>
            <a:ext cx="493776" cy="49377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51092"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2</a:t>
            </a:r>
          </a:p>
        </p:txBody>
      </p:sp>
      <p:sp>
        <p:nvSpPr>
          <p:cNvPr id="16" name="TextBox 15"/>
          <p:cNvSpPr txBox="1"/>
          <p:nvPr/>
        </p:nvSpPr>
        <p:spPr>
          <a:xfrm>
            <a:off x="7118604"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Grain changes result</a:t>
            </a:r>
          </a:p>
          <a:p>
            <a:pPr algn="l">
              <a:spcAft>
                <a:spcPts val="300"/>
              </a:spcAft>
            </a:pPr>
            <a:r>
              <a:rPr sz="1200" b="0">
                <a:solidFill>
                  <a:srgbClr val="5B6372"/>
                </a:solidFill>
                <a:latin typeface="Arial"/>
              </a:rPr>
              <a:t>Adding a dimension partitions rows into more marks.</a:t>
            </a:r>
          </a:p>
        </p:txBody>
      </p:sp>
      <p:sp>
        <p:nvSpPr>
          <p:cNvPr id="17" name="Rectangle 16"/>
          <p:cNvSpPr/>
          <p:nvPr/>
        </p:nvSpPr>
        <p:spPr>
          <a:xfrm>
            <a:off x="768096"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68096" y="4046220"/>
            <a:ext cx="82296" cy="206197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96695" y="4830318"/>
            <a:ext cx="493776" cy="49377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96695"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3</a:t>
            </a:r>
          </a:p>
        </p:txBody>
      </p:sp>
      <p:sp>
        <p:nvSpPr>
          <p:cNvPr id="21" name="TextBox 20"/>
          <p:cNvSpPr txBox="1"/>
          <p:nvPr/>
        </p:nvSpPr>
        <p:spPr>
          <a:xfrm>
            <a:off x="1664207"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Aggregation is contextual</a:t>
            </a:r>
          </a:p>
          <a:p>
            <a:pPr algn="l">
              <a:spcAft>
                <a:spcPts val="300"/>
              </a:spcAft>
            </a:pPr>
            <a:r>
              <a:rPr sz="1200" b="0">
                <a:solidFill>
                  <a:srgbClr val="5B6372"/>
                </a:solidFill>
                <a:latin typeface="Arial"/>
              </a:rPr>
              <a:t>The same measure differs at table, pane and cell levels.</a:t>
            </a:r>
          </a:p>
        </p:txBody>
      </p:sp>
      <p:sp>
        <p:nvSpPr>
          <p:cNvPr id="22" name="Rectangle 21"/>
          <p:cNvSpPr/>
          <p:nvPr/>
        </p:nvSpPr>
        <p:spPr>
          <a:xfrm>
            <a:off x="6222492"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22492" y="4046220"/>
            <a:ext cx="82296" cy="206197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51092" y="4830318"/>
            <a:ext cx="493776" cy="49377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51092"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4</a:t>
            </a:r>
          </a:p>
        </p:txBody>
      </p:sp>
      <p:sp>
        <p:nvSpPr>
          <p:cNvPr id="26" name="TextBox 25"/>
          <p:cNvSpPr txBox="1"/>
          <p:nvPr/>
        </p:nvSpPr>
        <p:spPr>
          <a:xfrm>
            <a:off x="7118604"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Validate totals</a:t>
            </a:r>
          </a:p>
          <a:p>
            <a:pPr algn="l">
              <a:spcAft>
                <a:spcPts val="300"/>
              </a:spcAft>
            </a:pPr>
            <a:r>
              <a:rPr sz="1200" b="0">
                <a:solidFill>
                  <a:srgbClr val="5B6372"/>
                </a:solidFill>
                <a:latin typeface="Arial"/>
              </a:rPr>
              <a:t>Ratios and distinct counts require suitable total logic.</a:t>
            </a:r>
          </a:p>
        </p:txBody>
      </p:sp>
      <p:sp>
        <p:nvSpPr>
          <p:cNvPr id="27" name="TextBox 26"/>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28" name="TextBox 27"/>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29" name="TextBox 28"/>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147</a:t>
            </a:r>
          </a:p>
        </p:txBody>
      </p:sp>
    </p:spTree>
  </p:cSld>
  <p:clrMapOvr>
    <a:masterClrMapping/>
  </p:clrMapOvr>
  <p:transition spd="fast">
    <p:fade/>
  </p:transition>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37744"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47472"/>
            <a:ext cx="10698480" cy="292608"/>
          </a:xfrm>
          <a:prstGeom prst="rect">
            <a:avLst/>
          </a:prstGeom>
          <a:noFill/>
        </p:spPr>
        <p:txBody>
          <a:bodyPr wrap="square" anchor="t" lIns="54864" rIns="54864" tIns="54864" bIns="54864">
            <a:spAutoFit/>
          </a:bodyPr>
          <a:lstStyle/>
          <a:p>
            <a:pPr algn="l">
              <a:spcAft>
                <a:spcPts val="300"/>
              </a:spcAft>
            </a:pPr>
            <a:r>
              <a:rPr sz="1200" b="1">
                <a:solidFill>
                  <a:srgbClr val="F59E0B"/>
                </a:solidFill>
                <a:latin typeface="Arial"/>
              </a:rPr>
              <a:t>CONCEPTUAL DECISION FLOW</a:t>
            </a:r>
          </a:p>
        </p:txBody>
      </p:sp>
      <p:sp>
        <p:nvSpPr>
          <p:cNvPr id="5" name="TextBox 4"/>
          <p:cNvSpPr txBox="1"/>
          <p:nvPr/>
        </p:nvSpPr>
        <p:spPr>
          <a:xfrm>
            <a:off x="749808" y="713232"/>
            <a:ext cx="10744200" cy="731520"/>
          </a:xfrm>
          <a:prstGeom prst="rect">
            <a:avLst/>
          </a:prstGeom>
          <a:noFill/>
        </p:spPr>
        <p:txBody>
          <a:bodyPr wrap="square" anchor="ctr" lIns="54864" rIns="54864" tIns="54864" bIns="54864">
            <a:spAutoFit/>
          </a:bodyPr>
          <a:lstStyle/>
          <a:p>
            <a:pPr algn="l">
              <a:spcAft>
                <a:spcPts val="300"/>
              </a:spcAft>
            </a:pPr>
            <a:r>
              <a:rPr sz="2700" b="1">
                <a:solidFill>
                  <a:srgbClr val="161B26"/>
                </a:solidFill>
                <a:latin typeface="Arial"/>
              </a:rPr>
              <a:t>Reasoning Pattern — Understand aggregations</a:t>
            </a:r>
          </a:p>
        </p:txBody>
      </p:sp>
      <p:sp>
        <p:nvSpPr>
          <p:cNvPr id="6" name="Rectangle 5"/>
          <p:cNvSpPr/>
          <p:nvPr/>
        </p:nvSpPr>
        <p:spPr>
          <a:xfrm>
            <a:off x="749808" y="1536192"/>
            <a:ext cx="106984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8096" y="2057400"/>
            <a:ext cx="1947672" cy="2971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68096" y="2057400"/>
            <a:ext cx="194767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76172" y="2423160"/>
            <a:ext cx="731520" cy="7315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6172" y="2423160"/>
            <a:ext cx="731520" cy="731520"/>
          </a:xfrm>
          <a:prstGeom prst="rect">
            <a:avLst/>
          </a:prstGeom>
          <a:noFill/>
        </p:spPr>
        <p:txBody>
          <a:bodyPr wrap="square" anchor="ctr" lIns="54864" rIns="54864" tIns="54864" bIns="54864">
            <a:spAutoFit/>
          </a:bodyPr>
          <a:lstStyle/>
          <a:p>
            <a:pPr algn="ctr">
              <a:spcAft>
                <a:spcPts val="300"/>
              </a:spcAft>
            </a:pPr>
            <a:r>
              <a:rPr sz="2400" b="1">
                <a:solidFill>
                  <a:srgbClr val="FFFFFF"/>
                </a:solidFill>
                <a:latin typeface="Arial"/>
              </a:rPr>
              <a:t>1</a:t>
            </a:r>
          </a:p>
        </p:txBody>
      </p:sp>
      <p:sp>
        <p:nvSpPr>
          <p:cNvPr id="11" name="TextBox 10"/>
          <p:cNvSpPr txBox="1"/>
          <p:nvPr/>
        </p:nvSpPr>
        <p:spPr>
          <a:xfrm>
            <a:off x="877824" y="3429000"/>
            <a:ext cx="1728216" cy="1143000"/>
          </a:xfrm>
          <a:prstGeom prst="rect">
            <a:avLst/>
          </a:prstGeom>
          <a:noFill/>
        </p:spPr>
        <p:txBody>
          <a:bodyPr wrap="square" anchor="ctr" lIns="54864" rIns="54864" tIns="54864" bIns="54864">
            <a:spAutoFit/>
          </a:bodyPr>
          <a:lstStyle/>
          <a:p>
            <a:pPr algn="ctr">
              <a:spcAft>
                <a:spcPts val="300"/>
              </a:spcAft>
            </a:pPr>
            <a:r>
              <a:rPr sz="1250" b="0">
                <a:solidFill>
                  <a:srgbClr val="161B26"/>
                </a:solidFill>
                <a:latin typeface="Arial"/>
              </a:rPr>
              <a:t>Default behaviour</a:t>
            </a:r>
          </a:p>
        </p:txBody>
      </p:sp>
      <p:sp>
        <p:nvSpPr>
          <p:cNvPr id="12" name="TextBox 11"/>
          <p:cNvSpPr txBox="1"/>
          <p:nvPr/>
        </p:nvSpPr>
        <p:spPr>
          <a:xfrm>
            <a:off x="2697479" y="3246120"/>
            <a:ext cx="274320" cy="365760"/>
          </a:xfrm>
          <a:prstGeom prst="rect">
            <a:avLst/>
          </a:prstGeom>
          <a:noFill/>
        </p:spPr>
        <p:txBody>
          <a:bodyPr wrap="square" anchor="t" lIns="54864" rIns="54864" tIns="54864" bIns="54864">
            <a:spAutoFit/>
          </a:bodyPr>
          <a:lstStyle/>
          <a:p>
            <a:pPr algn="ctr">
              <a:spcAft>
                <a:spcPts val="300"/>
              </a:spcAft>
            </a:pPr>
            <a:r>
              <a:rPr sz="1200" b="1">
                <a:solidFill>
                  <a:srgbClr val="F59E0B"/>
                </a:solidFill>
                <a:latin typeface="Arial"/>
              </a:rPr>
              <a:t>▶</a:t>
            </a:r>
          </a:p>
        </p:txBody>
      </p:sp>
      <p:sp>
        <p:nvSpPr>
          <p:cNvPr id="13" name="Rectangle 12"/>
          <p:cNvSpPr/>
          <p:nvPr/>
        </p:nvSpPr>
        <p:spPr>
          <a:xfrm>
            <a:off x="2944368" y="2057400"/>
            <a:ext cx="1947672" cy="2971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44368" y="2057400"/>
            <a:ext cx="194767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52444" y="2423160"/>
            <a:ext cx="731520" cy="7315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52444" y="2423160"/>
            <a:ext cx="731520" cy="731520"/>
          </a:xfrm>
          <a:prstGeom prst="rect">
            <a:avLst/>
          </a:prstGeom>
          <a:noFill/>
        </p:spPr>
        <p:txBody>
          <a:bodyPr wrap="square" anchor="ctr" lIns="54864" rIns="54864" tIns="54864" bIns="54864">
            <a:spAutoFit/>
          </a:bodyPr>
          <a:lstStyle/>
          <a:p>
            <a:pPr algn="ctr">
              <a:spcAft>
                <a:spcPts val="300"/>
              </a:spcAft>
            </a:pPr>
            <a:r>
              <a:rPr sz="2400" b="1">
                <a:solidFill>
                  <a:srgbClr val="FFFFFF"/>
                </a:solidFill>
                <a:latin typeface="Arial"/>
              </a:rPr>
              <a:t>2</a:t>
            </a:r>
          </a:p>
        </p:txBody>
      </p:sp>
      <p:sp>
        <p:nvSpPr>
          <p:cNvPr id="17" name="TextBox 16"/>
          <p:cNvSpPr txBox="1"/>
          <p:nvPr/>
        </p:nvSpPr>
        <p:spPr>
          <a:xfrm>
            <a:off x="3054096" y="3429000"/>
            <a:ext cx="1728216" cy="1143000"/>
          </a:xfrm>
          <a:prstGeom prst="rect">
            <a:avLst/>
          </a:prstGeom>
          <a:noFill/>
        </p:spPr>
        <p:txBody>
          <a:bodyPr wrap="square" anchor="ctr" lIns="54864" rIns="54864" tIns="54864" bIns="54864">
            <a:spAutoFit/>
          </a:bodyPr>
          <a:lstStyle/>
          <a:p>
            <a:pPr algn="ctr">
              <a:spcAft>
                <a:spcPts val="300"/>
              </a:spcAft>
            </a:pPr>
            <a:r>
              <a:rPr sz="1250" b="0">
                <a:solidFill>
                  <a:srgbClr val="161B26"/>
                </a:solidFill>
                <a:latin typeface="Arial"/>
              </a:rPr>
              <a:t>Grain changes result</a:t>
            </a:r>
          </a:p>
        </p:txBody>
      </p:sp>
      <p:sp>
        <p:nvSpPr>
          <p:cNvPr id="18" name="TextBox 17"/>
          <p:cNvSpPr txBox="1"/>
          <p:nvPr/>
        </p:nvSpPr>
        <p:spPr>
          <a:xfrm>
            <a:off x="4873752" y="3246120"/>
            <a:ext cx="274320" cy="365760"/>
          </a:xfrm>
          <a:prstGeom prst="rect">
            <a:avLst/>
          </a:prstGeom>
          <a:noFill/>
        </p:spPr>
        <p:txBody>
          <a:bodyPr wrap="square" anchor="t" lIns="54864" rIns="54864" tIns="54864" bIns="54864">
            <a:spAutoFit/>
          </a:bodyPr>
          <a:lstStyle/>
          <a:p>
            <a:pPr algn="ctr">
              <a:spcAft>
                <a:spcPts val="300"/>
              </a:spcAft>
            </a:pPr>
            <a:r>
              <a:rPr sz="1200" b="1">
                <a:solidFill>
                  <a:srgbClr val="F59E0B"/>
                </a:solidFill>
                <a:latin typeface="Arial"/>
              </a:rPr>
              <a:t>▶</a:t>
            </a:r>
          </a:p>
        </p:txBody>
      </p:sp>
      <p:sp>
        <p:nvSpPr>
          <p:cNvPr id="19" name="Rectangle 18"/>
          <p:cNvSpPr/>
          <p:nvPr/>
        </p:nvSpPr>
        <p:spPr>
          <a:xfrm>
            <a:off x="5120640" y="2057400"/>
            <a:ext cx="1947672" cy="2971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0" y="2057400"/>
            <a:ext cx="194767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28715" y="2423160"/>
            <a:ext cx="731520" cy="7315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28715" y="2423160"/>
            <a:ext cx="731520" cy="731520"/>
          </a:xfrm>
          <a:prstGeom prst="rect">
            <a:avLst/>
          </a:prstGeom>
          <a:noFill/>
        </p:spPr>
        <p:txBody>
          <a:bodyPr wrap="square" anchor="ctr" lIns="54864" rIns="54864" tIns="54864" bIns="54864">
            <a:spAutoFit/>
          </a:bodyPr>
          <a:lstStyle/>
          <a:p>
            <a:pPr algn="ctr">
              <a:spcAft>
                <a:spcPts val="300"/>
              </a:spcAft>
            </a:pPr>
            <a:r>
              <a:rPr sz="2400" b="1">
                <a:solidFill>
                  <a:srgbClr val="FFFFFF"/>
                </a:solidFill>
                <a:latin typeface="Arial"/>
              </a:rPr>
              <a:t>3</a:t>
            </a:r>
          </a:p>
        </p:txBody>
      </p:sp>
      <p:sp>
        <p:nvSpPr>
          <p:cNvPr id="23" name="TextBox 22"/>
          <p:cNvSpPr txBox="1"/>
          <p:nvPr/>
        </p:nvSpPr>
        <p:spPr>
          <a:xfrm>
            <a:off x="5230368" y="3429000"/>
            <a:ext cx="1728216" cy="1143000"/>
          </a:xfrm>
          <a:prstGeom prst="rect">
            <a:avLst/>
          </a:prstGeom>
          <a:noFill/>
        </p:spPr>
        <p:txBody>
          <a:bodyPr wrap="square" anchor="ctr" lIns="54864" rIns="54864" tIns="54864" bIns="54864">
            <a:spAutoFit/>
          </a:bodyPr>
          <a:lstStyle/>
          <a:p>
            <a:pPr algn="ctr">
              <a:spcAft>
                <a:spcPts val="300"/>
              </a:spcAft>
            </a:pPr>
            <a:r>
              <a:rPr sz="1250" b="0">
                <a:solidFill>
                  <a:srgbClr val="161B26"/>
                </a:solidFill>
                <a:latin typeface="Arial"/>
              </a:rPr>
              <a:t>Aggregation is contextual</a:t>
            </a:r>
          </a:p>
        </p:txBody>
      </p:sp>
      <p:sp>
        <p:nvSpPr>
          <p:cNvPr id="24" name="TextBox 23"/>
          <p:cNvSpPr txBox="1"/>
          <p:nvPr/>
        </p:nvSpPr>
        <p:spPr>
          <a:xfrm>
            <a:off x="7050024" y="3246120"/>
            <a:ext cx="274320" cy="365760"/>
          </a:xfrm>
          <a:prstGeom prst="rect">
            <a:avLst/>
          </a:prstGeom>
          <a:noFill/>
        </p:spPr>
        <p:txBody>
          <a:bodyPr wrap="square" anchor="t" lIns="54864" rIns="54864" tIns="54864" bIns="54864">
            <a:spAutoFit/>
          </a:bodyPr>
          <a:lstStyle/>
          <a:p>
            <a:pPr algn="ctr">
              <a:spcAft>
                <a:spcPts val="300"/>
              </a:spcAft>
            </a:pPr>
            <a:r>
              <a:rPr sz="1200" b="1">
                <a:solidFill>
                  <a:srgbClr val="F59E0B"/>
                </a:solidFill>
                <a:latin typeface="Arial"/>
              </a:rPr>
              <a:t>▶</a:t>
            </a:r>
          </a:p>
        </p:txBody>
      </p:sp>
      <p:sp>
        <p:nvSpPr>
          <p:cNvPr id="25" name="Rectangle 24"/>
          <p:cNvSpPr/>
          <p:nvPr/>
        </p:nvSpPr>
        <p:spPr>
          <a:xfrm>
            <a:off x="7296912" y="2057400"/>
            <a:ext cx="1947672" cy="2971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296912" y="2057400"/>
            <a:ext cx="194767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04988" y="2423160"/>
            <a:ext cx="731520" cy="7315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4988" y="2423160"/>
            <a:ext cx="731520" cy="731520"/>
          </a:xfrm>
          <a:prstGeom prst="rect">
            <a:avLst/>
          </a:prstGeom>
          <a:noFill/>
        </p:spPr>
        <p:txBody>
          <a:bodyPr wrap="square" anchor="ctr" lIns="54864" rIns="54864" tIns="54864" bIns="54864">
            <a:spAutoFit/>
          </a:bodyPr>
          <a:lstStyle/>
          <a:p>
            <a:pPr algn="ctr">
              <a:spcAft>
                <a:spcPts val="300"/>
              </a:spcAft>
            </a:pPr>
            <a:r>
              <a:rPr sz="2400" b="1">
                <a:solidFill>
                  <a:srgbClr val="FFFFFF"/>
                </a:solidFill>
                <a:latin typeface="Arial"/>
              </a:rPr>
              <a:t>4</a:t>
            </a:r>
          </a:p>
        </p:txBody>
      </p:sp>
      <p:sp>
        <p:nvSpPr>
          <p:cNvPr id="29" name="TextBox 28"/>
          <p:cNvSpPr txBox="1"/>
          <p:nvPr/>
        </p:nvSpPr>
        <p:spPr>
          <a:xfrm>
            <a:off x="7406640" y="3429000"/>
            <a:ext cx="1728216" cy="1143000"/>
          </a:xfrm>
          <a:prstGeom prst="rect">
            <a:avLst/>
          </a:prstGeom>
          <a:noFill/>
        </p:spPr>
        <p:txBody>
          <a:bodyPr wrap="square" anchor="ctr" lIns="54864" rIns="54864" tIns="54864" bIns="54864">
            <a:spAutoFit/>
          </a:bodyPr>
          <a:lstStyle/>
          <a:p>
            <a:pPr algn="ctr">
              <a:spcAft>
                <a:spcPts val="300"/>
              </a:spcAft>
            </a:pPr>
            <a:r>
              <a:rPr sz="1250" b="0">
                <a:solidFill>
                  <a:srgbClr val="161B26"/>
                </a:solidFill>
                <a:latin typeface="Arial"/>
              </a:rPr>
              <a:t>Validate totals</a:t>
            </a:r>
          </a:p>
        </p:txBody>
      </p:sp>
      <p:sp>
        <p:nvSpPr>
          <p:cNvPr id="30" name="TextBox 29"/>
          <p:cNvSpPr txBox="1"/>
          <p:nvPr/>
        </p:nvSpPr>
        <p:spPr>
          <a:xfrm>
            <a:off x="9226296" y="3246120"/>
            <a:ext cx="274320" cy="365760"/>
          </a:xfrm>
          <a:prstGeom prst="rect">
            <a:avLst/>
          </a:prstGeom>
          <a:noFill/>
        </p:spPr>
        <p:txBody>
          <a:bodyPr wrap="square" anchor="t" lIns="54864" rIns="54864" tIns="54864" bIns="54864">
            <a:spAutoFit/>
          </a:bodyPr>
          <a:lstStyle/>
          <a:p>
            <a:pPr algn="ctr">
              <a:spcAft>
                <a:spcPts val="300"/>
              </a:spcAft>
            </a:pPr>
            <a:r>
              <a:rPr sz="1200" b="1">
                <a:solidFill>
                  <a:srgbClr val="F59E0B"/>
                </a:solidFill>
                <a:latin typeface="Arial"/>
              </a:rPr>
              <a:t>▶</a:t>
            </a:r>
          </a:p>
        </p:txBody>
      </p:sp>
      <p:sp>
        <p:nvSpPr>
          <p:cNvPr id="31" name="Rectangle 30"/>
          <p:cNvSpPr/>
          <p:nvPr/>
        </p:nvSpPr>
        <p:spPr>
          <a:xfrm>
            <a:off x="9473184" y="2057400"/>
            <a:ext cx="1947672" cy="2971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473184" y="2057400"/>
            <a:ext cx="194767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81259" y="2423160"/>
            <a:ext cx="731520" cy="7315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81259" y="2423160"/>
            <a:ext cx="731520" cy="731520"/>
          </a:xfrm>
          <a:prstGeom prst="rect">
            <a:avLst/>
          </a:prstGeom>
          <a:noFill/>
        </p:spPr>
        <p:txBody>
          <a:bodyPr wrap="square" anchor="ctr" lIns="54864" rIns="54864" tIns="54864" bIns="54864">
            <a:spAutoFit/>
          </a:bodyPr>
          <a:lstStyle/>
          <a:p>
            <a:pPr algn="ctr">
              <a:spcAft>
                <a:spcPts val="300"/>
              </a:spcAft>
            </a:pPr>
            <a:r>
              <a:rPr sz="2400" b="1">
                <a:solidFill>
                  <a:srgbClr val="FFFFFF"/>
                </a:solidFill>
                <a:latin typeface="Arial"/>
              </a:rPr>
              <a:t>5</a:t>
            </a:r>
          </a:p>
        </p:txBody>
      </p:sp>
      <p:sp>
        <p:nvSpPr>
          <p:cNvPr id="35" name="TextBox 34"/>
          <p:cNvSpPr txBox="1"/>
          <p:nvPr/>
        </p:nvSpPr>
        <p:spPr>
          <a:xfrm>
            <a:off x="9582911" y="3429000"/>
            <a:ext cx="1728216" cy="1143000"/>
          </a:xfrm>
          <a:prstGeom prst="rect">
            <a:avLst/>
          </a:prstGeom>
          <a:noFill/>
        </p:spPr>
        <p:txBody>
          <a:bodyPr wrap="square" anchor="ctr" lIns="54864" rIns="54864" tIns="54864" bIns="54864">
            <a:spAutoFit/>
          </a:bodyPr>
          <a:lstStyle/>
          <a:p>
            <a:pPr algn="ctr">
              <a:spcAft>
                <a:spcPts val="300"/>
              </a:spcAft>
            </a:pPr>
            <a:r>
              <a:rPr sz="1250" b="0">
                <a:solidFill>
                  <a:srgbClr val="161B26"/>
                </a:solidFill>
                <a:latin typeface="Arial"/>
              </a:rPr>
              <a:t>Validate result</a:t>
            </a:r>
          </a:p>
        </p:txBody>
      </p:sp>
      <p:sp>
        <p:nvSpPr>
          <p:cNvPr id="36" name="TextBox 35"/>
          <p:cNvSpPr txBox="1"/>
          <p:nvPr/>
        </p:nvSpPr>
        <p:spPr>
          <a:xfrm>
            <a:off x="777240" y="5394960"/>
            <a:ext cx="10607040" cy="411480"/>
          </a:xfrm>
          <a:prstGeom prst="rect">
            <a:avLst/>
          </a:prstGeom>
          <a:noFill/>
        </p:spPr>
        <p:txBody>
          <a:bodyPr wrap="square" anchor="t" lIns="54864" rIns="54864" tIns="54864" bIns="54864">
            <a:spAutoFit/>
          </a:bodyPr>
          <a:lstStyle/>
          <a:p>
            <a:pPr algn="ctr">
              <a:spcAft>
                <a:spcPts val="300"/>
              </a:spcAft>
            </a:pPr>
            <a:r>
              <a:rPr sz="1250" b="0">
                <a:solidFill>
                  <a:srgbClr val="5B6372"/>
                </a:solidFill>
                <a:latin typeface="Arial"/>
              </a:rPr>
              <a:t>This is a reasoning map, not a click-by-click lab procedure.</a:t>
            </a:r>
          </a:p>
        </p:txBody>
      </p:sp>
      <p:sp>
        <p:nvSpPr>
          <p:cNvPr id="37" name="TextBox 36"/>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38" name="TextBox 37"/>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39" name="TextBox 38"/>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148</a:t>
            </a:r>
          </a:p>
        </p:txBody>
      </p:sp>
    </p:spTree>
  </p:cSld>
  <p:clrMapOvr>
    <a:masterClrMapping/>
  </p:clrMapOvr>
  <p:transition spd="fast">
    <p:fade/>
  </p:transition>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37744"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47472"/>
            <a:ext cx="10698480" cy="292608"/>
          </a:xfrm>
          <a:prstGeom prst="rect">
            <a:avLst/>
          </a:prstGeom>
          <a:noFill/>
        </p:spPr>
        <p:txBody>
          <a:bodyPr wrap="square" anchor="t" lIns="54864" rIns="54864" tIns="54864" bIns="54864">
            <a:spAutoFit/>
          </a:bodyPr>
          <a:lstStyle/>
          <a:p>
            <a:pPr algn="l">
              <a:spcAft>
                <a:spcPts val="300"/>
              </a:spcAft>
            </a:pPr>
            <a:r>
              <a:rPr sz="1200" b="1">
                <a:solidFill>
                  <a:srgbClr val="F59E0B"/>
                </a:solidFill>
                <a:latin typeface="Arial"/>
              </a:rPr>
              <a:t>OFFICIAL OBJECTIVE · DOMAIN 4</a:t>
            </a:r>
          </a:p>
        </p:txBody>
      </p:sp>
      <p:sp>
        <p:nvSpPr>
          <p:cNvPr id="5" name="TextBox 4"/>
          <p:cNvSpPr txBox="1"/>
          <p:nvPr/>
        </p:nvSpPr>
        <p:spPr>
          <a:xfrm>
            <a:off x="749808" y="713232"/>
            <a:ext cx="10744200" cy="731520"/>
          </a:xfrm>
          <a:prstGeom prst="rect">
            <a:avLst/>
          </a:prstGeom>
          <a:noFill/>
        </p:spPr>
        <p:txBody>
          <a:bodyPr wrap="square" anchor="ctr" lIns="54864" rIns="54864" tIns="54864" bIns="54864">
            <a:spAutoFit/>
          </a:bodyPr>
          <a:lstStyle/>
          <a:p>
            <a:pPr algn="l">
              <a:spcAft>
                <a:spcPts val="300"/>
              </a:spcAft>
            </a:pPr>
            <a:r>
              <a:rPr sz="2700" b="1">
                <a:solidFill>
                  <a:srgbClr val="161B26"/>
                </a:solidFill>
                <a:latin typeface="Arial"/>
              </a:rPr>
              <a:t>4.3.1 · Default aggregation</a:t>
            </a:r>
          </a:p>
        </p:txBody>
      </p:sp>
      <p:sp>
        <p:nvSpPr>
          <p:cNvPr id="6" name="Rectangle 5"/>
          <p:cNvSpPr/>
          <p:nvPr/>
        </p:nvSpPr>
        <p:spPr>
          <a:xfrm>
            <a:off x="749808" y="1536192"/>
            <a:ext cx="106984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8096"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68096" y="1764792"/>
            <a:ext cx="82296" cy="206197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96695" y="2548890"/>
            <a:ext cx="493776" cy="49377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5"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1</a:t>
            </a:r>
          </a:p>
        </p:txBody>
      </p:sp>
      <p:sp>
        <p:nvSpPr>
          <p:cNvPr id="11" name="TextBox 10"/>
          <p:cNvSpPr txBox="1"/>
          <p:nvPr/>
        </p:nvSpPr>
        <p:spPr>
          <a:xfrm>
            <a:off x="1664207"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What it means</a:t>
            </a:r>
          </a:p>
          <a:p>
            <a:pPr algn="l">
              <a:spcAft>
                <a:spcPts val="300"/>
              </a:spcAft>
            </a:pPr>
            <a:r>
              <a:rPr sz="1200" b="0">
                <a:solidFill>
                  <a:srgbClr val="5B6372"/>
                </a:solidFill>
                <a:latin typeface="Arial"/>
              </a:rPr>
              <a:t>Measures aggregate to the current grain, commonly using SUM.</a:t>
            </a:r>
          </a:p>
        </p:txBody>
      </p:sp>
      <p:sp>
        <p:nvSpPr>
          <p:cNvPr id="12" name="Rectangle 11"/>
          <p:cNvSpPr/>
          <p:nvPr/>
        </p:nvSpPr>
        <p:spPr>
          <a:xfrm>
            <a:off x="6222492"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22492" y="1764792"/>
            <a:ext cx="82296" cy="206197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51092" y="2548890"/>
            <a:ext cx="493776" cy="49377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51092"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2</a:t>
            </a:r>
          </a:p>
        </p:txBody>
      </p:sp>
      <p:sp>
        <p:nvSpPr>
          <p:cNvPr id="16" name="TextBox 15"/>
          <p:cNvSpPr txBox="1"/>
          <p:nvPr/>
        </p:nvSpPr>
        <p:spPr>
          <a:xfrm>
            <a:off x="7118604"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Use it when</a:t>
            </a:r>
          </a:p>
          <a:p>
            <a:pPr algn="l">
              <a:spcAft>
                <a:spcPts val="300"/>
              </a:spcAft>
            </a:pPr>
            <a:r>
              <a:rPr sz="1200" b="0">
                <a:solidFill>
                  <a:srgbClr val="5B6372"/>
                </a:solidFill>
                <a:latin typeface="Arial"/>
              </a:rPr>
              <a:t>Change to AVG, MIN, MAX, COUNT or another appropriate operation.</a:t>
            </a:r>
          </a:p>
        </p:txBody>
      </p:sp>
      <p:sp>
        <p:nvSpPr>
          <p:cNvPr id="17" name="Rectangle 16"/>
          <p:cNvSpPr/>
          <p:nvPr/>
        </p:nvSpPr>
        <p:spPr>
          <a:xfrm>
            <a:off x="768096"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68096" y="4046220"/>
            <a:ext cx="82296" cy="206197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96695" y="4830318"/>
            <a:ext cx="493776" cy="49377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96695"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3</a:t>
            </a:r>
          </a:p>
        </p:txBody>
      </p:sp>
      <p:sp>
        <p:nvSpPr>
          <p:cNvPr id="21" name="TextBox 20"/>
          <p:cNvSpPr txBox="1"/>
          <p:nvPr/>
        </p:nvSpPr>
        <p:spPr>
          <a:xfrm>
            <a:off x="1664207"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Exam clue</a:t>
            </a:r>
          </a:p>
          <a:p>
            <a:pPr algn="l">
              <a:spcAft>
                <a:spcPts val="300"/>
              </a:spcAft>
            </a:pPr>
            <a:r>
              <a:rPr sz="1200" b="0">
                <a:solidFill>
                  <a:srgbClr val="5B6372"/>
                </a:solidFill>
                <a:latin typeface="Arial"/>
              </a:rPr>
              <a:t>The pill shows the active aggregation, such as SUM(Sales).</a:t>
            </a:r>
          </a:p>
        </p:txBody>
      </p:sp>
      <p:sp>
        <p:nvSpPr>
          <p:cNvPr id="22" name="Rectangle 21"/>
          <p:cNvSpPr/>
          <p:nvPr/>
        </p:nvSpPr>
        <p:spPr>
          <a:xfrm>
            <a:off x="6222492"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22492" y="4046220"/>
            <a:ext cx="82296" cy="206197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51092" y="4830318"/>
            <a:ext cx="493776" cy="49377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51092"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4</a:t>
            </a:r>
          </a:p>
        </p:txBody>
      </p:sp>
      <p:sp>
        <p:nvSpPr>
          <p:cNvPr id="26" name="TextBox 25"/>
          <p:cNvSpPr txBox="1"/>
          <p:nvPr/>
        </p:nvSpPr>
        <p:spPr>
          <a:xfrm>
            <a:off x="7118604"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Common pitfall</a:t>
            </a:r>
          </a:p>
          <a:p>
            <a:pPr algn="l">
              <a:spcAft>
                <a:spcPts val="300"/>
              </a:spcAft>
            </a:pPr>
            <a:r>
              <a:rPr sz="1200" b="0">
                <a:solidFill>
                  <a:srgbClr val="5B6372"/>
                </a:solidFill>
                <a:latin typeface="Arial"/>
              </a:rPr>
              <a:t>Number format and aggregation are separate.</a:t>
            </a:r>
          </a:p>
        </p:txBody>
      </p:sp>
      <p:sp>
        <p:nvSpPr>
          <p:cNvPr id="27" name="TextBox 26"/>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28" name="TextBox 27"/>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29" name="TextBox 28"/>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149</a:t>
            </a:r>
          </a:p>
        </p:txBody>
      </p:sp>
    </p:spTree>
  </p:cSld>
  <p:clrMapOvr>
    <a:masterClrMapping/>
  </p:clrMapOvr>
  <p:transition spd="fast">
    <p:fade/>
  </p:transition>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37744"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47472"/>
            <a:ext cx="10698480" cy="292608"/>
          </a:xfrm>
          <a:prstGeom prst="rect">
            <a:avLst/>
          </a:prstGeom>
          <a:noFill/>
        </p:spPr>
        <p:txBody>
          <a:bodyPr wrap="square" anchor="t" lIns="54864" rIns="54864" tIns="54864" bIns="54864">
            <a:spAutoFit/>
          </a:bodyPr>
          <a:lstStyle/>
          <a:p>
            <a:pPr algn="l">
              <a:spcAft>
                <a:spcPts val="300"/>
              </a:spcAft>
            </a:pPr>
            <a:r>
              <a:rPr sz="1200" b="1">
                <a:solidFill>
                  <a:srgbClr val="F59E0B"/>
                </a:solidFill>
                <a:latin typeface="Arial"/>
              </a:rPr>
              <a:t>OFFICIAL OBJECTIVE · DOMAIN 4</a:t>
            </a:r>
          </a:p>
        </p:txBody>
      </p:sp>
      <p:sp>
        <p:nvSpPr>
          <p:cNvPr id="5" name="TextBox 4"/>
          <p:cNvSpPr txBox="1"/>
          <p:nvPr/>
        </p:nvSpPr>
        <p:spPr>
          <a:xfrm>
            <a:off x="749808" y="713232"/>
            <a:ext cx="10744200" cy="731520"/>
          </a:xfrm>
          <a:prstGeom prst="rect">
            <a:avLst/>
          </a:prstGeom>
          <a:noFill/>
        </p:spPr>
        <p:txBody>
          <a:bodyPr wrap="square" anchor="ctr" lIns="54864" rIns="54864" tIns="54864" bIns="54864">
            <a:spAutoFit/>
          </a:bodyPr>
          <a:lstStyle/>
          <a:p>
            <a:pPr algn="l">
              <a:spcAft>
                <a:spcPts val="300"/>
              </a:spcAft>
            </a:pPr>
            <a:r>
              <a:rPr sz="2700" b="1">
                <a:solidFill>
                  <a:srgbClr val="161B26"/>
                </a:solidFill>
                <a:latin typeface="Arial"/>
              </a:rPr>
              <a:t>4.3.2 · How dimensions change aggregation</a:t>
            </a:r>
          </a:p>
        </p:txBody>
      </p:sp>
      <p:sp>
        <p:nvSpPr>
          <p:cNvPr id="6" name="Rectangle 5"/>
          <p:cNvSpPr/>
          <p:nvPr/>
        </p:nvSpPr>
        <p:spPr>
          <a:xfrm>
            <a:off x="749808" y="1536192"/>
            <a:ext cx="106984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8096"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68096" y="1764792"/>
            <a:ext cx="82296" cy="206197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96695" y="2548890"/>
            <a:ext cx="493776" cy="49377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5"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1</a:t>
            </a:r>
          </a:p>
        </p:txBody>
      </p:sp>
      <p:sp>
        <p:nvSpPr>
          <p:cNvPr id="11" name="TextBox 10"/>
          <p:cNvSpPr txBox="1"/>
          <p:nvPr/>
        </p:nvSpPr>
        <p:spPr>
          <a:xfrm>
            <a:off x="1664207"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What it means</a:t>
            </a:r>
          </a:p>
          <a:p>
            <a:pPr algn="l">
              <a:spcAft>
                <a:spcPts val="300"/>
              </a:spcAft>
            </a:pPr>
            <a:r>
              <a:rPr sz="1200" b="0">
                <a:solidFill>
                  <a:srgbClr val="5B6372"/>
                </a:solidFill>
                <a:latin typeface="Arial"/>
              </a:rPr>
              <a:t>Each dimension partitions data into a finer detail.</a:t>
            </a:r>
          </a:p>
        </p:txBody>
      </p:sp>
      <p:sp>
        <p:nvSpPr>
          <p:cNvPr id="12" name="Rectangle 11"/>
          <p:cNvSpPr/>
          <p:nvPr/>
        </p:nvSpPr>
        <p:spPr>
          <a:xfrm>
            <a:off x="6222492"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22492" y="1764792"/>
            <a:ext cx="82296" cy="206197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51092" y="2548890"/>
            <a:ext cx="493776" cy="49377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51092"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2</a:t>
            </a:r>
          </a:p>
        </p:txBody>
      </p:sp>
      <p:sp>
        <p:nvSpPr>
          <p:cNvPr id="16" name="TextBox 15"/>
          <p:cNvSpPr txBox="1"/>
          <p:nvPr/>
        </p:nvSpPr>
        <p:spPr>
          <a:xfrm>
            <a:off x="7118604"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Use it when</a:t>
            </a:r>
          </a:p>
          <a:p>
            <a:pPr algn="l">
              <a:spcAft>
                <a:spcPts val="300"/>
              </a:spcAft>
            </a:pPr>
            <a:r>
              <a:rPr sz="1200" b="0">
                <a:solidFill>
                  <a:srgbClr val="5B6372"/>
                </a:solidFill>
                <a:latin typeface="Arial"/>
              </a:rPr>
              <a:t>Use dimensions deliberately to answer the required breakdown.</a:t>
            </a:r>
          </a:p>
        </p:txBody>
      </p:sp>
      <p:sp>
        <p:nvSpPr>
          <p:cNvPr id="17" name="Rectangle 16"/>
          <p:cNvSpPr/>
          <p:nvPr/>
        </p:nvSpPr>
        <p:spPr>
          <a:xfrm>
            <a:off x="768096"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68096" y="4046220"/>
            <a:ext cx="82296" cy="206197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96695" y="4830318"/>
            <a:ext cx="493776" cy="49377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96695"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3</a:t>
            </a:r>
          </a:p>
        </p:txBody>
      </p:sp>
      <p:sp>
        <p:nvSpPr>
          <p:cNvPr id="21" name="TextBox 20"/>
          <p:cNvSpPr txBox="1"/>
          <p:nvPr/>
        </p:nvSpPr>
        <p:spPr>
          <a:xfrm>
            <a:off x="1664207"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Exam clue</a:t>
            </a:r>
          </a:p>
          <a:p>
            <a:pPr algn="l">
              <a:spcAft>
                <a:spcPts val="300"/>
              </a:spcAft>
            </a:pPr>
            <a:r>
              <a:rPr sz="1200" b="0">
                <a:solidFill>
                  <a:srgbClr val="5B6372"/>
                </a:solidFill>
                <a:latin typeface="Arial"/>
              </a:rPr>
              <a:t>SUM(Sales) by Region differs from Region and Customer.</a:t>
            </a:r>
          </a:p>
        </p:txBody>
      </p:sp>
      <p:sp>
        <p:nvSpPr>
          <p:cNvPr id="22" name="Rectangle 21"/>
          <p:cNvSpPr/>
          <p:nvPr/>
        </p:nvSpPr>
        <p:spPr>
          <a:xfrm>
            <a:off x="6222492"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22492" y="4046220"/>
            <a:ext cx="82296" cy="206197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51092" y="4830318"/>
            <a:ext cx="493776" cy="49377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51092"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4</a:t>
            </a:r>
          </a:p>
        </p:txBody>
      </p:sp>
      <p:sp>
        <p:nvSpPr>
          <p:cNvPr id="26" name="TextBox 25"/>
          <p:cNvSpPr txBox="1"/>
          <p:nvPr/>
        </p:nvSpPr>
        <p:spPr>
          <a:xfrm>
            <a:off x="7118604"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Common pitfall</a:t>
            </a:r>
          </a:p>
          <a:p>
            <a:pPr algn="l">
              <a:spcAft>
                <a:spcPts val="300"/>
              </a:spcAft>
            </a:pPr>
            <a:r>
              <a:rPr sz="1200" b="0">
                <a:solidFill>
                  <a:srgbClr val="5B6372"/>
                </a:solidFill>
                <a:latin typeface="Arial"/>
              </a:rPr>
              <a:t>Unexpected totals may signal duplicated model rows or unintended dimensions.</a:t>
            </a:r>
          </a:p>
        </p:txBody>
      </p:sp>
      <p:sp>
        <p:nvSpPr>
          <p:cNvPr id="27" name="TextBox 26"/>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28" name="TextBox 27"/>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29" name="TextBox 28"/>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150</a:t>
            </a:r>
          </a:p>
        </p:txBody>
      </p:sp>
    </p:spTree>
  </p:cSld>
  <p:clrMapOvr>
    <a:masterClrMapping/>
  </p:clrMapOvr>
  <p:transition spd="fast">
    <p:fade/>
  </p:transition>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37744"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47472"/>
            <a:ext cx="10698480" cy="292608"/>
          </a:xfrm>
          <a:prstGeom prst="rect">
            <a:avLst/>
          </a:prstGeom>
          <a:noFill/>
        </p:spPr>
        <p:txBody>
          <a:bodyPr wrap="square" anchor="t" lIns="54864" rIns="54864" tIns="54864" bIns="54864">
            <a:spAutoFit/>
          </a:bodyPr>
          <a:lstStyle/>
          <a:p>
            <a:pPr algn="l">
              <a:spcAft>
                <a:spcPts val="300"/>
              </a:spcAft>
            </a:pPr>
            <a:r>
              <a:rPr sz="1200" b="1">
                <a:solidFill>
                  <a:srgbClr val="10B981"/>
                </a:solidFill>
                <a:latin typeface="Arial"/>
              </a:rPr>
              <a:t>LAB 10 · TOPIC 04 · OVERVIEW ONLY</a:t>
            </a:r>
          </a:p>
        </p:txBody>
      </p:sp>
      <p:sp>
        <p:nvSpPr>
          <p:cNvPr id="5" name="TextBox 4"/>
          <p:cNvSpPr txBox="1"/>
          <p:nvPr/>
        </p:nvSpPr>
        <p:spPr>
          <a:xfrm>
            <a:off x="749808" y="713232"/>
            <a:ext cx="10744200" cy="731520"/>
          </a:xfrm>
          <a:prstGeom prst="rect">
            <a:avLst/>
          </a:prstGeom>
          <a:noFill/>
        </p:spPr>
        <p:txBody>
          <a:bodyPr wrap="square" anchor="ctr" lIns="54864" rIns="54864" tIns="54864" bIns="54864">
            <a:spAutoFit/>
          </a:bodyPr>
          <a:lstStyle/>
          <a:p>
            <a:pPr algn="l">
              <a:spcAft>
                <a:spcPts val="300"/>
              </a:spcAft>
            </a:pPr>
            <a:r>
              <a:rPr sz="2700" b="1">
                <a:solidFill>
                  <a:srgbClr val="161B26"/>
                </a:solidFill>
                <a:latin typeface="Arial"/>
              </a:rPr>
              <a:t>Capstone: Northstar Retail Executive Workbook</a:t>
            </a:r>
          </a:p>
        </p:txBody>
      </p:sp>
      <p:sp>
        <p:nvSpPr>
          <p:cNvPr id="6" name="Rectangle 5"/>
          <p:cNvSpPr/>
          <p:nvPr/>
        </p:nvSpPr>
        <p:spPr>
          <a:xfrm>
            <a:off x="749808" y="1536192"/>
            <a:ext cx="106984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64792"/>
            <a:ext cx="10652760" cy="749808"/>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87552" y="1847088"/>
            <a:ext cx="10241280" cy="566928"/>
          </a:xfrm>
          <a:prstGeom prst="rect">
            <a:avLst/>
          </a:prstGeom>
          <a:noFill/>
        </p:spPr>
        <p:txBody>
          <a:bodyPr wrap="square" anchor="ctr" lIns="54864" rIns="54864" tIns="54864" bIns="54864">
            <a:spAutoFit/>
          </a:bodyPr>
          <a:lstStyle/>
          <a:p>
            <a:pPr algn="l">
              <a:spcAft>
                <a:spcPts val="300"/>
              </a:spcAft>
            </a:pPr>
            <a:r>
              <a:rPr sz="1400" b="0">
                <a:solidFill>
                  <a:srgbClr val="161B26"/>
                </a:solidFill>
                <a:latin typeface="Arial"/>
              </a:rPr>
              <a:t>Northstar Retail's COO needs an executive workbook that reconciles sales, returns, inventory and regional targets, then communicates actions across desktop and mobile.</a:t>
            </a:r>
          </a:p>
        </p:txBody>
      </p:sp>
      <p:sp>
        <p:nvSpPr>
          <p:cNvPr id="9" name="Rectangle 8"/>
          <p:cNvSpPr/>
          <p:nvPr/>
        </p:nvSpPr>
        <p:spPr>
          <a:xfrm>
            <a:off x="777240" y="2788920"/>
            <a:ext cx="1998878" cy="11704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2788920"/>
            <a:ext cx="1998878"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2971800"/>
            <a:ext cx="1815998" cy="713232"/>
          </a:xfrm>
          <a:prstGeom prst="rect">
            <a:avLst/>
          </a:prstGeom>
          <a:noFill/>
        </p:spPr>
        <p:txBody>
          <a:bodyPr wrap="square" anchor="ctr" lIns="54864" rIns="54864" tIns="54864" bIns="54864">
            <a:spAutoFit/>
          </a:bodyPr>
          <a:lstStyle/>
          <a:p>
            <a:pPr algn="ctr">
              <a:spcAft>
                <a:spcPts val="300"/>
              </a:spcAft>
            </a:pPr>
            <a:r>
              <a:rPr sz="1250" b="1">
                <a:solidFill>
                  <a:srgbClr val="161B26"/>
                </a:solidFill>
                <a:latin typeface="Arial"/>
              </a:rPr>
              <a:t>1. Model trusted data</a:t>
            </a:r>
          </a:p>
        </p:txBody>
      </p:sp>
      <p:sp>
        <p:nvSpPr>
          <p:cNvPr id="12" name="Rectangle 11"/>
          <p:cNvSpPr/>
          <p:nvPr/>
        </p:nvSpPr>
        <p:spPr>
          <a:xfrm>
            <a:off x="2940710" y="2788920"/>
            <a:ext cx="1998878" cy="11704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940710" y="2788920"/>
            <a:ext cx="199887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032150" y="2971800"/>
            <a:ext cx="1815998" cy="713232"/>
          </a:xfrm>
          <a:prstGeom prst="rect">
            <a:avLst/>
          </a:prstGeom>
          <a:noFill/>
        </p:spPr>
        <p:txBody>
          <a:bodyPr wrap="square" anchor="ctr" lIns="54864" rIns="54864" tIns="54864" bIns="54864">
            <a:spAutoFit/>
          </a:bodyPr>
          <a:lstStyle/>
          <a:p>
            <a:pPr algn="ctr">
              <a:spcAft>
                <a:spcPts val="300"/>
              </a:spcAft>
            </a:pPr>
            <a:r>
              <a:rPr sz="1250" b="1">
                <a:solidFill>
                  <a:srgbClr val="161B26"/>
                </a:solidFill>
                <a:latin typeface="Arial"/>
              </a:rPr>
              <a:t>2. Analyse questions</a:t>
            </a:r>
          </a:p>
        </p:txBody>
      </p:sp>
      <p:sp>
        <p:nvSpPr>
          <p:cNvPr id="15" name="Rectangle 14"/>
          <p:cNvSpPr/>
          <p:nvPr/>
        </p:nvSpPr>
        <p:spPr>
          <a:xfrm>
            <a:off x="5104180" y="2788920"/>
            <a:ext cx="1998878" cy="11704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104180" y="2788920"/>
            <a:ext cx="1998878"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195620" y="2971800"/>
            <a:ext cx="1815998" cy="713232"/>
          </a:xfrm>
          <a:prstGeom prst="rect">
            <a:avLst/>
          </a:prstGeom>
          <a:noFill/>
        </p:spPr>
        <p:txBody>
          <a:bodyPr wrap="square" anchor="ctr" lIns="54864" rIns="54864" tIns="54864" bIns="54864">
            <a:spAutoFit/>
          </a:bodyPr>
          <a:lstStyle/>
          <a:p>
            <a:pPr algn="ctr">
              <a:spcAft>
                <a:spcPts val="300"/>
              </a:spcAft>
            </a:pPr>
            <a:r>
              <a:rPr sz="1250" b="1">
                <a:solidFill>
                  <a:srgbClr val="161B26"/>
                </a:solidFill>
                <a:latin typeface="Arial"/>
              </a:rPr>
              <a:t>3. Build dashboard</a:t>
            </a:r>
          </a:p>
        </p:txBody>
      </p:sp>
      <p:sp>
        <p:nvSpPr>
          <p:cNvPr id="18" name="Rectangle 17"/>
          <p:cNvSpPr/>
          <p:nvPr/>
        </p:nvSpPr>
        <p:spPr>
          <a:xfrm>
            <a:off x="7267651" y="2788920"/>
            <a:ext cx="1998878" cy="11704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267651" y="2788920"/>
            <a:ext cx="1998878"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59091" y="2971800"/>
            <a:ext cx="1815998" cy="713232"/>
          </a:xfrm>
          <a:prstGeom prst="rect">
            <a:avLst/>
          </a:prstGeom>
          <a:noFill/>
        </p:spPr>
        <p:txBody>
          <a:bodyPr wrap="square" anchor="ctr" lIns="54864" rIns="54864" tIns="54864" bIns="54864">
            <a:spAutoFit/>
          </a:bodyPr>
          <a:lstStyle/>
          <a:p>
            <a:pPr algn="ctr">
              <a:spcAft>
                <a:spcPts val="300"/>
              </a:spcAft>
            </a:pPr>
            <a:r>
              <a:rPr sz="1250" b="1">
                <a:solidFill>
                  <a:srgbClr val="161B26"/>
                </a:solidFill>
                <a:latin typeface="Arial"/>
              </a:rPr>
              <a:t>4. Package insight</a:t>
            </a:r>
          </a:p>
        </p:txBody>
      </p:sp>
      <p:sp>
        <p:nvSpPr>
          <p:cNvPr id="21" name="Rectangle 20"/>
          <p:cNvSpPr/>
          <p:nvPr/>
        </p:nvSpPr>
        <p:spPr>
          <a:xfrm>
            <a:off x="9431121" y="2788920"/>
            <a:ext cx="1998878" cy="11704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431121" y="2788920"/>
            <a:ext cx="1998878"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522561" y="2971800"/>
            <a:ext cx="1815998" cy="713232"/>
          </a:xfrm>
          <a:prstGeom prst="rect">
            <a:avLst/>
          </a:prstGeom>
          <a:noFill/>
        </p:spPr>
        <p:txBody>
          <a:bodyPr wrap="square" anchor="ctr" lIns="54864" rIns="54864" tIns="54864" bIns="54864">
            <a:spAutoFit/>
          </a:bodyPr>
          <a:lstStyle/>
          <a:p>
            <a:pPr algn="ctr">
              <a:spcAft>
                <a:spcPts val="300"/>
              </a:spcAft>
            </a:pPr>
            <a:r>
              <a:rPr sz="1250" b="1">
                <a:solidFill>
                  <a:srgbClr val="161B26"/>
                </a:solidFill>
                <a:latin typeface="Arial"/>
              </a:rPr>
              <a:t>5. Review domains</a:t>
            </a:r>
          </a:p>
        </p:txBody>
      </p:sp>
      <p:sp>
        <p:nvSpPr>
          <p:cNvPr id="24" name="Rectangle 23"/>
          <p:cNvSpPr/>
          <p:nvPr/>
        </p:nvSpPr>
        <p:spPr>
          <a:xfrm>
            <a:off x="777240" y="4279392"/>
            <a:ext cx="10652760"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87552" y="4370832"/>
            <a:ext cx="10195560" cy="777240"/>
          </a:xfrm>
          <a:prstGeom prst="rect">
            <a:avLst/>
          </a:prstGeom>
          <a:noFill/>
        </p:spPr>
        <p:txBody>
          <a:bodyPr wrap="square" anchor="ctr" lIns="54864" rIns="54864" tIns="54864" bIns="54864">
            <a:spAutoFit/>
          </a:bodyPr>
          <a:lstStyle/>
          <a:p>
            <a:pPr algn="l">
              <a:spcAft>
                <a:spcPts val="300"/>
              </a:spcAft>
            </a:pPr>
            <a:r>
              <a:rPr sz="1100" b="1">
                <a:solidFill>
                  <a:srgbClr val="10B981"/>
                </a:solidFill>
                <a:latin typeface="Arial"/>
              </a:rPr>
              <a:t>OUTPUT  </a:t>
            </a:r>
            <a:r>
              <a:rPr sz="1300" b="0">
                <a:solidFill>
                  <a:srgbClr val="161B26"/>
                </a:solidFill>
                <a:latin typeface="Arial"/>
              </a:rPr>
              <a:t>A validated multi-table model, eight analytical worksheets, executive dashboard, phone layout, story, packaged workbook and exam-domain checklist</a:t>
            </a:r>
          </a:p>
        </p:txBody>
      </p:sp>
      <p:sp>
        <p:nvSpPr>
          <p:cNvPr id="26" name="TextBox 25"/>
          <p:cNvSpPr txBox="1"/>
          <p:nvPr/>
        </p:nvSpPr>
        <p:spPr>
          <a:xfrm>
            <a:off x="822960" y="5504688"/>
            <a:ext cx="10515600" cy="457200"/>
          </a:xfrm>
          <a:prstGeom prst="rect">
            <a:avLst/>
          </a:prstGeom>
          <a:noFill/>
        </p:spPr>
        <p:txBody>
          <a:bodyPr wrap="square" anchor="t" lIns="54864" rIns="54864" tIns="54864" bIns="54864">
            <a:spAutoFit/>
          </a:bodyPr>
          <a:lstStyle/>
          <a:p>
            <a:pPr algn="ctr">
              <a:spcAft>
                <a:spcPts val="300"/>
              </a:spcAft>
            </a:pPr>
            <a:r>
              <a:rPr sz="1100" b="0">
                <a:solidFill>
                  <a:srgbClr val="5B6372"/>
                </a:solidFill>
                <a:latin typeface="Arial"/>
              </a:rPr>
              <a:t>Detailed click-by-click procedure: Learner Guide and this lab folder · Tools: </a:t>
            </a:r>
            <a:r>
              <a:rPr sz="1100" b="1">
                <a:solidFill>
                  <a:srgbClr val="5B6372"/>
                </a:solidFill>
                <a:latin typeface="Arial"/>
              </a:rPr>
              <a:t>Tableau Desktop · relationships · calculations · charts · dashboards · stories · TWBX</a:t>
            </a:r>
          </a:p>
        </p:txBody>
      </p:sp>
      <p:sp>
        <p:nvSpPr>
          <p:cNvPr id="27" name="TextBox 26"/>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28" name="TextBox 27"/>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29" name="TextBox 28"/>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151</a:t>
            </a:r>
          </a:p>
        </p:txBody>
      </p:sp>
    </p:spTree>
  </p:cSld>
  <p:clrMapOvr>
    <a:masterClrMapping/>
  </p:clrMapOvr>
  <p:transition spd="fast">
    <p:fade/>
  </p:transition>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37744"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47472"/>
            <a:ext cx="10698480" cy="292608"/>
          </a:xfrm>
          <a:prstGeom prst="rect">
            <a:avLst/>
          </a:prstGeom>
          <a:noFill/>
        </p:spPr>
        <p:txBody>
          <a:bodyPr wrap="square" anchor="t" lIns="54864" rIns="54864" tIns="54864" bIns="54864">
            <a:spAutoFit/>
          </a:bodyPr>
          <a:lstStyle/>
          <a:p>
            <a:pPr algn="l">
              <a:spcAft>
                <a:spcPts val="300"/>
              </a:spcAft>
            </a:pPr>
            <a:r>
              <a:rPr sz="1200" b="1">
                <a:solidFill>
                  <a:srgbClr val="10B981"/>
                </a:solidFill>
                <a:latin typeface="Arial"/>
              </a:rPr>
              <a:t>VERIFY THE OUTCOME</a:t>
            </a:r>
          </a:p>
        </p:txBody>
      </p:sp>
      <p:sp>
        <p:nvSpPr>
          <p:cNvPr id="5" name="TextBox 4"/>
          <p:cNvSpPr txBox="1"/>
          <p:nvPr/>
        </p:nvSpPr>
        <p:spPr>
          <a:xfrm>
            <a:off x="749808" y="713232"/>
            <a:ext cx="10744200" cy="731520"/>
          </a:xfrm>
          <a:prstGeom prst="rect">
            <a:avLst/>
          </a:prstGeom>
          <a:noFill/>
        </p:spPr>
        <p:txBody>
          <a:bodyPr wrap="square" anchor="ctr" lIns="54864" rIns="54864" tIns="54864" bIns="54864">
            <a:spAutoFit/>
          </a:bodyPr>
          <a:lstStyle/>
          <a:p>
            <a:pPr algn="l">
              <a:spcAft>
                <a:spcPts val="300"/>
              </a:spcAft>
            </a:pPr>
            <a:r>
              <a:rPr sz="2700" b="1">
                <a:solidFill>
                  <a:srgbClr val="161B26"/>
                </a:solidFill>
                <a:latin typeface="Arial"/>
              </a:rPr>
              <a:t>Lab 10 — Acceptance Test</a:t>
            </a:r>
          </a:p>
        </p:txBody>
      </p:sp>
      <p:sp>
        <p:nvSpPr>
          <p:cNvPr id="6" name="Rectangle 5"/>
          <p:cNvSpPr/>
          <p:nvPr/>
        </p:nvSpPr>
        <p:spPr>
          <a:xfrm>
            <a:off x="749808" y="1536192"/>
            <a:ext cx="106984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965960"/>
            <a:ext cx="10652760" cy="228600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240280"/>
            <a:ext cx="9966960" cy="457200"/>
          </a:xfrm>
          <a:prstGeom prst="rect">
            <a:avLst/>
          </a:prstGeom>
          <a:noFill/>
        </p:spPr>
        <p:txBody>
          <a:bodyPr wrap="square" anchor="t" lIns="54864" rIns="54864" tIns="54864" bIns="54864">
            <a:spAutoFit/>
          </a:bodyPr>
          <a:lstStyle/>
          <a:p>
            <a:pPr algn="l">
              <a:spcAft>
                <a:spcPts val="300"/>
              </a:spcAft>
            </a:pPr>
            <a:r>
              <a:rPr sz="1900" b="1">
                <a:solidFill>
                  <a:srgbClr val="127A3E"/>
                </a:solidFill>
                <a:latin typeface="Arial"/>
              </a:rPr>
              <a:t>✓  Evidence standard</a:t>
            </a:r>
          </a:p>
        </p:txBody>
      </p:sp>
      <p:sp>
        <p:nvSpPr>
          <p:cNvPr id="9" name="TextBox 8"/>
          <p:cNvSpPr txBox="1"/>
          <p:nvPr/>
        </p:nvSpPr>
        <p:spPr>
          <a:xfrm>
            <a:off x="1097280" y="2880360"/>
            <a:ext cx="9875520" cy="1051560"/>
          </a:xfrm>
          <a:prstGeom prst="rect">
            <a:avLst/>
          </a:prstGeom>
          <a:noFill/>
        </p:spPr>
        <p:txBody>
          <a:bodyPr wrap="square" anchor="ctr" lIns="54864" rIns="54864" tIns="54864" bIns="54864">
            <a:spAutoFit/>
          </a:bodyPr>
          <a:lstStyle/>
          <a:p>
            <a:pPr algn="l">
              <a:spcAft>
                <a:spcPts val="300"/>
              </a:spcAft>
            </a:pPr>
            <a:r>
              <a:rPr sz="1600" b="0">
                <a:solidFill>
                  <a:srgbClr val="161B26"/>
                </a:solidFill>
                <a:latin typeface="Arial"/>
              </a:rPr>
              <a:t>Control totals reconcile, the model avoids duplicated measures, all eight worksheets and required analytics exist, dashboard/actions work on desktop and phone, exports are current, and every official objective has evidence.</a:t>
            </a:r>
          </a:p>
        </p:txBody>
      </p:sp>
      <p:sp>
        <p:nvSpPr>
          <p:cNvPr id="10" name="TextBox 9"/>
          <p:cNvSpPr txBox="1"/>
          <p:nvPr/>
        </p:nvSpPr>
        <p:spPr>
          <a:xfrm>
            <a:off x="868680" y="4754880"/>
            <a:ext cx="10424160" cy="640080"/>
          </a:xfrm>
          <a:prstGeom prst="rect">
            <a:avLst/>
          </a:prstGeom>
          <a:noFill/>
        </p:spPr>
        <p:txBody>
          <a:bodyPr wrap="square" anchor="t" lIns="54864" rIns="54864" tIns="54864" bIns="54864">
            <a:spAutoFit/>
          </a:bodyPr>
          <a:lstStyle/>
          <a:p>
            <a:pPr algn="ctr">
              <a:spcAft>
                <a:spcPts val="300"/>
              </a:spcAft>
            </a:pPr>
            <a:r>
              <a:rPr sz="1300" b="0">
                <a:solidFill>
                  <a:srgbClr val="5B6372"/>
                </a:solidFill>
                <a:latin typeface="Arial"/>
              </a:rPr>
              <a:t>Submit the Tableau workbook, requested screenshots/exports and completed acceptance-checklist.md from the lab folder.</a:t>
            </a:r>
          </a:p>
        </p:txBody>
      </p:sp>
      <p:sp>
        <p:nvSpPr>
          <p:cNvPr id="11" name="TextBox 10"/>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12" name="TextBox 11"/>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13" name="TextBox 12"/>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152</a:t>
            </a:r>
          </a:p>
        </p:txBody>
      </p:sp>
    </p:spTree>
  </p:cSld>
  <p:clrMapOvr>
    <a:masterClrMapping/>
  </p:clrMapOvr>
  <p:transition spd="fast">
    <p:fade/>
  </p:transition>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37744"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47472"/>
            <a:ext cx="10698480" cy="292608"/>
          </a:xfrm>
          <a:prstGeom prst="rect">
            <a:avLst/>
          </a:prstGeom>
          <a:noFill/>
        </p:spPr>
        <p:txBody>
          <a:bodyPr wrap="square" anchor="t" lIns="54864" rIns="54864" tIns="54864" bIns="54864">
            <a:spAutoFit/>
          </a:bodyPr>
          <a:lstStyle/>
          <a:p>
            <a:pPr algn="l">
              <a:spcAft>
                <a:spcPts val="300"/>
              </a:spcAft>
            </a:pPr>
            <a:r>
              <a:rPr sz="1200" b="1">
                <a:solidFill>
                  <a:srgbClr val="F59E0B"/>
                </a:solidFill>
                <a:latin typeface="Arial"/>
              </a:rPr>
              <a:t>RECAP</a:t>
            </a:r>
          </a:p>
        </p:txBody>
      </p:sp>
      <p:sp>
        <p:nvSpPr>
          <p:cNvPr id="5" name="TextBox 4"/>
          <p:cNvSpPr txBox="1"/>
          <p:nvPr/>
        </p:nvSpPr>
        <p:spPr>
          <a:xfrm>
            <a:off x="749808" y="713232"/>
            <a:ext cx="10744200" cy="731520"/>
          </a:xfrm>
          <a:prstGeom prst="rect">
            <a:avLst/>
          </a:prstGeom>
          <a:noFill/>
        </p:spPr>
        <p:txBody>
          <a:bodyPr wrap="square" anchor="ctr" lIns="54864" rIns="54864" tIns="54864" bIns="54864">
            <a:spAutoFit/>
          </a:bodyPr>
          <a:lstStyle/>
          <a:p>
            <a:pPr algn="l">
              <a:spcAft>
                <a:spcPts val="300"/>
              </a:spcAft>
            </a:pPr>
            <a:r>
              <a:rPr sz="2700" b="1">
                <a:solidFill>
                  <a:srgbClr val="161B26"/>
                </a:solidFill>
                <a:latin typeface="Arial"/>
              </a:rPr>
              <a:t>Topic 04 — Exam Check</a:t>
            </a:r>
          </a:p>
        </p:txBody>
      </p:sp>
      <p:sp>
        <p:nvSpPr>
          <p:cNvPr id="6" name="Rectangle 5"/>
          <p:cNvSpPr/>
          <p:nvPr/>
        </p:nvSpPr>
        <p:spPr>
          <a:xfrm>
            <a:off x="749808" y="1536192"/>
            <a:ext cx="106984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8096"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68096" y="1764792"/>
            <a:ext cx="82296" cy="206197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96695" y="2548890"/>
            <a:ext cx="493776" cy="49377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5"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1</a:t>
            </a:r>
          </a:p>
        </p:txBody>
      </p:sp>
      <p:sp>
        <p:nvSpPr>
          <p:cNvPr id="11" name="TextBox 10"/>
          <p:cNvSpPr txBox="1"/>
          <p:nvPr/>
        </p:nvSpPr>
        <p:spPr>
          <a:xfrm>
            <a:off x="1664207"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Explain</a:t>
            </a:r>
          </a:p>
          <a:p>
            <a:pPr algn="l">
              <a:spcAft>
                <a:spcPts val="300"/>
              </a:spcAft>
            </a:pPr>
            <a:r>
              <a:rPr sz="1200" b="0">
                <a:solidFill>
                  <a:srgbClr val="5B6372"/>
                </a:solidFill>
                <a:latin typeface="Arial"/>
              </a:rPr>
              <a:t>Define the key ideas in understanding tableau concepts and certification preparation.</a:t>
            </a:r>
          </a:p>
        </p:txBody>
      </p:sp>
      <p:sp>
        <p:nvSpPr>
          <p:cNvPr id="12" name="Rectangle 11"/>
          <p:cNvSpPr/>
          <p:nvPr/>
        </p:nvSpPr>
        <p:spPr>
          <a:xfrm>
            <a:off x="6222492"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22492" y="1764792"/>
            <a:ext cx="82296" cy="206197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51092" y="2548890"/>
            <a:ext cx="493776" cy="49377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51092"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2</a:t>
            </a:r>
          </a:p>
        </p:txBody>
      </p:sp>
      <p:sp>
        <p:nvSpPr>
          <p:cNvPr id="16" name="TextBox 15"/>
          <p:cNvSpPr txBox="1"/>
          <p:nvPr/>
        </p:nvSpPr>
        <p:spPr>
          <a:xfrm>
            <a:off x="7118604"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Choose</a:t>
            </a:r>
          </a:p>
          <a:p>
            <a:pPr algn="l">
              <a:spcAft>
                <a:spcPts val="300"/>
              </a:spcAft>
            </a:pPr>
            <a:r>
              <a:rPr sz="1200" b="0">
                <a:solidFill>
                  <a:srgbClr val="5B6372"/>
                </a:solidFill>
                <a:latin typeface="Arial"/>
              </a:rPr>
              <a:t>Select the right feature from a short business scenario.</a:t>
            </a:r>
          </a:p>
        </p:txBody>
      </p:sp>
      <p:sp>
        <p:nvSpPr>
          <p:cNvPr id="17" name="Rectangle 16"/>
          <p:cNvSpPr/>
          <p:nvPr/>
        </p:nvSpPr>
        <p:spPr>
          <a:xfrm>
            <a:off x="768096"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68096" y="4046220"/>
            <a:ext cx="82296" cy="206197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96695" y="4830318"/>
            <a:ext cx="493776" cy="49377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96695"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3</a:t>
            </a:r>
          </a:p>
        </p:txBody>
      </p:sp>
      <p:sp>
        <p:nvSpPr>
          <p:cNvPr id="21" name="TextBox 20"/>
          <p:cNvSpPr txBox="1"/>
          <p:nvPr/>
        </p:nvSpPr>
        <p:spPr>
          <a:xfrm>
            <a:off x="1664207"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Predict</a:t>
            </a:r>
          </a:p>
          <a:p>
            <a:pPr algn="l">
              <a:spcAft>
                <a:spcPts val="300"/>
              </a:spcAft>
            </a:pPr>
            <a:r>
              <a:rPr sz="1200" b="0">
                <a:solidFill>
                  <a:srgbClr val="5B6372"/>
                </a:solidFill>
                <a:latin typeface="Arial"/>
              </a:rPr>
              <a:t>Reason about the result of shelf, model or formatting changes.</a:t>
            </a:r>
          </a:p>
        </p:txBody>
      </p:sp>
      <p:sp>
        <p:nvSpPr>
          <p:cNvPr id="22" name="Rectangle 21"/>
          <p:cNvSpPr/>
          <p:nvPr/>
        </p:nvSpPr>
        <p:spPr>
          <a:xfrm>
            <a:off x="6222492"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22492" y="4046220"/>
            <a:ext cx="82296" cy="206197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51092" y="4830318"/>
            <a:ext cx="493776" cy="49377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51092"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4</a:t>
            </a:r>
          </a:p>
        </p:txBody>
      </p:sp>
      <p:sp>
        <p:nvSpPr>
          <p:cNvPr id="26" name="TextBox 25"/>
          <p:cNvSpPr txBox="1"/>
          <p:nvPr/>
        </p:nvSpPr>
        <p:spPr>
          <a:xfrm>
            <a:off x="7118604"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Prove</a:t>
            </a:r>
          </a:p>
          <a:p>
            <a:pPr algn="l">
              <a:spcAft>
                <a:spcPts val="300"/>
              </a:spcAft>
            </a:pPr>
            <a:r>
              <a:rPr sz="1200" b="0">
                <a:solidFill>
                  <a:srgbClr val="5B6372"/>
                </a:solidFill>
                <a:latin typeface="Arial"/>
              </a:rPr>
              <a:t>Use the lab workbook and acceptance evidence to validate the outcome.</a:t>
            </a:r>
          </a:p>
        </p:txBody>
      </p:sp>
      <p:sp>
        <p:nvSpPr>
          <p:cNvPr id="27" name="TextBox 26"/>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28" name="TextBox 27"/>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29" name="TextBox 28"/>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153</a:t>
            </a:r>
          </a:p>
        </p:txBody>
      </p:sp>
    </p:spTree>
  </p:cSld>
  <p:clrMapOvr>
    <a:masterClrMapping/>
  </p:clrMapOvr>
  <p:transition spd="fast">
    <p:fade/>
  </p:transition>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148840"/>
            <a:ext cx="109728" cy="19659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148840"/>
            <a:ext cx="9601200" cy="365760"/>
          </a:xfrm>
          <a:prstGeom prst="rect">
            <a:avLst/>
          </a:prstGeom>
          <a:noFill/>
        </p:spPr>
        <p:txBody>
          <a:bodyPr wrap="square" anchor="t" lIns="54864" rIns="54864" tIns="54864" bIns="54864">
            <a:spAutoFit/>
          </a:bodyPr>
          <a:lstStyle/>
          <a:p>
            <a:pPr algn="l">
              <a:spcAft>
                <a:spcPts val="300"/>
              </a:spcAft>
            </a:pPr>
            <a:r>
              <a:rPr sz="1600" b="1">
                <a:solidFill>
                  <a:srgbClr val="1F6FEB"/>
                </a:solidFill>
                <a:latin typeface="Arial"/>
              </a:rPr>
              <a:t>WRAP-UP</a:t>
            </a:r>
          </a:p>
        </p:txBody>
      </p:sp>
      <p:sp>
        <p:nvSpPr>
          <p:cNvPr id="6" name="TextBox 5"/>
          <p:cNvSpPr txBox="1"/>
          <p:nvPr/>
        </p:nvSpPr>
        <p:spPr>
          <a:xfrm>
            <a:off x="1143000" y="2560320"/>
            <a:ext cx="9875520" cy="1463040"/>
          </a:xfrm>
          <a:prstGeom prst="rect">
            <a:avLst/>
          </a:prstGeom>
          <a:noFill/>
        </p:spPr>
        <p:txBody>
          <a:bodyPr wrap="square" anchor="ctr" lIns="54864" rIns="54864" tIns="54864" bIns="54864">
            <a:spAutoFit/>
          </a:bodyPr>
          <a:lstStyle/>
          <a:p>
            <a:pPr algn="l">
              <a:spcAft>
                <a:spcPts val="300"/>
              </a:spcAft>
            </a:pPr>
            <a:r>
              <a:rPr sz="3500" b="1">
                <a:solidFill>
                  <a:srgbClr val="161B26"/>
                </a:solidFill>
                <a:latin typeface="Arial"/>
              </a:rPr>
              <a:t>Certification Preparation &amp; Assessment</a:t>
            </a:r>
          </a:p>
        </p:txBody>
      </p:sp>
      <p:sp>
        <p:nvSpPr>
          <p:cNvPr id="7" name="TextBox 6"/>
          <p:cNvSpPr txBox="1"/>
          <p:nvPr/>
        </p:nvSpPr>
        <p:spPr>
          <a:xfrm>
            <a:off x="1161288" y="4160520"/>
            <a:ext cx="9692640" cy="640080"/>
          </a:xfrm>
          <a:prstGeom prst="rect">
            <a:avLst/>
          </a:prstGeom>
          <a:noFill/>
        </p:spPr>
        <p:txBody>
          <a:bodyPr wrap="square" anchor="t" lIns="54864" rIns="54864" tIns="54864" bIns="54864">
            <a:spAutoFit/>
          </a:bodyPr>
          <a:lstStyle/>
          <a:p>
            <a:pPr algn="l">
              <a:spcAft>
                <a:spcPts val="300"/>
              </a:spcAft>
            </a:pPr>
            <a:r>
              <a:rPr sz="1500" b="0">
                <a:solidFill>
                  <a:srgbClr val="5B6372"/>
                </a:solidFill>
                <a:latin typeface="Arial"/>
              </a:rPr>
              <a:t>Review the official blueprint, practise with the eleven workbooks, then demonstrate evidence</a:t>
            </a:r>
          </a:p>
        </p:txBody>
      </p:sp>
      <p:sp>
        <p:nvSpPr>
          <p:cNvPr id="8" name="TextBox 7"/>
          <p:cNvSpPr txBox="1"/>
          <p:nvPr/>
        </p:nvSpPr>
        <p:spPr>
          <a:xfrm>
            <a:off x="9235440" y="594360"/>
            <a:ext cx="2286000" cy="1371600"/>
          </a:xfrm>
          <a:prstGeom prst="rect">
            <a:avLst/>
          </a:prstGeom>
          <a:noFill/>
        </p:spPr>
        <p:txBody>
          <a:bodyPr wrap="square" anchor="t" lIns="54864" rIns="54864" tIns="54864" bIns="54864">
            <a:spAutoFit/>
          </a:bodyPr>
          <a:lstStyle/>
          <a:p>
            <a:pPr algn="r">
              <a:spcAft>
                <a:spcPts val="300"/>
              </a:spcAft>
            </a:pPr>
            <a:r>
              <a:rPr sz="6400" b="1">
                <a:solidFill>
                  <a:srgbClr val="E2E8F0"/>
                </a:solidFill>
                <a:latin typeface="Arial"/>
              </a:rPr>
              <a:t>99</a:t>
            </a:r>
          </a:p>
        </p:txBody>
      </p:sp>
      <p:sp>
        <p:nvSpPr>
          <p:cNvPr id="9" name="TextBox 8"/>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10" name="TextBox 9"/>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11" name="TextBox 10"/>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154</a:t>
            </a:r>
          </a:p>
        </p:txBody>
      </p:sp>
    </p:spTree>
  </p:cSld>
  <p:clrMapOvr>
    <a:masterClrMapping/>
  </p:clrMapOvr>
  <p:transition spd="fast">
    <p:fade/>
  </p:transition>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37744"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47472"/>
            <a:ext cx="10698480" cy="292608"/>
          </a:xfrm>
          <a:prstGeom prst="rect">
            <a:avLst/>
          </a:prstGeom>
          <a:noFill/>
        </p:spPr>
        <p:txBody>
          <a:bodyPr wrap="square" anchor="t" lIns="54864" rIns="54864" tIns="54864" bIns="54864">
            <a:spAutoFit/>
          </a:bodyPr>
          <a:lstStyle/>
          <a:p>
            <a:pPr algn="l">
              <a:spcAft>
                <a:spcPts val="300"/>
              </a:spcAft>
            </a:pPr>
            <a:r>
              <a:rPr sz="1200" b="1">
                <a:solidFill>
                  <a:srgbClr val="10B981"/>
                </a:solidFill>
                <a:latin typeface="Arial"/>
              </a:rPr>
              <a:t>COURSE SUMMARY</a:t>
            </a:r>
          </a:p>
        </p:txBody>
      </p:sp>
      <p:sp>
        <p:nvSpPr>
          <p:cNvPr id="5" name="TextBox 4"/>
          <p:cNvSpPr txBox="1"/>
          <p:nvPr/>
        </p:nvSpPr>
        <p:spPr>
          <a:xfrm>
            <a:off x="749808" y="713232"/>
            <a:ext cx="10744200" cy="731520"/>
          </a:xfrm>
          <a:prstGeom prst="rect">
            <a:avLst/>
          </a:prstGeom>
          <a:noFill/>
        </p:spPr>
        <p:txBody>
          <a:bodyPr wrap="square" anchor="ctr" lIns="54864" rIns="54864" tIns="54864" bIns="54864">
            <a:spAutoFit/>
          </a:bodyPr>
          <a:lstStyle/>
          <a:p>
            <a:pPr algn="l">
              <a:spcAft>
                <a:spcPts val="300"/>
              </a:spcAft>
            </a:pPr>
            <a:r>
              <a:rPr sz="2700" b="1">
                <a:solidFill>
                  <a:srgbClr val="161B26"/>
                </a:solidFill>
                <a:latin typeface="Arial"/>
              </a:rPr>
              <a:t>What You Achieved</a:t>
            </a:r>
          </a:p>
        </p:txBody>
      </p:sp>
      <p:sp>
        <p:nvSpPr>
          <p:cNvPr id="6" name="Rectangle 5"/>
          <p:cNvSpPr/>
          <p:nvPr/>
        </p:nvSpPr>
        <p:spPr>
          <a:xfrm>
            <a:off x="749808" y="1536192"/>
            <a:ext cx="106984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8096"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68096" y="1764792"/>
            <a:ext cx="82296" cy="206197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96695" y="2548890"/>
            <a:ext cx="493776" cy="49377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5"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1</a:t>
            </a:r>
          </a:p>
        </p:txBody>
      </p:sp>
      <p:sp>
        <p:nvSpPr>
          <p:cNvPr id="11" name="TextBox 10"/>
          <p:cNvSpPr txBox="1"/>
          <p:nvPr/>
        </p:nvSpPr>
        <p:spPr>
          <a:xfrm>
            <a:off x="1664207"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Connect and prepare</a:t>
            </a:r>
          </a:p>
          <a:p>
            <a:pPr algn="l">
              <a:spcAft>
                <a:spcPts val="300"/>
              </a:spcAft>
            </a:pPr>
            <a:r>
              <a:rPr sz="1200" b="0">
                <a:solidFill>
                  <a:srgbClr val="5B6372"/>
                </a:solidFill>
                <a:latin typeface="Arial"/>
              </a:rPr>
              <a:t>Built trusted connections, extracts, models and metadata.</a:t>
            </a:r>
          </a:p>
        </p:txBody>
      </p:sp>
      <p:sp>
        <p:nvSpPr>
          <p:cNvPr id="12" name="Rectangle 11"/>
          <p:cNvSpPr/>
          <p:nvPr/>
        </p:nvSpPr>
        <p:spPr>
          <a:xfrm>
            <a:off x="6222492" y="1764792"/>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22492" y="1764792"/>
            <a:ext cx="82296" cy="206197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51092" y="2548890"/>
            <a:ext cx="493776" cy="49377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51092" y="2548890"/>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2</a:t>
            </a:r>
          </a:p>
        </p:txBody>
      </p:sp>
      <p:sp>
        <p:nvSpPr>
          <p:cNvPr id="16" name="TextBox 15"/>
          <p:cNvSpPr txBox="1"/>
          <p:nvPr/>
        </p:nvSpPr>
        <p:spPr>
          <a:xfrm>
            <a:off x="7118604" y="1856231"/>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Explore and analyse</a:t>
            </a:r>
          </a:p>
          <a:p>
            <a:pPr algn="l">
              <a:spcAft>
                <a:spcPts val="300"/>
              </a:spcAft>
            </a:pPr>
            <a:r>
              <a:rPr sz="1200" b="0">
                <a:solidFill>
                  <a:srgbClr val="5B6372"/>
                </a:solidFill>
                <a:latin typeface="Arial"/>
              </a:rPr>
              <a:t>Created chart patterns, organisation structures and analytics.</a:t>
            </a:r>
          </a:p>
        </p:txBody>
      </p:sp>
      <p:sp>
        <p:nvSpPr>
          <p:cNvPr id="17" name="Rectangle 16"/>
          <p:cNvSpPr/>
          <p:nvPr/>
        </p:nvSpPr>
        <p:spPr>
          <a:xfrm>
            <a:off x="768096"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68096" y="4046220"/>
            <a:ext cx="82296" cy="206197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96695" y="4830318"/>
            <a:ext cx="493776" cy="49377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96695"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3</a:t>
            </a:r>
          </a:p>
        </p:txBody>
      </p:sp>
      <p:sp>
        <p:nvSpPr>
          <p:cNvPr id="21" name="TextBox 20"/>
          <p:cNvSpPr txBox="1"/>
          <p:nvPr/>
        </p:nvSpPr>
        <p:spPr>
          <a:xfrm>
            <a:off x="1664207"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Share insights</a:t>
            </a:r>
          </a:p>
          <a:p>
            <a:pPr algn="l">
              <a:spcAft>
                <a:spcPts val="300"/>
              </a:spcAft>
            </a:pPr>
            <a:r>
              <a:rPr sz="1200" b="0">
                <a:solidFill>
                  <a:srgbClr val="5B6372"/>
                </a:solidFill>
                <a:latin typeface="Arial"/>
              </a:rPr>
              <a:t>Built dashboards, actions, device layouts and sharing plans.</a:t>
            </a:r>
          </a:p>
        </p:txBody>
      </p:sp>
      <p:sp>
        <p:nvSpPr>
          <p:cNvPr id="22" name="Rectangle 21"/>
          <p:cNvSpPr/>
          <p:nvPr/>
        </p:nvSpPr>
        <p:spPr>
          <a:xfrm>
            <a:off x="6222492" y="4046220"/>
            <a:ext cx="5198364" cy="20619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22492" y="4046220"/>
            <a:ext cx="82296" cy="206197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51092" y="4830318"/>
            <a:ext cx="493776" cy="49377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51092" y="4830318"/>
            <a:ext cx="493776" cy="493776"/>
          </a:xfrm>
          <a:prstGeom prst="rect">
            <a:avLst/>
          </a:prstGeom>
          <a:noFill/>
        </p:spPr>
        <p:txBody>
          <a:bodyPr wrap="square" anchor="ctr" lIns="54864" rIns="54864" tIns="54864" bIns="54864">
            <a:spAutoFit/>
          </a:bodyPr>
          <a:lstStyle/>
          <a:p>
            <a:pPr algn="ctr">
              <a:spcAft>
                <a:spcPts val="300"/>
              </a:spcAft>
            </a:pPr>
            <a:r>
              <a:rPr sz="1600" b="1">
                <a:solidFill>
                  <a:srgbClr val="FFFFFF"/>
                </a:solidFill>
                <a:latin typeface="Arial"/>
              </a:rPr>
              <a:t>4</a:t>
            </a:r>
          </a:p>
        </p:txBody>
      </p:sp>
      <p:sp>
        <p:nvSpPr>
          <p:cNvPr id="26" name="TextBox 25"/>
          <p:cNvSpPr txBox="1"/>
          <p:nvPr/>
        </p:nvSpPr>
        <p:spPr>
          <a:xfrm>
            <a:off x="7118604" y="4137659"/>
            <a:ext cx="4119372" cy="1897379"/>
          </a:xfrm>
          <a:prstGeom prst="rect">
            <a:avLst/>
          </a:prstGeom>
          <a:noFill/>
        </p:spPr>
        <p:txBody>
          <a:bodyPr wrap="square" anchor="ctr" lIns="54864" rIns="54864" tIns="54864" bIns="54864">
            <a:spAutoFit/>
          </a:bodyPr>
          <a:lstStyle/>
          <a:p>
            <a:pPr algn="l">
              <a:spcAft>
                <a:spcPts val="300"/>
              </a:spcAft>
            </a:pPr>
            <a:r>
              <a:rPr sz="1500" b="1">
                <a:solidFill>
                  <a:srgbClr val="161B26"/>
                </a:solidFill>
                <a:latin typeface="Arial"/>
              </a:rPr>
              <a:t>Understand concepts</a:t>
            </a:r>
          </a:p>
          <a:p>
            <a:pPr algn="l">
              <a:spcAft>
                <a:spcPts val="300"/>
              </a:spcAft>
            </a:pPr>
            <a:r>
              <a:rPr sz="1200" b="0">
                <a:solidFill>
                  <a:srgbClr val="5B6372"/>
                </a:solidFill>
                <a:latin typeface="Arial"/>
              </a:rPr>
              <a:t>Reasoned from field role, pill behaviour, grain and aggregation.</a:t>
            </a:r>
          </a:p>
        </p:txBody>
      </p:sp>
      <p:sp>
        <p:nvSpPr>
          <p:cNvPr id="27" name="TextBox 26"/>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28" name="TextBox 27"/>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29" name="TextBox 28"/>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155</a:t>
            </a:r>
          </a:p>
        </p:txBody>
      </p:sp>
    </p:spTree>
  </p:cSld>
  <p:clrMapOvr>
    <a:masterClrMapping/>
  </p:clrMapOvr>
  <p:transition spd="fast">
    <p:fade/>
  </p:transition>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37744"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47472"/>
            <a:ext cx="10698480" cy="292608"/>
          </a:xfrm>
          <a:prstGeom prst="rect">
            <a:avLst/>
          </a:prstGeom>
          <a:noFill/>
        </p:spPr>
        <p:txBody>
          <a:bodyPr wrap="square" anchor="t" lIns="54864" rIns="54864" tIns="54864" bIns="54864">
            <a:spAutoFit/>
          </a:bodyPr>
          <a:lstStyle/>
          <a:p>
            <a:pPr algn="l">
              <a:spcAft>
                <a:spcPts val="300"/>
              </a:spcAft>
            </a:pPr>
            <a:r>
              <a:rPr sz="1200" b="1">
                <a:solidFill>
                  <a:srgbClr val="1F6FEB"/>
                </a:solidFill>
                <a:latin typeface="Arial"/>
              </a:rPr>
              <a:t>THREE LAYERS</a:t>
            </a:r>
          </a:p>
        </p:txBody>
      </p:sp>
      <p:sp>
        <p:nvSpPr>
          <p:cNvPr id="5" name="TextBox 4"/>
          <p:cNvSpPr txBox="1"/>
          <p:nvPr/>
        </p:nvSpPr>
        <p:spPr>
          <a:xfrm>
            <a:off x="749808" y="713232"/>
            <a:ext cx="10744200" cy="731520"/>
          </a:xfrm>
          <a:prstGeom prst="rect">
            <a:avLst/>
          </a:prstGeom>
          <a:noFill/>
        </p:spPr>
        <p:txBody>
          <a:bodyPr wrap="square" anchor="ctr" lIns="54864" rIns="54864" tIns="54864" bIns="54864">
            <a:spAutoFit/>
          </a:bodyPr>
          <a:lstStyle/>
          <a:p>
            <a:pPr algn="l">
              <a:spcAft>
                <a:spcPts val="300"/>
              </a:spcAft>
            </a:pPr>
            <a:r>
              <a:rPr sz="2700" b="1">
                <a:solidFill>
                  <a:srgbClr val="161B26"/>
                </a:solidFill>
                <a:latin typeface="Arial"/>
              </a:rPr>
              <a:t>Certification Readiness</a:t>
            </a:r>
          </a:p>
        </p:txBody>
      </p:sp>
      <p:sp>
        <p:nvSpPr>
          <p:cNvPr id="6" name="Rectangle 5"/>
          <p:cNvSpPr/>
          <p:nvPr/>
        </p:nvSpPr>
        <p:spPr>
          <a:xfrm>
            <a:off x="749808" y="1536192"/>
            <a:ext cx="106984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8096" y="1783080"/>
            <a:ext cx="3383280" cy="4343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68096" y="1783080"/>
            <a:ext cx="338328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87552" y="2057400"/>
            <a:ext cx="2926080" cy="457200"/>
          </a:xfrm>
          <a:prstGeom prst="rect">
            <a:avLst/>
          </a:prstGeom>
          <a:noFill/>
        </p:spPr>
        <p:txBody>
          <a:bodyPr wrap="square" anchor="t" lIns="54864" rIns="54864" tIns="54864" bIns="54864">
            <a:spAutoFit/>
          </a:bodyPr>
          <a:lstStyle/>
          <a:p>
            <a:pPr algn="l">
              <a:spcAft>
                <a:spcPts val="300"/>
              </a:spcAft>
            </a:pPr>
            <a:r>
              <a:rPr sz="1700" b="1">
                <a:solidFill>
                  <a:srgbClr val="1F6FEB"/>
                </a:solidFill>
                <a:latin typeface="Arial"/>
              </a:rPr>
              <a:t>Know</a:t>
            </a:r>
          </a:p>
        </p:txBody>
      </p:sp>
      <p:sp>
        <p:nvSpPr>
          <p:cNvPr id="10" name="TextBox 9"/>
          <p:cNvSpPr txBox="1"/>
          <p:nvPr/>
        </p:nvSpPr>
        <p:spPr>
          <a:xfrm>
            <a:off x="996695" y="2743200"/>
            <a:ext cx="2926080" cy="566928"/>
          </a:xfrm>
          <a:prstGeom prst="rect">
            <a:avLst/>
          </a:prstGeom>
          <a:noFill/>
        </p:spPr>
        <p:txBody>
          <a:bodyPr wrap="square" anchor="ctr" lIns="54864" rIns="54864" tIns="54864" bIns="54864">
            <a:spAutoFit/>
          </a:bodyPr>
          <a:lstStyle/>
          <a:p>
            <a:pPr algn="l">
              <a:spcAft>
                <a:spcPts val="300"/>
              </a:spcAft>
            </a:pPr>
            <a:r>
              <a:rPr sz="1400" b="1">
                <a:solidFill>
                  <a:srgbClr val="1F6FEB"/>
                </a:solidFill>
                <a:latin typeface="Arial"/>
              </a:rPr>
              <a:t>• </a:t>
            </a:r>
            <a:r>
              <a:rPr sz="1250" b="0">
                <a:solidFill>
                  <a:srgbClr val="161B26"/>
                </a:solidFill>
                <a:latin typeface="Arial"/>
              </a:rPr>
              <a:t>Explain every official objective</a:t>
            </a:r>
          </a:p>
        </p:txBody>
      </p:sp>
      <p:sp>
        <p:nvSpPr>
          <p:cNvPr id="11" name="TextBox 10"/>
          <p:cNvSpPr txBox="1"/>
          <p:nvPr/>
        </p:nvSpPr>
        <p:spPr>
          <a:xfrm>
            <a:off x="996695" y="3438144"/>
            <a:ext cx="2926080" cy="566928"/>
          </a:xfrm>
          <a:prstGeom prst="rect">
            <a:avLst/>
          </a:prstGeom>
          <a:noFill/>
        </p:spPr>
        <p:txBody>
          <a:bodyPr wrap="square" anchor="ctr" lIns="54864" rIns="54864" tIns="54864" bIns="54864">
            <a:spAutoFit/>
          </a:bodyPr>
          <a:lstStyle/>
          <a:p>
            <a:pPr algn="l">
              <a:spcAft>
                <a:spcPts val="300"/>
              </a:spcAft>
            </a:pPr>
            <a:r>
              <a:rPr sz="1400" b="1">
                <a:solidFill>
                  <a:srgbClr val="1F6FEB"/>
                </a:solidFill>
                <a:latin typeface="Arial"/>
              </a:rPr>
              <a:t>• </a:t>
            </a:r>
            <a:r>
              <a:rPr sz="1250" b="0">
                <a:solidFill>
                  <a:srgbClr val="161B26"/>
                </a:solidFill>
                <a:latin typeface="Arial"/>
              </a:rPr>
              <a:t>Distinguish similar features</a:t>
            </a:r>
          </a:p>
        </p:txBody>
      </p:sp>
      <p:sp>
        <p:nvSpPr>
          <p:cNvPr id="12" name="TextBox 11"/>
          <p:cNvSpPr txBox="1"/>
          <p:nvPr/>
        </p:nvSpPr>
        <p:spPr>
          <a:xfrm>
            <a:off x="996695" y="4133087"/>
            <a:ext cx="2926080" cy="566928"/>
          </a:xfrm>
          <a:prstGeom prst="rect">
            <a:avLst/>
          </a:prstGeom>
          <a:noFill/>
        </p:spPr>
        <p:txBody>
          <a:bodyPr wrap="square" anchor="ctr" lIns="54864" rIns="54864" tIns="54864" bIns="54864">
            <a:spAutoFit/>
          </a:bodyPr>
          <a:lstStyle/>
          <a:p>
            <a:pPr algn="l">
              <a:spcAft>
                <a:spcPts val="300"/>
              </a:spcAft>
            </a:pPr>
            <a:r>
              <a:rPr sz="1400" b="1">
                <a:solidFill>
                  <a:srgbClr val="1F6FEB"/>
                </a:solidFill>
                <a:latin typeface="Arial"/>
              </a:rPr>
              <a:t>• </a:t>
            </a:r>
            <a:r>
              <a:rPr sz="1250" b="0">
                <a:solidFill>
                  <a:srgbClr val="161B26"/>
                </a:solidFill>
                <a:latin typeface="Arial"/>
              </a:rPr>
              <a:t>Recognise common pitfalls</a:t>
            </a:r>
          </a:p>
        </p:txBody>
      </p:sp>
      <p:sp>
        <p:nvSpPr>
          <p:cNvPr id="13" name="Rectangle 12"/>
          <p:cNvSpPr/>
          <p:nvPr/>
        </p:nvSpPr>
        <p:spPr>
          <a:xfrm>
            <a:off x="4553712" y="1783080"/>
            <a:ext cx="3383280" cy="4343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53712" y="1783080"/>
            <a:ext cx="338328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73168" y="2057400"/>
            <a:ext cx="2926080" cy="457200"/>
          </a:xfrm>
          <a:prstGeom prst="rect">
            <a:avLst/>
          </a:prstGeom>
          <a:noFill/>
        </p:spPr>
        <p:txBody>
          <a:bodyPr wrap="square" anchor="t" lIns="54864" rIns="54864" tIns="54864" bIns="54864">
            <a:spAutoFit/>
          </a:bodyPr>
          <a:lstStyle/>
          <a:p>
            <a:pPr algn="l">
              <a:spcAft>
                <a:spcPts val="300"/>
              </a:spcAft>
            </a:pPr>
            <a:r>
              <a:rPr sz="1700" b="1">
                <a:solidFill>
                  <a:srgbClr val="10B981"/>
                </a:solidFill>
                <a:latin typeface="Arial"/>
              </a:rPr>
              <a:t>Do</a:t>
            </a:r>
          </a:p>
        </p:txBody>
      </p:sp>
      <p:sp>
        <p:nvSpPr>
          <p:cNvPr id="16" name="TextBox 15"/>
          <p:cNvSpPr txBox="1"/>
          <p:nvPr/>
        </p:nvSpPr>
        <p:spPr>
          <a:xfrm>
            <a:off x="4782312" y="2743200"/>
            <a:ext cx="2926080" cy="566928"/>
          </a:xfrm>
          <a:prstGeom prst="rect">
            <a:avLst/>
          </a:prstGeom>
          <a:noFill/>
        </p:spPr>
        <p:txBody>
          <a:bodyPr wrap="square" anchor="ctr" lIns="54864" rIns="54864" tIns="54864" bIns="54864">
            <a:spAutoFit/>
          </a:bodyPr>
          <a:lstStyle/>
          <a:p>
            <a:pPr algn="l">
              <a:spcAft>
                <a:spcPts val="300"/>
              </a:spcAft>
            </a:pPr>
            <a:r>
              <a:rPr sz="1400" b="1">
                <a:solidFill>
                  <a:srgbClr val="10B981"/>
                </a:solidFill>
                <a:latin typeface="Arial"/>
              </a:rPr>
              <a:t>• </a:t>
            </a:r>
            <a:r>
              <a:rPr sz="1250" b="0">
                <a:solidFill>
                  <a:srgbClr val="161B26"/>
                </a:solidFill>
                <a:latin typeface="Arial"/>
              </a:rPr>
              <a:t>Complete all eleven workbooks</a:t>
            </a:r>
          </a:p>
        </p:txBody>
      </p:sp>
      <p:sp>
        <p:nvSpPr>
          <p:cNvPr id="17" name="TextBox 16"/>
          <p:cNvSpPr txBox="1"/>
          <p:nvPr/>
        </p:nvSpPr>
        <p:spPr>
          <a:xfrm>
            <a:off x="4782312" y="3438144"/>
            <a:ext cx="2926080" cy="566928"/>
          </a:xfrm>
          <a:prstGeom prst="rect">
            <a:avLst/>
          </a:prstGeom>
          <a:noFill/>
        </p:spPr>
        <p:txBody>
          <a:bodyPr wrap="square" anchor="ctr" lIns="54864" rIns="54864" tIns="54864" bIns="54864">
            <a:spAutoFit/>
          </a:bodyPr>
          <a:lstStyle/>
          <a:p>
            <a:pPr algn="l">
              <a:spcAft>
                <a:spcPts val="300"/>
              </a:spcAft>
            </a:pPr>
            <a:r>
              <a:rPr sz="1400" b="1">
                <a:solidFill>
                  <a:srgbClr val="10B981"/>
                </a:solidFill>
                <a:latin typeface="Arial"/>
              </a:rPr>
              <a:t>• </a:t>
            </a:r>
            <a:r>
              <a:rPr sz="1250" b="0">
                <a:solidFill>
                  <a:srgbClr val="161B26"/>
                </a:solidFill>
                <a:latin typeface="Arial"/>
              </a:rPr>
              <a:t>Rebuild without instructions</a:t>
            </a:r>
          </a:p>
        </p:txBody>
      </p:sp>
      <p:sp>
        <p:nvSpPr>
          <p:cNvPr id="18" name="TextBox 17"/>
          <p:cNvSpPr txBox="1"/>
          <p:nvPr/>
        </p:nvSpPr>
        <p:spPr>
          <a:xfrm>
            <a:off x="4782312" y="4133087"/>
            <a:ext cx="2926080" cy="566928"/>
          </a:xfrm>
          <a:prstGeom prst="rect">
            <a:avLst/>
          </a:prstGeom>
          <a:noFill/>
        </p:spPr>
        <p:txBody>
          <a:bodyPr wrap="square" anchor="ctr" lIns="54864" rIns="54864" tIns="54864" bIns="54864">
            <a:spAutoFit/>
          </a:bodyPr>
          <a:lstStyle/>
          <a:p>
            <a:pPr algn="l">
              <a:spcAft>
                <a:spcPts val="300"/>
              </a:spcAft>
            </a:pPr>
            <a:r>
              <a:rPr sz="1400" b="1">
                <a:solidFill>
                  <a:srgbClr val="10B981"/>
                </a:solidFill>
                <a:latin typeface="Arial"/>
              </a:rPr>
              <a:t>• </a:t>
            </a:r>
            <a:r>
              <a:rPr sz="1250" b="0">
                <a:solidFill>
                  <a:srgbClr val="161B26"/>
                </a:solidFill>
                <a:latin typeface="Arial"/>
              </a:rPr>
              <a:t>Validate totals and evidence</a:t>
            </a:r>
          </a:p>
        </p:txBody>
      </p:sp>
      <p:sp>
        <p:nvSpPr>
          <p:cNvPr id="19" name="Rectangle 18"/>
          <p:cNvSpPr/>
          <p:nvPr/>
        </p:nvSpPr>
        <p:spPr>
          <a:xfrm>
            <a:off x="8339327" y="1783080"/>
            <a:ext cx="3383280" cy="4343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339327" y="1783080"/>
            <a:ext cx="338328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58784" y="2057400"/>
            <a:ext cx="2926080" cy="457200"/>
          </a:xfrm>
          <a:prstGeom prst="rect">
            <a:avLst/>
          </a:prstGeom>
          <a:noFill/>
        </p:spPr>
        <p:txBody>
          <a:bodyPr wrap="square" anchor="t" lIns="54864" rIns="54864" tIns="54864" bIns="54864">
            <a:spAutoFit/>
          </a:bodyPr>
          <a:lstStyle/>
          <a:p>
            <a:pPr algn="l">
              <a:spcAft>
                <a:spcPts val="300"/>
              </a:spcAft>
            </a:pPr>
            <a:r>
              <a:rPr sz="1700" b="1">
                <a:solidFill>
                  <a:srgbClr val="7C3AED"/>
                </a:solidFill>
                <a:latin typeface="Arial"/>
              </a:rPr>
              <a:t>Perform</a:t>
            </a:r>
          </a:p>
        </p:txBody>
      </p:sp>
      <p:sp>
        <p:nvSpPr>
          <p:cNvPr id="22" name="TextBox 21"/>
          <p:cNvSpPr txBox="1"/>
          <p:nvPr/>
        </p:nvSpPr>
        <p:spPr>
          <a:xfrm>
            <a:off x="8567928" y="2743200"/>
            <a:ext cx="2926080" cy="566928"/>
          </a:xfrm>
          <a:prstGeom prst="rect">
            <a:avLst/>
          </a:prstGeom>
          <a:noFill/>
        </p:spPr>
        <p:txBody>
          <a:bodyPr wrap="square" anchor="ctr" lIns="54864" rIns="54864" tIns="54864" bIns="54864">
            <a:spAutoFit/>
          </a:bodyPr>
          <a:lstStyle/>
          <a:p>
            <a:pPr algn="l">
              <a:spcAft>
                <a:spcPts val="300"/>
              </a:spcAft>
            </a:pPr>
            <a:r>
              <a:rPr sz="1400" b="1">
                <a:solidFill>
                  <a:srgbClr val="7C3AED"/>
                </a:solidFill>
                <a:latin typeface="Arial"/>
              </a:rPr>
              <a:t>• </a:t>
            </a:r>
            <a:r>
              <a:rPr sz="1250" b="0">
                <a:solidFill>
                  <a:srgbClr val="161B26"/>
                </a:solidFill>
                <a:latin typeface="Arial"/>
              </a:rPr>
              <a:t>Read the full scenario</a:t>
            </a:r>
          </a:p>
        </p:txBody>
      </p:sp>
      <p:sp>
        <p:nvSpPr>
          <p:cNvPr id="23" name="TextBox 22"/>
          <p:cNvSpPr txBox="1"/>
          <p:nvPr/>
        </p:nvSpPr>
        <p:spPr>
          <a:xfrm>
            <a:off x="8567928" y="3438144"/>
            <a:ext cx="2926080" cy="566928"/>
          </a:xfrm>
          <a:prstGeom prst="rect">
            <a:avLst/>
          </a:prstGeom>
          <a:noFill/>
        </p:spPr>
        <p:txBody>
          <a:bodyPr wrap="square" anchor="ctr" lIns="54864" rIns="54864" tIns="54864" bIns="54864">
            <a:spAutoFit/>
          </a:bodyPr>
          <a:lstStyle/>
          <a:p>
            <a:pPr algn="l">
              <a:spcAft>
                <a:spcPts val="300"/>
              </a:spcAft>
            </a:pPr>
            <a:r>
              <a:rPr sz="1400" b="1">
                <a:solidFill>
                  <a:srgbClr val="7C3AED"/>
                </a:solidFill>
                <a:latin typeface="Arial"/>
              </a:rPr>
              <a:t>• </a:t>
            </a:r>
            <a:r>
              <a:rPr sz="1250" b="0">
                <a:solidFill>
                  <a:srgbClr val="161B26"/>
                </a:solidFill>
                <a:latin typeface="Arial"/>
              </a:rPr>
              <a:t>Eliminate answers by consequence</a:t>
            </a:r>
          </a:p>
        </p:txBody>
      </p:sp>
      <p:sp>
        <p:nvSpPr>
          <p:cNvPr id="24" name="TextBox 23"/>
          <p:cNvSpPr txBox="1"/>
          <p:nvPr/>
        </p:nvSpPr>
        <p:spPr>
          <a:xfrm>
            <a:off x="8567928" y="4133087"/>
            <a:ext cx="2926080" cy="566928"/>
          </a:xfrm>
          <a:prstGeom prst="rect">
            <a:avLst/>
          </a:prstGeom>
          <a:noFill/>
        </p:spPr>
        <p:txBody>
          <a:bodyPr wrap="square" anchor="ctr" lIns="54864" rIns="54864" tIns="54864" bIns="54864">
            <a:spAutoFit/>
          </a:bodyPr>
          <a:lstStyle/>
          <a:p>
            <a:pPr algn="l">
              <a:spcAft>
                <a:spcPts val="300"/>
              </a:spcAft>
            </a:pPr>
            <a:r>
              <a:rPr sz="1400" b="1">
                <a:solidFill>
                  <a:srgbClr val="7C3AED"/>
                </a:solidFill>
                <a:latin typeface="Arial"/>
              </a:rPr>
              <a:t>• </a:t>
            </a:r>
            <a:r>
              <a:rPr sz="1250" b="0">
                <a:solidFill>
                  <a:srgbClr val="161B26"/>
                </a:solidFill>
                <a:latin typeface="Arial"/>
              </a:rPr>
              <a:t>Manage time across 40 items</a:t>
            </a:r>
          </a:p>
        </p:txBody>
      </p:sp>
      <p:sp>
        <p:nvSpPr>
          <p:cNvPr id="25" name="TextBox 24"/>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26" name="TextBox 25"/>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27" name="TextBox 26"/>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156</a:t>
            </a:r>
          </a:p>
        </p:txBody>
      </p:sp>
    </p:spTree>
  </p:cSld>
  <p:clrMapOvr>
    <a:masterClrMapping/>
  </p:clrMapOvr>
  <p:transition spd="fast">
    <p:fade/>
  </p:transition>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37744"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47472"/>
            <a:ext cx="10698480" cy="292608"/>
          </a:xfrm>
          <a:prstGeom prst="rect">
            <a:avLst/>
          </a:prstGeom>
          <a:noFill/>
        </p:spPr>
        <p:txBody>
          <a:bodyPr wrap="square" anchor="t" lIns="54864" rIns="54864" tIns="54864" bIns="54864">
            <a:spAutoFit/>
          </a:bodyPr>
          <a:lstStyle/>
          <a:p>
            <a:pPr algn="l">
              <a:spcAft>
                <a:spcPts val="300"/>
              </a:spcAft>
            </a:pPr>
            <a:r>
              <a:rPr sz="1200" b="1">
                <a:solidFill>
                  <a:srgbClr val="1F6FEB"/>
                </a:solidFill>
                <a:latin typeface="Arial"/>
              </a:rPr>
              <a:t>60-MINUTE EXAM DISCIPLINE</a:t>
            </a:r>
          </a:p>
        </p:txBody>
      </p:sp>
      <p:sp>
        <p:nvSpPr>
          <p:cNvPr id="5" name="TextBox 4"/>
          <p:cNvSpPr txBox="1"/>
          <p:nvPr/>
        </p:nvSpPr>
        <p:spPr>
          <a:xfrm>
            <a:off x="749808" y="713232"/>
            <a:ext cx="10744200" cy="731520"/>
          </a:xfrm>
          <a:prstGeom prst="rect">
            <a:avLst/>
          </a:prstGeom>
          <a:noFill/>
        </p:spPr>
        <p:txBody>
          <a:bodyPr wrap="square" anchor="ctr" lIns="54864" rIns="54864" tIns="54864" bIns="54864">
            <a:spAutoFit/>
          </a:bodyPr>
          <a:lstStyle/>
          <a:p>
            <a:pPr algn="l">
              <a:spcAft>
                <a:spcPts val="300"/>
              </a:spcAft>
            </a:pPr>
            <a:r>
              <a:rPr sz="2700" b="1">
                <a:solidFill>
                  <a:srgbClr val="161B26"/>
                </a:solidFill>
                <a:latin typeface="Arial"/>
              </a:rPr>
              <a:t>Exam-Day Reasoning</a:t>
            </a:r>
          </a:p>
        </p:txBody>
      </p:sp>
      <p:sp>
        <p:nvSpPr>
          <p:cNvPr id="6" name="Rectangle 5"/>
          <p:cNvSpPr/>
          <p:nvPr/>
        </p:nvSpPr>
        <p:spPr>
          <a:xfrm>
            <a:off x="749808" y="1536192"/>
            <a:ext cx="106984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8096" y="2057400"/>
            <a:ext cx="1947672" cy="2971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68096" y="2057400"/>
            <a:ext cx="194767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76172" y="2423160"/>
            <a:ext cx="731520" cy="7315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6172" y="2423160"/>
            <a:ext cx="731520" cy="731520"/>
          </a:xfrm>
          <a:prstGeom prst="rect">
            <a:avLst/>
          </a:prstGeom>
          <a:noFill/>
        </p:spPr>
        <p:txBody>
          <a:bodyPr wrap="square" anchor="ctr" lIns="54864" rIns="54864" tIns="54864" bIns="54864">
            <a:spAutoFit/>
          </a:bodyPr>
          <a:lstStyle/>
          <a:p>
            <a:pPr algn="ctr">
              <a:spcAft>
                <a:spcPts val="300"/>
              </a:spcAft>
            </a:pPr>
            <a:r>
              <a:rPr sz="2400" b="1">
                <a:solidFill>
                  <a:srgbClr val="FFFFFF"/>
                </a:solidFill>
                <a:latin typeface="Arial"/>
              </a:rPr>
              <a:t>1</a:t>
            </a:r>
          </a:p>
        </p:txBody>
      </p:sp>
      <p:sp>
        <p:nvSpPr>
          <p:cNvPr id="11" name="TextBox 10"/>
          <p:cNvSpPr txBox="1"/>
          <p:nvPr/>
        </p:nvSpPr>
        <p:spPr>
          <a:xfrm>
            <a:off x="877824" y="3429000"/>
            <a:ext cx="1728216" cy="1143000"/>
          </a:xfrm>
          <a:prstGeom prst="rect">
            <a:avLst/>
          </a:prstGeom>
          <a:noFill/>
        </p:spPr>
        <p:txBody>
          <a:bodyPr wrap="square" anchor="ctr" lIns="54864" rIns="54864" tIns="54864" bIns="54864">
            <a:spAutoFit/>
          </a:bodyPr>
          <a:lstStyle/>
          <a:p>
            <a:pPr algn="ctr">
              <a:spcAft>
                <a:spcPts val="300"/>
              </a:spcAft>
            </a:pPr>
            <a:r>
              <a:rPr sz="1250" b="0">
                <a:solidFill>
                  <a:srgbClr val="161B26"/>
                </a:solidFill>
                <a:latin typeface="Arial"/>
              </a:rPr>
              <a:t>Identify the requested outcome</a:t>
            </a:r>
          </a:p>
        </p:txBody>
      </p:sp>
      <p:sp>
        <p:nvSpPr>
          <p:cNvPr id="12" name="TextBox 11"/>
          <p:cNvSpPr txBox="1"/>
          <p:nvPr/>
        </p:nvSpPr>
        <p:spPr>
          <a:xfrm>
            <a:off x="2697479" y="3246120"/>
            <a:ext cx="274320" cy="365760"/>
          </a:xfrm>
          <a:prstGeom prst="rect">
            <a:avLst/>
          </a:prstGeom>
          <a:noFill/>
        </p:spPr>
        <p:txBody>
          <a:bodyPr wrap="square" anchor="t" lIns="54864" rIns="54864" tIns="54864" bIns="54864">
            <a:spAutoFit/>
          </a:bodyPr>
          <a:lstStyle/>
          <a:p>
            <a:pPr algn="ctr">
              <a:spcAft>
                <a:spcPts val="300"/>
              </a:spcAft>
            </a:pPr>
            <a:r>
              <a:rPr sz="1200" b="1">
                <a:solidFill>
                  <a:srgbClr val="1F6FEB"/>
                </a:solidFill>
                <a:latin typeface="Arial"/>
              </a:rPr>
              <a:t>▶</a:t>
            </a:r>
          </a:p>
        </p:txBody>
      </p:sp>
      <p:sp>
        <p:nvSpPr>
          <p:cNvPr id="13" name="Rectangle 12"/>
          <p:cNvSpPr/>
          <p:nvPr/>
        </p:nvSpPr>
        <p:spPr>
          <a:xfrm>
            <a:off x="2944368" y="2057400"/>
            <a:ext cx="1947672" cy="2971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44368" y="2057400"/>
            <a:ext cx="194767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52444" y="2423160"/>
            <a:ext cx="731520" cy="7315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52444" y="2423160"/>
            <a:ext cx="731520" cy="731520"/>
          </a:xfrm>
          <a:prstGeom prst="rect">
            <a:avLst/>
          </a:prstGeom>
          <a:noFill/>
        </p:spPr>
        <p:txBody>
          <a:bodyPr wrap="square" anchor="ctr" lIns="54864" rIns="54864" tIns="54864" bIns="54864">
            <a:spAutoFit/>
          </a:bodyPr>
          <a:lstStyle/>
          <a:p>
            <a:pPr algn="ctr">
              <a:spcAft>
                <a:spcPts val="300"/>
              </a:spcAft>
            </a:pPr>
            <a:r>
              <a:rPr sz="2400" b="1">
                <a:solidFill>
                  <a:srgbClr val="FFFFFF"/>
                </a:solidFill>
                <a:latin typeface="Arial"/>
              </a:rPr>
              <a:t>2</a:t>
            </a:r>
          </a:p>
        </p:txBody>
      </p:sp>
      <p:sp>
        <p:nvSpPr>
          <p:cNvPr id="17" name="TextBox 16"/>
          <p:cNvSpPr txBox="1"/>
          <p:nvPr/>
        </p:nvSpPr>
        <p:spPr>
          <a:xfrm>
            <a:off x="3054096" y="3429000"/>
            <a:ext cx="1728216" cy="1143000"/>
          </a:xfrm>
          <a:prstGeom prst="rect">
            <a:avLst/>
          </a:prstGeom>
          <a:noFill/>
        </p:spPr>
        <p:txBody>
          <a:bodyPr wrap="square" anchor="ctr" lIns="54864" rIns="54864" tIns="54864" bIns="54864">
            <a:spAutoFit/>
          </a:bodyPr>
          <a:lstStyle/>
          <a:p>
            <a:pPr algn="ctr">
              <a:spcAft>
                <a:spcPts val="300"/>
              </a:spcAft>
            </a:pPr>
            <a:r>
              <a:rPr sz="1250" b="0">
                <a:solidFill>
                  <a:srgbClr val="161B26"/>
                </a:solidFill>
                <a:latin typeface="Arial"/>
              </a:rPr>
              <a:t>Name the Tableau layer</a:t>
            </a:r>
          </a:p>
        </p:txBody>
      </p:sp>
      <p:sp>
        <p:nvSpPr>
          <p:cNvPr id="18" name="TextBox 17"/>
          <p:cNvSpPr txBox="1"/>
          <p:nvPr/>
        </p:nvSpPr>
        <p:spPr>
          <a:xfrm>
            <a:off x="4873752" y="3246120"/>
            <a:ext cx="274320" cy="365760"/>
          </a:xfrm>
          <a:prstGeom prst="rect">
            <a:avLst/>
          </a:prstGeom>
          <a:noFill/>
        </p:spPr>
        <p:txBody>
          <a:bodyPr wrap="square" anchor="t" lIns="54864" rIns="54864" tIns="54864" bIns="54864">
            <a:spAutoFit/>
          </a:bodyPr>
          <a:lstStyle/>
          <a:p>
            <a:pPr algn="ctr">
              <a:spcAft>
                <a:spcPts val="300"/>
              </a:spcAft>
            </a:pPr>
            <a:r>
              <a:rPr sz="1200" b="1">
                <a:solidFill>
                  <a:srgbClr val="1F6FEB"/>
                </a:solidFill>
                <a:latin typeface="Arial"/>
              </a:rPr>
              <a:t>▶</a:t>
            </a:r>
          </a:p>
        </p:txBody>
      </p:sp>
      <p:sp>
        <p:nvSpPr>
          <p:cNvPr id="19" name="Rectangle 18"/>
          <p:cNvSpPr/>
          <p:nvPr/>
        </p:nvSpPr>
        <p:spPr>
          <a:xfrm>
            <a:off x="5120640" y="2057400"/>
            <a:ext cx="1947672" cy="2971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0" y="2057400"/>
            <a:ext cx="194767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28715" y="2423160"/>
            <a:ext cx="731520" cy="7315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28715" y="2423160"/>
            <a:ext cx="731520" cy="731520"/>
          </a:xfrm>
          <a:prstGeom prst="rect">
            <a:avLst/>
          </a:prstGeom>
          <a:noFill/>
        </p:spPr>
        <p:txBody>
          <a:bodyPr wrap="square" anchor="ctr" lIns="54864" rIns="54864" tIns="54864" bIns="54864">
            <a:spAutoFit/>
          </a:bodyPr>
          <a:lstStyle/>
          <a:p>
            <a:pPr algn="ctr">
              <a:spcAft>
                <a:spcPts val="300"/>
              </a:spcAft>
            </a:pPr>
            <a:r>
              <a:rPr sz="2400" b="1">
                <a:solidFill>
                  <a:srgbClr val="FFFFFF"/>
                </a:solidFill>
                <a:latin typeface="Arial"/>
              </a:rPr>
              <a:t>3</a:t>
            </a:r>
          </a:p>
        </p:txBody>
      </p:sp>
      <p:sp>
        <p:nvSpPr>
          <p:cNvPr id="23" name="TextBox 22"/>
          <p:cNvSpPr txBox="1"/>
          <p:nvPr/>
        </p:nvSpPr>
        <p:spPr>
          <a:xfrm>
            <a:off x="5230368" y="3429000"/>
            <a:ext cx="1728216" cy="1143000"/>
          </a:xfrm>
          <a:prstGeom prst="rect">
            <a:avLst/>
          </a:prstGeom>
          <a:noFill/>
        </p:spPr>
        <p:txBody>
          <a:bodyPr wrap="square" anchor="ctr" lIns="54864" rIns="54864" tIns="54864" bIns="54864">
            <a:spAutoFit/>
          </a:bodyPr>
          <a:lstStyle/>
          <a:p>
            <a:pPr algn="ctr">
              <a:spcAft>
                <a:spcPts val="300"/>
              </a:spcAft>
            </a:pPr>
            <a:r>
              <a:rPr sz="1250" b="0">
                <a:solidFill>
                  <a:srgbClr val="161B26"/>
                </a:solidFill>
                <a:latin typeface="Arial"/>
              </a:rPr>
              <a:t>Predict the pill / grain / filter effect</a:t>
            </a:r>
          </a:p>
        </p:txBody>
      </p:sp>
      <p:sp>
        <p:nvSpPr>
          <p:cNvPr id="24" name="TextBox 23"/>
          <p:cNvSpPr txBox="1"/>
          <p:nvPr/>
        </p:nvSpPr>
        <p:spPr>
          <a:xfrm>
            <a:off x="7050024" y="3246120"/>
            <a:ext cx="274320" cy="365760"/>
          </a:xfrm>
          <a:prstGeom prst="rect">
            <a:avLst/>
          </a:prstGeom>
          <a:noFill/>
        </p:spPr>
        <p:txBody>
          <a:bodyPr wrap="square" anchor="t" lIns="54864" rIns="54864" tIns="54864" bIns="54864">
            <a:spAutoFit/>
          </a:bodyPr>
          <a:lstStyle/>
          <a:p>
            <a:pPr algn="ctr">
              <a:spcAft>
                <a:spcPts val="300"/>
              </a:spcAft>
            </a:pPr>
            <a:r>
              <a:rPr sz="1200" b="1">
                <a:solidFill>
                  <a:srgbClr val="1F6FEB"/>
                </a:solidFill>
                <a:latin typeface="Arial"/>
              </a:rPr>
              <a:t>▶</a:t>
            </a:r>
          </a:p>
        </p:txBody>
      </p:sp>
      <p:sp>
        <p:nvSpPr>
          <p:cNvPr id="25" name="Rectangle 24"/>
          <p:cNvSpPr/>
          <p:nvPr/>
        </p:nvSpPr>
        <p:spPr>
          <a:xfrm>
            <a:off x="7296912" y="2057400"/>
            <a:ext cx="1947672" cy="2971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296912" y="2057400"/>
            <a:ext cx="194767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04988" y="2423160"/>
            <a:ext cx="731520" cy="7315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4988" y="2423160"/>
            <a:ext cx="731520" cy="731520"/>
          </a:xfrm>
          <a:prstGeom prst="rect">
            <a:avLst/>
          </a:prstGeom>
          <a:noFill/>
        </p:spPr>
        <p:txBody>
          <a:bodyPr wrap="square" anchor="ctr" lIns="54864" rIns="54864" tIns="54864" bIns="54864">
            <a:spAutoFit/>
          </a:bodyPr>
          <a:lstStyle/>
          <a:p>
            <a:pPr algn="ctr">
              <a:spcAft>
                <a:spcPts val="300"/>
              </a:spcAft>
            </a:pPr>
            <a:r>
              <a:rPr sz="2400" b="1">
                <a:solidFill>
                  <a:srgbClr val="FFFFFF"/>
                </a:solidFill>
                <a:latin typeface="Arial"/>
              </a:rPr>
              <a:t>4</a:t>
            </a:r>
          </a:p>
        </p:txBody>
      </p:sp>
      <p:sp>
        <p:nvSpPr>
          <p:cNvPr id="29" name="TextBox 28"/>
          <p:cNvSpPr txBox="1"/>
          <p:nvPr/>
        </p:nvSpPr>
        <p:spPr>
          <a:xfrm>
            <a:off x="7406640" y="3429000"/>
            <a:ext cx="1728216" cy="1143000"/>
          </a:xfrm>
          <a:prstGeom prst="rect">
            <a:avLst/>
          </a:prstGeom>
          <a:noFill/>
        </p:spPr>
        <p:txBody>
          <a:bodyPr wrap="square" anchor="ctr" lIns="54864" rIns="54864" tIns="54864" bIns="54864">
            <a:spAutoFit/>
          </a:bodyPr>
          <a:lstStyle/>
          <a:p>
            <a:pPr algn="ctr">
              <a:spcAft>
                <a:spcPts val="300"/>
              </a:spcAft>
            </a:pPr>
            <a:r>
              <a:rPr sz="1250" b="0">
                <a:solidFill>
                  <a:srgbClr val="161B26"/>
                </a:solidFill>
                <a:latin typeface="Arial"/>
              </a:rPr>
              <a:t>Eliminate unsafe choices</a:t>
            </a:r>
          </a:p>
        </p:txBody>
      </p:sp>
      <p:sp>
        <p:nvSpPr>
          <p:cNvPr id="30" name="TextBox 29"/>
          <p:cNvSpPr txBox="1"/>
          <p:nvPr/>
        </p:nvSpPr>
        <p:spPr>
          <a:xfrm>
            <a:off x="9226296" y="3246120"/>
            <a:ext cx="274320" cy="365760"/>
          </a:xfrm>
          <a:prstGeom prst="rect">
            <a:avLst/>
          </a:prstGeom>
          <a:noFill/>
        </p:spPr>
        <p:txBody>
          <a:bodyPr wrap="square" anchor="t" lIns="54864" rIns="54864" tIns="54864" bIns="54864">
            <a:spAutoFit/>
          </a:bodyPr>
          <a:lstStyle/>
          <a:p>
            <a:pPr algn="ctr">
              <a:spcAft>
                <a:spcPts val="300"/>
              </a:spcAft>
            </a:pPr>
            <a:r>
              <a:rPr sz="1200" b="1">
                <a:solidFill>
                  <a:srgbClr val="1F6FEB"/>
                </a:solidFill>
                <a:latin typeface="Arial"/>
              </a:rPr>
              <a:t>▶</a:t>
            </a:r>
          </a:p>
        </p:txBody>
      </p:sp>
      <p:sp>
        <p:nvSpPr>
          <p:cNvPr id="31" name="Rectangle 30"/>
          <p:cNvSpPr/>
          <p:nvPr/>
        </p:nvSpPr>
        <p:spPr>
          <a:xfrm>
            <a:off x="9473184" y="2057400"/>
            <a:ext cx="1947672" cy="2971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473184" y="2057400"/>
            <a:ext cx="194767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81259" y="2423160"/>
            <a:ext cx="731520" cy="7315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81259" y="2423160"/>
            <a:ext cx="731520" cy="731520"/>
          </a:xfrm>
          <a:prstGeom prst="rect">
            <a:avLst/>
          </a:prstGeom>
          <a:noFill/>
        </p:spPr>
        <p:txBody>
          <a:bodyPr wrap="square" anchor="ctr" lIns="54864" rIns="54864" tIns="54864" bIns="54864">
            <a:spAutoFit/>
          </a:bodyPr>
          <a:lstStyle/>
          <a:p>
            <a:pPr algn="ctr">
              <a:spcAft>
                <a:spcPts val="300"/>
              </a:spcAft>
            </a:pPr>
            <a:r>
              <a:rPr sz="2400" b="1">
                <a:solidFill>
                  <a:srgbClr val="FFFFFF"/>
                </a:solidFill>
                <a:latin typeface="Arial"/>
              </a:rPr>
              <a:t>5</a:t>
            </a:r>
          </a:p>
        </p:txBody>
      </p:sp>
      <p:sp>
        <p:nvSpPr>
          <p:cNvPr id="35" name="TextBox 34"/>
          <p:cNvSpPr txBox="1"/>
          <p:nvPr/>
        </p:nvSpPr>
        <p:spPr>
          <a:xfrm>
            <a:off x="9582911" y="3429000"/>
            <a:ext cx="1728216" cy="1143000"/>
          </a:xfrm>
          <a:prstGeom prst="rect">
            <a:avLst/>
          </a:prstGeom>
          <a:noFill/>
        </p:spPr>
        <p:txBody>
          <a:bodyPr wrap="square" anchor="ctr" lIns="54864" rIns="54864" tIns="54864" bIns="54864">
            <a:spAutoFit/>
          </a:bodyPr>
          <a:lstStyle/>
          <a:p>
            <a:pPr algn="ctr">
              <a:spcAft>
                <a:spcPts val="300"/>
              </a:spcAft>
            </a:pPr>
            <a:r>
              <a:rPr sz="1250" b="0">
                <a:solidFill>
                  <a:srgbClr val="161B26"/>
                </a:solidFill>
                <a:latin typeface="Arial"/>
              </a:rPr>
              <a:t>Answer and move on</a:t>
            </a:r>
          </a:p>
        </p:txBody>
      </p:sp>
      <p:sp>
        <p:nvSpPr>
          <p:cNvPr id="36" name="TextBox 35"/>
          <p:cNvSpPr txBox="1"/>
          <p:nvPr/>
        </p:nvSpPr>
        <p:spPr>
          <a:xfrm>
            <a:off x="777240" y="5394960"/>
            <a:ext cx="10607040" cy="411480"/>
          </a:xfrm>
          <a:prstGeom prst="rect">
            <a:avLst/>
          </a:prstGeom>
          <a:noFill/>
        </p:spPr>
        <p:txBody>
          <a:bodyPr wrap="square" anchor="t" lIns="54864" rIns="54864" tIns="54864" bIns="54864">
            <a:spAutoFit/>
          </a:bodyPr>
          <a:lstStyle/>
          <a:p>
            <a:pPr algn="ctr">
              <a:spcAft>
                <a:spcPts val="300"/>
              </a:spcAft>
            </a:pPr>
            <a:r>
              <a:rPr sz="1250" b="0">
                <a:solidFill>
                  <a:srgbClr val="5B6372"/>
                </a:solidFill>
                <a:latin typeface="Arial"/>
              </a:rPr>
              <a:t>Official guide states 40 multiple-choice/multiple-select items and no outside materials.</a:t>
            </a:r>
          </a:p>
        </p:txBody>
      </p:sp>
      <p:sp>
        <p:nvSpPr>
          <p:cNvPr id="37" name="TextBox 36"/>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38" name="TextBox 37"/>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39" name="TextBox 38"/>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157</a:t>
            </a:r>
          </a:p>
        </p:txBody>
      </p:sp>
    </p:spTree>
  </p:cSld>
  <p:clrMapOvr>
    <a:masterClrMapping/>
  </p:clrMapOvr>
  <p:transition spd="fast">
    <p:fade/>
  </p:transition>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37744"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47472"/>
            <a:ext cx="10698480" cy="292608"/>
          </a:xfrm>
          <a:prstGeom prst="rect">
            <a:avLst/>
          </a:prstGeom>
          <a:noFill/>
        </p:spPr>
        <p:txBody>
          <a:bodyPr wrap="square" anchor="t" lIns="54864" rIns="54864" tIns="54864" bIns="54864">
            <a:spAutoFit/>
          </a:bodyPr>
          <a:lstStyle/>
          <a:p>
            <a:pPr algn="l">
              <a:spcAft>
                <a:spcPts val="300"/>
              </a:spcAft>
            </a:pPr>
            <a:r>
              <a:rPr sz="1200" b="1">
                <a:solidFill>
                  <a:srgbClr val="1F6FEB"/>
                </a:solidFill>
                <a:latin typeface="Arial"/>
              </a:rPr>
              <a:t>CERTIFICATION PREPARATION</a:t>
            </a:r>
          </a:p>
        </p:txBody>
      </p:sp>
      <p:sp>
        <p:nvSpPr>
          <p:cNvPr id="5" name="TextBox 4"/>
          <p:cNvSpPr txBox="1"/>
          <p:nvPr/>
        </p:nvSpPr>
        <p:spPr>
          <a:xfrm>
            <a:off x="749808" y="713232"/>
            <a:ext cx="10744200" cy="731520"/>
          </a:xfrm>
          <a:prstGeom prst="rect">
            <a:avLst/>
          </a:prstGeom>
          <a:noFill/>
        </p:spPr>
        <p:txBody>
          <a:bodyPr wrap="square" anchor="ctr" lIns="54864" rIns="54864" tIns="54864" bIns="54864">
            <a:spAutoFit/>
          </a:bodyPr>
          <a:lstStyle/>
          <a:p>
            <a:pPr algn="l">
              <a:spcAft>
                <a:spcPts val="300"/>
              </a:spcAft>
            </a:pPr>
            <a:r>
              <a:rPr sz="2700" b="1">
                <a:solidFill>
                  <a:srgbClr val="161B26"/>
                </a:solidFill>
                <a:latin typeface="Arial"/>
              </a:rPr>
              <a:t>Official Preparation Resources</a:t>
            </a:r>
          </a:p>
        </p:txBody>
      </p:sp>
      <p:sp>
        <p:nvSpPr>
          <p:cNvPr id="6" name="Rectangle 5"/>
          <p:cNvSpPr/>
          <p:nvPr/>
        </p:nvSpPr>
        <p:spPr>
          <a:xfrm>
            <a:off x="749808" y="1536192"/>
            <a:ext cx="106984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22960" y="1783080"/>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783080"/>
            <a:ext cx="384048" cy="384048"/>
          </a:xfrm>
          <a:prstGeom prst="rect">
            <a:avLst/>
          </a:prstGeom>
          <a:noFill/>
        </p:spPr>
        <p:txBody>
          <a:bodyPr wrap="square" anchor="ctr" lIns="54864" rIns="54864" tIns="54864" bIns="54864">
            <a:spAutoFit/>
          </a:bodyPr>
          <a:lstStyle/>
          <a:p>
            <a:pPr algn="ctr">
              <a:spcAft>
                <a:spcPts val="300"/>
              </a:spcAft>
            </a:pPr>
            <a:r>
              <a:rPr sz="1300" b="1">
                <a:solidFill>
                  <a:srgbClr val="FFFFFF"/>
                </a:solidFill>
                <a:latin typeface="Arial"/>
              </a:rPr>
              <a:t>1</a:t>
            </a:r>
          </a:p>
        </p:txBody>
      </p:sp>
      <p:sp>
        <p:nvSpPr>
          <p:cNvPr id="9" name="TextBox 8"/>
          <p:cNvSpPr txBox="1"/>
          <p:nvPr/>
        </p:nvSpPr>
        <p:spPr>
          <a:xfrm>
            <a:off x="1417320" y="1755648"/>
            <a:ext cx="9875520" cy="530352"/>
          </a:xfrm>
          <a:prstGeom prst="rect">
            <a:avLst/>
          </a:prstGeom>
          <a:noFill/>
        </p:spPr>
        <p:txBody>
          <a:bodyPr wrap="square" anchor="ctr" lIns="54864" rIns="54864" tIns="54864" bIns="54864">
            <a:spAutoFit/>
          </a:bodyPr>
          <a:lstStyle/>
          <a:p>
            <a:pPr algn="l">
              <a:spcAft>
                <a:spcPts val="300"/>
              </a:spcAft>
            </a:pPr>
            <a:r>
              <a:rPr sz="1500" b="0">
                <a:solidFill>
                  <a:srgbClr val="161B26"/>
                </a:solidFill>
                <a:latin typeface="Arial"/>
              </a:rPr>
              <a:t>Read the complete Salesforce Certified Tableau Desktop Specialist exam guide and objective list.</a:t>
            </a:r>
          </a:p>
        </p:txBody>
      </p:sp>
      <p:sp>
        <p:nvSpPr>
          <p:cNvPr id="10" name="Oval 9"/>
          <p:cNvSpPr/>
          <p:nvPr/>
        </p:nvSpPr>
        <p:spPr>
          <a:xfrm>
            <a:off x="822960" y="2450591"/>
            <a:ext cx="384048" cy="38404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2450591"/>
            <a:ext cx="384048" cy="384048"/>
          </a:xfrm>
          <a:prstGeom prst="rect">
            <a:avLst/>
          </a:prstGeom>
          <a:noFill/>
        </p:spPr>
        <p:txBody>
          <a:bodyPr wrap="square" anchor="ctr" lIns="54864" rIns="54864" tIns="54864" bIns="54864">
            <a:spAutoFit/>
          </a:bodyPr>
          <a:lstStyle/>
          <a:p>
            <a:pPr algn="ctr">
              <a:spcAft>
                <a:spcPts val="300"/>
              </a:spcAft>
            </a:pPr>
            <a:r>
              <a:rPr sz="1300" b="1">
                <a:solidFill>
                  <a:srgbClr val="FFFFFF"/>
                </a:solidFill>
                <a:latin typeface="Arial"/>
              </a:rPr>
              <a:t>2</a:t>
            </a:r>
          </a:p>
        </p:txBody>
      </p:sp>
      <p:sp>
        <p:nvSpPr>
          <p:cNvPr id="12" name="TextBox 11"/>
          <p:cNvSpPr txBox="1"/>
          <p:nvPr/>
        </p:nvSpPr>
        <p:spPr>
          <a:xfrm>
            <a:off x="1417320" y="2423160"/>
            <a:ext cx="9875520" cy="530352"/>
          </a:xfrm>
          <a:prstGeom prst="rect">
            <a:avLst/>
          </a:prstGeom>
          <a:noFill/>
        </p:spPr>
        <p:txBody>
          <a:bodyPr wrap="square" anchor="ctr" lIns="54864" rIns="54864" tIns="54864" bIns="54864">
            <a:spAutoFit/>
          </a:bodyPr>
          <a:lstStyle/>
          <a:p>
            <a:pPr algn="l">
              <a:spcAft>
                <a:spcPts val="300"/>
              </a:spcAft>
            </a:pPr>
            <a:r>
              <a:rPr sz="1500" b="0">
                <a:solidFill>
                  <a:srgbClr val="161B26"/>
                </a:solidFill>
                <a:latin typeface="Arial"/>
              </a:rPr>
              <a:t>Use Tableau's free Desktop training videos for connection, workspace, concepts, dashboards, mapping and calculations.</a:t>
            </a:r>
          </a:p>
        </p:txBody>
      </p:sp>
      <p:sp>
        <p:nvSpPr>
          <p:cNvPr id="13" name="Oval 12"/>
          <p:cNvSpPr/>
          <p:nvPr/>
        </p:nvSpPr>
        <p:spPr>
          <a:xfrm>
            <a:off x="822960" y="3118104"/>
            <a:ext cx="384048" cy="38404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 y="3118104"/>
            <a:ext cx="384048" cy="384048"/>
          </a:xfrm>
          <a:prstGeom prst="rect">
            <a:avLst/>
          </a:prstGeom>
          <a:noFill/>
        </p:spPr>
        <p:txBody>
          <a:bodyPr wrap="square" anchor="ctr" lIns="54864" rIns="54864" tIns="54864" bIns="54864">
            <a:spAutoFit/>
          </a:bodyPr>
          <a:lstStyle/>
          <a:p>
            <a:pPr algn="ctr">
              <a:spcAft>
                <a:spcPts val="300"/>
              </a:spcAft>
            </a:pPr>
            <a:r>
              <a:rPr sz="1300" b="1">
                <a:solidFill>
                  <a:srgbClr val="FFFFFF"/>
                </a:solidFill>
                <a:latin typeface="Arial"/>
              </a:rPr>
              <a:t>3</a:t>
            </a:r>
          </a:p>
        </p:txBody>
      </p:sp>
      <p:sp>
        <p:nvSpPr>
          <p:cNvPr id="15" name="TextBox 14"/>
          <p:cNvSpPr txBox="1"/>
          <p:nvPr/>
        </p:nvSpPr>
        <p:spPr>
          <a:xfrm>
            <a:off x="1417320" y="3090672"/>
            <a:ext cx="9875520" cy="530352"/>
          </a:xfrm>
          <a:prstGeom prst="rect">
            <a:avLst/>
          </a:prstGeom>
          <a:noFill/>
        </p:spPr>
        <p:txBody>
          <a:bodyPr wrap="square" anchor="ctr" lIns="54864" rIns="54864" tIns="54864" bIns="54864">
            <a:spAutoFit/>
          </a:bodyPr>
          <a:lstStyle/>
          <a:p>
            <a:pPr algn="l">
              <a:spcAft>
                <a:spcPts val="300"/>
              </a:spcAft>
            </a:pPr>
            <a:r>
              <a:rPr sz="1500" b="0">
                <a:solidFill>
                  <a:srgbClr val="161B26"/>
                </a:solidFill>
                <a:latin typeface="Arial"/>
              </a:rPr>
              <a:t>Repeat each lab with a clean workbook until the objective is automatic.</a:t>
            </a:r>
          </a:p>
        </p:txBody>
      </p:sp>
      <p:sp>
        <p:nvSpPr>
          <p:cNvPr id="16" name="Oval 15"/>
          <p:cNvSpPr/>
          <p:nvPr/>
        </p:nvSpPr>
        <p:spPr>
          <a:xfrm>
            <a:off x="822960" y="3785615"/>
            <a:ext cx="384048" cy="38404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60" y="3785615"/>
            <a:ext cx="384048" cy="384048"/>
          </a:xfrm>
          <a:prstGeom prst="rect">
            <a:avLst/>
          </a:prstGeom>
          <a:noFill/>
        </p:spPr>
        <p:txBody>
          <a:bodyPr wrap="square" anchor="ctr" lIns="54864" rIns="54864" tIns="54864" bIns="54864">
            <a:spAutoFit/>
          </a:bodyPr>
          <a:lstStyle/>
          <a:p>
            <a:pPr algn="ctr">
              <a:spcAft>
                <a:spcPts val="300"/>
              </a:spcAft>
            </a:pPr>
            <a:r>
              <a:rPr sz="1300" b="1">
                <a:solidFill>
                  <a:srgbClr val="FFFFFF"/>
                </a:solidFill>
                <a:latin typeface="Arial"/>
              </a:rPr>
              <a:t>4</a:t>
            </a:r>
          </a:p>
        </p:txBody>
      </p:sp>
      <p:sp>
        <p:nvSpPr>
          <p:cNvPr id="18" name="TextBox 17"/>
          <p:cNvSpPr txBox="1"/>
          <p:nvPr/>
        </p:nvSpPr>
        <p:spPr>
          <a:xfrm>
            <a:off x="1417320" y="3758183"/>
            <a:ext cx="9875520" cy="530352"/>
          </a:xfrm>
          <a:prstGeom prst="rect">
            <a:avLst/>
          </a:prstGeom>
          <a:noFill/>
        </p:spPr>
        <p:txBody>
          <a:bodyPr wrap="square" anchor="ctr" lIns="54864" rIns="54864" tIns="54864" bIns="54864">
            <a:spAutoFit/>
          </a:bodyPr>
          <a:lstStyle/>
          <a:p>
            <a:pPr algn="l">
              <a:spcAft>
                <a:spcPts val="300"/>
              </a:spcAft>
            </a:pPr>
            <a:r>
              <a:rPr sz="1500" b="0">
                <a:solidFill>
                  <a:srgbClr val="161B26"/>
                </a:solidFill>
                <a:latin typeface="Arial"/>
              </a:rPr>
              <a:t>Use the Exam Domain Matrix in Lab 10 to locate weak areas.</a:t>
            </a:r>
          </a:p>
        </p:txBody>
      </p:sp>
      <p:sp>
        <p:nvSpPr>
          <p:cNvPr id="19" name="Oval 18"/>
          <p:cNvSpPr/>
          <p:nvPr/>
        </p:nvSpPr>
        <p:spPr>
          <a:xfrm>
            <a:off x="822960" y="4453128"/>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60" y="4453128"/>
            <a:ext cx="384048" cy="384048"/>
          </a:xfrm>
          <a:prstGeom prst="rect">
            <a:avLst/>
          </a:prstGeom>
          <a:noFill/>
        </p:spPr>
        <p:txBody>
          <a:bodyPr wrap="square" anchor="ctr" lIns="54864" rIns="54864" tIns="54864" bIns="54864">
            <a:spAutoFit/>
          </a:bodyPr>
          <a:lstStyle/>
          <a:p>
            <a:pPr algn="ctr">
              <a:spcAft>
                <a:spcPts val="300"/>
              </a:spcAft>
            </a:pPr>
            <a:r>
              <a:rPr sz="1300" b="1">
                <a:solidFill>
                  <a:srgbClr val="FFFFFF"/>
                </a:solidFill>
                <a:latin typeface="Arial"/>
              </a:rPr>
              <a:t>5</a:t>
            </a:r>
          </a:p>
        </p:txBody>
      </p:sp>
      <p:sp>
        <p:nvSpPr>
          <p:cNvPr id="21" name="TextBox 20"/>
          <p:cNvSpPr txBox="1"/>
          <p:nvPr/>
        </p:nvSpPr>
        <p:spPr>
          <a:xfrm>
            <a:off x="1417320" y="4425696"/>
            <a:ext cx="9875520" cy="530352"/>
          </a:xfrm>
          <a:prstGeom prst="rect">
            <a:avLst/>
          </a:prstGeom>
          <a:noFill/>
        </p:spPr>
        <p:txBody>
          <a:bodyPr wrap="square" anchor="ctr" lIns="54864" rIns="54864" tIns="54864" bIns="54864">
            <a:spAutoFit/>
          </a:bodyPr>
          <a:lstStyle/>
          <a:p>
            <a:pPr algn="l">
              <a:spcAft>
                <a:spcPts val="300"/>
              </a:spcAft>
            </a:pPr>
            <a:r>
              <a:rPr sz="1500" b="0">
                <a:solidFill>
                  <a:srgbClr val="161B26"/>
                </a:solidFill>
                <a:latin typeface="Arial"/>
              </a:rPr>
              <a:t>Finish with the exact Tableau Desktop Specialist practice-exam link on the final slide.</a:t>
            </a:r>
          </a:p>
        </p:txBody>
      </p:sp>
      <p:sp>
        <p:nvSpPr>
          <p:cNvPr id="22" name="TextBox 21"/>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23" name="TextBox 22"/>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24" name="TextBox 23"/>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158</a:t>
            </a:r>
          </a:p>
        </p:txBody>
      </p:sp>
    </p:spTree>
  </p:cSld>
  <p:clrMapOvr>
    <a:masterClrMapping/>
  </p:clrMapOvr>
  <p:transition spd="fast">
    <p:fade/>
  </p:transition>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37744"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47472"/>
            <a:ext cx="10698480" cy="292608"/>
          </a:xfrm>
          <a:prstGeom prst="rect">
            <a:avLst/>
          </a:prstGeom>
          <a:noFill/>
        </p:spPr>
        <p:txBody>
          <a:bodyPr wrap="square" anchor="t" lIns="54864" rIns="54864" tIns="54864" bIns="54864">
            <a:spAutoFit/>
          </a:bodyPr>
          <a:lstStyle/>
          <a:p>
            <a:pPr algn="l">
              <a:spcAft>
                <a:spcPts val="300"/>
              </a:spcAft>
            </a:pPr>
            <a:r>
              <a:rPr sz="1200" b="1">
                <a:solidFill>
                  <a:srgbClr val="1F6FEB"/>
                </a:solidFill>
                <a:latin typeface="Arial"/>
              </a:rPr>
              <a:t>SALESFORCE CERTIFIED TABLEAU DESKTOP SPECIALIST</a:t>
            </a:r>
          </a:p>
        </p:txBody>
      </p:sp>
      <p:sp>
        <p:nvSpPr>
          <p:cNvPr id="5" name="TextBox 4"/>
          <p:cNvSpPr txBox="1"/>
          <p:nvPr/>
        </p:nvSpPr>
        <p:spPr>
          <a:xfrm>
            <a:off x="749808" y="713232"/>
            <a:ext cx="10744200" cy="731520"/>
          </a:xfrm>
          <a:prstGeom prst="rect">
            <a:avLst/>
          </a:prstGeom>
          <a:noFill/>
        </p:spPr>
        <p:txBody>
          <a:bodyPr wrap="square" anchor="ctr" lIns="54864" rIns="54864" tIns="54864" bIns="54864">
            <a:spAutoFit/>
          </a:bodyPr>
          <a:lstStyle/>
          <a:p>
            <a:pPr algn="l">
              <a:spcAft>
                <a:spcPts val="300"/>
              </a:spcAft>
            </a:pPr>
            <a:r>
              <a:rPr sz="2700" b="1">
                <a:solidFill>
                  <a:srgbClr val="161B26"/>
                </a:solidFill>
                <a:latin typeface="Arial"/>
              </a:rPr>
              <a:t>Official Certification Exam Details</a:t>
            </a:r>
          </a:p>
        </p:txBody>
      </p:sp>
      <p:sp>
        <p:nvSpPr>
          <p:cNvPr id="6" name="Rectangle 5"/>
          <p:cNvSpPr/>
          <p:nvPr/>
        </p:nvSpPr>
        <p:spPr>
          <a:xfrm>
            <a:off x="749808" y="1536192"/>
            <a:ext cx="106984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9808" y="1783080"/>
            <a:ext cx="2514600"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49808" y="1783080"/>
            <a:ext cx="73152" cy="10241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01952"/>
            <a:ext cx="2057400" cy="384048"/>
          </a:xfrm>
          <a:prstGeom prst="rect">
            <a:avLst/>
          </a:prstGeom>
          <a:noFill/>
        </p:spPr>
        <p:txBody>
          <a:bodyPr wrap="square" anchor="t" lIns="54864" rIns="54864" tIns="54864" bIns="54864">
            <a:spAutoFit/>
          </a:bodyPr>
          <a:lstStyle/>
          <a:p>
            <a:pPr algn="l">
              <a:spcAft>
                <a:spcPts val="300"/>
              </a:spcAft>
            </a:pPr>
            <a:r>
              <a:rPr sz="2000" b="1">
                <a:solidFill>
                  <a:srgbClr val="1F6FEB"/>
                </a:solidFill>
                <a:latin typeface="Arial"/>
              </a:rPr>
              <a:t>40 + up to 5</a:t>
            </a:r>
          </a:p>
        </p:txBody>
      </p:sp>
      <p:sp>
        <p:nvSpPr>
          <p:cNvPr id="10" name="TextBox 9"/>
          <p:cNvSpPr txBox="1"/>
          <p:nvPr/>
        </p:nvSpPr>
        <p:spPr>
          <a:xfrm>
            <a:off x="1005840" y="2331720"/>
            <a:ext cx="2057400" cy="256032"/>
          </a:xfrm>
          <a:prstGeom prst="rect">
            <a:avLst/>
          </a:prstGeom>
          <a:noFill/>
        </p:spPr>
        <p:txBody>
          <a:bodyPr wrap="square" anchor="t" lIns="54864" rIns="54864" tIns="54864" bIns="54864">
            <a:spAutoFit/>
          </a:bodyPr>
          <a:lstStyle/>
          <a:p>
            <a:pPr algn="l">
              <a:spcAft>
                <a:spcPts val="300"/>
              </a:spcAft>
            </a:pPr>
            <a:r>
              <a:rPr sz="1050" b="0">
                <a:solidFill>
                  <a:srgbClr val="5B6372"/>
                </a:solidFill>
                <a:latin typeface="Arial"/>
              </a:rPr>
              <a:t>MC / MS items</a:t>
            </a:r>
          </a:p>
        </p:txBody>
      </p:sp>
      <p:sp>
        <p:nvSpPr>
          <p:cNvPr id="11" name="Rectangle 10"/>
          <p:cNvSpPr/>
          <p:nvPr/>
        </p:nvSpPr>
        <p:spPr>
          <a:xfrm>
            <a:off x="3566160" y="1783080"/>
            <a:ext cx="2514600"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566160" y="1783080"/>
            <a:ext cx="73152" cy="10241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822191" y="1901952"/>
            <a:ext cx="2057400" cy="384048"/>
          </a:xfrm>
          <a:prstGeom prst="rect">
            <a:avLst/>
          </a:prstGeom>
          <a:noFill/>
        </p:spPr>
        <p:txBody>
          <a:bodyPr wrap="square" anchor="t" lIns="54864" rIns="54864" tIns="54864" bIns="54864">
            <a:spAutoFit/>
          </a:bodyPr>
          <a:lstStyle/>
          <a:p>
            <a:pPr algn="l">
              <a:spcAft>
                <a:spcPts val="300"/>
              </a:spcAft>
            </a:pPr>
            <a:r>
              <a:rPr sz="2000" b="1">
                <a:solidFill>
                  <a:srgbClr val="10B981"/>
                </a:solidFill>
                <a:latin typeface="Arial"/>
              </a:rPr>
              <a:t>70 min</a:t>
            </a:r>
          </a:p>
        </p:txBody>
      </p:sp>
      <p:sp>
        <p:nvSpPr>
          <p:cNvPr id="14" name="TextBox 13"/>
          <p:cNvSpPr txBox="1"/>
          <p:nvPr/>
        </p:nvSpPr>
        <p:spPr>
          <a:xfrm>
            <a:off x="3822191" y="2331720"/>
            <a:ext cx="2057400" cy="256032"/>
          </a:xfrm>
          <a:prstGeom prst="rect">
            <a:avLst/>
          </a:prstGeom>
          <a:noFill/>
        </p:spPr>
        <p:txBody>
          <a:bodyPr wrap="square" anchor="t" lIns="54864" rIns="54864" tIns="54864" bIns="54864">
            <a:spAutoFit/>
          </a:bodyPr>
          <a:lstStyle/>
          <a:p>
            <a:pPr algn="l">
              <a:spcAft>
                <a:spcPts val="300"/>
              </a:spcAft>
            </a:pPr>
            <a:r>
              <a:rPr sz="1050" b="0">
                <a:solidFill>
                  <a:srgbClr val="5B6372"/>
                </a:solidFill>
                <a:latin typeface="Arial"/>
              </a:rPr>
              <a:t>Time limit</a:t>
            </a:r>
          </a:p>
        </p:txBody>
      </p:sp>
      <p:sp>
        <p:nvSpPr>
          <p:cNvPr id="15" name="Rectangle 14"/>
          <p:cNvSpPr/>
          <p:nvPr/>
        </p:nvSpPr>
        <p:spPr>
          <a:xfrm>
            <a:off x="6382512" y="1783080"/>
            <a:ext cx="2514600"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382512" y="1783080"/>
            <a:ext cx="73152" cy="10241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38544" y="1901952"/>
            <a:ext cx="2057400" cy="384048"/>
          </a:xfrm>
          <a:prstGeom prst="rect">
            <a:avLst/>
          </a:prstGeom>
          <a:noFill/>
        </p:spPr>
        <p:txBody>
          <a:bodyPr wrap="square" anchor="t" lIns="54864" rIns="54864" tIns="54864" bIns="54864">
            <a:spAutoFit/>
          </a:bodyPr>
          <a:lstStyle/>
          <a:p>
            <a:pPr algn="l">
              <a:spcAft>
                <a:spcPts val="300"/>
              </a:spcAft>
            </a:pPr>
            <a:r>
              <a:rPr sz="2000" b="1">
                <a:solidFill>
                  <a:srgbClr val="7C3AED"/>
                </a:solidFill>
                <a:latin typeface="Arial"/>
              </a:rPr>
              <a:t>48%</a:t>
            </a:r>
          </a:p>
        </p:txBody>
      </p:sp>
      <p:sp>
        <p:nvSpPr>
          <p:cNvPr id="18" name="TextBox 17"/>
          <p:cNvSpPr txBox="1"/>
          <p:nvPr/>
        </p:nvSpPr>
        <p:spPr>
          <a:xfrm>
            <a:off x="6638544" y="2331720"/>
            <a:ext cx="2057400" cy="256032"/>
          </a:xfrm>
          <a:prstGeom prst="rect">
            <a:avLst/>
          </a:prstGeom>
          <a:noFill/>
        </p:spPr>
        <p:txBody>
          <a:bodyPr wrap="square" anchor="t" lIns="54864" rIns="54864" tIns="54864" bIns="54864">
            <a:spAutoFit/>
          </a:bodyPr>
          <a:lstStyle/>
          <a:p>
            <a:pPr algn="l">
              <a:spcAft>
                <a:spcPts val="300"/>
              </a:spcAft>
            </a:pPr>
            <a:r>
              <a:rPr sz="1050" b="0">
                <a:solidFill>
                  <a:srgbClr val="5B6372"/>
                </a:solidFill>
                <a:latin typeface="Arial"/>
              </a:rPr>
              <a:t>English pass score</a:t>
            </a:r>
          </a:p>
        </p:txBody>
      </p:sp>
      <p:sp>
        <p:nvSpPr>
          <p:cNvPr id="19" name="Rectangle 18"/>
          <p:cNvSpPr/>
          <p:nvPr/>
        </p:nvSpPr>
        <p:spPr>
          <a:xfrm>
            <a:off x="9198864" y="1783080"/>
            <a:ext cx="2514600" cy="10241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198864" y="1783080"/>
            <a:ext cx="73152" cy="102412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454896" y="1901952"/>
            <a:ext cx="2057400" cy="384048"/>
          </a:xfrm>
          <a:prstGeom prst="rect">
            <a:avLst/>
          </a:prstGeom>
          <a:noFill/>
        </p:spPr>
        <p:txBody>
          <a:bodyPr wrap="square" anchor="t" lIns="54864" rIns="54864" tIns="54864" bIns="54864">
            <a:spAutoFit/>
          </a:bodyPr>
          <a:lstStyle/>
          <a:p>
            <a:pPr algn="l">
              <a:spcAft>
                <a:spcPts val="300"/>
              </a:spcAft>
            </a:pPr>
            <a:r>
              <a:rPr sz="2000" b="1">
                <a:solidFill>
                  <a:srgbClr val="F59E0B"/>
                </a:solidFill>
                <a:latin typeface="Arial"/>
              </a:rPr>
              <a:t>USD 75</a:t>
            </a:r>
          </a:p>
        </p:txBody>
      </p:sp>
      <p:sp>
        <p:nvSpPr>
          <p:cNvPr id="22" name="TextBox 21"/>
          <p:cNvSpPr txBox="1"/>
          <p:nvPr/>
        </p:nvSpPr>
        <p:spPr>
          <a:xfrm>
            <a:off x="9454896" y="2331720"/>
            <a:ext cx="2057400" cy="256032"/>
          </a:xfrm>
          <a:prstGeom prst="rect">
            <a:avLst/>
          </a:prstGeom>
          <a:noFill/>
        </p:spPr>
        <p:txBody>
          <a:bodyPr wrap="square" anchor="t" lIns="54864" rIns="54864" tIns="54864" bIns="54864">
            <a:spAutoFit/>
          </a:bodyPr>
          <a:lstStyle/>
          <a:p>
            <a:pPr algn="l">
              <a:spcAft>
                <a:spcPts val="300"/>
              </a:spcAft>
            </a:pPr>
            <a:r>
              <a:rPr sz="1050" b="0">
                <a:solidFill>
                  <a:srgbClr val="5B6372"/>
                </a:solidFill>
                <a:latin typeface="Arial"/>
              </a:rPr>
              <a:t>Registration fee</a:t>
            </a:r>
          </a:p>
        </p:txBody>
      </p:sp>
      <p:sp>
        <p:nvSpPr>
          <p:cNvPr id="23" name="Oval 22"/>
          <p:cNvSpPr/>
          <p:nvPr/>
        </p:nvSpPr>
        <p:spPr>
          <a:xfrm>
            <a:off x="777240" y="3246120"/>
            <a:ext cx="1078992" cy="107899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77240" y="3547872"/>
            <a:ext cx="1078992" cy="384048"/>
          </a:xfrm>
          <a:prstGeom prst="rect">
            <a:avLst/>
          </a:prstGeom>
          <a:noFill/>
        </p:spPr>
        <p:txBody>
          <a:bodyPr wrap="square" anchor="t" lIns="54864" rIns="54864" tIns="54864" bIns="54864">
            <a:spAutoFit/>
          </a:bodyPr>
          <a:lstStyle/>
          <a:p>
            <a:pPr algn="ctr">
              <a:spcAft>
                <a:spcPts val="300"/>
              </a:spcAft>
            </a:pPr>
            <a:r>
              <a:rPr sz="2000" b="1">
                <a:solidFill>
                  <a:srgbClr val="FFFFFF"/>
                </a:solidFill>
                <a:latin typeface="Arial"/>
              </a:rPr>
              <a:t>23%</a:t>
            </a:r>
          </a:p>
        </p:txBody>
      </p:sp>
      <p:sp>
        <p:nvSpPr>
          <p:cNvPr id="25" name="TextBox 24"/>
          <p:cNvSpPr txBox="1"/>
          <p:nvPr/>
        </p:nvSpPr>
        <p:spPr>
          <a:xfrm>
            <a:off x="2002536" y="3310128"/>
            <a:ext cx="1234440" cy="960120"/>
          </a:xfrm>
          <a:prstGeom prst="rect">
            <a:avLst/>
          </a:prstGeom>
          <a:noFill/>
        </p:spPr>
        <p:txBody>
          <a:bodyPr wrap="square" anchor="ctr" lIns="54864" rIns="54864" tIns="54864" bIns="54864">
            <a:spAutoFit/>
          </a:bodyPr>
          <a:lstStyle/>
          <a:p>
            <a:pPr algn="l">
              <a:spcAft>
                <a:spcPts val="300"/>
              </a:spcAft>
            </a:pPr>
            <a:r>
              <a:rPr sz="1200" b="1">
                <a:solidFill>
                  <a:srgbClr val="161B26"/>
                </a:solidFill>
                <a:latin typeface="Arial"/>
              </a:rPr>
              <a:t>Connect &amp; prepare</a:t>
            </a:r>
          </a:p>
        </p:txBody>
      </p:sp>
      <p:sp>
        <p:nvSpPr>
          <p:cNvPr id="26" name="Oval 25"/>
          <p:cNvSpPr/>
          <p:nvPr/>
        </p:nvSpPr>
        <p:spPr>
          <a:xfrm>
            <a:off x="3593592" y="3246120"/>
            <a:ext cx="1078992" cy="107899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593592" y="3547872"/>
            <a:ext cx="1078992" cy="384048"/>
          </a:xfrm>
          <a:prstGeom prst="rect">
            <a:avLst/>
          </a:prstGeom>
          <a:noFill/>
        </p:spPr>
        <p:txBody>
          <a:bodyPr wrap="square" anchor="t" lIns="54864" rIns="54864" tIns="54864" bIns="54864">
            <a:spAutoFit/>
          </a:bodyPr>
          <a:lstStyle/>
          <a:p>
            <a:pPr algn="ctr">
              <a:spcAft>
                <a:spcPts val="300"/>
              </a:spcAft>
            </a:pPr>
            <a:r>
              <a:rPr sz="2000" b="1">
                <a:solidFill>
                  <a:srgbClr val="FFFFFF"/>
                </a:solidFill>
                <a:latin typeface="Arial"/>
              </a:rPr>
              <a:t>37%</a:t>
            </a:r>
          </a:p>
        </p:txBody>
      </p:sp>
      <p:sp>
        <p:nvSpPr>
          <p:cNvPr id="28" name="TextBox 27"/>
          <p:cNvSpPr txBox="1"/>
          <p:nvPr/>
        </p:nvSpPr>
        <p:spPr>
          <a:xfrm>
            <a:off x="4818888" y="3310128"/>
            <a:ext cx="1234440" cy="960120"/>
          </a:xfrm>
          <a:prstGeom prst="rect">
            <a:avLst/>
          </a:prstGeom>
          <a:noFill/>
        </p:spPr>
        <p:txBody>
          <a:bodyPr wrap="square" anchor="ctr" lIns="54864" rIns="54864" tIns="54864" bIns="54864">
            <a:spAutoFit/>
          </a:bodyPr>
          <a:lstStyle/>
          <a:p>
            <a:pPr algn="l">
              <a:spcAft>
                <a:spcPts val="300"/>
              </a:spcAft>
            </a:pPr>
            <a:r>
              <a:rPr sz="1200" b="1">
                <a:solidFill>
                  <a:srgbClr val="161B26"/>
                </a:solidFill>
                <a:latin typeface="Arial"/>
              </a:rPr>
              <a:t>Explore &amp; analyse</a:t>
            </a:r>
          </a:p>
        </p:txBody>
      </p:sp>
      <p:sp>
        <p:nvSpPr>
          <p:cNvPr id="29" name="Oval 28"/>
          <p:cNvSpPr/>
          <p:nvPr/>
        </p:nvSpPr>
        <p:spPr>
          <a:xfrm>
            <a:off x="6409944" y="3246120"/>
            <a:ext cx="1078992" cy="107899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9944" y="3547872"/>
            <a:ext cx="1078992" cy="384048"/>
          </a:xfrm>
          <a:prstGeom prst="rect">
            <a:avLst/>
          </a:prstGeom>
          <a:noFill/>
        </p:spPr>
        <p:txBody>
          <a:bodyPr wrap="square" anchor="t" lIns="54864" rIns="54864" tIns="54864" bIns="54864">
            <a:spAutoFit/>
          </a:bodyPr>
          <a:lstStyle/>
          <a:p>
            <a:pPr algn="ctr">
              <a:spcAft>
                <a:spcPts val="300"/>
              </a:spcAft>
            </a:pPr>
            <a:r>
              <a:rPr sz="2000" b="1">
                <a:solidFill>
                  <a:srgbClr val="FFFFFF"/>
                </a:solidFill>
                <a:latin typeface="Arial"/>
              </a:rPr>
              <a:t>25%</a:t>
            </a:r>
          </a:p>
        </p:txBody>
      </p:sp>
      <p:sp>
        <p:nvSpPr>
          <p:cNvPr id="31" name="TextBox 30"/>
          <p:cNvSpPr txBox="1"/>
          <p:nvPr/>
        </p:nvSpPr>
        <p:spPr>
          <a:xfrm>
            <a:off x="7635240" y="3310128"/>
            <a:ext cx="1234440" cy="960120"/>
          </a:xfrm>
          <a:prstGeom prst="rect">
            <a:avLst/>
          </a:prstGeom>
          <a:noFill/>
        </p:spPr>
        <p:txBody>
          <a:bodyPr wrap="square" anchor="ctr" lIns="54864" rIns="54864" tIns="54864" bIns="54864">
            <a:spAutoFit/>
          </a:bodyPr>
          <a:lstStyle/>
          <a:p>
            <a:pPr algn="l">
              <a:spcAft>
                <a:spcPts val="300"/>
              </a:spcAft>
            </a:pPr>
            <a:r>
              <a:rPr sz="1200" b="1">
                <a:solidFill>
                  <a:srgbClr val="161B26"/>
                </a:solidFill>
                <a:latin typeface="Arial"/>
              </a:rPr>
              <a:t>Share insights</a:t>
            </a:r>
          </a:p>
        </p:txBody>
      </p:sp>
      <p:sp>
        <p:nvSpPr>
          <p:cNvPr id="32" name="Oval 31"/>
          <p:cNvSpPr/>
          <p:nvPr/>
        </p:nvSpPr>
        <p:spPr>
          <a:xfrm>
            <a:off x="9226296" y="3246120"/>
            <a:ext cx="1078992" cy="107899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226296" y="3547872"/>
            <a:ext cx="1078992" cy="384048"/>
          </a:xfrm>
          <a:prstGeom prst="rect">
            <a:avLst/>
          </a:prstGeom>
          <a:noFill/>
        </p:spPr>
        <p:txBody>
          <a:bodyPr wrap="square" anchor="t" lIns="54864" rIns="54864" tIns="54864" bIns="54864">
            <a:spAutoFit/>
          </a:bodyPr>
          <a:lstStyle/>
          <a:p>
            <a:pPr algn="ctr">
              <a:spcAft>
                <a:spcPts val="300"/>
              </a:spcAft>
            </a:pPr>
            <a:r>
              <a:rPr sz="2000" b="1">
                <a:solidFill>
                  <a:srgbClr val="FFFFFF"/>
                </a:solidFill>
                <a:latin typeface="Arial"/>
              </a:rPr>
              <a:t>15%</a:t>
            </a:r>
          </a:p>
        </p:txBody>
      </p:sp>
      <p:sp>
        <p:nvSpPr>
          <p:cNvPr id="34" name="TextBox 33"/>
          <p:cNvSpPr txBox="1"/>
          <p:nvPr/>
        </p:nvSpPr>
        <p:spPr>
          <a:xfrm>
            <a:off x="10451592" y="3310128"/>
            <a:ext cx="1234440" cy="960120"/>
          </a:xfrm>
          <a:prstGeom prst="rect">
            <a:avLst/>
          </a:prstGeom>
          <a:noFill/>
        </p:spPr>
        <p:txBody>
          <a:bodyPr wrap="square" anchor="ctr" lIns="54864" rIns="54864" tIns="54864" bIns="54864">
            <a:spAutoFit/>
          </a:bodyPr>
          <a:lstStyle/>
          <a:p>
            <a:pPr algn="l">
              <a:spcAft>
                <a:spcPts val="300"/>
              </a:spcAft>
            </a:pPr>
            <a:r>
              <a:rPr sz="1200" b="1">
                <a:solidFill>
                  <a:srgbClr val="161B26"/>
                </a:solidFill>
                <a:latin typeface="Arial"/>
              </a:rPr>
              <a:t>Tableau concepts</a:t>
            </a:r>
          </a:p>
        </p:txBody>
      </p:sp>
      <p:sp>
        <p:nvSpPr>
          <p:cNvPr id="35" name="TextBox 34"/>
          <p:cNvSpPr txBox="1"/>
          <p:nvPr/>
        </p:nvSpPr>
        <p:spPr>
          <a:xfrm>
            <a:off x="868680" y="4709160"/>
            <a:ext cx="10332720" cy="658368"/>
          </a:xfrm>
          <a:prstGeom prst="rect">
            <a:avLst/>
          </a:prstGeom>
          <a:noFill/>
        </p:spPr>
        <p:txBody>
          <a:bodyPr wrap="square" anchor="ctr" lIns="54864" rIns="54864" tIns="54864" bIns="54864">
            <a:spAutoFit/>
          </a:bodyPr>
          <a:lstStyle/>
          <a:p>
            <a:pPr algn="ctr">
              <a:spcAft>
                <a:spcPts val="300"/>
              </a:spcAft>
            </a:pPr>
            <a:r>
              <a:rPr sz="1250" b="0">
                <a:solidFill>
                  <a:srgbClr val="161B26"/>
                </a:solidFill>
                <a:latin typeface="Arial"/>
              </a:rPr>
              <a:t>No prerequisite · Product version 2022.3 · No hard-copy or online references · Retake fee: free</a:t>
            </a:r>
          </a:p>
        </p:txBody>
      </p:sp>
      <p:sp>
        <p:nvSpPr>
          <p:cNvPr id="36" name="TextBox 35"/>
          <p:cNvSpPr txBox="1"/>
          <p:nvPr/>
        </p:nvSpPr>
        <p:spPr>
          <a:xfrm>
            <a:off x="868680" y="5596128"/>
            <a:ext cx="10332720" cy="384048"/>
          </a:xfrm>
          <a:prstGeom prst="rect">
            <a:avLst/>
          </a:prstGeom>
          <a:noFill/>
        </p:spPr>
        <p:txBody>
          <a:bodyPr wrap="square" anchor="t" lIns="54864" rIns="54864" tIns="54864" bIns="54864">
            <a:spAutoFit/>
          </a:bodyPr>
          <a:lstStyle/>
          <a:p>
            <a:pPr algn="ctr">
              <a:spcAft>
                <a:spcPts val="300"/>
              </a:spcAft>
            </a:pPr>
            <a:r>
              <a:rPr sz="1050" b="0">
                <a:solidFill>
                  <a:srgbClr val="5B6372"/>
                </a:solidFill>
                <a:latin typeface="Arial"/>
              </a:rPr>
              <a:t>Always confirm registration details on Salesforce before booking; fees and policies can change.</a:t>
            </a:r>
          </a:p>
        </p:txBody>
      </p:sp>
      <p:sp>
        <p:nvSpPr>
          <p:cNvPr id="37" name="TextBox 36"/>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38" name="TextBox 37"/>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39" name="TextBox 38"/>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159</a:t>
            </a:r>
          </a:p>
        </p:txBody>
      </p:sp>
    </p:spTree>
  </p:cSld>
  <p:clrMapOvr>
    <a:masterClrMapping/>
  </p:clrMapOvr>
  <p:transition spd="fast">
    <p:fade/>
  </p:transition>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37744"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47472"/>
            <a:ext cx="10698480" cy="292608"/>
          </a:xfrm>
          <a:prstGeom prst="rect">
            <a:avLst/>
          </a:prstGeom>
          <a:noFill/>
        </p:spPr>
        <p:txBody>
          <a:bodyPr wrap="square" anchor="t" lIns="54864" rIns="54864" tIns="54864" bIns="54864">
            <a:spAutoFit/>
          </a:bodyPr>
          <a:lstStyle/>
          <a:p>
            <a:pPr algn="l">
              <a:spcAft>
                <a:spcPts val="300"/>
              </a:spcAft>
            </a:pPr>
            <a:r>
              <a:rPr sz="1200" b="1">
                <a:solidFill>
                  <a:srgbClr val="1F6FEB"/>
                </a:solidFill>
                <a:latin typeface="Arial"/>
              </a:rPr>
              <a:t>LMS/TMS · VISUAL ACCESS GUIDE</a:t>
            </a:r>
          </a:p>
        </p:txBody>
      </p:sp>
      <p:sp>
        <p:nvSpPr>
          <p:cNvPr id="5" name="TextBox 4"/>
          <p:cNvSpPr txBox="1"/>
          <p:nvPr/>
        </p:nvSpPr>
        <p:spPr>
          <a:xfrm>
            <a:off x="749808" y="713232"/>
            <a:ext cx="10744200" cy="731520"/>
          </a:xfrm>
          <a:prstGeom prst="rect">
            <a:avLst/>
          </a:prstGeom>
          <a:noFill/>
        </p:spPr>
        <p:txBody>
          <a:bodyPr wrap="square" anchor="ctr" lIns="54864" rIns="54864" tIns="54864" bIns="54864">
            <a:spAutoFit/>
          </a:bodyPr>
          <a:lstStyle/>
          <a:p>
            <a:pPr algn="l">
              <a:spcAft>
                <a:spcPts val="300"/>
              </a:spcAft>
            </a:pPr>
            <a:r>
              <a:rPr sz="2700" b="1">
                <a:solidFill>
                  <a:srgbClr val="161B26"/>
                </a:solidFill>
                <a:latin typeface="Arial"/>
              </a:rPr>
              <a:t>Download Course Material</a:t>
            </a:r>
          </a:p>
        </p:txBody>
      </p:sp>
      <p:sp>
        <p:nvSpPr>
          <p:cNvPr id="6" name="Rectangle 5"/>
          <p:cNvSpPr/>
          <p:nvPr/>
        </p:nvSpPr>
        <p:spPr>
          <a:xfrm>
            <a:off x="749808" y="1536192"/>
            <a:ext cx="106984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5577840" cy="40690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5577840" cy="4754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1984248"/>
            <a:ext cx="164592" cy="164592"/>
          </a:xfrm>
          <a:prstGeom prst="ellipse">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216152" y="1984248"/>
            <a:ext cx="164592" cy="16459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472184" y="1984248"/>
            <a:ext cx="164592" cy="16459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874519" y="1920240"/>
            <a:ext cx="4206240" cy="310896"/>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011680" y="1920240"/>
            <a:ext cx="3931920" cy="310896"/>
          </a:xfrm>
          <a:prstGeom prst="rect">
            <a:avLst/>
          </a:prstGeom>
          <a:noFill/>
        </p:spPr>
        <p:txBody>
          <a:bodyPr wrap="square" anchor="ctr" lIns="54864" rIns="54864" tIns="54864" bIns="54864">
            <a:spAutoFit/>
          </a:bodyPr>
          <a:lstStyle/>
          <a:p>
            <a:pPr algn="l">
              <a:spcAft>
                <a:spcPts val="300"/>
              </a:spcAft>
            </a:pPr>
            <a:r>
              <a:rPr sz="1150" b="1">
                <a:solidFill>
                  <a:srgbClr val="1F6FEB"/>
                </a:solidFill>
                <a:latin typeface="Arial"/>
                <a:hlinkClick r:id="rId2"/>
              </a:rPr>
              <a:t>https://lms-tms.tertiaryinfotech.com/</a:t>
            </a:r>
          </a:p>
        </p:txBody>
      </p:sp>
      <p:sp>
        <p:nvSpPr>
          <p:cNvPr id="14" name="Rectangle 13"/>
          <p:cNvSpPr/>
          <p:nvPr/>
        </p:nvSpPr>
        <p:spPr>
          <a:xfrm>
            <a:off x="1005840" y="2542032"/>
            <a:ext cx="5120640" cy="6583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188720" y="2578608"/>
            <a:ext cx="4754879" cy="566928"/>
          </a:xfrm>
          <a:prstGeom prst="rect">
            <a:avLst/>
          </a:prstGeom>
          <a:noFill/>
        </p:spPr>
        <p:txBody>
          <a:bodyPr wrap="square" anchor="ctr" lIns="54864" rIns="54864" tIns="54864" bIns="54864">
            <a:spAutoFit/>
          </a:bodyPr>
          <a:lstStyle/>
          <a:p>
            <a:pPr algn="l">
              <a:spcAft>
                <a:spcPts val="300"/>
              </a:spcAft>
            </a:pPr>
            <a:r>
              <a:rPr sz="1400" b="1">
                <a:solidFill>
                  <a:srgbClr val="FFFFFF"/>
                </a:solidFill>
                <a:latin typeface="Arial"/>
              </a:rPr>
              <a:t>Tertiary Infotech LMS/TMS</a:t>
            </a:r>
          </a:p>
          <a:p>
            <a:pPr algn="l">
              <a:spcAft>
                <a:spcPts val="300"/>
              </a:spcAft>
            </a:pPr>
            <a:r>
              <a:rPr sz="1000" b="0">
                <a:solidFill>
                  <a:srgbClr val="FFFFFF"/>
                </a:solidFill>
                <a:latin typeface="Arial"/>
              </a:rPr>
              <a:t>My Courses · Attendance · Assessment</a:t>
            </a:r>
          </a:p>
        </p:txBody>
      </p:sp>
      <p:sp>
        <p:nvSpPr>
          <p:cNvPr id="16" name="Rectangle 15"/>
          <p:cNvSpPr/>
          <p:nvPr/>
        </p:nvSpPr>
        <p:spPr>
          <a:xfrm>
            <a:off x="1005840" y="3383280"/>
            <a:ext cx="5120640"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234440" y="3383280"/>
            <a:ext cx="4663440" cy="420624"/>
          </a:xfrm>
          <a:prstGeom prst="rect">
            <a:avLst/>
          </a:prstGeom>
          <a:noFill/>
        </p:spPr>
        <p:txBody>
          <a:bodyPr wrap="square" anchor="ctr" lIns="54864" rIns="54864" tIns="54864" bIns="54864">
            <a:spAutoFit/>
          </a:bodyPr>
          <a:lstStyle/>
          <a:p>
            <a:pPr algn="l">
              <a:spcAft>
                <a:spcPts val="300"/>
              </a:spcAft>
            </a:pPr>
            <a:r>
              <a:rPr sz="1150" b="0">
                <a:solidFill>
                  <a:srgbClr val="161B26"/>
                </a:solidFill>
                <a:latin typeface="Arial"/>
              </a:rPr>
              <a:t>Learner Slides (PDF)</a:t>
            </a:r>
          </a:p>
        </p:txBody>
      </p:sp>
      <p:sp>
        <p:nvSpPr>
          <p:cNvPr id="18" name="Rectangle 17"/>
          <p:cNvSpPr/>
          <p:nvPr/>
        </p:nvSpPr>
        <p:spPr>
          <a:xfrm>
            <a:off x="1005840" y="3913632"/>
            <a:ext cx="5120640"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234440" y="3913632"/>
            <a:ext cx="4663440" cy="420624"/>
          </a:xfrm>
          <a:prstGeom prst="rect">
            <a:avLst/>
          </a:prstGeom>
          <a:noFill/>
        </p:spPr>
        <p:txBody>
          <a:bodyPr wrap="square" anchor="ctr" lIns="54864" rIns="54864" tIns="54864" bIns="54864">
            <a:spAutoFit/>
          </a:bodyPr>
          <a:lstStyle/>
          <a:p>
            <a:pPr algn="l">
              <a:spcAft>
                <a:spcPts val="300"/>
              </a:spcAft>
            </a:pPr>
            <a:r>
              <a:rPr sz="1150" b="0">
                <a:solidFill>
                  <a:srgbClr val="161B26"/>
                </a:solidFill>
                <a:latin typeface="Arial"/>
              </a:rPr>
              <a:t>Learner Guide (PDF)</a:t>
            </a:r>
          </a:p>
        </p:txBody>
      </p:sp>
      <p:sp>
        <p:nvSpPr>
          <p:cNvPr id="20" name="Rectangle 19"/>
          <p:cNvSpPr/>
          <p:nvPr/>
        </p:nvSpPr>
        <p:spPr>
          <a:xfrm>
            <a:off x="1005840" y="4443984"/>
            <a:ext cx="5120640"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234440" y="4443984"/>
            <a:ext cx="4663440" cy="420624"/>
          </a:xfrm>
          <a:prstGeom prst="rect">
            <a:avLst/>
          </a:prstGeom>
          <a:noFill/>
        </p:spPr>
        <p:txBody>
          <a:bodyPr wrap="square" anchor="ctr" lIns="54864" rIns="54864" tIns="54864" bIns="54864">
            <a:spAutoFit/>
          </a:bodyPr>
          <a:lstStyle/>
          <a:p>
            <a:pPr algn="l">
              <a:spcAft>
                <a:spcPts val="300"/>
              </a:spcAft>
            </a:pPr>
            <a:r>
              <a:rPr sz="1150" b="0">
                <a:solidFill>
                  <a:srgbClr val="161B26"/>
                </a:solidFill>
                <a:latin typeface="Arial"/>
              </a:rPr>
              <a:t>Individual Lab Folders</a:t>
            </a:r>
          </a:p>
        </p:txBody>
      </p:sp>
      <p:sp>
        <p:nvSpPr>
          <p:cNvPr id="22" name="Rectangle 21"/>
          <p:cNvSpPr/>
          <p:nvPr/>
        </p:nvSpPr>
        <p:spPr>
          <a:xfrm>
            <a:off x="1005840" y="4974336"/>
            <a:ext cx="5120640"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234440" y="4974336"/>
            <a:ext cx="4663440" cy="420624"/>
          </a:xfrm>
          <a:prstGeom prst="rect">
            <a:avLst/>
          </a:prstGeom>
          <a:noFill/>
        </p:spPr>
        <p:txBody>
          <a:bodyPr wrap="square" anchor="ctr" lIns="54864" rIns="54864" tIns="54864" bIns="54864">
            <a:spAutoFit/>
          </a:bodyPr>
          <a:lstStyle/>
          <a:p>
            <a:pPr algn="l">
              <a:spcAft>
                <a:spcPts val="300"/>
              </a:spcAft>
            </a:pPr>
            <a:r>
              <a:rPr sz="1150" b="0">
                <a:solidFill>
                  <a:srgbClr val="161B26"/>
                </a:solidFill>
                <a:latin typeface="Arial"/>
              </a:rPr>
              <a:t>Assessment Submission</a:t>
            </a:r>
          </a:p>
        </p:txBody>
      </p:sp>
      <p:sp>
        <p:nvSpPr>
          <p:cNvPr id="24" name="Rectangle 23"/>
          <p:cNvSpPr/>
          <p:nvPr/>
        </p:nvSpPr>
        <p:spPr>
          <a:xfrm>
            <a:off x="6675120" y="1828800"/>
            <a:ext cx="4709160" cy="8046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675120" y="1828800"/>
            <a:ext cx="82296" cy="80467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995160" y="1883664"/>
            <a:ext cx="4114800" cy="694944"/>
          </a:xfrm>
          <a:prstGeom prst="rect">
            <a:avLst/>
          </a:prstGeom>
          <a:noFill/>
        </p:spPr>
        <p:txBody>
          <a:bodyPr wrap="square" anchor="ctr" lIns="54864" rIns="54864" tIns="54864" bIns="54864">
            <a:spAutoFit/>
          </a:bodyPr>
          <a:lstStyle/>
          <a:p>
            <a:pPr algn="l">
              <a:spcAft>
                <a:spcPts val="300"/>
              </a:spcAft>
            </a:pPr>
            <a:r>
              <a:rPr sz="1300" b="1">
                <a:solidFill>
                  <a:srgbClr val="1F6FEB"/>
                </a:solidFill>
                <a:latin typeface="Arial"/>
              </a:rPr>
              <a:t>1. Sign in</a:t>
            </a:r>
          </a:p>
          <a:p>
            <a:pPr algn="l">
              <a:spcAft>
                <a:spcPts val="300"/>
              </a:spcAft>
            </a:pPr>
            <a:r>
              <a:rPr sz="1150" b="0">
                <a:solidFill>
                  <a:srgbClr val="161B26"/>
                </a:solidFill>
                <a:latin typeface="Arial"/>
              </a:rPr>
              <a:t>Use the email registered for the class.</a:t>
            </a:r>
          </a:p>
        </p:txBody>
      </p:sp>
      <p:sp>
        <p:nvSpPr>
          <p:cNvPr id="27" name="Rectangle 26"/>
          <p:cNvSpPr/>
          <p:nvPr/>
        </p:nvSpPr>
        <p:spPr>
          <a:xfrm>
            <a:off x="6675120" y="2834640"/>
            <a:ext cx="4709160" cy="8046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675120" y="2834640"/>
            <a:ext cx="82296" cy="80467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995160" y="2889504"/>
            <a:ext cx="4114800" cy="694944"/>
          </a:xfrm>
          <a:prstGeom prst="rect">
            <a:avLst/>
          </a:prstGeom>
          <a:noFill/>
        </p:spPr>
        <p:txBody>
          <a:bodyPr wrap="square" anchor="ctr" lIns="54864" rIns="54864" tIns="54864" bIns="54864">
            <a:spAutoFit/>
          </a:bodyPr>
          <a:lstStyle/>
          <a:p>
            <a:pPr algn="l">
              <a:spcAft>
                <a:spcPts val="300"/>
              </a:spcAft>
            </a:pPr>
            <a:r>
              <a:rPr sz="1300" b="1">
                <a:solidFill>
                  <a:srgbClr val="10B981"/>
                </a:solidFill>
                <a:latin typeface="Arial"/>
              </a:rPr>
              <a:t>2. Open course</a:t>
            </a:r>
          </a:p>
          <a:p>
            <a:pPr algn="l">
              <a:spcAft>
                <a:spcPts val="300"/>
              </a:spcAft>
            </a:pPr>
            <a:r>
              <a:rPr sz="1150" b="0">
                <a:solidFill>
                  <a:srgbClr val="161B26"/>
                </a:solidFill>
                <a:latin typeface="Arial"/>
              </a:rPr>
              <a:t>Select this TGS code under My Courses.</a:t>
            </a:r>
          </a:p>
        </p:txBody>
      </p:sp>
      <p:sp>
        <p:nvSpPr>
          <p:cNvPr id="30" name="Rectangle 29"/>
          <p:cNvSpPr/>
          <p:nvPr/>
        </p:nvSpPr>
        <p:spPr>
          <a:xfrm>
            <a:off x="6675120" y="3840480"/>
            <a:ext cx="4709160" cy="8046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675120" y="3840480"/>
            <a:ext cx="82296" cy="80467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995160" y="3895344"/>
            <a:ext cx="4114800" cy="694944"/>
          </a:xfrm>
          <a:prstGeom prst="rect">
            <a:avLst/>
          </a:prstGeom>
          <a:noFill/>
        </p:spPr>
        <p:txBody>
          <a:bodyPr wrap="square" anchor="ctr" lIns="54864" rIns="54864" tIns="54864" bIns="54864">
            <a:spAutoFit/>
          </a:bodyPr>
          <a:lstStyle/>
          <a:p>
            <a:pPr algn="l">
              <a:spcAft>
                <a:spcPts val="300"/>
              </a:spcAft>
            </a:pPr>
            <a:r>
              <a:rPr sz="1300" b="1">
                <a:solidFill>
                  <a:srgbClr val="7C3AED"/>
                </a:solidFill>
                <a:latin typeface="Arial"/>
              </a:rPr>
              <a:t>3. Download</a:t>
            </a:r>
          </a:p>
          <a:p>
            <a:pPr algn="l">
              <a:spcAft>
                <a:spcPts val="300"/>
              </a:spcAft>
            </a:pPr>
            <a:r>
              <a:rPr sz="1150" b="0">
                <a:solidFill>
                  <a:srgbClr val="161B26"/>
                </a:solidFill>
                <a:latin typeface="Arial"/>
              </a:rPr>
              <a:t>Keep slides, LG and labs together.</a:t>
            </a:r>
          </a:p>
        </p:txBody>
      </p:sp>
      <p:sp>
        <p:nvSpPr>
          <p:cNvPr id="33" name="Rectangle 32"/>
          <p:cNvSpPr/>
          <p:nvPr/>
        </p:nvSpPr>
        <p:spPr>
          <a:xfrm>
            <a:off x="6675120" y="4846320"/>
            <a:ext cx="4709160" cy="8046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675120" y="4846320"/>
            <a:ext cx="82296" cy="80467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995160" y="4901184"/>
            <a:ext cx="4114800" cy="694944"/>
          </a:xfrm>
          <a:prstGeom prst="rect">
            <a:avLst/>
          </a:prstGeom>
          <a:noFill/>
        </p:spPr>
        <p:txBody>
          <a:bodyPr wrap="square" anchor="ctr" lIns="54864" rIns="54864" tIns="54864" bIns="54864">
            <a:spAutoFit/>
          </a:bodyPr>
          <a:lstStyle/>
          <a:p>
            <a:pPr algn="l">
              <a:spcAft>
                <a:spcPts val="300"/>
              </a:spcAft>
            </a:pPr>
            <a:r>
              <a:rPr sz="1300" b="1">
                <a:solidFill>
                  <a:srgbClr val="F59E0B"/>
                </a:solidFill>
                <a:latin typeface="Arial"/>
              </a:rPr>
              <a:t>4. Assess</a:t>
            </a:r>
          </a:p>
          <a:p>
            <a:pPr algn="l">
              <a:spcAft>
                <a:spcPts val="300"/>
              </a:spcAft>
            </a:pPr>
            <a:r>
              <a:rPr sz="1150" b="0">
                <a:solidFill>
                  <a:srgbClr val="161B26"/>
                </a:solidFill>
                <a:latin typeface="Arial"/>
              </a:rPr>
              <a:t>Take attendance and submit on the LMS.</a:t>
            </a:r>
          </a:p>
        </p:txBody>
      </p:sp>
      <p:sp>
        <p:nvSpPr>
          <p:cNvPr id="36" name="TextBox 35"/>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37" name="TextBox 36"/>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38" name="TextBox 37"/>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160</a:t>
            </a:r>
          </a:p>
        </p:txBody>
      </p:sp>
    </p:spTree>
  </p:cSld>
  <p:clrMapOvr>
    <a:masterClrMapping/>
  </p:clrMapOvr>
  <p:transition spd="fast">
    <p:fade/>
  </p:transition>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37744"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47472"/>
            <a:ext cx="10698480" cy="292608"/>
          </a:xfrm>
          <a:prstGeom prst="rect">
            <a:avLst/>
          </a:prstGeom>
          <a:noFill/>
        </p:spPr>
        <p:txBody>
          <a:bodyPr wrap="square" anchor="t" lIns="54864" rIns="54864" tIns="54864" bIns="54864">
            <a:spAutoFit/>
          </a:bodyPr>
          <a:lstStyle/>
          <a:p>
            <a:pPr algn="l">
              <a:spcAft>
                <a:spcPts val="300"/>
              </a:spcAft>
            </a:pPr>
            <a:r>
              <a:rPr sz="1200" b="1">
                <a:solidFill>
                  <a:srgbClr val="F59E0B"/>
                </a:solidFill>
                <a:latin typeface="Arial"/>
              </a:rPr>
              <a:t>END-OF-COURSE REMINDER</a:t>
            </a:r>
          </a:p>
        </p:txBody>
      </p:sp>
      <p:sp>
        <p:nvSpPr>
          <p:cNvPr id="5" name="TextBox 4"/>
          <p:cNvSpPr txBox="1"/>
          <p:nvPr/>
        </p:nvSpPr>
        <p:spPr>
          <a:xfrm>
            <a:off x="749808" y="713232"/>
            <a:ext cx="10744200" cy="731520"/>
          </a:xfrm>
          <a:prstGeom prst="rect">
            <a:avLst/>
          </a:prstGeom>
          <a:noFill/>
        </p:spPr>
        <p:txBody>
          <a:bodyPr wrap="square" anchor="ctr" lIns="54864" rIns="54864" tIns="54864" bIns="54864">
            <a:spAutoFit/>
          </a:bodyPr>
          <a:lstStyle/>
          <a:p>
            <a:pPr algn="l">
              <a:spcAft>
                <a:spcPts val="300"/>
              </a:spcAft>
            </a:pPr>
            <a:r>
              <a:rPr sz="2700" b="1">
                <a:solidFill>
                  <a:srgbClr val="161B26"/>
                </a:solidFill>
                <a:latin typeface="Arial"/>
              </a:rPr>
              <a:t>Assessment</a:t>
            </a:r>
          </a:p>
        </p:txBody>
      </p:sp>
      <p:sp>
        <p:nvSpPr>
          <p:cNvPr id="6" name="Rectangle 5"/>
          <p:cNvSpPr/>
          <p:nvPr/>
        </p:nvSpPr>
        <p:spPr>
          <a:xfrm>
            <a:off x="749808" y="1536192"/>
            <a:ext cx="106984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22960" y="1783080"/>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783080"/>
            <a:ext cx="384048" cy="384048"/>
          </a:xfrm>
          <a:prstGeom prst="rect">
            <a:avLst/>
          </a:prstGeom>
          <a:noFill/>
        </p:spPr>
        <p:txBody>
          <a:bodyPr wrap="square" anchor="ctr" lIns="54864" rIns="54864" tIns="54864" bIns="54864">
            <a:spAutoFit/>
          </a:bodyPr>
          <a:lstStyle/>
          <a:p>
            <a:pPr algn="ctr">
              <a:spcAft>
                <a:spcPts val="300"/>
              </a:spcAft>
            </a:pPr>
            <a:r>
              <a:rPr sz="1300" b="1">
                <a:solidFill>
                  <a:srgbClr val="FFFFFF"/>
                </a:solidFill>
                <a:latin typeface="Arial"/>
              </a:rPr>
              <a:t>1</a:t>
            </a:r>
          </a:p>
        </p:txBody>
      </p:sp>
      <p:sp>
        <p:nvSpPr>
          <p:cNvPr id="9" name="TextBox 8"/>
          <p:cNvSpPr txBox="1"/>
          <p:nvPr/>
        </p:nvSpPr>
        <p:spPr>
          <a:xfrm>
            <a:off x="1417320" y="1755648"/>
            <a:ext cx="9875520" cy="530352"/>
          </a:xfrm>
          <a:prstGeom prst="rect">
            <a:avLst/>
          </a:prstGeom>
          <a:noFill/>
        </p:spPr>
        <p:txBody>
          <a:bodyPr wrap="square" anchor="ctr" lIns="54864" rIns="54864" tIns="54864" bIns="54864">
            <a:spAutoFit/>
          </a:bodyPr>
          <a:lstStyle/>
          <a:p>
            <a:pPr algn="l">
              <a:spcAft>
                <a:spcPts val="300"/>
              </a:spcAft>
            </a:pPr>
            <a:r>
              <a:rPr sz="1500" b="0">
                <a:solidFill>
                  <a:srgbClr val="161B26"/>
                </a:solidFill>
                <a:latin typeface="Arial"/>
              </a:rPr>
              <a:t>Written Assessment (WA/SAQ) — 4 open-ended questions, 1 hour, open book.</a:t>
            </a:r>
          </a:p>
        </p:txBody>
      </p:sp>
      <p:sp>
        <p:nvSpPr>
          <p:cNvPr id="10" name="Oval 9"/>
          <p:cNvSpPr/>
          <p:nvPr/>
        </p:nvSpPr>
        <p:spPr>
          <a:xfrm>
            <a:off x="822960" y="2450591"/>
            <a:ext cx="384048" cy="38404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2450591"/>
            <a:ext cx="384048" cy="384048"/>
          </a:xfrm>
          <a:prstGeom prst="rect">
            <a:avLst/>
          </a:prstGeom>
          <a:noFill/>
        </p:spPr>
        <p:txBody>
          <a:bodyPr wrap="square" anchor="ctr" lIns="54864" rIns="54864" tIns="54864" bIns="54864">
            <a:spAutoFit/>
          </a:bodyPr>
          <a:lstStyle/>
          <a:p>
            <a:pPr algn="ctr">
              <a:spcAft>
                <a:spcPts val="300"/>
              </a:spcAft>
            </a:pPr>
            <a:r>
              <a:rPr sz="1300" b="1">
                <a:solidFill>
                  <a:srgbClr val="FFFFFF"/>
                </a:solidFill>
                <a:latin typeface="Arial"/>
              </a:rPr>
              <a:t>2</a:t>
            </a:r>
          </a:p>
        </p:txBody>
      </p:sp>
      <p:sp>
        <p:nvSpPr>
          <p:cNvPr id="12" name="TextBox 11"/>
          <p:cNvSpPr txBox="1"/>
          <p:nvPr/>
        </p:nvSpPr>
        <p:spPr>
          <a:xfrm>
            <a:off x="1417320" y="2423160"/>
            <a:ext cx="9875520" cy="530352"/>
          </a:xfrm>
          <a:prstGeom prst="rect">
            <a:avLst/>
          </a:prstGeom>
          <a:noFill/>
        </p:spPr>
        <p:txBody>
          <a:bodyPr wrap="square" anchor="ctr" lIns="54864" rIns="54864" tIns="54864" bIns="54864">
            <a:spAutoFit/>
          </a:bodyPr>
          <a:lstStyle/>
          <a:p>
            <a:pPr algn="l">
              <a:spcAft>
                <a:spcPts val="300"/>
              </a:spcAft>
            </a:pPr>
            <a:r>
              <a:rPr sz="1500" b="0">
                <a:solidFill>
                  <a:srgbClr val="161B26"/>
                </a:solidFill>
                <a:latin typeface="Arial"/>
              </a:rPr>
              <a:t>Practical Performance (PP) — 4 Tableau tasks, 1 hour, open book.</a:t>
            </a:r>
          </a:p>
        </p:txBody>
      </p:sp>
      <p:sp>
        <p:nvSpPr>
          <p:cNvPr id="13" name="Oval 12"/>
          <p:cNvSpPr/>
          <p:nvPr/>
        </p:nvSpPr>
        <p:spPr>
          <a:xfrm>
            <a:off x="822960" y="3118104"/>
            <a:ext cx="384048" cy="38404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 y="3118104"/>
            <a:ext cx="384048" cy="384048"/>
          </a:xfrm>
          <a:prstGeom prst="rect">
            <a:avLst/>
          </a:prstGeom>
          <a:noFill/>
        </p:spPr>
        <p:txBody>
          <a:bodyPr wrap="square" anchor="ctr" lIns="54864" rIns="54864" tIns="54864" bIns="54864">
            <a:spAutoFit/>
          </a:bodyPr>
          <a:lstStyle/>
          <a:p>
            <a:pPr algn="ctr">
              <a:spcAft>
                <a:spcPts val="300"/>
              </a:spcAft>
            </a:pPr>
            <a:r>
              <a:rPr sz="1300" b="1">
                <a:solidFill>
                  <a:srgbClr val="FFFFFF"/>
                </a:solidFill>
                <a:latin typeface="Arial"/>
              </a:rPr>
              <a:t>3</a:t>
            </a:r>
          </a:p>
        </p:txBody>
      </p:sp>
      <p:sp>
        <p:nvSpPr>
          <p:cNvPr id="15" name="TextBox 14"/>
          <p:cNvSpPr txBox="1"/>
          <p:nvPr/>
        </p:nvSpPr>
        <p:spPr>
          <a:xfrm>
            <a:off x="1417320" y="3090672"/>
            <a:ext cx="9875520" cy="530352"/>
          </a:xfrm>
          <a:prstGeom prst="rect">
            <a:avLst/>
          </a:prstGeom>
          <a:noFill/>
        </p:spPr>
        <p:txBody>
          <a:bodyPr wrap="square" anchor="ctr" lIns="54864" rIns="54864" tIns="54864" bIns="54864">
            <a:spAutoFit/>
          </a:bodyPr>
          <a:lstStyle/>
          <a:p>
            <a:pPr algn="l">
              <a:spcAft>
                <a:spcPts val="300"/>
              </a:spcAft>
            </a:pPr>
            <a:r>
              <a:rPr sz="1500" b="0">
                <a:solidFill>
                  <a:srgbClr val="161B26"/>
                </a:solidFill>
                <a:latin typeface="Arial"/>
              </a:rPr>
              <a:t>Take Assessment digital attendance before starting.</a:t>
            </a:r>
          </a:p>
        </p:txBody>
      </p:sp>
      <p:sp>
        <p:nvSpPr>
          <p:cNvPr id="16" name="Oval 15"/>
          <p:cNvSpPr/>
          <p:nvPr/>
        </p:nvSpPr>
        <p:spPr>
          <a:xfrm>
            <a:off x="822960" y="3785615"/>
            <a:ext cx="384048" cy="38404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60" y="3785615"/>
            <a:ext cx="384048" cy="384048"/>
          </a:xfrm>
          <a:prstGeom prst="rect">
            <a:avLst/>
          </a:prstGeom>
          <a:noFill/>
        </p:spPr>
        <p:txBody>
          <a:bodyPr wrap="square" anchor="ctr" lIns="54864" rIns="54864" tIns="54864" bIns="54864">
            <a:spAutoFit/>
          </a:bodyPr>
          <a:lstStyle/>
          <a:p>
            <a:pPr algn="ctr">
              <a:spcAft>
                <a:spcPts val="300"/>
              </a:spcAft>
            </a:pPr>
            <a:r>
              <a:rPr sz="1300" b="1">
                <a:solidFill>
                  <a:srgbClr val="FFFFFF"/>
                </a:solidFill>
                <a:latin typeface="Arial"/>
              </a:rPr>
              <a:t>4</a:t>
            </a:r>
          </a:p>
        </p:txBody>
      </p:sp>
      <p:sp>
        <p:nvSpPr>
          <p:cNvPr id="18" name="TextBox 17"/>
          <p:cNvSpPr txBox="1"/>
          <p:nvPr/>
        </p:nvSpPr>
        <p:spPr>
          <a:xfrm>
            <a:off x="1417320" y="3758183"/>
            <a:ext cx="9875520" cy="530352"/>
          </a:xfrm>
          <a:prstGeom prst="rect">
            <a:avLst/>
          </a:prstGeom>
          <a:noFill/>
        </p:spPr>
        <p:txBody>
          <a:bodyPr wrap="square" anchor="ctr" lIns="54864" rIns="54864" tIns="54864" bIns="54864">
            <a:spAutoFit/>
          </a:bodyPr>
          <a:lstStyle/>
          <a:p>
            <a:pPr algn="l">
              <a:spcAft>
                <a:spcPts val="300"/>
              </a:spcAft>
            </a:pPr>
            <a:r>
              <a:rPr sz="1500" b="0">
                <a:solidFill>
                  <a:srgbClr val="161B26"/>
                </a:solidFill>
                <a:latin typeface="Arial"/>
              </a:rPr>
              <a:t>Submit question-paper answers on the LMS.</a:t>
            </a:r>
          </a:p>
        </p:txBody>
      </p:sp>
      <p:sp>
        <p:nvSpPr>
          <p:cNvPr id="19" name="Oval 18"/>
          <p:cNvSpPr/>
          <p:nvPr/>
        </p:nvSpPr>
        <p:spPr>
          <a:xfrm>
            <a:off x="822960" y="4453128"/>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60" y="4453128"/>
            <a:ext cx="384048" cy="384048"/>
          </a:xfrm>
          <a:prstGeom prst="rect">
            <a:avLst/>
          </a:prstGeom>
          <a:noFill/>
        </p:spPr>
        <p:txBody>
          <a:bodyPr wrap="square" anchor="ctr" lIns="54864" rIns="54864" tIns="54864" bIns="54864">
            <a:spAutoFit/>
          </a:bodyPr>
          <a:lstStyle/>
          <a:p>
            <a:pPr algn="ctr">
              <a:spcAft>
                <a:spcPts val="300"/>
              </a:spcAft>
            </a:pPr>
            <a:r>
              <a:rPr sz="1300" b="1">
                <a:solidFill>
                  <a:srgbClr val="FFFFFF"/>
                </a:solidFill>
                <a:latin typeface="Arial"/>
              </a:rPr>
              <a:t>5</a:t>
            </a:r>
          </a:p>
        </p:txBody>
      </p:sp>
      <p:sp>
        <p:nvSpPr>
          <p:cNvPr id="21" name="TextBox 20"/>
          <p:cNvSpPr txBox="1"/>
          <p:nvPr/>
        </p:nvSpPr>
        <p:spPr>
          <a:xfrm>
            <a:off x="1417320" y="4425696"/>
            <a:ext cx="9875520" cy="530352"/>
          </a:xfrm>
          <a:prstGeom prst="rect">
            <a:avLst/>
          </a:prstGeom>
          <a:noFill/>
        </p:spPr>
        <p:txBody>
          <a:bodyPr wrap="square" anchor="ctr" lIns="54864" rIns="54864" tIns="54864" bIns="54864">
            <a:spAutoFit/>
          </a:bodyPr>
          <a:lstStyle/>
          <a:p>
            <a:pPr algn="l">
              <a:spcAft>
                <a:spcPts val="300"/>
              </a:spcAft>
            </a:pPr>
            <a:r>
              <a:rPr sz="1500" b="0">
                <a:solidFill>
                  <a:srgbClr val="161B26"/>
                </a:solidFill>
                <a:latin typeface="Arial"/>
              </a:rPr>
              <a:t>Answer keys are trainer-only and are never attached to learner fields.</a:t>
            </a:r>
          </a:p>
        </p:txBody>
      </p:sp>
      <p:sp>
        <p:nvSpPr>
          <p:cNvPr id="22" name="TextBox 21"/>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23" name="TextBox 22"/>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24" name="TextBox 23"/>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161</a:t>
            </a:r>
          </a:p>
        </p:txBody>
      </p:sp>
    </p:spTree>
  </p:cSld>
  <p:clrMapOvr>
    <a:masterClrMapping/>
  </p:clrMapOvr>
  <p:transition spd="fast">
    <p:fade/>
  </p:transition>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37744"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47472"/>
            <a:ext cx="10698480" cy="292608"/>
          </a:xfrm>
          <a:prstGeom prst="rect">
            <a:avLst/>
          </a:prstGeom>
          <a:noFill/>
        </p:spPr>
        <p:txBody>
          <a:bodyPr wrap="square" anchor="t" lIns="54864" rIns="54864" tIns="54864" bIns="54864">
            <a:spAutoFit/>
          </a:bodyPr>
          <a:lstStyle/>
          <a:p>
            <a:pPr algn="l">
              <a:spcAft>
                <a:spcPts val="300"/>
              </a:spcAft>
            </a:pPr>
            <a:r>
              <a:rPr sz="1200" b="1">
                <a:solidFill>
                  <a:srgbClr val="F59E0B"/>
                </a:solidFill>
                <a:latin typeface="Arial"/>
              </a:rPr>
              <a:t>ON ASSESSMENT DAY</a:t>
            </a:r>
          </a:p>
        </p:txBody>
      </p:sp>
      <p:sp>
        <p:nvSpPr>
          <p:cNvPr id="5" name="TextBox 4"/>
          <p:cNvSpPr txBox="1"/>
          <p:nvPr/>
        </p:nvSpPr>
        <p:spPr>
          <a:xfrm>
            <a:off x="749808" y="713232"/>
            <a:ext cx="10744200" cy="731520"/>
          </a:xfrm>
          <a:prstGeom prst="rect">
            <a:avLst/>
          </a:prstGeom>
          <a:noFill/>
        </p:spPr>
        <p:txBody>
          <a:bodyPr wrap="square" anchor="ctr" lIns="54864" rIns="54864" tIns="54864" bIns="54864">
            <a:spAutoFit/>
          </a:bodyPr>
          <a:lstStyle/>
          <a:p>
            <a:pPr algn="l">
              <a:spcAft>
                <a:spcPts val="300"/>
              </a:spcAft>
            </a:pPr>
            <a:r>
              <a:rPr sz="2700" b="1">
                <a:solidFill>
                  <a:srgbClr val="161B26"/>
                </a:solidFill>
                <a:latin typeface="Arial"/>
              </a:rPr>
              <a:t>Assessment Flow</a:t>
            </a:r>
          </a:p>
        </p:txBody>
      </p:sp>
      <p:sp>
        <p:nvSpPr>
          <p:cNvPr id="6" name="Rectangle 5"/>
          <p:cNvSpPr/>
          <p:nvPr/>
        </p:nvSpPr>
        <p:spPr>
          <a:xfrm>
            <a:off x="749808" y="1536192"/>
            <a:ext cx="106984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8096" y="2057400"/>
            <a:ext cx="1947672" cy="2971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68096" y="2057400"/>
            <a:ext cx="194767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76172" y="2423160"/>
            <a:ext cx="731520" cy="7315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6172" y="2423160"/>
            <a:ext cx="731520" cy="731520"/>
          </a:xfrm>
          <a:prstGeom prst="rect">
            <a:avLst/>
          </a:prstGeom>
          <a:noFill/>
        </p:spPr>
        <p:txBody>
          <a:bodyPr wrap="square" anchor="ctr" lIns="54864" rIns="54864" tIns="54864" bIns="54864">
            <a:spAutoFit/>
          </a:bodyPr>
          <a:lstStyle/>
          <a:p>
            <a:pPr algn="ctr">
              <a:spcAft>
                <a:spcPts val="300"/>
              </a:spcAft>
            </a:pPr>
            <a:r>
              <a:rPr sz="2400" b="1">
                <a:solidFill>
                  <a:srgbClr val="FFFFFF"/>
                </a:solidFill>
                <a:latin typeface="Arial"/>
              </a:rPr>
              <a:t>1</a:t>
            </a:r>
          </a:p>
        </p:txBody>
      </p:sp>
      <p:sp>
        <p:nvSpPr>
          <p:cNvPr id="11" name="TextBox 10"/>
          <p:cNvSpPr txBox="1"/>
          <p:nvPr/>
        </p:nvSpPr>
        <p:spPr>
          <a:xfrm>
            <a:off x="877824" y="3429000"/>
            <a:ext cx="1728216" cy="1143000"/>
          </a:xfrm>
          <a:prstGeom prst="rect">
            <a:avLst/>
          </a:prstGeom>
          <a:noFill/>
        </p:spPr>
        <p:txBody>
          <a:bodyPr wrap="square" anchor="ctr" lIns="54864" rIns="54864" tIns="54864" bIns="54864">
            <a:spAutoFit/>
          </a:bodyPr>
          <a:lstStyle/>
          <a:p>
            <a:pPr algn="ctr">
              <a:spcAft>
                <a:spcPts val="300"/>
              </a:spcAft>
            </a:pPr>
            <a:r>
              <a:rPr sz="1250" b="0">
                <a:solidFill>
                  <a:srgbClr val="161B26"/>
                </a:solidFill>
                <a:latin typeface="Arial"/>
              </a:rPr>
              <a:t>TRAQOM / digital attendance</a:t>
            </a:r>
          </a:p>
        </p:txBody>
      </p:sp>
      <p:sp>
        <p:nvSpPr>
          <p:cNvPr id="12" name="TextBox 11"/>
          <p:cNvSpPr txBox="1"/>
          <p:nvPr/>
        </p:nvSpPr>
        <p:spPr>
          <a:xfrm>
            <a:off x="2697479" y="3246120"/>
            <a:ext cx="274320" cy="365760"/>
          </a:xfrm>
          <a:prstGeom prst="rect">
            <a:avLst/>
          </a:prstGeom>
          <a:noFill/>
        </p:spPr>
        <p:txBody>
          <a:bodyPr wrap="square" anchor="t" lIns="54864" rIns="54864" tIns="54864" bIns="54864">
            <a:spAutoFit/>
          </a:bodyPr>
          <a:lstStyle/>
          <a:p>
            <a:pPr algn="ctr">
              <a:spcAft>
                <a:spcPts val="300"/>
              </a:spcAft>
            </a:pPr>
            <a:r>
              <a:rPr sz="1200" b="1">
                <a:solidFill>
                  <a:srgbClr val="F59E0B"/>
                </a:solidFill>
                <a:latin typeface="Arial"/>
              </a:rPr>
              <a:t>▶</a:t>
            </a:r>
          </a:p>
        </p:txBody>
      </p:sp>
      <p:sp>
        <p:nvSpPr>
          <p:cNvPr id="13" name="Rectangle 12"/>
          <p:cNvSpPr/>
          <p:nvPr/>
        </p:nvSpPr>
        <p:spPr>
          <a:xfrm>
            <a:off x="2944368" y="2057400"/>
            <a:ext cx="1947672" cy="2971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44368" y="2057400"/>
            <a:ext cx="194767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52444" y="2423160"/>
            <a:ext cx="731520" cy="7315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52444" y="2423160"/>
            <a:ext cx="731520" cy="731520"/>
          </a:xfrm>
          <a:prstGeom prst="rect">
            <a:avLst/>
          </a:prstGeom>
          <a:noFill/>
        </p:spPr>
        <p:txBody>
          <a:bodyPr wrap="square" anchor="ctr" lIns="54864" rIns="54864" tIns="54864" bIns="54864">
            <a:spAutoFit/>
          </a:bodyPr>
          <a:lstStyle/>
          <a:p>
            <a:pPr algn="ctr">
              <a:spcAft>
                <a:spcPts val="300"/>
              </a:spcAft>
            </a:pPr>
            <a:r>
              <a:rPr sz="2400" b="1">
                <a:solidFill>
                  <a:srgbClr val="FFFFFF"/>
                </a:solidFill>
                <a:latin typeface="Arial"/>
              </a:rPr>
              <a:t>2</a:t>
            </a:r>
          </a:p>
        </p:txBody>
      </p:sp>
      <p:sp>
        <p:nvSpPr>
          <p:cNvPr id="17" name="TextBox 16"/>
          <p:cNvSpPr txBox="1"/>
          <p:nvPr/>
        </p:nvSpPr>
        <p:spPr>
          <a:xfrm>
            <a:off x="3054096" y="3429000"/>
            <a:ext cx="1728216" cy="1143000"/>
          </a:xfrm>
          <a:prstGeom prst="rect">
            <a:avLst/>
          </a:prstGeom>
          <a:noFill/>
        </p:spPr>
        <p:txBody>
          <a:bodyPr wrap="square" anchor="ctr" lIns="54864" rIns="54864" tIns="54864" bIns="54864">
            <a:spAutoFit/>
          </a:bodyPr>
          <a:lstStyle/>
          <a:p>
            <a:pPr algn="ctr">
              <a:spcAft>
                <a:spcPts val="300"/>
              </a:spcAft>
            </a:pPr>
            <a:r>
              <a:rPr sz="1250" b="0">
                <a:solidFill>
                  <a:srgbClr val="161B26"/>
                </a:solidFill>
                <a:latin typeface="Arial"/>
              </a:rPr>
              <a:t>Sit WA — 1 hour</a:t>
            </a:r>
          </a:p>
        </p:txBody>
      </p:sp>
      <p:sp>
        <p:nvSpPr>
          <p:cNvPr id="18" name="TextBox 17"/>
          <p:cNvSpPr txBox="1"/>
          <p:nvPr/>
        </p:nvSpPr>
        <p:spPr>
          <a:xfrm>
            <a:off x="4873752" y="3246120"/>
            <a:ext cx="274320" cy="365760"/>
          </a:xfrm>
          <a:prstGeom prst="rect">
            <a:avLst/>
          </a:prstGeom>
          <a:noFill/>
        </p:spPr>
        <p:txBody>
          <a:bodyPr wrap="square" anchor="t" lIns="54864" rIns="54864" tIns="54864" bIns="54864">
            <a:spAutoFit/>
          </a:bodyPr>
          <a:lstStyle/>
          <a:p>
            <a:pPr algn="ctr">
              <a:spcAft>
                <a:spcPts val="300"/>
              </a:spcAft>
            </a:pPr>
            <a:r>
              <a:rPr sz="1200" b="1">
                <a:solidFill>
                  <a:srgbClr val="F59E0B"/>
                </a:solidFill>
                <a:latin typeface="Arial"/>
              </a:rPr>
              <a:t>▶</a:t>
            </a:r>
          </a:p>
        </p:txBody>
      </p:sp>
      <p:sp>
        <p:nvSpPr>
          <p:cNvPr id="19" name="Rectangle 18"/>
          <p:cNvSpPr/>
          <p:nvPr/>
        </p:nvSpPr>
        <p:spPr>
          <a:xfrm>
            <a:off x="5120640" y="2057400"/>
            <a:ext cx="1947672" cy="2971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0" y="2057400"/>
            <a:ext cx="194767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28715" y="2423160"/>
            <a:ext cx="731520" cy="7315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28715" y="2423160"/>
            <a:ext cx="731520" cy="731520"/>
          </a:xfrm>
          <a:prstGeom prst="rect">
            <a:avLst/>
          </a:prstGeom>
          <a:noFill/>
        </p:spPr>
        <p:txBody>
          <a:bodyPr wrap="square" anchor="ctr" lIns="54864" rIns="54864" tIns="54864" bIns="54864">
            <a:spAutoFit/>
          </a:bodyPr>
          <a:lstStyle/>
          <a:p>
            <a:pPr algn="ctr">
              <a:spcAft>
                <a:spcPts val="300"/>
              </a:spcAft>
            </a:pPr>
            <a:r>
              <a:rPr sz="2400" b="1">
                <a:solidFill>
                  <a:srgbClr val="FFFFFF"/>
                </a:solidFill>
                <a:latin typeface="Arial"/>
              </a:rPr>
              <a:t>3</a:t>
            </a:r>
          </a:p>
        </p:txBody>
      </p:sp>
      <p:sp>
        <p:nvSpPr>
          <p:cNvPr id="23" name="TextBox 22"/>
          <p:cNvSpPr txBox="1"/>
          <p:nvPr/>
        </p:nvSpPr>
        <p:spPr>
          <a:xfrm>
            <a:off x="5230368" y="3429000"/>
            <a:ext cx="1728216" cy="1143000"/>
          </a:xfrm>
          <a:prstGeom prst="rect">
            <a:avLst/>
          </a:prstGeom>
          <a:noFill/>
        </p:spPr>
        <p:txBody>
          <a:bodyPr wrap="square" anchor="ctr" lIns="54864" rIns="54864" tIns="54864" bIns="54864">
            <a:spAutoFit/>
          </a:bodyPr>
          <a:lstStyle/>
          <a:p>
            <a:pPr algn="ctr">
              <a:spcAft>
                <a:spcPts val="300"/>
              </a:spcAft>
            </a:pPr>
            <a:r>
              <a:rPr sz="1250" b="0">
                <a:solidFill>
                  <a:srgbClr val="161B26"/>
                </a:solidFill>
                <a:latin typeface="Arial"/>
              </a:rPr>
              <a:t>Sit PP — 1 hour</a:t>
            </a:r>
          </a:p>
        </p:txBody>
      </p:sp>
      <p:sp>
        <p:nvSpPr>
          <p:cNvPr id="24" name="TextBox 23"/>
          <p:cNvSpPr txBox="1"/>
          <p:nvPr/>
        </p:nvSpPr>
        <p:spPr>
          <a:xfrm>
            <a:off x="7050024" y="3246120"/>
            <a:ext cx="274320" cy="365760"/>
          </a:xfrm>
          <a:prstGeom prst="rect">
            <a:avLst/>
          </a:prstGeom>
          <a:noFill/>
        </p:spPr>
        <p:txBody>
          <a:bodyPr wrap="square" anchor="t" lIns="54864" rIns="54864" tIns="54864" bIns="54864">
            <a:spAutoFit/>
          </a:bodyPr>
          <a:lstStyle/>
          <a:p>
            <a:pPr algn="ctr">
              <a:spcAft>
                <a:spcPts val="300"/>
              </a:spcAft>
            </a:pPr>
            <a:r>
              <a:rPr sz="1200" b="1">
                <a:solidFill>
                  <a:srgbClr val="F59E0B"/>
                </a:solidFill>
                <a:latin typeface="Arial"/>
              </a:rPr>
              <a:t>▶</a:t>
            </a:r>
          </a:p>
        </p:txBody>
      </p:sp>
      <p:sp>
        <p:nvSpPr>
          <p:cNvPr id="25" name="Rectangle 24"/>
          <p:cNvSpPr/>
          <p:nvPr/>
        </p:nvSpPr>
        <p:spPr>
          <a:xfrm>
            <a:off x="7296912" y="2057400"/>
            <a:ext cx="1947672" cy="2971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296912" y="2057400"/>
            <a:ext cx="194767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04988" y="2423160"/>
            <a:ext cx="731520" cy="7315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4988" y="2423160"/>
            <a:ext cx="731520" cy="731520"/>
          </a:xfrm>
          <a:prstGeom prst="rect">
            <a:avLst/>
          </a:prstGeom>
          <a:noFill/>
        </p:spPr>
        <p:txBody>
          <a:bodyPr wrap="square" anchor="ctr" lIns="54864" rIns="54864" tIns="54864" bIns="54864">
            <a:spAutoFit/>
          </a:bodyPr>
          <a:lstStyle/>
          <a:p>
            <a:pPr algn="ctr">
              <a:spcAft>
                <a:spcPts val="300"/>
              </a:spcAft>
            </a:pPr>
            <a:r>
              <a:rPr sz="2400" b="1">
                <a:solidFill>
                  <a:srgbClr val="FFFFFF"/>
                </a:solidFill>
                <a:latin typeface="Arial"/>
              </a:rPr>
              <a:t>4</a:t>
            </a:r>
          </a:p>
        </p:txBody>
      </p:sp>
      <p:sp>
        <p:nvSpPr>
          <p:cNvPr id="29" name="TextBox 28"/>
          <p:cNvSpPr txBox="1"/>
          <p:nvPr/>
        </p:nvSpPr>
        <p:spPr>
          <a:xfrm>
            <a:off x="7406640" y="3429000"/>
            <a:ext cx="1728216" cy="1143000"/>
          </a:xfrm>
          <a:prstGeom prst="rect">
            <a:avLst/>
          </a:prstGeom>
          <a:noFill/>
        </p:spPr>
        <p:txBody>
          <a:bodyPr wrap="square" anchor="ctr" lIns="54864" rIns="54864" tIns="54864" bIns="54864">
            <a:spAutoFit/>
          </a:bodyPr>
          <a:lstStyle/>
          <a:p>
            <a:pPr algn="ctr">
              <a:spcAft>
                <a:spcPts val="300"/>
              </a:spcAft>
            </a:pPr>
            <a:r>
              <a:rPr sz="1250" b="0">
                <a:solidFill>
                  <a:srgbClr val="161B26"/>
                </a:solidFill>
                <a:latin typeface="Arial"/>
              </a:rPr>
              <a:t>Submit on LMS</a:t>
            </a:r>
          </a:p>
        </p:txBody>
      </p:sp>
      <p:sp>
        <p:nvSpPr>
          <p:cNvPr id="30" name="TextBox 29"/>
          <p:cNvSpPr txBox="1"/>
          <p:nvPr/>
        </p:nvSpPr>
        <p:spPr>
          <a:xfrm>
            <a:off x="9226296" y="3246120"/>
            <a:ext cx="274320" cy="365760"/>
          </a:xfrm>
          <a:prstGeom prst="rect">
            <a:avLst/>
          </a:prstGeom>
          <a:noFill/>
        </p:spPr>
        <p:txBody>
          <a:bodyPr wrap="square" anchor="t" lIns="54864" rIns="54864" tIns="54864" bIns="54864">
            <a:spAutoFit/>
          </a:bodyPr>
          <a:lstStyle/>
          <a:p>
            <a:pPr algn="ctr">
              <a:spcAft>
                <a:spcPts val="300"/>
              </a:spcAft>
            </a:pPr>
            <a:r>
              <a:rPr sz="1200" b="1">
                <a:solidFill>
                  <a:srgbClr val="F59E0B"/>
                </a:solidFill>
                <a:latin typeface="Arial"/>
              </a:rPr>
              <a:t>▶</a:t>
            </a:r>
          </a:p>
        </p:txBody>
      </p:sp>
      <p:sp>
        <p:nvSpPr>
          <p:cNvPr id="31" name="Rectangle 30"/>
          <p:cNvSpPr/>
          <p:nvPr/>
        </p:nvSpPr>
        <p:spPr>
          <a:xfrm>
            <a:off x="9473184" y="2057400"/>
            <a:ext cx="1947672" cy="2971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473184" y="2057400"/>
            <a:ext cx="194767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81259" y="2423160"/>
            <a:ext cx="731520" cy="7315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81259" y="2423160"/>
            <a:ext cx="731520" cy="731520"/>
          </a:xfrm>
          <a:prstGeom prst="rect">
            <a:avLst/>
          </a:prstGeom>
          <a:noFill/>
        </p:spPr>
        <p:txBody>
          <a:bodyPr wrap="square" anchor="ctr" lIns="54864" rIns="54864" tIns="54864" bIns="54864">
            <a:spAutoFit/>
          </a:bodyPr>
          <a:lstStyle/>
          <a:p>
            <a:pPr algn="ctr">
              <a:spcAft>
                <a:spcPts val="300"/>
              </a:spcAft>
            </a:pPr>
            <a:r>
              <a:rPr sz="2400" b="1">
                <a:solidFill>
                  <a:srgbClr val="FFFFFF"/>
                </a:solidFill>
                <a:latin typeface="Arial"/>
              </a:rPr>
              <a:t>5</a:t>
            </a:r>
          </a:p>
        </p:txBody>
      </p:sp>
      <p:sp>
        <p:nvSpPr>
          <p:cNvPr id="35" name="TextBox 34"/>
          <p:cNvSpPr txBox="1"/>
          <p:nvPr/>
        </p:nvSpPr>
        <p:spPr>
          <a:xfrm>
            <a:off x="9582911" y="3429000"/>
            <a:ext cx="1728216" cy="1143000"/>
          </a:xfrm>
          <a:prstGeom prst="rect">
            <a:avLst/>
          </a:prstGeom>
          <a:noFill/>
        </p:spPr>
        <p:txBody>
          <a:bodyPr wrap="square" anchor="ctr" lIns="54864" rIns="54864" tIns="54864" bIns="54864">
            <a:spAutoFit/>
          </a:bodyPr>
          <a:lstStyle/>
          <a:p>
            <a:pPr algn="ctr">
              <a:spcAft>
                <a:spcPts val="300"/>
              </a:spcAft>
            </a:pPr>
            <a:r>
              <a:rPr sz="1250" b="0">
                <a:solidFill>
                  <a:srgbClr val="161B26"/>
                </a:solidFill>
                <a:latin typeface="Arial"/>
              </a:rPr>
              <a:t>Sign summary record</a:t>
            </a:r>
          </a:p>
        </p:txBody>
      </p:sp>
      <p:sp>
        <p:nvSpPr>
          <p:cNvPr id="36" name="TextBox 35"/>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37" name="TextBox 36"/>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38" name="TextBox 37"/>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162</a:t>
            </a:r>
          </a:p>
        </p:txBody>
      </p:sp>
    </p:spTree>
  </p:cSld>
  <p:clrMapOvr>
    <a:masterClrMapping/>
  </p:clrMapOvr>
  <p:transition spd="fast">
    <p:fade/>
  </p:transition>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37744"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47472"/>
            <a:ext cx="10698480" cy="292608"/>
          </a:xfrm>
          <a:prstGeom prst="rect">
            <a:avLst/>
          </a:prstGeom>
          <a:noFill/>
        </p:spPr>
        <p:txBody>
          <a:bodyPr wrap="square" anchor="t" lIns="54864" rIns="54864" tIns="54864" bIns="54864">
            <a:spAutoFit/>
          </a:bodyPr>
          <a:lstStyle/>
          <a:p>
            <a:pPr algn="l">
              <a:spcAft>
                <a:spcPts val="300"/>
              </a:spcAft>
            </a:pPr>
            <a:r>
              <a:rPr sz="1200" b="1">
                <a:solidFill>
                  <a:srgbClr val="10B981"/>
                </a:solidFill>
                <a:latin typeface="Arial"/>
              </a:rPr>
              <a:t>TRAQOM · SSG</a:t>
            </a:r>
          </a:p>
        </p:txBody>
      </p:sp>
      <p:sp>
        <p:nvSpPr>
          <p:cNvPr id="5" name="TextBox 4"/>
          <p:cNvSpPr txBox="1"/>
          <p:nvPr/>
        </p:nvSpPr>
        <p:spPr>
          <a:xfrm>
            <a:off x="749808" y="713232"/>
            <a:ext cx="10744200" cy="731520"/>
          </a:xfrm>
          <a:prstGeom prst="rect">
            <a:avLst/>
          </a:prstGeom>
          <a:noFill/>
        </p:spPr>
        <p:txBody>
          <a:bodyPr wrap="square" anchor="ctr" lIns="54864" rIns="54864" tIns="54864" bIns="54864">
            <a:spAutoFit/>
          </a:bodyPr>
          <a:lstStyle/>
          <a:p>
            <a:pPr algn="l">
              <a:spcAft>
                <a:spcPts val="300"/>
              </a:spcAft>
            </a:pPr>
            <a:r>
              <a:rPr sz="2700" b="1">
                <a:solidFill>
                  <a:srgbClr val="161B26"/>
                </a:solidFill>
                <a:latin typeface="Arial"/>
              </a:rPr>
              <a:t>Digital Attendance (Mandatory)</a:t>
            </a:r>
          </a:p>
        </p:txBody>
      </p:sp>
      <p:sp>
        <p:nvSpPr>
          <p:cNvPr id="6" name="Rectangle 5"/>
          <p:cNvSpPr/>
          <p:nvPr/>
        </p:nvSpPr>
        <p:spPr>
          <a:xfrm>
            <a:off x="749808" y="1536192"/>
            <a:ext cx="106984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22960" y="1783080"/>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783080"/>
            <a:ext cx="384048" cy="384048"/>
          </a:xfrm>
          <a:prstGeom prst="rect">
            <a:avLst/>
          </a:prstGeom>
          <a:noFill/>
        </p:spPr>
        <p:txBody>
          <a:bodyPr wrap="square" anchor="ctr" lIns="54864" rIns="54864" tIns="54864" bIns="54864">
            <a:spAutoFit/>
          </a:bodyPr>
          <a:lstStyle/>
          <a:p>
            <a:pPr algn="ctr">
              <a:spcAft>
                <a:spcPts val="300"/>
              </a:spcAft>
            </a:pPr>
            <a:r>
              <a:rPr sz="1300" b="1">
                <a:solidFill>
                  <a:srgbClr val="FFFFFF"/>
                </a:solidFill>
                <a:latin typeface="Arial"/>
              </a:rPr>
              <a:t>1</a:t>
            </a:r>
          </a:p>
        </p:txBody>
      </p:sp>
      <p:sp>
        <p:nvSpPr>
          <p:cNvPr id="9" name="TextBox 8"/>
          <p:cNvSpPr txBox="1"/>
          <p:nvPr/>
        </p:nvSpPr>
        <p:spPr>
          <a:xfrm>
            <a:off x="1417320" y="1755648"/>
            <a:ext cx="9875520" cy="530352"/>
          </a:xfrm>
          <a:prstGeom prst="rect">
            <a:avLst/>
          </a:prstGeom>
          <a:noFill/>
        </p:spPr>
        <p:txBody>
          <a:bodyPr wrap="square" anchor="ctr" lIns="54864" rIns="54864" tIns="54864" bIns="54864">
            <a:spAutoFit/>
          </a:bodyPr>
          <a:lstStyle/>
          <a:p>
            <a:pPr algn="l">
              <a:spcAft>
                <a:spcPts val="300"/>
              </a:spcAft>
            </a:pPr>
            <a:r>
              <a:rPr sz="1500" b="0">
                <a:solidFill>
                  <a:srgbClr val="161B26"/>
                </a:solidFill>
                <a:latin typeface="Arial"/>
              </a:rPr>
              <a:t>Complete Assessment digital attendance before the papers begin.</a:t>
            </a:r>
          </a:p>
        </p:txBody>
      </p:sp>
      <p:sp>
        <p:nvSpPr>
          <p:cNvPr id="10" name="Oval 9"/>
          <p:cNvSpPr/>
          <p:nvPr/>
        </p:nvSpPr>
        <p:spPr>
          <a:xfrm>
            <a:off x="822960" y="2450591"/>
            <a:ext cx="384048" cy="38404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2450591"/>
            <a:ext cx="384048" cy="384048"/>
          </a:xfrm>
          <a:prstGeom prst="rect">
            <a:avLst/>
          </a:prstGeom>
          <a:noFill/>
        </p:spPr>
        <p:txBody>
          <a:bodyPr wrap="square" anchor="ctr" lIns="54864" rIns="54864" tIns="54864" bIns="54864">
            <a:spAutoFit/>
          </a:bodyPr>
          <a:lstStyle/>
          <a:p>
            <a:pPr algn="ctr">
              <a:spcAft>
                <a:spcPts val="300"/>
              </a:spcAft>
            </a:pPr>
            <a:r>
              <a:rPr sz="1300" b="1">
                <a:solidFill>
                  <a:srgbClr val="FFFFFF"/>
                </a:solidFill>
                <a:latin typeface="Arial"/>
              </a:rPr>
              <a:t>2</a:t>
            </a:r>
          </a:p>
        </p:txBody>
      </p:sp>
      <p:sp>
        <p:nvSpPr>
          <p:cNvPr id="12" name="TextBox 11"/>
          <p:cNvSpPr txBox="1"/>
          <p:nvPr/>
        </p:nvSpPr>
        <p:spPr>
          <a:xfrm>
            <a:off x="1417320" y="2423160"/>
            <a:ext cx="9875520" cy="530352"/>
          </a:xfrm>
          <a:prstGeom prst="rect">
            <a:avLst/>
          </a:prstGeom>
          <a:noFill/>
        </p:spPr>
        <p:txBody>
          <a:bodyPr wrap="square" anchor="ctr" lIns="54864" rIns="54864" tIns="54864" bIns="54864">
            <a:spAutoFit/>
          </a:bodyPr>
          <a:lstStyle/>
          <a:p>
            <a:pPr algn="l">
              <a:spcAft>
                <a:spcPts val="300"/>
              </a:spcAft>
            </a:pPr>
            <a:r>
              <a:rPr sz="1500" b="0">
                <a:solidFill>
                  <a:srgbClr val="161B26"/>
                </a:solidFill>
                <a:latin typeface="Arial"/>
              </a:rPr>
              <a:t>Use the QR code displayed by the trainer or administrator.</a:t>
            </a:r>
          </a:p>
        </p:txBody>
      </p:sp>
      <p:sp>
        <p:nvSpPr>
          <p:cNvPr id="13" name="Oval 12"/>
          <p:cNvSpPr/>
          <p:nvPr/>
        </p:nvSpPr>
        <p:spPr>
          <a:xfrm>
            <a:off x="822960" y="3118104"/>
            <a:ext cx="384048" cy="38404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 y="3118104"/>
            <a:ext cx="384048" cy="384048"/>
          </a:xfrm>
          <a:prstGeom prst="rect">
            <a:avLst/>
          </a:prstGeom>
          <a:noFill/>
        </p:spPr>
        <p:txBody>
          <a:bodyPr wrap="square" anchor="ctr" lIns="54864" rIns="54864" tIns="54864" bIns="54864">
            <a:spAutoFit/>
          </a:bodyPr>
          <a:lstStyle/>
          <a:p>
            <a:pPr algn="ctr">
              <a:spcAft>
                <a:spcPts val="300"/>
              </a:spcAft>
            </a:pPr>
            <a:r>
              <a:rPr sz="1300" b="1">
                <a:solidFill>
                  <a:srgbClr val="FFFFFF"/>
                </a:solidFill>
                <a:latin typeface="Arial"/>
              </a:rPr>
              <a:t>3</a:t>
            </a:r>
          </a:p>
        </p:txBody>
      </p:sp>
      <p:sp>
        <p:nvSpPr>
          <p:cNvPr id="15" name="TextBox 14"/>
          <p:cNvSpPr txBox="1"/>
          <p:nvPr/>
        </p:nvSpPr>
        <p:spPr>
          <a:xfrm>
            <a:off x="1417320" y="3090672"/>
            <a:ext cx="9875520" cy="530352"/>
          </a:xfrm>
          <a:prstGeom prst="rect">
            <a:avLst/>
          </a:prstGeom>
          <a:noFill/>
        </p:spPr>
        <p:txBody>
          <a:bodyPr wrap="square" anchor="ctr" lIns="54864" rIns="54864" tIns="54864" bIns="54864">
            <a:spAutoFit/>
          </a:bodyPr>
          <a:lstStyle/>
          <a:p>
            <a:pPr algn="l">
              <a:spcAft>
                <a:spcPts val="300"/>
              </a:spcAft>
            </a:pPr>
            <a:r>
              <a:rPr sz="1500" b="0">
                <a:solidFill>
                  <a:srgbClr val="161B26"/>
                </a:solidFill>
                <a:latin typeface="Arial"/>
              </a:rPr>
              <a:t>Verify your submission and keep the device away during assessment.</a:t>
            </a:r>
          </a:p>
        </p:txBody>
      </p:sp>
      <p:sp>
        <p:nvSpPr>
          <p:cNvPr id="16" name="Oval 15"/>
          <p:cNvSpPr/>
          <p:nvPr/>
        </p:nvSpPr>
        <p:spPr>
          <a:xfrm>
            <a:off x="822960" y="3785615"/>
            <a:ext cx="384048" cy="38404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60" y="3785615"/>
            <a:ext cx="384048" cy="384048"/>
          </a:xfrm>
          <a:prstGeom prst="rect">
            <a:avLst/>
          </a:prstGeom>
          <a:noFill/>
        </p:spPr>
        <p:txBody>
          <a:bodyPr wrap="square" anchor="ctr" lIns="54864" rIns="54864" tIns="54864" bIns="54864">
            <a:spAutoFit/>
          </a:bodyPr>
          <a:lstStyle/>
          <a:p>
            <a:pPr algn="ctr">
              <a:spcAft>
                <a:spcPts val="300"/>
              </a:spcAft>
            </a:pPr>
            <a:r>
              <a:rPr sz="1300" b="1">
                <a:solidFill>
                  <a:srgbClr val="FFFFFF"/>
                </a:solidFill>
                <a:latin typeface="Arial"/>
              </a:rPr>
              <a:t>4</a:t>
            </a:r>
          </a:p>
        </p:txBody>
      </p:sp>
      <p:sp>
        <p:nvSpPr>
          <p:cNvPr id="18" name="TextBox 17"/>
          <p:cNvSpPr txBox="1"/>
          <p:nvPr/>
        </p:nvSpPr>
        <p:spPr>
          <a:xfrm>
            <a:off x="1417320" y="3758183"/>
            <a:ext cx="9875520" cy="530352"/>
          </a:xfrm>
          <a:prstGeom prst="rect">
            <a:avLst/>
          </a:prstGeom>
          <a:noFill/>
        </p:spPr>
        <p:txBody>
          <a:bodyPr wrap="square" anchor="ctr" lIns="54864" rIns="54864" tIns="54864" bIns="54864">
            <a:spAutoFit/>
          </a:bodyPr>
          <a:lstStyle/>
          <a:p>
            <a:pPr algn="l">
              <a:spcAft>
                <a:spcPts val="300"/>
              </a:spcAft>
            </a:pPr>
            <a:r>
              <a:rPr sz="1500" b="0">
                <a:solidFill>
                  <a:srgbClr val="161B26"/>
                </a:solidFill>
                <a:latin typeface="Arial"/>
              </a:rPr>
              <a:t>Attendance and Competent outcome support funding eligibility.</a:t>
            </a:r>
          </a:p>
        </p:txBody>
      </p:sp>
      <p:sp>
        <p:nvSpPr>
          <p:cNvPr id="19" name="TextBox 18"/>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20" name="TextBox 19"/>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21" name="TextBox 20"/>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163</a:t>
            </a:r>
          </a:p>
        </p:txBody>
      </p:sp>
    </p:spTree>
  </p:cSld>
  <p:clrMapOvr>
    <a:masterClrMapping/>
  </p:clrMapOvr>
  <p:transition spd="fast">
    <p:fade/>
  </p:transition>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60120" y="1920240"/>
            <a:ext cx="10058400" cy="365760"/>
          </a:xfrm>
          <a:prstGeom prst="rect">
            <a:avLst/>
          </a:prstGeom>
          <a:noFill/>
        </p:spPr>
        <p:txBody>
          <a:bodyPr wrap="square" anchor="t" lIns="54864" rIns="54864" tIns="54864" bIns="54864">
            <a:spAutoFit/>
          </a:bodyPr>
          <a:lstStyle/>
          <a:p>
            <a:pPr algn="l">
              <a:spcAft>
                <a:spcPts val="300"/>
              </a:spcAft>
            </a:pPr>
            <a:r>
              <a:rPr sz="1400" b="1">
                <a:solidFill>
                  <a:srgbClr val="10B981"/>
                </a:solidFill>
                <a:latin typeface="Arial"/>
              </a:rPr>
              <a:t>TABLEAU DESKTOP SPECIALIST</a:t>
            </a:r>
          </a:p>
        </p:txBody>
      </p:sp>
      <p:sp>
        <p:nvSpPr>
          <p:cNvPr id="5" name="TextBox 4"/>
          <p:cNvSpPr txBox="1"/>
          <p:nvPr/>
        </p:nvSpPr>
        <p:spPr>
          <a:xfrm>
            <a:off x="960120" y="2423160"/>
            <a:ext cx="10241280" cy="1645920"/>
          </a:xfrm>
          <a:prstGeom prst="rect">
            <a:avLst/>
          </a:prstGeom>
          <a:noFill/>
        </p:spPr>
        <p:txBody>
          <a:bodyPr wrap="square" anchor="ctr" lIns="54864" rIns="54864" tIns="54864" bIns="54864">
            <a:spAutoFit/>
          </a:bodyPr>
          <a:lstStyle/>
          <a:p>
            <a:pPr algn="l">
              <a:spcAft>
                <a:spcPts val="300"/>
              </a:spcAft>
            </a:pPr>
            <a:r>
              <a:rPr sz="3200" b="1">
                <a:solidFill>
                  <a:srgbClr val="161B26"/>
                </a:solidFill>
                <a:latin typeface="Arial"/>
              </a:rPr>
              <a:t>Thank you — build the evidence, not just the view.</a:t>
            </a:r>
          </a:p>
        </p:txBody>
      </p:sp>
      <p:sp>
        <p:nvSpPr>
          <p:cNvPr id="6" name="TextBox 5"/>
          <p:cNvSpPr txBox="1"/>
          <p:nvPr/>
        </p:nvSpPr>
        <p:spPr>
          <a:xfrm>
            <a:off x="987552" y="4251960"/>
            <a:ext cx="10058400" cy="914400"/>
          </a:xfrm>
          <a:prstGeom prst="rect">
            <a:avLst/>
          </a:prstGeom>
          <a:noFill/>
        </p:spPr>
        <p:txBody>
          <a:bodyPr wrap="square" anchor="t" lIns="54864" rIns="54864" tIns="54864" bIns="54864">
            <a:spAutoFit/>
          </a:bodyPr>
          <a:lstStyle/>
          <a:p>
            <a:pPr algn="l">
              <a:spcAft>
                <a:spcPts val="300"/>
              </a:spcAft>
            </a:pPr>
            <a:r>
              <a:rPr sz="1700" b="0">
                <a:solidFill>
                  <a:srgbClr val="5B6372"/>
                </a:solidFill>
                <a:latin typeface="Arial"/>
              </a:rPr>
              <a:t>A trusted Tableau insight connects the right data, uses the right grain, communicates clearly and survives validation.</a:t>
            </a:r>
          </a:p>
        </p:txBody>
      </p:sp>
      <p:sp>
        <p:nvSpPr>
          <p:cNvPr id="7" name="TextBox 6"/>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8" name="TextBox 7"/>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9" name="TextBox 8"/>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164</a:t>
            </a:r>
          </a:p>
        </p:txBody>
      </p:sp>
    </p:spTree>
  </p:cSld>
  <p:clrMapOvr>
    <a:masterClrMapping/>
  </p:clrMapOvr>
  <p:transition spd="fast">
    <p:fade/>
  </p:transition>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37744"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347472"/>
            <a:ext cx="10698480" cy="292608"/>
          </a:xfrm>
          <a:prstGeom prst="rect">
            <a:avLst/>
          </a:prstGeom>
          <a:noFill/>
        </p:spPr>
        <p:txBody>
          <a:bodyPr wrap="square" anchor="t" lIns="54864" rIns="54864" tIns="54864" bIns="54864">
            <a:spAutoFit/>
          </a:bodyPr>
          <a:lstStyle/>
          <a:p>
            <a:pPr algn="l">
              <a:spcAft>
                <a:spcPts val="300"/>
              </a:spcAft>
            </a:pPr>
            <a:r>
              <a:rPr sz="1200" b="1">
                <a:solidFill>
                  <a:srgbClr val="10B981"/>
                </a:solidFill>
                <a:latin typeface="Arial"/>
              </a:rPr>
              <a:t>EXAMNOVA · ORIGINAL BLUEPRINT-ALIGNED PRACTICE</a:t>
            </a:r>
          </a:p>
        </p:txBody>
      </p:sp>
      <p:sp>
        <p:nvSpPr>
          <p:cNvPr id="5" name="TextBox 4"/>
          <p:cNvSpPr txBox="1"/>
          <p:nvPr/>
        </p:nvSpPr>
        <p:spPr>
          <a:xfrm>
            <a:off x="749808" y="713232"/>
            <a:ext cx="10744200" cy="731520"/>
          </a:xfrm>
          <a:prstGeom prst="rect">
            <a:avLst/>
          </a:prstGeom>
          <a:noFill/>
        </p:spPr>
        <p:txBody>
          <a:bodyPr wrap="square" anchor="ctr" lIns="54864" rIns="54864" tIns="54864" bIns="54864">
            <a:spAutoFit/>
          </a:bodyPr>
          <a:lstStyle/>
          <a:p>
            <a:pPr algn="l">
              <a:spcAft>
                <a:spcPts val="300"/>
              </a:spcAft>
            </a:pPr>
            <a:r>
              <a:rPr sz="2700" b="1">
                <a:solidFill>
                  <a:srgbClr val="161B26"/>
                </a:solidFill>
                <a:latin typeface="Arial"/>
              </a:rPr>
              <a:t>Tableau Desktop Specialist Practice Exam</a:t>
            </a:r>
          </a:p>
        </p:txBody>
      </p:sp>
      <p:sp>
        <p:nvSpPr>
          <p:cNvPr id="6" name="Rectangle 5"/>
          <p:cNvSpPr/>
          <p:nvPr/>
        </p:nvSpPr>
        <p:spPr>
          <a:xfrm>
            <a:off x="749808" y="1536192"/>
            <a:ext cx="1069848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ableau-practice-exam-qr.png"/>
          <p:cNvPicPr>
            <a:picLocks noChangeAspect="1"/>
          </p:cNvPicPr>
          <p:nvPr/>
        </p:nvPicPr>
        <p:blipFill>
          <a:blip r:embed="rId2"/>
          <a:stretch>
            <a:fillRect/>
          </a:stretch>
        </p:blipFill>
        <p:spPr>
          <a:xfrm>
            <a:off x="841248" y="1828800"/>
            <a:ext cx="2423160" cy="2423160"/>
          </a:xfrm>
          <a:prstGeom prst="rect">
            <a:avLst/>
          </a:prstGeom>
        </p:spPr>
      </p:pic>
      <p:sp>
        <p:nvSpPr>
          <p:cNvPr id="8" name="TextBox 7"/>
          <p:cNvSpPr txBox="1"/>
          <p:nvPr/>
        </p:nvSpPr>
        <p:spPr>
          <a:xfrm>
            <a:off x="841248" y="4434840"/>
            <a:ext cx="2423160" cy="566928"/>
          </a:xfrm>
          <a:prstGeom prst="rect">
            <a:avLst/>
          </a:prstGeom>
          <a:noFill/>
        </p:spPr>
        <p:txBody>
          <a:bodyPr wrap="square" anchor="t" lIns="54864" rIns="54864" tIns="54864" bIns="54864">
            <a:spAutoFit/>
          </a:bodyPr>
          <a:lstStyle/>
          <a:p>
            <a:pPr algn="ctr">
              <a:spcAft>
                <a:spcPts val="300"/>
              </a:spcAft>
            </a:pPr>
            <a:r>
              <a:rPr sz="1400" b="1">
                <a:solidFill>
                  <a:srgbClr val="10B981"/>
                </a:solidFill>
                <a:latin typeface="Arial"/>
              </a:rPr>
              <a:t>SCAN TO START</a:t>
            </a:r>
          </a:p>
        </p:txBody>
      </p:sp>
      <p:sp>
        <p:nvSpPr>
          <p:cNvPr id="9" name="Rectangle 8"/>
          <p:cNvSpPr/>
          <p:nvPr/>
        </p:nvSpPr>
        <p:spPr>
          <a:xfrm>
            <a:off x="3675887" y="1783080"/>
            <a:ext cx="2221992" cy="932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675887" y="1783080"/>
            <a:ext cx="64008" cy="932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886200" y="1892807"/>
            <a:ext cx="1828800" cy="347472"/>
          </a:xfrm>
          <a:prstGeom prst="rect">
            <a:avLst/>
          </a:prstGeom>
          <a:noFill/>
        </p:spPr>
        <p:txBody>
          <a:bodyPr wrap="square" anchor="t" lIns="54864" rIns="54864" tIns="54864" bIns="54864">
            <a:spAutoFit/>
          </a:bodyPr>
          <a:lstStyle/>
          <a:p>
            <a:pPr algn="l">
              <a:spcAft>
                <a:spcPts val="300"/>
              </a:spcAft>
            </a:pPr>
            <a:r>
              <a:rPr sz="1800" b="1">
                <a:solidFill>
                  <a:srgbClr val="1F6FEB"/>
                </a:solidFill>
                <a:latin typeface="Arial"/>
              </a:rPr>
              <a:t>3 × 65</a:t>
            </a:r>
          </a:p>
        </p:txBody>
      </p:sp>
      <p:sp>
        <p:nvSpPr>
          <p:cNvPr id="12" name="TextBox 11"/>
          <p:cNvSpPr txBox="1"/>
          <p:nvPr/>
        </p:nvSpPr>
        <p:spPr>
          <a:xfrm>
            <a:off x="3886200" y="2286000"/>
            <a:ext cx="1828800" cy="228600"/>
          </a:xfrm>
          <a:prstGeom prst="rect">
            <a:avLst/>
          </a:prstGeom>
          <a:noFill/>
        </p:spPr>
        <p:txBody>
          <a:bodyPr wrap="square" anchor="t" lIns="54864" rIns="54864" tIns="54864" bIns="54864">
            <a:spAutoFit/>
          </a:bodyPr>
          <a:lstStyle/>
          <a:p>
            <a:pPr algn="l">
              <a:spcAft>
                <a:spcPts val="300"/>
              </a:spcAft>
            </a:pPr>
            <a:r>
              <a:rPr sz="1050" b="0">
                <a:solidFill>
                  <a:srgbClr val="5B6372"/>
                </a:solidFill>
                <a:latin typeface="Arial"/>
              </a:rPr>
              <a:t>questions</a:t>
            </a:r>
          </a:p>
        </p:txBody>
      </p:sp>
      <p:sp>
        <p:nvSpPr>
          <p:cNvPr id="13" name="Rectangle 12"/>
          <p:cNvSpPr/>
          <p:nvPr/>
        </p:nvSpPr>
        <p:spPr>
          <a:xfrm>
            <a:off x="6190488" y="1783080"/>
            <a:ext cx="2221992" cy="932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90488" y="1783080"/>
            <a:ext cx="64008" cy="932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0" y="1892807"/>
            <a:ext cx="1828800" cy="347472"/>
          </a:xfrm>
          <a:prstGeom prst="rect">
            <a:avLst/>
          </a:prstGeom>
          <a:noFill/>
        </p:spPr>
        <p:txBody>
          <a:bodyPr wrap="square" anchor="t" lIns="54864" rIns="54864" tIns="54864" bIns="54864">
            <a:spAutoFit/>
          </a:bodyPr>
          <a:lstStyle/>
          <a:p>
            <a:pPr algn="l">
              <a:spcAft>
                <a:spcPts val="300"/>
              </a:spcAft>
            </a:pPr>
            <a:r>
              <a:rPr sz="1800" b="1">
                <a:solidFill>
                  <a:srgbClr val="10B981"/>
                </a:solidFill>
                <a:latin typeface="Arial"/>
              </a:rPr>
              <a:t>60 min</a:t>
            </a:r>
          </a:p>
        </p:txBody>
      </p:sp>
      <p:sp>
        <p:nvSpPr>
          <p:cNvPr id="16" name="TextBox 15"/>
          <p:cNvSpPr txBox="1"/>
          <p:nvPr/>
        </p:nvSpPr>
        <p:spPr>
          <a:xfrm>
            <a:off x="6400800" y="2286000"/>
            <a:ext cx="1828800" cy="228600"/>
          </a:xfrm>
          <a:prstGeom prst="rect">
            <a:avLst/>
          </a:prstGeom>
          <a:noFill/>
        </p:spPr>
        <p:txBody>
          <a:bodyPr wrap="square" anchor="t" lIns="54864" rIns="54864" tIns="54864" bIns="54864">
            <a:spAutoFit/>
          </a:bodyPr>
          <a:lstStyle/>
          <a:p>
            <a:pPr algn="l">
              <a:spcAft>
                <a:spcPts val="300"/>
              </a:spcAft>
            </a:pPr>
            <a:r>
              <a:rPr sz="1050" b="0">
                <a:solidFill>
                  <a:srgbClr val="5B6372"/>
                </a:solidFill>
                <a:latin typeface="Arial"/>
              </a:rPr>
              <a:t>per set</a:t>
            </a:r>
          </a:p>
        </p:txBody>
      </p:sp>
      <p:sp>
        <p:nvSpPr>
          <p:cNvPr id="17" name="Rectangle 16"/>
          <p:cNvSpPr/>
          <p:nvPr/>
        </p:nvSpPr>
        <p:spPr>
          <a:xfrm>
            <a:off x="8705088" y="1783080"/>
            <a:ext cx="2221992" cy="932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705088" y="1783080"/>
            <a:ext cx="64008" cy="932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915400" y="1892807"/>
            <a:ext cx="1828800" cy="347472"/>
          </a:xfrm>
          <a:prstGeom prst="rect">
            <a:avLst/>
          </a:prstGeom>
          <a:noFill/>
        </p:spPr>
        <p:txBody>
          <a:bodyPr wrap="square" anchor="t" lIns="54864" rIns="54864" tIns="54864" bIns="54864">
            <a:spAutoFit/>
          </a:bodyPr>
          <a:lstStyle/>
          <a:p>
            <a:pPr algn="l">
              <a:spcAft>
                <a:spcPts val="300"/>
              </a:spcAft>
            </a:pPr>
            <a:r>
              <a:rPr sz="1800" b="1">
                <a:solidFill>
                  <a:srgbClr val="7C3AED"/>
                </a:solidFill>
                <a:latin typeface="Arial"/>
              </a:rPr>
              <a:t>70%</a:t>
            </a:r>
          </a:p>
        </p:txBody>
      </p:sp>
      <p:sp>
        <p:nvSpPr>
          <p:cNvPr id="20" name="TextBox 19"/>
          <p:cNvSpPr txBox="1"/>
          <p:nvPr/>
        </p:nvSpPr>
        <p:spPr>
          <a:xfrm>
            <a:off x="8915400" y="2286000"/>
            <a:ext cx="1828800" cy="228600"/>
          </a:xfrm>
          <a:prstGeom prst="rect">
            <a:avLst/>
          </a:prstGeom>
          <a:noFill/>
        </p:spPr>
        <p:txBody>
          <a:bodyPr wrap="square" anchor="t" lIns="54864" rIns="54864" tIns="54864" bIns="54864">
            <a:spAutoFit/>
          </a:bodyPr>
          <a:lstStyle/>
          <a:p>
            <a:pPr algn="l">
              <a:spcAft>
                <a:spcPts val="300"/>
              </a:spcAft>
            </a:pPr>
            <a:r>
              <a:rPr sz="1050" b="0">
                <a:solidFill>
                  <a:srgbClr val="5B6372"/>
                </a:solidFill>
                <a:latin typeface="Arial"/>
              </a:rPr>
              <a:t>practice target</a:t>
            </a:r>
          </a:p>
        </p:txBody>
      </p:sp>
      <p:sp>
        <p:nvSpPr>
          <p:cNvPr id="21" name="Rectangle 20"/>
          <p:cNvSpPr/>
          <p:nvPr/>
        </p:nvSpPr>
        <p:spPr>
          <a:xfrm>
            <a:off x="3675887" y="2971800"/>
            <a:ext cx="2221992" cy="932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75887" y="2971800"/>
            <a:ext cx="64008" cy="932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886200" y="3081528"/>
            <a:ext cx="1828800" cy="347472"/>
          </a:xfrm>
          <a:prstGeom prst="rect">
            <a:avLst/>
          </a:prstGeom>
          <a:noFill/>
        </p:spPr>
        <p:txBody>
          <a:bodyPr wrap="square" anchor="t" lIns="54864" rIns="54864" tIns="54864" bIns="54864">
            <a:spAutoFit/>
          </a:bodyPr>
          <a:lstStyle/>
          <a:p>
            <a:pPr algn="l">
              <a:spcAft>
                <a:spcPts val="300"/>
              </a:spcAft>
            </a:pPr>
            <a:r>
              <a:rPr sz="1800" b="1">
                <a:solidFill>
                  <a:srgbClr val="F59E0B"/>
                </a:solidFill>
                <a:latin typeface="Arial"/>
              </a:rPr>
              <a:t>USD 20</a:t>
            </a:r>
          </a:p>
        </p:txBody>
      </p:sp>
      <p:sp>
        <p:nvSpPr>
          <p:cNvPr id="24" name="TextBox 23"/>
          <p:cNvSpPr txBox="1"/>
          <p:nvPr/>
        </p:nvSpPr>
        <p:spPr>
          <a:xfrm>
            <a:off x="3886200" y="3474720"/>
            <a:ext cx="1828800" cy="228600"/>
          </a:xfrm>
          <a:prstGeom prst="rect">
            <a:avLst/>
          </a:prstGeom>
          <a:noFill/>
        </p:spPr>
        <p:txBody>
          <a:bodyPr wrap="square" anchor="t" lIns="54864" rIns="54864" tIns="54864" bIns="54864">
            <a:spAutoFit/>
          </a:bodyPr>
          <a:lstStyle/>
          <a:p>
            <a:pPr algn="l">
              <a:spcAft>
                <a:spcPts val="300"/>
              </a:spcAft>
            </a:pPr>
            <a:r>
              <a:rPr sz="1050" b="0">
                <a:solidFill>
                  <a:srgbClr val="5B6372"/>
                </a:solidFill>
                <a:latin typeface="Arial"/>
              </a:rPr>
              <a:t>practice tier</a:t>
            </a:r>
          </a:p>
        </p:txBody>
      </p:sp>
      <p:sp>
        <p:nvSpPr>
          <p:cNvPr id="25" name="Rectangle 24"/>
          <p:cNvSpPr/>
          <p:nvPr/>
        </p:nvSpPr>
        <p:spPr>
          <a:xfrm>
            <a:off x="6190488" y="2971800"/>
            <a:ext cx="2221992" cy="932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90488" y="2971800"/>
            <a:ext cx="64008" cy="932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00800" y="3081528"/>
            <a:ext cx="1828800" cy="347472"/>
          </a:xfrm>
          <a:prstGeom prst="rect">
            <a:avLst/>
          </a:prstGeom>
          <a:noFill/>
        </p:spPr>
        <p:txBody>
          <a:bodyPr wrap="square" anchor="t" lIns="54864" rIns="54864" tIns="54864" bIns="54864">
            <a:spAutoFit/>
          </a:bodyPr>
          <a:lstStyle/>
          <a:p>
            <a:pPr algn="l">
              <a:spcAft>
                <a:spcPts val="300"/>
              </a:spcAft>
            </a:pPr>
            <a:r>
              <a:rPr sz="1800" b="1">
                <a:solidFill>
                  <a:srgbClr val="1F6FEB"/>
                </a:solidFill>
                <a:latin typeface="Arial"/>
              </a:rPr>
              <a:t>USD 100</a:t>
            </a:r>
          </a:p>
        </p:txBody>
      </p:sp>
      <p:sp>
        <p:nvSpPr>
          <p:cNvPr id="28" name="TextBox 27"/>
          <p:cNvSpPr txBox="1"/>
          <p:nvPr/>
        </p:nvSpPr>
        <p:spPr>
          <a:xfrm>
            <a:off x="6400800" y="3474720"/>
            <a:ext cx="1828800" cy="228600"/>
          </a:xfrm>
          <a:prstGeom prst="rect">
            <a:avLst/>
          </a:prstGeom>
          <a:noFill/>
        </p:spPr>
        <p:txBody>
          <a:bodyPr wrap="square" anchor="t" lIns="54864" rIns="54864" tIns="54864" bIns="54864">
            <a:spAutoFit/>
          </a:bodyPr>
          <a:lstStyle/>
          <a:p>
            <a:pPr algn="l">
              <a:spcAft>
                <a:spcPts val="300"/>
              </a:spcAft>
            </a:pPr>
            <a:r>
              <a:rPr sz="1050" b="0">
                <a:solidFill>
                  <a:srgbClr val="5B6372"/>
                </a:solidFill>
                <a:latin typeface="Arial"/>
              </a:rPr>
              <a:t>voucher tier</a:t>
            </a:r>
          </a:p>
        </p:txBody>
      </p:sp>
      <p:sp>
        <p:nvSpPr>
          <p:cNvPr id="29" name="TextBox 28"/>
          <p:cNvSpPr txBox="1"/>
          <p:nvPr/>
        </p:nvSpPr>
        <p:spPr>
          <a:xfrm>
            <a:off x="3694176" y="4315968"/>
            <a:ext cx="7360920" cy="347472"/>
          </a:xfrm>
          <a:prstGeom prst="rect">
            <a:avLst/>
          </a:prstGeom>
          <a:noFill/>
        </p:spPr>
        <p:txBody>
          <a:bodyPr wrap="square" anchor="t" lIns="54864" rIns="54864" tIns="54864" bIns="54864">
            <a:spAutoFit/>
          </a:bodyPr>
          <a:lstStyle/>
          <a:p>
            <a:pPr algn="l">
              <a:spcAft>
                <a:spcPts val="300"/>
              </a:spcAft>
            </a:pPr>
            <a:r>
              <a:rPr sz="1200" b="1">
                <a:solidFill>
                  <a:srgbClr val="161B26"/>
                </a:solidFill>
                <a:latin typeface="Arial"/>
              </a:rPr>
              <a:t>Practice bundle domain mix</a:t>
            </a:r>
          </a:p>
        </p:txBody>
      </p:sp>
      <p:sp>
        <p:nvSpPr>
          <p:cNvPr id="30" name="TextBox 29"/>
          <p:cNvSpPr txBox="1"/>
          <p:nvPr/>
        </p:nvSpPr>
        <p:spPr>
          <a:xfrm>
            <a:off x="3694176" y="4700016"/>
            <a:ext cx="7360920" cy="694944"/>
          </a:xfrm>
          <a:prstGeom prst="rect">
            <a:avLst/>
          </a:prstGeom>
          <a:noFill/>
        </p:spPr>
        <p:txBody>
          <a:bodyPr wrap="square" anchor="ctr" lIns="54864" rIns="54864" tIns="54864" bIns="54864">
            <a:spAutoFit/>
          </a:bodyPr>
          <a:lstStyle/>
          <a:p>
            <a:pPr algn="l">
              <a:spcAft>
                <a:spcPts val="300"/>
              </a:spcAft>
            </a:pPr>
            <a:r>
              <a:rPr sz="1150" b="0">
                <a:solidFill>
                  <a:srgbClr val="5B6372"/>
                </a:solidFill>
                <a:latin typeface="Arial"/>
              </a:rPr>
              <a:t>25% Connect &amp; Prepare  ·  35% Explore &amp; Analyse  ·  20% Share Insights  ·  20% Concepts</a:t>
            </a:r>
          </a:p>
        </p:txBody>
      </p:sp>
      <p:sp>
        <p:nvSpPr>
          <p:cNvPr id="31" name="TextBox 30"/>
          <p:cNvSpPr txBox="1"/>
          <p:nvPr/>
        </p:nvSpPr>
        <p:spPr>
          <a:xfrm>
            <a:off x="731520" y="5650992"/>
            <a:ext cx="10744200" cy="438912"/>
          </a:xfrm>
          <a:prstGeom prst="rect">
            <a:avLst/>
          </a:prstGeom>
          <a:noFill/>
        </p:spPr>
        <p:txBody>
          <a:bodyPr wrap="square" anchor="t" lIns="54864" rIns="54864" tIns="54864" bIns="54864">
            <a:spAutoFit/>
          </a:bodyPr>
          <a:lstStyle/>
          <a:p>
            <a:pPr algn="ctr">
              <a:spcAft>
                <a:spcPts val="300"/>
              </a:spcAft>
            </a:pPr>
            <a:r>
              <a:rPr sz="1150" b="1">
                <a:solidFill>
                  <a:srgbClr val="1F6FEB"/>
                </a:solidFill>
                <a:latin typeface="Arial"/>
                <a:hlinkClick r:id="rId3"/>
              </a:rPr>
              <a:t>https://exams.tertiaryinfotech.com/practice-exams/tableau/tableau-desktop-specialist</a:t>
            </a:r>
          </a:p>
        </p:txBody>
      </p:sp>
      <p:sp>
        <p:nvSpPr>
          <p:cNvPr id="32" name="TextBox 31"/>
          <p:cNvSpPr txBox="1"/>
          <p:nvPr/>
        </p:nvSpPr>
        <p:spPr>
          <a:xfrm>
            <a:off x="320040" y="6473952"/>
            <a:ext cx="4160520" cy="228600"/>
          </a:xfrm>
          <a:prstGeom prst="rect">
            <a:avLst/>
          </a:prstGeom>
          <a:noFill/>
        </p:spPr>
        <p:txBody>
          <a:bodyPr wrap="square" anchor="t" lIns="54864" rIns="54864" tIns="54864" bIns="54864">
            <a:spAutoFit/>
          </a:bodyPr>
          <a:lstStyle/>
          <a:p>
            <a:pPr algn="l">
              <a:spcAft>
                <a:spcPts val="300"/>
              </a:spcAft>
            </a:pPr>
            <a:r>
              <a:rPr sz="750" b="0">
                <a:solidFill>
                  <a:srgbClr val="5B6372"/>
                </a:solidFill>
                <a:latin typeface="Arial"/>
              </a:rPr>
              <a:t>Tableau Desktop Foundations · TGS-2025053175</a:t>
            </a:r>
          </a:p>
        </p:txBody>
      </p:sp>
      <p:sp>
        <p:nvSpPr>
          <p:cNvPr id="33" name="TextBox 32"/>
          <p:cNvSpPr txBox="1"/>
          <p:nvPr/>
        </p:nvSpPr>
        <p:spPr>
          <a:xfrm>
            <a:off x="4572000" y="6473952"/>
            <a:ext cx="3108960" cy="228600"/>
          </a:xfrm>
          <a:prstGeom prst="rect">
            <a:avLst/>
          </a:prstGeom>
          <a:noFill/>
        </p:spPr>
        <p:txBody>
          <a:bodyPr wrap="square" anchor="t" lIns="54864" rIns="54864" tIns="54864" bIns="54864">
            <a:spAutoFit/>
          </a:bodyPr>
          <a:lstStyle/>
          <a:p>
            <a:pPr algn="ctr">
              <a:spcAft>
                <a:spcPts val="300"/>
              </a:spcAft>
            </a:pPr>
            <a:r>
              <a:rPr sz="800" b="0">
                <a:solidFill>
                  <a:srgbClr val="5B6372"/>
                </a:solidFill>
                <a:latin typeface="Arial"/>
              </a:rPr>
              <a:t>© Tertiary Infotech Academy Pte Ltd</a:t>
            </a:r>
          </a:p>
        </p:txBody>
      </p:sp>
      <p:sp>
        <p:nvSpPr>
          <p:cNvPr id="34" name="TextBox 33"/>
          <p:cNvSpPr txBox="1"/>
          <p:nvPr/>
        </p:nvSpPr>
        <p:spPr>
          <a:xfrm>
            <a:off x="11384280" y="6473952"/>
            <a:ext cx="457200" cy="228600"/>
          </a:xfrm>
          <a:prstGeom prst="rect">
            <a:avLst/>
          </a:prstGeom>
          <a:noFill/>
        </p:spPr>
        <p:txBody>
          <a:bodyPr wrap="square" anchor="t" lIns="54864" rIns="54864" tIns="54864" bIns="54864">
            <a:spAutoFit/>
          </a:bodyPr>
          <a:lstStyle/>
          <a:p>
            <a:pPr algn="r">
              <a:spcAft>
                <a:spcPts val="300"/>
              </a:spcAft>
            </a:pPr>
            <a:r>
              <a:rPr sz="800" b="0">
                <a:solidFill>
                  <a:srgbClr val="5B6372"/>
                </a:solidFill>
                <a:latin typeface="Arial"/>
              </a:rPr>
              <a:t>165</a:t>
            </a:r>
          </a:p>
        </p:txBody>
      </p:sp>
    </p:spTree>
  </p:cSld>
  <p:clrMapOvr>
    <a:masterClrMapping/>
  </p:clrMapOvr>
  <p:transition spd="fast">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