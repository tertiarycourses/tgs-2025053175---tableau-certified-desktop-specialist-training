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Weight</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cat>
            <c:strRef>
              <c:f>Sheet1!$A$2:$A$5</c:f>
              <c:strCache>
                <c:ptCount val="4"/>
                <c:pt idx="0">
                  <c:v>Connect &amp; Prepare</c:v>
                </c:pt>
                <c:pt idx="1">
                  <c:v>Explore &amp; Analyse</c:v>
                </c:pt>
                <c:pt idx="2">
                  <c:v>Share Insights</c:v>
                </c:pt>
                <c:pt idx="3">
                  <c:v>Concepts</c:v>
                </c:pt>
              </c:strCache>
            </c:strRef>
          </c:cat>
          <c:val>
            <c:numRef>
              <c:f>Sheet1!$B$2:$B$5</c:f>
              <c:numCache>
                <c:formatCode>General</c:formatCode>
                <c:ptCount val="4"/>
                <c:pt idx="0">
                  <c:v>23</c:v>
                </c:pt>
                <c:pt idx="1">
                  <c:v>37</c:v>
                </c:pt>
                <c:pt idx="2">
                  <c:v>25</c:v>
                </c:pt>
                <c:pt idx="3">
                  <c:v>15</c:v>
                </c:pt>
              </c:numCache>
            </c:numRef>
          </c:val>
        </c:ser>
        <c:dLbls>
          <c:txPr>
            <a:bodyPr/>
            <a:lstStyle/>
            <a:p>
              <a:pPr>
                <a:defRPr sz="1200">
                  <a:latin typeface="Arial"/>
                </a:defRPr>
              </a:pPr>
            </a:p>
          </c:txPr>
          <c:dLblPos val="bestFit"/>
          <c:showLegendKey val="0"/>
          <c:showVal val="0"/>
          <c:showCatName val="0"/>
          <c:showSerName val="0"/>
          <c:showPercent val="1"/>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Live</c:v>
                </c:pt>
              </c:strCache>
            </c:strRef>
          </c:tx>
          <c:spPr>
            <a:solidFill>
              <a:srgbClr val="1F6FEB"/>
            </a:solidFill>
          </c:spPr>
          <c:cat>
            <c:strRef>
              <c:f>Sheet1!$A$2:$A$4</c:f>
              <c:strCache>
                <c:ptCount val="3"/>
                <c:pt idx="0">
                  <c:v>Small local</c:v>
                </c:pt>
                <c:pt idx="1">
                  <c:v>Network database</c:v>
                </c:pt>
                <c:pt idx="2">
                  <c:v>Repeated dashboard</c:v>
                </c:pt>
              </c:strCache>
            </c:strRef>
          </c:cat>
          <c:val>
            <c:numRef>
              <c:f>Sheet1!$B$2:$B$4</c:f>
              <c:numCache>
                <c:formatCode>General</c:formatCode>
                <c:ptCount val="3"/>
                <c:pt idx="0">
                  <c:v>1.2</c:v>
                </c:pt>
                <c:pt idx="1">
                  <c:v>4.8</c:v>
                </c:pt>
                <c:pt idx="2">
                  <c:v>3.6</c:v>
                </c:pt>
              </c:numCache>
            </c:numRef>
          </c:val>
        </c:ser>
        <c:ser>
          <c:idx val="1"/>
          <c:order val="1"/>
          <c:tx>
            <c:strRef>
              <c:f>Sheet1!$C$1</c:f>
              <c:strCache>
                <c:ptCount val="1"/>
                <c:pt idx="0">
                  <c:v>Extract</c:v>
                </c:pt>
              </c:strCache>
            </c:strRef>
          </c:tx>
          <c:spPr>
            <a:solidFill>
              <a:srgbClr val="10B981"/>
            </a:solidFill>
          </c:spPr>
          <c:cat>
            <c:strRef>
              <c:f>Sheet1!$A$2:$A$4</c:f>
              <c:strCache>
                <c:ptCount val="3"/>
                <c:pt idx="0">
                  <c:v>Small local</c:v>
                </c:pt>
                <c:pt idx="1">
                  <c:v>Network database</c:v>
                </c:pt>
                <c:pt idx="2">
                  <c:v>Repeated dashboard</c:v>
                </c:pt>
              </c:strCache>
            </c:strRef>
          </c:cat>
          <c:val>
            <c:numRef>
              <c:f>Sheet1!$C$2:$C$4</c:f>
              <c:numCache>
                <c:formatCode>General</c:formatCode>
                <c:ptCount val="3"/>
                <c:pt idx="0">
                  <c:v>0.9</c:v>
                </c:pt>
                <c:pt idx="1">
                  <c:v>1.1</c:v>
                </c:pt>
                <c:pt idx="2">
                  <c:v>0.8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Sales</c:v>
                </c:pt>
              </c:strCache>
            </c:strRef>
          </c:tx>
          <c:spPr>
            <a:solidFill>
              <a:srgbClr val="1F6FEB"/>
            </a:solidFill>
            <a:ln>
              <a:solidFill>
                <a:srgbClr val="1F6FEB"/>
              </a:solidFill>
            </a:ln>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420</c:v>
                </c:pt>
                <c:pt idx="1">
                  <c:v>460</c:v>
                </c:pt>
                <c:pt idx="2">
                  <c:v>510</c:v>
                </c:pt>
                <c:pt idx="3">
                  <c:v>485</c:v>
                </c:pt>
                <c:pt idx="4">
                  <c:v>560</c:v>
                </c:pt>
                <c:pt idx="5">
                  <c:v>610</c:v>
                </c:pt>
              </c:numCache>
            </c:numRef>
          </c:val>
          <c:smooth val="0"/>
        </c:ser>
        <c:ser>
          <c:idx val="1"/>
          <c:order val="1"/>
          <c:tx>
            <c:strRef>
              <c:f>Sheet1!$C$1</c:f>
              <c:strCache>
                <c:ptCount val="1"/>
                <c:pt idx="0">
                  <c:v>Profit</c:v>
                </c:pt>
              </c:strCache>
            </c:strRef>
          </c:tx>
          <c:spPr>
            <a:solidFill>
              <a:srgbClr val="10B981"/>
            </a:solidFill>
            <a:ln>
              <a:solidFill>
                <a:srgbClr val="10B981"/>
              </a:solidFill>
            </a:ln>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86</c:v>
                </c:pt>
                <c:pt idx="1">
                  <c:v>92</c:v>
                </c:pt>
                <c:pt idx="2">
                  <c:v>112</c:v>
                </c:pt>
                <c:pt idx="3">
                  <c:v>98</c:v>
                </c:pt>
                <c:pt idx="4">
                  <c:v>126</c:v>
                </c:pt>
                <c:pt idx="5">
                  <c:v>141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Aria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tickets</c:v>
                </c:pt>
              </c:strCache>
            </c:strRef>
          </c:tx>
          <c:spPr>
            <a:solidFill>
              <a:srgbClr val="1F6FEB"/>
            </a:solidFill>
          </c:spPr>
          <c:cat>
            <c:strRef>
              <c:f>Sheet1!$A$2:$A$5</c:f>
              <c:strCache>
                <c:ptCount val="4"/>
                <c:pt idx="0">
                  <c:v>Critical</c:v>
                </c:pt>
                <c:pt idx="1">
                  <c:v>High</c:v>
                </c:pt>
                <c:pt idx="2">
                  <c:v>Medium</c:v>
                </c:pt>
                <c:pt idx="3">
                  <c:v>Low</c:v>
                </c:pt>
              </c:strCache>
            </c:strRef>
          </c:cat>
          <c:val>
            <c:numRef>
              <c:f>Sheet1!$B$2:$B$5</c:f>
              <c:numCache>
                <c:formatCode>General</c:formatCode>
                <c:ptCount val="4"/>
                <c:pt idx="0">
                  <c:v>46</c:v>
                </c:pt>
                <c:pt idx="1">
                  <c:v>132</c:v>
                </c:pt>
                <c:pt idx="2">
                  <c:v>285</c:v>
                </c:pt>
                <c:pt idx="3">
                  <c:v>204</c:v>
                </c:pt>
              </c:numCache>
            </c:numRef>
          </c:val>
        </c:ser>
        <c:ser>
          <c:idx val="1"/>
          <c:order val="1"/>
          <c:tx>
            <c:strRef>
              <c:f>Sheet1!$C$1</c:f>
              <c:strCache>
                <c:ptCount val="1"/>
                <c:pt idx="0">
                  <c:v>SLA breaches</c:v>
                </c:pt>
              </c:strCache>
            </c:strRef>
          </c:tx>
          <c:spPr>
            <a:solidFill>
              <a:srgbClr val="10B981"/>
            </a:solidFill>
          </c:spPr>
          <c:cat>
            <c:strRef>
              <c:f>Sheet1!$A$2:$A$5</c:f>
              <c:strCache>
                <c:ptCount val="4"/>
                <c:pt idx="0">
                  <c:v>Critical</c:v>
                </c:pt>
                <c:pt idx="1">
                  <c:v>High</c:v>
                </c:pt>
                <c:pt idx="2">
                  <c:v>Medium</c:v>
                </c:pt>
                <c:pt idx="3">
                  <c:v>Low</c:v>
                </c:pt>
              </c:strCache>
            </c:strRef>
          </c:cat>
          <c:val>
            <c:numRef>
              <c:f>Sheet1!$C$2:$C$5</c:f>
              <c:numCache>
                <c:formatCode>General</c:formatCode>
                <c:ptCount val="4"/>
                <c:pt idx="0">
                  <c:v>19</c:v>
                </c:pt>
                <c:pt idx="1">
                  <c:v>38</c:v>
                </c:pt>
                <c:pt idx="2">
                  <c:v>27</c:v>
                </c:pt>
                <c:pt idx="3">
                  <c:v>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Number of marks</c:v>
                </c:pt>
              </c:strCache>
            </c:strRef>
          </c:tx>
          <c:spPr>
            <a:solidFill>
              <a:srgbClr val="1F6FEB"/>
            </a:solidFill>
          </c:spPr>
          <c:cat>
            <c:strRef>
              <c:f>Sheet1!$A$2:$A$5</c:f>
              <c:strCache>
                <c:ptCount val="4"/>
                <c:pt idx="0">
                  <c:v>Total</c:v>
                </c:pt>
                <c:pt idx="1">
                  <c:v>Region</c:v>
                </c:pt>
                <c:pt idx="2">
                  <c:v>Region + Customer</c:v>
                </c:pt>
                <c:pt idx="3">
                  <c:v>Order line</c:v>
                </c:pt>
              </c:strCache>
            </c:strRef>
          </c:cat>
          <c:val>
            <c:numRef>
              <c:f>Sheet1!$B$2:$B$5</c:f>
              <c:numCache>
                <c:formatCode>General</c:formatCode>
                <c:ptCount val="4"/>
                <c:pt idx="0">
                  <c:v>1</c:v>
                </c:pt>
                <c:pt idx="1">
                  <c:v>6</c:v>
                </c:pt>
                <c:pt idx="2">
                  <c:v>420</c:v>
                </c:pt>
                <c:pt idx="3">
                  <c:v>2500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5053175---Tableau-Certified-Desktop-Specialist-Train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exams.tertiaryinfotech.com/practice-exams/tableau/tableau-desktop-specialis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4800600" y="201168"/>
            <a:ext cx="7388352" cy="6455664"/>
          </a:xfrm>
          <a:prstGeom prst="rect">
            <a:avLst/>
          </a:prstGeom>
        </p:spPr>
      </p:pic>
      <p:sp>
        <p:nvSpPr>
          <p:cNvPr id="4" name="Rectangle 3"/>
          <p:cNvSpPr/>
          <p:nvPr/>
        </p:nvSpPr>
        <p:spPr>
          <a:xfrm>
            <a:off x="0" y="0"/>
            <a:ext cx="576072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82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75120"/>
            <a:ext cx="12191695" cy="182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713232" y="548640"/>
            <a:ext cx="685800" cy="685800"/>
          </a:xfrm>
          <a:prstGeom prst="rect">
            <a:avLst/>
          </a:prstGeom>
        </p:spPr>
      </p:pic>
      <p:sp>
        <p:nvSpPr>
          <p:cNvPr id="8" name="TextBox 7"/>
          <p:cNvSpPr txBox="1"/>
          <p:nvPr/>
        </p:nvSpPr>
        <p:spPr>
          <a:xfrm>
            <a:off x="777240" y="1600200"/>
            <a:ext cx="4572000" cy="411480"/>
          </a:xfrm>
          <a:prstGeom prst="rect">
            <a:avLst/>
          </a:prstGeom>
          <a:noFill/>
        </p:spPr>
        <p:txBody>
          <a:bodyPr wrap="square" anchor="t" lIns="54864" rIns="54864" tIns="54864" bIns="54864">
            <a:spAutoFit/>
          </a:bodyPr>
          <a:lstStyle/>
          <a:p>
            <a:pPr algn="l">
              <a:spcAft>
                <a:spcPts val="300"/>
              </a:spcAft>
            </a:pPr>
            <a:r>
              <a:rPr sz="1400" b="1">
                <a:solidFill>
                  <a:srgbClr val="1F6FEB"/>
                </a:solidFill>
                <a:latin typeface="Arial"/>
              </a:rPr>
              <a:t>COURSE SLIDES · WSQ</a:t>
            </a:r>
          </a:p>
        </p:txBody>
      </p:sp>
      <p:sp>
        <p:nvSpPr>
          <p:cNvPr id="9" name="TextBox 8"/>
          <p:cNvSpPr txBox="1"/>
          <p:nvPr/>
        </p:nvSpPr>
        <p:spPr>
          <a:xfrm>
            <a:off x="777240" y="2057400"/>
            <a:ext cx="4434840" cy="1828800"/>
          </a:xfrm>
          <a:prstGeom prst="rect">
            <a:avLst/>
          </a:prstGeom>
          <a:noFill/>
        </p:spPr>
        <p:txBody>
          <a:bodyPr wrap="square" anchor="ctr" lIns="54864" rIns="54864" tIns="54864" bIns="54864">
            <a:spAutoFit/>
          </a:bodyPr>
          <a:lstStyle/>
          <a:p>
            <a:pPr algn="l">
              <a:spcAft>
                <a:spcPts val="300"/>
              </a:spcAft>
            </a:pPr>
            <a:r>
              <a:rPr sz="3100" b="1">
                <a:solidFill>
                  <a:srgbClr val="161B26"/>
                </a:solidFill>
                <a:latin typeface="Arial"/>
              </a:rPr>
              <a:t>Tableau Desktop Foundations</a:t>
            </a:r>
          </a:p>
        </p:txBody>
      </p:sp>
      <p:sp>
        <p:nvSpPr>
          <p:cNvPr id="10" name="TextBox 9"/>
          <p:cNvSpPr txBox="1"/>
          <p:nvPr/>
        </p:nvSpPr>
        <p:spPr>
          <a:xfrm>
            <a:off x="777240" y="4160520"/>
            <a:ext cx="4480560" cy="960120"/>
          </a:xfrm>
          <a:prstGeom prst="rect">
            <a:avLst/>
          </a:prstGeom>
          <a:noFill/>
        </p:spPr>
        <p:txBody>
          <a:bodyPr wrap="square" anchor="t" lIns="54864" rIns="54864" tIns="54864" bIns="54864">
            <a:spAutoFit/>
          </a:bodyPr>
          <a:lstStyle/>
          <a:p>
            <a:pPr algn="l">
              <a:spcAft>
                <a:spcPts val="300"/>
              </a:spcAft>
            </a:pPr>
            <a:r>
              <a:rPr sz="1400" b="0">
                <a:solidFill>
                  <a:srgbClr val="5B6372"/>
                </a:solidFill>
                <a:latin typeface="Arial"/>
              </a:rPr>
              <a:t>Course Code: TGS-2025053175</a:t>
            </a:r>
          </a:p>
          <a:p>
            <a:pPr algn="l">
              <a:spcAft>
                <a:spcPts val="300"/>
              </a:spcAft>
            </a:pPr>
            <a:r>
              <a:rPr sz="1250" b="0">
                <a:solidFill>
                  <a:srgbClr val="5B6372"/>
                </a:solidFill>
                <a:latin typeface="Arial"/>
              </a:rPr>
              <a:t>Tertiary Infotech Academy Pte Ltd · UEN 201200696W</a:t>
            </a:r>
          </a:p>
        </p:txBody>
      </p:sp>
      <p:sp>
        <p:nvSpPr>
          <p:cNvPr id="11" name="TextBox 10"/>
          <p:cNvSpPr txBox="1"/>
          <p:nvPr/>
        </p:nvSpPr>
        <p:spPr>
          <a:xfrm>
            <a:off x="777240" y="5596128"/>
            <a:ext cx="4389120" cy="411480"/>
          </a:xfrm>
          <a:prstGeom prst="rect">
            <a:avLst/>
          </a:prstGeom>
          <a:noFill/>
        </p:spPr>
        <p:txBody>
          <a:bodyPr wrap="square" anchor="t" lIns="54864" rIns="54864" tIns="54864" bIns="54864">
            <a:spAutoFit/>
          </a:bodyPr>
          <a:lstStyle/>
          <a:p>
            <a:pPr algn="l">
              <a:spcAft>
                <a:spcPts val="300"/>
              </a:spcAft>
            </a:pPr>
            <a:r>
              <a:rPr sz="1150" b="0">
                <a:solidFill>
                  <a:srgbClr val="5B6372"/>
                </a:solidFill>
                <a:latin typeface="Arial"/>
              </a:rPr>
              <a:t>Version v5 · 5 September 2026</a:t>
            </a:r>
          </a:p>
        </p:txBody>
      </p:sp>
      <p:sp>
        <p:nvSpPr>
          <p:cNvPr id="12" name="TextBox 1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3" name="TextBox 1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4" name="TextBox 1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COURSE ADMINISTRATION</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Welcome &amp; Housekeeping</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Two-day WSQ training · concept-led slides · detailed procedures in the Learner Guide</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00</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a:t>
            </a: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TRAQOM · SSG</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Digital Attendance (Mandatory)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Take AM, PM and Assessment digital attendance for each WSQ-funded day.</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Scan the SSG/TRAQOM QR code shown by the trainer or administrator.</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Submit attendance from your own device and verify confirmation.</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At least 75% attendance is required for assessment and funding eligibility.</a:t>
            </a:r>
          </a:p>
        </p:txBody>
      </p:sp>
      <p:sp>
        <p:nvSpPr>
          <p:cNvPr id="19" name="TextBox 1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0" name="TextBox 1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1" name="TextBox 2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5B6372"/>
                </a:solidFill>
                <a:latin typeface="Arial"/>
              </a:rPr>
              <a:t>GENERAL TRAINER TEMPLATE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About the Trainer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24612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00200" y="224028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240280"/>
            <a:ext cx="1554480" cy="1554480"/>
          </a:xfrm>
          <a:prstGeom prst="rect">
            <a:avLst/>
          </a:prstGeom>
          <a:noFill/>
        </p:spPr>
        <p:txBody>
          <a:bodyPr wrap="square" anchor="ctr" lIns="54864" rIns="54864" tIns="54864" bIns="54864">
            <a:spAutoFit/>
          </a:bodyPr>
          <a:lstStyle/>
          <a:p>
            <a:pPr algn="ctr">
              <a:spcAft>
                <a:spcPts val="300"/>
              </a:spcAft>
            </a:pPr>
            <a:r>
              <a:rPr sz="4000" b="1">
                <a:solidFill>
                  <a:srgbClr val="FFFFFF"/>
                </a:solidFill>
                <a:latin typeface="Arial"/>
              </a:rPr>
              <a:t>?</a:t>
            </a:r>
          </a:p>
        </p:txBody>
      </p:sp>
      <p:sp>
        <p:nvSpPr>
          <p:cNvPr id="10" name="TextBox 9"/>
          <p:cNvSpPr txBox="1"/>
          <p:nvPr/>
        </p:nvSpPr>
        <p:spPr>
          <a:xfrm>
            <a:off x="960120" y="4069080"/>
            <a:ext cx="2834640" cy="502920"/>
          </a:xfrm>
          <a:prstGeom prst="rect">
            <a:avLst/>
          </a:prstGeom>
          <a:noFill/>
        </p:spPr>
        <p:txBody>
          <a:bodyPr wrap="square" anchor="t" lIns="54864" rIns="54864" tIns="54864" bIns="54864">
            <a:spAutoFit/>
          </a:bodyPr>
          <a:lstStyle/>
          <a:p>
            <a:pPr algn="ctr">
              <a:spcAft>
                <a:spcPts val="300"/>
              </a:spcAft>
            </a:pPr>
            <a:r>
              <a:rPr sz="1900" b="1">
                <a:solidFill>
                  <a:srgbClr val="161B26"/>
                </a:solidFill>
                <a:latin typeface="Arial"/>
              </a:rPr>
              <a:t>Your Trainer</a:t>
            </a:r>
          </a:p>
        </p:txBody>
      </p:sp>
      <p:sp>
        <p:nvSpPr>
          <p:cNvPr id="11" name="TextBox 10"/>
          <p:cNvSpPr txBox="1"/>
          <p:nvPr/>
        </p:nvSpPr>
        <p:spPr>
          <a:xfrm>
            <a:off x="960120" y="4617720"/>
            <a:ext cx="2834640" cy="6400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Complete before class</a:t>
            </a:r>
          </a:p>
        </p:txBody>
      </p:sp>
      <p:sp>
        <p:nvSpPr>
          <p:cNvPr id="12" name="Rectangle 11"/>
          <p:cNvSpPr/>
          <p:nvPr/>
        </p:nvSpPr>
        <p:spPr>
          <a:xfrm>
            <a:off x="4343400" y="1783080"/>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83080"/>
            <a:ext cx="82296"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847088"/>
            <a:ext cx="6537960" cy="749808"/>
          </a:xfrm>
          <a:prstGeom prst="rect">
            <a:avLst/>
          </a:prstGeom>
          <a:noFill/>
        </p:spPr>
        <p:txBody>
          <a:bodyPr wrap="square" anchor="ctr" lIns="54864" rIns="54864" tIns="54864" bIns="54864">
            <a:spAutoFit/>
          </a:bodyPr>
          <a:lstStyle/>
          <a:p>
            <a:pPr algn="l">
              <a:spcAft>
                <a:spcPts val="300"/>
              </a:spcAft>
            </a:pPr>
            <a:r>
              <a:rPr sz="1050" b="1">
                <a:solidFill>
                  <a:srgbClr val="1F6FEB"/>
                </a:solidFill>
                <a:latin typeface="Arial"/>
              </a:rPr>
              <a:t>NAME</a:t>
            </a:r>
          </a:p>
          <a:p>
            <a:pPr algn="l">
              <a:spcAft>
                <a:spcPts val="300"/>
              </a:spcAft>
            </a:pPr>
            <a:r>
              <a:rPr sz="1250" b="0">
                <a:solidFill>
                  <a:srgbClr val="E2E8F0"/>
                </a:solidFill>
                <a:latin typeface="Arial"/>
              </a:rPr>
              <a:t>____________________________________________</a:t>
            </a:r>
          </a:p>
        </p:txBody>
      </p:sp>
      <p:sp>
        <p:nvSpPr>
          <p:cNvPr id="15" name="Rectangle 14"/>
          <p:cNvSpPr/>
          <p:nvPr/>
        </p:nvSpPr>
        <p:spPr>
          <a:xfrm>
            <a:off x="4343400" y="2816352"/>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816352"/>
            <a:ext cx="82296"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880360"/>
            <a:ext cx="6537960" cy="749808"/>
          </a:xfrm>
          <a:prstGeom prst="rect">
            <a:avLst/>
          </a:prstGeom>
          <a:noFill/>
        </p:spPr>
        <p:txBody>
          <a:bodyPr wrap="square" anchor="ctr" lIns="54864" rIns="54864" tIns="54864" bIns="54864">
            <a:spAutoFit/>
          </a:bodyPr>
          <a:lstStyle/>
          <a:p>
            <a:pPr algn="l">
              <a:spcAft>
                <a:spcPts val="300"/>
              </a:spcAft>
            </a:pPr>
            <a:r>
              <a:rPr sz="1050" b="1">
                <a:solidFill>
                  <a:srgbClr val="10B981"/>
                </a:solidFill>
                <a:latin typeface="Arial"/>
              </a:rPr>
              <a:t>TITLE / DESIGNATION</a:t>
            </a:r>
          </a:p>
          <a:p>
            <a:pPr algn="l">
              <a:spcAft>
                <a:spcPts val="300"/>
              </a:spcAft>
            </a:pPr>
            <a:r>
              <a:rPr sz="1250" b="0">
                <a:solidFill>
                  <a:srgbClr val="E2E8F0"/>
                </a:solidFill>
                <a:latin typeface="Arial"/>
              </a:rPr>
              <a:t>____________________________________________</a:t>
            </a:r>
          </a:p>
        </p:txBody>
      </p:sp>
      <p:sp>
        <p:nvSpPr>
          <p:cNvPr id="18" name="Rectangle 17"/>
          <p:cNvSpPr/>
          <p:nvPr/>
        </p:nvSpPr>
        <p:spPr>
          <a:xfrm>
            <a:off x="4343400" y="3849624"/>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3849624"/>
            <a:ext cx="82296"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13632"/>
            <a:ext cx="6537960" cy="749808"/>
          </a:xfrm>
          <a:prstGeom prst="rect">
            <a:avLst/>
          </a:prstGeom>
          <a:noFill/>
        </p:spPr>
        <p:txBody>
          <a:bodyPr wrap="square" anchor="ctr" lIns="54864" rIns="54864" tIns="54864" bIns="54864">
            <a:spAutoFit/>
          </a:bodyPr>
          <a:lstStyle/>
          <a:p>
            <a:pPr algn="l">
              <a:spcAft>
                <a:spcPts val="300"/>
              </a:spcAft>
            </a:pPr>
            <a:r>
              <a:rPr sz="1050" b="1">
                <a:solidFill>
                  <a:srgbClr val="7C3AED"/>
                </a:solidFill>
                <a:latin typeface="Arial"/>
              </a:rPr>
              <a:t>QUALIFICATIONS</a:t>
            </a:r>
          </a:p>
          <a:p>
            <a:pPr algn="l">
              <a:spcAft>
                <a:spcPts val="300"/>
              </a:spcAft>
            </a:pPr>
            <a:r>
              <a:rPr sz="1250" b="0">
                <a:solidFill>
                  <a:srgbClr val="E2E8F0"/>
                </a:solidFill>
                <a:latin typeface="Arial"/>
              </a:rPr>
              <a:t>____________________________________________</a:t>
            </a:r>
          </a:p>
        </p:txBody>
      </p:sp>
      <p:sp>
        <p:nvSpPr>
          <p:cNvPr id="21" name="Rectangle 20"/>
          <p:cNvSpPr/>
          <p:nvPr/>
        </p:nvSpPr>
        <p:spPr>
          <a:xfrm>
            <a:off x="4343400" y="4882896"/>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4882896"/>
            <a:ext cx="82296"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946904"/>
            <a:ext cx="6537960" cy="749808"/>
          </a:xfrm>
          <a:prstGeom prst="rect">
            <a:avLst/>
          </a:prstGeom>
          <a:noFill/>
        </p:spPr>
        <p:txBody>
          <a:bodyPr wrap="square" anchor="ctr" lIns="54864" rIns="54864" tIns="54864" bIns="54864">
            <a:spAutoFit/>
          </a:bodyPr>
          <a:lstStyle/>
          <a:p>
            <a:pPr algn="l">
              <a:spcAft>
                <a:spcPts val="300"/>
              </a:spcAft>
            </a:pPr>
            <a:r>
              <a:rPr sz="1050" b="1">
                <a:solidFill>
                  <a:srgbClr val="F59E0B"/>
                </a:solidFill>
                <a:latin typeface="Arial"/>
              </a:rPr>
              <a:t>AREAS OF EXPERTISE</a:t>
            </a:r>
          </a:p>
          <a:p>
            <a:pPr algn="l">
              <a:spcAft>
                <a:spcPts val="300"/>
              </a:spcAft>
            </a:pPr>
            <a:r>
              <a:rPr sz="1250" b="0">
                <a:solidFill>
                  <a:srgbClr val="E2E8F0"/>
                </a:solidFill>
                <a:latin typeface="Arial"/>
              </a:rPr>
              <a:t>____________________________________________</a:t>
            </a:r>
          </a:p>
        </p:txBody>
      </p:sp>
      <p:sp>
        <p:nvSpPr>
          <p:cNvPr id="24" name="TextBox 23"/>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5" name="TextBox 24"/>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6" name="TextBox 25"/>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NAMED TRAINER</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About the Trainer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24612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00200" y="224028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240280"/>
            <a:ext cx="1554480" cy="1554480"/>
          </a:xfrm>
          <a:prstGeom prst="rect">
            <a:avLst/>
          </a:prstGeom>
          <a:noFill/>
        </p:spPr>
        <p:txBody>
          <a:bodyPr wrap="square" anchor="ctr" lIns="54864" rIns="54864" tIns="54864" bIns="54864">
            <a:spAutoFit/>
          </a:bodyPr>
          <a:lstStyle/>
          <a:p>
            <a:pPr algn="ctr">
              <a:spcAft>
                <a:spcPts val="300"/>
              </a:spcAft>
            </a:pPr>
            <a:r>
              <a:rPr sz="4000" b="1">
                <a:solidFill>
                  <a:srgbClr val="FFFFFF"/>
                </a:solidFill>
                <a:latin typeface="Arial"/>
              </a:rPr>
              <a:t>AA</a:t>
            </a:r>
          </a:p>
        </p:txBody>
      </p:sp>
      <p:sp>
        <p:nvSpPr>
          <p:cNvPr id="10" name="TextBox 9"/>
          <p:cNvSpPr txBox="1"/>
          <p:nvPr/>
        </p:nvSpPr>
        <p:spPr>
          <a:xfrm>
            <a:off x="960120" y="4069080"/>
            <a:ext cx="2834640" cy="502920"/>
          </a:xfrm>
          <a:prstGeom prst="rect">
            <a:avLst/>
          </a:prstGeom>
          <a:noFill/>
        </p:spPr>
        <p:txBody>
          <a:bodyPr wrap="square" anchor="t" lIns="54864" rIns="54864" tIns="54864" bIns="54864">
            <a:spAutoFit/>
          </a:bodyPr>
          <a:lstStyle/>
          <a:p>
            <a:pPr algn="ctr">
              <a:spcAft>
                <a:spcPts val="300"/>
              </a:spcAft>
            </a:pPr>
            <a:r>
              <a:rPr sz="1900" b="1">
                <a:solidFill>
                  <a:srgbClr val="161B26"/>
                </a:solidFill>
                <a:latin typeface="Arial"/>
              </a:rPr>
              <a:t>Dr. Alfred Ang</a:t>
            </a:r>
          </a:p>
        </p:txBody>
      </p:sp>
      <p:sp>
        <p:nvSpPr>
          <p:cNvPr id="11" name="TextBox 10"/>
          <p:cNvSpPr txBox="1"/>
          <p:nvPr/>
        </p:nvSpPr>
        <p:spPr>
          <a:xfrm>
            <a:off x="960120" y="4617720"/>
            <a:ext cx="2834640" cy="6400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Principal Trainer · Tertiary Infotech Academy</a:t>
            </a:r>
          </a:p>
        </p:txBody>
      </p:sp>
      <p:sp>
        <p:nvSpPr>
          <p:cNvPr id="12" name="Rectangle 11"/>
          <p:cNvSpPr/>
          <p:nvPr/>
        </p:nvSpPr>
        <p:spPr>
          <a:xfrm>
            <a:off x="4343400" y="1783080"/>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83080"/>
            <a:ext cx="82296"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847088"/>
            <a:ext cx="6537960" cy="749808"/>
          </a:xfrm>
          <a:prstGeom prst="rect">
            <a:avLst/>
          </a:prstGeom>
          <a:noFill/>
        </p:spPr>
        <p:txBody>
          <a:bodyPr wrap="square" anchor="ctr" lIns="54864" rIns="54864" tIns="54864" bIns="54864">
            <a:spAutoFit/>
          </a:bodyPr>
          <a:lstStyle/>
          <a:p>
            <a:pPr algn="l">
              <a:spcAft>
                <a:spcPts val="300"/>
              </a:spcAft>
            </a:pPr>
            <a:r>
              <a:rPr sz="1050" b="1">
                <a:solidFill>
                  <a:srgbClr val="1F6FEB"/>
                </a:solidFill>
                <a:latin typeface="Arial"/>
              </a:rPr>
              <a:t>ROLE</a:t>
            </a:r>
          </a:p>
          <a:p>
            <a:pPr algn="l">
              <a:spcAft>
                <a:spcPts val="300"/>
              </a:spcAft>
            </a:pPr>
            <a:r>
              <a:rPr sz="1250" b="0">
                <a:solidFill>
                  <a:srgbClr val="161B26"/>
                </a:solidFill>
                <a:latin typeface="Arial"/>
              </a:rPr>
              <a:t>Principal trainer and curriculum developer</a:t>
            </a:r>
          </a:p>
        </p:txBody>
      </p:sp>
      <p:sp>
        <p:nvSpPr>
          <p:cNvPr id="15" name="Rectangle 14"/>
          <p:cNvSpPr/>
          <p:nvPr/>
        </p:nvSpPr>
        <p:spPr>
          <a:xfrm>
            <a:off x="4343400" y="2816352"/>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816352"/>
            <a:ext cx="82296"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880360"/>
            <a:ext cx="6537960" cy="749808"/>
          </a:xfrm>
          <a:prstGeom prst="rect">
            <a:avLst/>
          </a:prstGeom>
          <a:noFill/>
        </p:spPr>
        <p:txBody>
          <a:bodyPr wrap="square" anchor="ctr" lIns="54864" rIns="54864" tIns="54864" bIns="54864">
            <a:spAutoFit/>
          </a:bodyPr>
          <a:lstStyle/>
          <a:p>
            <a:pPr algn="l">
              <a:spcAft>
                <a:spcPts val="300"/>
              </a:spcAft>
            </a:pPr>
            <a:r>
              <a:rPr sz="1050" b="1">
                <a:solidFill>
                  <a:srgbClr val="10B981"/>
                </a:solidFill>
                <a:latin typeface="Arial"/>
              </a:rPr>
              <a:t>EXPERTISE</a:t>
            </a:r>
          </a:p>
          <a:p>
            <a:pPr algn="l">
              <a:spcAft>
                <a:spcPts val="300"/>
              </a:spcAft>
            </a:pPr>
            <a:r>
              <a:rPr sz="1250" b="0">
                <a:solidFill>
                  <a:srgbClr val="161B26"/>
                </a:solidFill>
                <a:latin typeface="Arial"/>
              </a:rPr>
              <a:t>Data analytics, visualisation, AI and business technology</a:t>
            </a:r>
          </a:p>
        </p:txBody>
      </p:sp>
      <p:sp>
        <p:nvSpPr>
          <p:cNvPr id="18" name="Rectangle 17"/>
          <p:cNvSpPr/>
          <p:nvPr/>
        </p:nvSpPr>
        <p:spPr>
          <a:xfrm>
            <a:off x="4343400" y="3849624"/>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3849624"/>
            <a:ext cx="82296"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13632"/>
            <a:ext cx="6537960" cy="749808"/>
          </a:xfrm>
          <a:prstGeom prst="rect">
            <a:avLst/>
          </a:prstGeom>
          <a:noFill/>
        </p:spPr>
        <p:txBody>
          <a:bodyPr wrap="square" anchor="ctr" lIns="54864" rIns="54864" tIns="54864" bIns="54864">
            <a:spAutoFit/>
          </a:bodyPr>
          <a:lstStyle/>
          <a:p>
            <a:pPr algn="l">
              <a:spcAft>
                <a:spcPts val="300"/>
              </a:spcAft>
            </a:pPr>
            <a:r>
              <a:rPr sz="1050" b="1">
                <a:solidFill>
                  <a:srgbClr val="7C3AED"/>
                </a:solidFill>
                <a:latin typeface="Arial"/>
              </a:rPr>
              <a:t>DELIVERY</a:t>
            </a:r>
          </a:p>
          <a:p>
            <a:pPr algn="l">
              <a:spcAft>
                <a:spcPts val="300"/>
              </a:spcAft>
            </a:pPr>
            <a:r>
              <a:rPr sz="1250" b="0">
                <a:solidFill>
                  <a:srgbClr val="161B26"/>
                </a:solidFill>
                <a:latin typeface="Arial"/>
              </a:rPr>
              <a:t>WSQ, certification and applied workplace training</a:t>
            </a:r>
          </a:p>
        </p:txBody>
      </p:sp>
      <p:sp>
        <p:nvSpPr>
          <p:cNvPr id="21" name="Rectangle 20"/>
          <p:cNvSpPr/>
          <p:nvPr/>
        </p:nvSpPr>
        <p:spPr>
          <a:xfrm>
            <a:off x="4343400" y="4882896"/>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4882896"/>
            <a:ext cx="82296"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946904"/>
            <a:ext cx="6537960" cy="749808"/>
          </a:xfrm>
          <a:prstGeom prst="rect">
            <a:avLst/>
          </a:prstGeom>
          <a:noFill/>
        </p:spPr>
        <p:txBody>
          <a:bodyPr wrap="square" anchor="ctr" lIns="54864" rIns="54864" tIns="54864" bIns="54864">
            <a:spAutoFit/>
          </a:bodyPr>
          <a:lstStyle/>
          <a:p>
            <a:pPr algn="l">
              <a:spcAft>
                <a:spcPts val="300"/>
              </a:spcAft>
            </a:pPr>
            <a:r>
              <a:rPr sz="1050" b="1">
                <a:solidFill>
                  <a:srgbClr val="F59E0B"/>
                </a:solidFill>
                <a:latin typeface="Arial"/>
              </a:rPr>
              <a:t>APPROACH</a:t>
            </a:r>
          </a:p>
          <a:p>
            <a:pPr algn="l">
              <a:spcAft>
                <a:spcPts val="300"/>
              </a:spcAft>
            </a:pPr>
            <a:r>
              <a:rPr sz="1250" b="0">
                <a:solidFill>
                  <a:srgbClr val="161B26"/>
                </a:solidFill>
                <a:latin typeface="Arial"/>
              </a:rPr>
              <a:t>Concept clarity, realistic data and evidence-based practice</a:t>
            </a:r>
          </a:p>
        </p:txBody>
      </p:sp>
      <p:sp>
        <p:nvSpPr>
          <p:cNvPr id="24" name="TextBox 23"/>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5" name="TextBox 24"/>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6" name="TextBox 25"/>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LEARNER INTRODUCTION</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Let's Know Each Other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Name, organisation and role.</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How you currently use spreadsheets, BI or Tableau.</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One recurring decision your data should make easier.</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Your target outcome for the Tableau Desktop Specialist credential.</a:t>
            </a:r>
          </a:p>
        </p:txBody>
      </p:sp>
      <p:sp>
        <p:nvSpPr>
          <p:cNvPr id="19" name="TextBox 1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0" name="TextBox 1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1" name="TextBox 2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HOUSEKEEPING</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Ground Rules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168652"/>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Participate</a:t>
            </a:r>
          </a:p>
          <a:p>
            <a:pPr algn="l">
              <a:spcAft>
                <a:spcPts val="300"/>
              </a:spcAft>
            </a:pPr>
            <a:r>
              <a:rPr sz="1200" b="0">
                <a:solidFill>
                  <a:srgbClr val="5B6372"/>
                </a:solidFill>
                <a:latin typeface="Arial"/>
              </a:rPr>
              <a:t>Ask, test and explain — active practice builds recall.</a:t>
            </a:r>
          </a:p>
        </p:txBody>
      </p:sp>
      <p:sp>
        <p:nvSpPr>
          <p:cNvPr id="12" name="Rectangle 11"/>
          <p:cNvSpPr/>
          <p:nvPr/>
        </p:nvSpPr>
        <p:spPr>
          <a:xfrm>
            <a:off x="6222492"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13014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16865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Respect</a:t>
            </a:r>
          </a:p>
          <a:p>
            <a:pPr algn="l">
              <a:spcAft>
                <a:spcPts val="300"/>
              </a:spcAft>
            </a:pPr>
            <a:r>
              <a:rPr sz="1200" b="0">
                <a:solidFill>
                  <a:srgbClr val="5B6372"/>
                </a:solidFill>
                <a:latin typeface="Arial"/>
              </a:rPr>
              <a:t>One conversation at a time; critique ideas, not people.</a:t>
            </a:r>
          </a:p>
        </p:txBody>
      </p:sp>
      <p:sp>
        <p:nvSpPr>
          <p:cNvPr id="17" name="Rectangle 16"/>
          <p:cNvSpPr/>
          <p:nvPr/>
        </p:nvSpPr>
        <p:spPr>
          <a:xfrm>
            <a:off x="768096"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3285743"/>
            <a:ext cx="82296" cy="130149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3689604"/>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Protect data</a:t>
            </a:r>
          </a:p>
          <a:p>
            <a:pPr algn="l">
              <a:spcAft>
                <a:spcPts val="300"/>
              </a:spcAft>
            </a:pPr>
            <a:r>
              <a:rPr sz="1200" b="0">
                <a:solidFill>
                  <a:srgbClr val="5B6372"/>
                </a:solidFill>
                <a:latin typeface="Arial"/>
              </a:rPr>
              <a:t>Use supplied mock data; do not expose workplace records.</a:t>
            </a:r>
          </a:p>
        </p:txBody>
      </p:sp>
      <p:sp>
        <p:nvSpPr>
          <p:cNvPr id="22" name="Rectangle 21"/>
          <p:cNvSpPr/>
          <p:nvPr/>
        </p:nvSpPr>
        <p:spPr>
          <a:xfrm>
            <a:off x="6222492"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285743"/>
            <a:ext cx="82296" cy="130149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3689604"/>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Stay punctual</a:t>
            </a:r>
          </a:p>
          <a:p>
            <a:pPr algn="l">
              <a:spcAft>
                <a:spcPts val="300"/>
              </a:spcAft>
            </a:pPr>
            <a:r>
              <a:rPr sz="1200" b="0">
                <a:solidFill>
                  <a:srgbClr val="5B6372"/>
                </a:solidFill>
                <a:latin typeface="Arial"/>
              </a:rPr>
              <a:t>Return from breaks on time and complete attendance.</a:t>
            </a:r>
          </a:p>
        </p:txBody>
      </p:sp>
      <p:sp>
        <p:nvSpPr>
          <p:cNvPr id="27" name="Rectangle 26"/>
          <p:cNvSpPr/>
          <p:nvPr/>
        </p:nvSpPr>
        <p:spPr>
          <a:xfrm>
            <a:off x="768096" y="4806695"/>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4806695"/>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6695" y="521055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695" y="5210555"/>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664207" y="4898135"/>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Save evidence</a:t>
            </a:r>
          </a:p>
          <a:p>
            <a:pPr algn="l">
              <a:spcAft>
                <a:spcPts val="300"/>
              </a:spcAft>
            </a:pPr>
            <a:r>
              <a:rPr sz="1200" b="0">
                <a:solidFill>
                  <a:srgbClr val="5B6372"/>
                </a:solidFill>
                <a:latin typeface="Arial"/>
              </a:rPr>
              <a:t>Keep Tableau workbooks, screenshots and checklists.</a:t>
            </a:r>
          </a:p>
        </p:txBody>
      </p:sp>
      <p:sp>
        <p:nvSpPr>
          <p:cNvPr id="32" name="Rectangle 31"/>
          <p:cNvSpPr/>
          <p:nvPr/>
        </p:nvSpPr>
        <p:spPr>
          <a:xfrm>
            <a:off x="6222492" y="4806695"/>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06695"/>
            <a:ext cx="82296" cy="13014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51092" y="5210555"/>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51092" y="5210555"/>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18604" y="4898135"/>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Procedures live in LG</a:t>
            </a:r>
          </a:p>
          <a:p>
            <a:pPr algn="l">
              <a:spcAft>
                <a:spcPts val="300"/>
              </a:spcAft>
            </a:pPr>
            <a:r>
              <a:rPr sz="1200" b="0">
                <a:solidFill>
                  <a:srgbClr val="5B6372"/>
                </a:solidFill>
                <a:latin typeface="Arial"/>
              </a:rPr>
              <a:t>Slides teach concepts; the Learner Guide gives clicks and steps.</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SCHEDULE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Lesson Plan — Day 1</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51937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51937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1975104"/>
            <a:ext cx="4736592" cy="384048"/>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Morning</a:t>
            </a:r>
          </a:p>
        </p:txBody>
      </p:sp>
      <p:sp>
        <p:nvSpPr>
          <p:cNvPr id="10" name="TextBox 9"/>
          <p:cNvSpPr txBox="1"/>
          <p:nvPr/>
        </p:nvSpPr>
        <p:spPr>
          <a:xfrm>
            <a:off x="1024128" y="2514600"/>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9:00 Welcome, attendance and exam orientation</a:t>
            </a:r>
          </a:p>
        </p:txBody>
      </p:sp>
      <p:sp>
        <p:nvSpPr>
          <p:cNvPr id="11" name="TextBox 10"/>
          <p:cNvSpPr txBox="1"/>
          <p:nvPr/>
        </p:nvSpPr>
        <p:spPr>
          <a:xfrm>
            <a:off x="1024128" y="3136392"/>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9:30 Topic 1: connect and prepare</a:t>
            </a:r>
          </a:p>
        </p:txBody>
      </p:sp>
      <p:sp>
        <p:nvSpPr>
          <p:cNvPr id="12" name="TextBox 11"/>
          <p:cNvSpPr txBox="1"/>
          <p:nvPr/>
        </p:nvSpPr>
        <p:spPr>
          <a:xfrm>
            <a:off x="1024128" y="3758184"/>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10:30 Break</a:t>
            </a:r>
          </a:p>
        </p:txBody>
      </p:sp>
      <p:sp>
        <p:nvSpPr>
          <p:cNvPr id="13" name="TextBox 12"/>
          <p:cNvSpPr txBox="1"/>
          <p:nvPr/>
        </p:nvSpPr>
        <p:spPr>
          <a:xfrm>
            <a:off x="1024128" y="4379976"/>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10:40 Topic 1 labs 1–3</a:t>
            </a:r>
          </a:p>
        </p:txBody>
      </p:sp>
      <p:sp>
        <p:nvSpPr>
          <p:cNvPr id="14" name="TextBox 13"/>
          <p:cNvSpPr txBox="1"/>
          <p:nvPr/>
        </p:nvSpPr>
        <p:spPr>
          <a:xfrm>
            <a:off x="1024128" y="5001768"/>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12:30 Lunch</a:t>
            </a:r>
          </a:p>
        </p:txBody>
      </p:sp>
      <p:sp>
        <p:nvSpPr>
          <p:cNvPr id="15" name="Rectangle 14"/>
          <p:cNvSpPr/>
          <p:nvPr/>
        </p:nvSpPr>
        <p:spPr>
          <a:xfrm>
            <a:off x="6254496"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1783080"/>
            <a:ext cx="5166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1975104"/>
            <a:ext cx="4709160" cy="38404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Afternoon</a:t>
            </a:r>
          </a:p>
        </p:txBody>
      </p:sp>
      <p:sp>
        <p:nvSpPr>
          <p:cNvPr id="18" name="TextBox 17"/>
          <p:cNvSpPr txBox="1"/>
          <p:nvPr/>
        </p:nvSpPr>
        <p:spPr>
          <a:xfrm>
            <a:off x="6510528" y="2514600"/>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1:15 Topic 2: charts and organisation</a:t>
            </a:r>
          </a:p>
        </p:txBody>
      </p:sp>
      <p:sp>
        <p:nvSpPr>
          <p:cNvPr id="19" name="TextBox 18"/>
          <p:cNvSpPr txBox="1"/>
          <p:nvPr/>
        </p:nvSpPr>
        <p:spPr>
          <a:xfrm>
            <a:off x="6510528" y="3136392"/>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3:00 Break</a:t>
            </a:r>
          </a:p>
        </p:txBody>
      </p:sp>
      <p:sp>
        <p:nvSpPr>
          <p:cNvPr id="20" name="TextBox 19"/>
          <p:cNvSpPr txBox="1"/>
          <p:nvPr/>
        </p:nvSpPr>
        <p:spPr>
          <a:xfrm>
            <a:off x="6510528" y="3758184"/>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3:10 Topic 2 labs 4–7</a:t>
            </a:r>
          </a:p>
        </p:txBody>
      </p:sp>
      <p:sp>
        <p:nvSpPr>
          <p:cNvPr id="21" name="TextBox 20"/>
          <p:cNvSpPr txBox="1"/>
          <p:nvPr/>
        </p:nvSpPr>
        <p:spPr>
          <a:xfrm>
            <a:off x="6510528" y="4379976"/>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5:45 Recap and PM attendance</a:t>
            </a:r>
          </a:p>
        </p:txBody>
      </p:sp>
      <p:sp>
        <p:nvSpPr>
          <p:cNvPr id="22" name="TextBox 21"/>
          <p:cNvSpPr txBox="1"/>
          <p:nvPr/>
        </p:nvSpPr>
        <p:spPr>
          <a:xfrm>
            <a:off x="6510528" y="5001768"/>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6:00 End</a:t>
            </a:r>
          </a:p>
        </p:txBody>
      </p:sp>
      <p:sp>
        <p:nvSpPr>
          <p:cNvPr id="23" name="TextBox 22"/>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4" name="TextBox 23"/>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5" name="TextBox 24"/>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SCHEDULE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Lesson Plan — Day 2</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51937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51937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1975104"/>
            <a:ext cx="4736592" cy="384048"/>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Morning</a:t>
            </a:r>
          </a:p>
        </p:txBody>
      </p:sp>
      <p:sp>
        <p:nvSpPr>
          <p:cNvPr id="10" name="TextBox 9"/>
          <p:cNvSpPr txBox="1"/>
          <p:nvPr/>
        </p:nvSpPr>
        <p:spPr>
          <a:xfrm>
            <a:off x="1024128" y="2514600"/>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9:00 Attendance and recap</a:t>
            </a:r>
          </a:p>
        </p:txBody>
      </p:sp>
      <p:sp>
        <p:nvSpPr>
          <p:cNvPr id="11" name="TextBox 10"/>
          <p:cNvSpPr txBox="1"/>
          <p:nvPr/>
        </p:nvSpPr>
        <p:spPr>
          <a:xfrm>
            <a:off x="1024128" y="3136392"/>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9:15 Topic 3: format and dashboards</a:t>
            </a:r>
          </a:p>
        </p:txBody>
      </p:sp>
      <p:sp>
        <p:nvSpPr>
          <p:cNvPr id="12" name="TextBox 11"/>
          <p:cNvSpPr txBox="1"/>
          <p:nvPr/>
        </p:nvSpPr>
        <p:spPr>
          <a:xfrm>
            <a:off x="1024128" y="3758184"/>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10:30 Break</a:t>
            </a:r>
          </a:p>
        </p:txBody>
      </p:sp>
      <p:sp>
        <p:nvSpPr>
          <p:cNvPr id="13" name="TextBox 12"/>
          <p:cNvSpPr txBox="1"/>
          <p:nvPr/>
        </p:nvSpPr>
        <p:spPr>
          <a:xfrm>
            <a:off x="1024128" y="4379976"/>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10:40 Labs 8–9</a:t>
            </a:r>
          </a:p>
        </p:txBody>
      </p:sp>
      <p:sp>
        <p:nvSpPr>
          <p:cNvPr id="14" name="TextBox 13"/>
          <p:cNvSpPr txBox="1"/>
          <p:nvPr/>
        </p:nvSpPr>
        <p:spPr>
          <a:xfrm>
            <a:off x="1024128" y="5001768"/>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12:30 Lunch</a:t>
            </a:r>
          </a:p>
        </p:txBody>
      </p:sp>
      <p:sp>
        <p:nvSpPr>
          <p:cNvPr id="15" name="Rectangle 14"/>
          <p:cNvSpPr/>
          <p:nvPr/>
        </p:nvSpPr>
        <p:spPr>
          <a:xfrm>
            <a:off x="6254496"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1783080"/>
            <a:ext cx="5166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1975104"/>
            <a:ext cx="4709160" cy="38404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Afternoon</a:t>
            </a:r>
          </a:p>
        </p:txBody>
      </p:sp>
      <p:sp>
        <p:nvSpPr>
          <p:cNvPr id="18" name="TextBox 17"/>
          <p:cNvSpPr txBox="1"/>
          <p:nvPr/>
        </p:nvSpPr>
        <p:spPr>
          <a:xfrm>
            <a:off x="6510528" y="2514600"/>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1:15 Topic 4 and capstone lab 10</a:t>
            </a:r>
          </a:p>
        </p:txBody>
      </p:sp>
      <p:sp>
        <p:nvSpPr>
          <p:cNvPr id="19" name="TextBox 18"/>
          <p:cNvSpPr txBox="1"/>
          <p:nvPr/>
        </p:nvSpPr>
        <p:spPr>
          <a:xfrm>
            <a:off x="6510528" y="3136392"/>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3:30 Certification preparation</a:t>
            </a:r>
          </a:p>
        </p:txBody>
      </p:sp>
      <p:sp>
        <p:nvSpPr>
          <p:cNvPr id="20" name="TextBox 19"/>
          <p:cNvSpPr txBox="1"/>
          <p:nvPr/>
        </p:nvSpPr>
        <p:spPr>
          <a:xfrm>
            <a:off x="6510528" y="3758184"/>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3:50 Assessment briefing</a:t>
            </a:r>
          </a:p>
        </p:txBody>
      </p:sp>
      <p:sp>
        <p:nvSpPr>
          <p:cNvPr id="21" name="TextBox 20"/>
          <p:cNvSpPr txBox="1"/>
          <p:nvPr/>
        </p:nvSpPr>
        <p:spPr>
          <a:xfrm>
            <a:off x="6510528" y="4379976"/>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4:00 WA (1 hr) then PP (1 hr)</a:t>
            </a:r>
          </a:p>
        </p:txBody>
      </p:sp>
      <p:sp>
        <p:nvSpPr>
          <p:cNvPr id="22" name="TextBox 21"/>
          <p:cNvSpPr txBox="1"/>
          <p:nvPr/>
        </p:nvSpPr>
        <p:spPr>
          <a:xfrm>
            <a:off x="6510528" y="5001768"/>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6:00 End</a:t>
            </a:r>
          </a:p>
        </p:txBody>
      </p:sp>
      <p:sp>
        <p:nvSpPr>
          <p:cNvPr id="23" name="TextBox 22"/>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4" name="TextBox 23"/>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5" name="TextBox 24"/>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a:t>
            </a:r>
          </a:p>
        </p:txBody>
      </p:sp>
    </p:spTree>
  </p:cSld>
  <p:clrMapOvr>
    <a:masterClrMapping/>
  </p:clrMapOvr>
  <p:transition spd="fast">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WSQ · DATA ANALYTICS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Skills Framework Alignment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5326380" cy="7239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5253228" cy="68732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Element</a:t>
            </a:r>
          </a:p>
        </p:txBody>
      </p:sp>
      <p:sp>
        <p:nvSpPr>
          <p:cNvPr id="9" name="Rectangle 8"/>
          <p:cNvSpPr/>
          <p:nvPr/>
        </p:nvSpPr>
        <p:spPr>
          <a:xfrm>
            <a:off x="6094476" y="1783080"/>
            <a:ext cx="5326380" cy="7239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31052" y="1801368"/>
            <a:ext cx="5253228" cy="68732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Course alignment</a:t>
            </a:r>
          </a:p>
        </p:txBody>
      </p:sp>
      <p:sp>
        <p:nvSpPr>
          <p:cNvPr id="11" name="Rectangle 10"/>
          <p:cNvSpPr/>
          <p:nvPr/>
        </p:nvSpPr>
        <p:spPr>
          <a:xfrm>
            <a:off x="768096" y="2506980"/>
            <a:ext cx="5326380" cy="7239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25268"/>
            <a:ext cx="5216652" cy="68732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TSC</a:t>
            </a:r>
          </a:p>
        </p:txBody>
      </p:sp>
      <p:sp>
        <p:nvSpPr>
          <p:cNvPr id="13" name="Rectangle 12"/>
          <p:cNvSpPr/>
          <p:nvPr/>
        </p:nvSpPr>
        <p:spPr>
          <a:xfrm>
            <a:off x="6094476" y="2506980"/>
            <a:ext cx="5326380" cy="7239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9340" y="2525268"/>
            <a:ext cx="5216652" cy="68732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Data Analytics · ATP-PIN-2001-1.1</a:t>
            </a:r>
          </a:p>
        </p:txBody>
      </p:sp>
      <p:sp>
        <p:nvSpPr>
          <p:cNvPr id="15" name="Rectangle 14"/>
          <p:cNvSpPr/>
          <p:nvPr/>
        </p:nvSpPr>
        <p:spPr>
          <a:xfrm>
            <a:off x="768096" y="3230880"/>
            <a:ext cx="5326380" cy="7239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249168"/>
            <a:ext cx="5216652" cy="68732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LO1</a:t>
            </a:r>
          </a:p>
        </p:txBody>
      </p:sp>
      <p:sp>
        <p:nvSpPr>
          <p:cNvPr id="17" name="Rectangle 16"/>
          <p:cNvSpPr/>
          <p:nvPr/>
        </p:nvSpPr>
        <p:spPr>
          <a:xfrm>
            <a:off x="6094476" y="3230880"/>
            <a:ext cx="5326380" cy="7239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9340" y="3249168"/>
            <a:ext cx="5216652" cy="68732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Identify trustworthy sources and prepare models</a:t>
            </a:r>
          </a:p>
        </p:txBody>
      </p:sp>
      <p:sp>
        <p:nvSpPr>
          <p:cNvPr id="19" name="Rectangle 18"/>
          <p:cNvSpPr/>
          <p:nvPr/>
        </p:nvSpPr>
        <p:spPr>
          <a:xfrm>
            <a:off x="768096" y="3954780"/>
            <a:ext cx="5326380" cy="7239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5216652" cy="68732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LO2</a:t>
            </a:r>
          </a:p>
        </p:txBody>
      </p:sp>
      <p:sp>
        <p:nvSpPr>
          <p:cNvPr id="21" name="Rectangle 20"/>
          <p:cNvSpPr/>
          <p:nvPr/>
        </p:nvSpPr>
        <p:spPr>
          <a:xfrm>
            <a:off x="6094476" y="3954780"/>
            <a:ext cx="5326380" cy="7239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49340" y="3973068"/>
            <a:ext cx="5216652" cy="68732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Organise fields into effective visual elements</a:t>
            </a:r>
          </a:p>
        </p:txBody>
      </p:sp>
      <p:sp>
        <p:nvSpPr>
          <p:cNvPr id="23" name="Rectangle 22"/>
          <p:cNvSpPr/>
          <p:nvPr/>
        </p:nvSpPr>
        <p:spPr>
          <a:xfrm>
            <a:off x="768096" y="4678680"/>
            <a:ext cx="5326380" cy="7239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696967"/>
            <a:ext cx="5216652" cy="68732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LO3</a:t>
            </a:r>
          </a:p>
        </p:txBody>
      </p:sp>
      <p:sp>
        <p:nvSpPr>
          <p:cNvPr id="25" name="Rectangle 24"/>
          <p:cNvSpPr/>
          <p:nvPr/>
        </p:nvSpPr>
        <p:spPr>
          <a:xfrm>
            <a:off x="6094476" y="4678680"/>
            <a:ext cx="5326380" cy="7239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49340" y="4696967"/>
            <a:ext cx="5216652" cy="68732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Extract, combine, filter and calculate data</a:t>
            </a:r>
          </a:p>
        </p:txBody>
      </p:sp>
      <p:sp>
        <p:nvSpPr>
          <p:cNvPr id="27" name="Rectangle 26"/>
          <p:cNvSpPr/>
          <p:nvPr/>
        </p:nvSpPr>
        <p:spPr>
          <a:xfrm>
            <a:off x="768096" y="5402580"/>
            <a:ext cx="5326380" cy="7239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20867"/>
            <a:ext cx="5216652" cy="68732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LO4</a:t>
            </a:r>
          </a:p>
        </p:txBody>
      </p:sp>
      <p:sp>
        <p:nvSpPr>
          <p:cNvPr id="29" name="Rectangle 28"/>
          <p:cNvSpPr/>
          <p:nvPr/>
        </p:nvSpPr>
        <p:spPr>
          <a:xfrm>
            <a:off x="6094476" y="5402580"/>
            <a:ext cx="5326380" cy="7239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9340" y="5420867"/>
            <a:ext cx="5216652" cy="68732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Process and communicate meaningful insights</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a:t>
            </a:r>
          </a:p>
        </p:txBody>
      </p:sp>
    </p:spTree>
  </p:cSld>
  <p:clrMapOvr>
    <a:masterClrMapping/>
  </p:clrMapOvr>
  <p:transition spd="fast">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BY THE END OF THIS COURSE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Learning Outcomes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LO1</a:t>
            </a:r>
          </a:p>
          <a:p>
            <a:pPr algn="l">
              <a:spcAft>
                <a:spcPts val="300"/>
              </a:spcAft>
            </a:pPr>
            <a:r>
              <a:rPr sz="1200" b="0">
                <a:solidFill>
                  <a:srgbClr val="5B6372"/>
                </a:solidFill>
                <a:latin typeface="Arial"/>
              </a:rPr>
              <a:t>Identify and connect appropriate data sources, then prepare trustworthy Tableau data models.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LO2</a:t>
            </a:r>
          </a:p>
          <a:p>
            <a:pPr algn="l">
              <a:spcAft>
                <a:spcPts val="300"/>
              </a:spcAft>
            </a:pPr>
            <a:r>
              <a:rPr sz="1200" b="0">
                <a:solidFill>
                  <a:srgbClr val="5B6372"/>
                </a:solidFill>
                <a:latin typeface="Arial"/>
              </a:rPr>
              <a:t>Organise fields and create effective visual elements that answer business questions.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LO3</a:t>
            </a:r>
          </a:p>
          <a:p>
            <a:pPr algn="l">
              <a:spcAft>
                <a:spcPts val="300"/>
              </a:spcAft>
            </a:pPr>
            <a:r>
              <a:rPr sz="1200" b="0">
                <a:solidFill>
                  <a:srgbClr val="5B6372"/>
                </a:solidFill>
                <a:latin typeface="Arial"/>
              </a:rPr>
              <a:t>Extract, combine and analyse data using relationships, joins, unions, filters and calculations.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LO4</a:t>
            </a:r>
          </a:p>
          <a:p>
            <a:pPr algn="l">
              <a:spcAft>
                <a:spcPts val="300"/>
              </a:spcAft>
            </a:pPr>
            <a:r>
              <a:rPr sz="1200" b="0">
                <a:solidFill>
                  <a:srgbClr val="5B6372"/>
                </a:solidFill>
                <a:latin typeface="Arial"/>
              </a:rPr>
              <a:t>Build, format and share interactive dashboards and workbooks that communicate meaningful insights.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BLUEPRINT · EDITABLE POWERPOINT CHART</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Tableau Desktop Specialist — Exam Weighting</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60" y="1783080"/>
          <a:ext cx="6400800" cy="4343400"/>
        </p:xfrm>
        <a:graphic>
          <a:graphicData uri="http://schemas.openxmlformats.org/drawingml/2006/chart">
            <c:chart xmlns:c="http://schemas.openxmlformats.org/drawingml/2006/chart" r:id="rId2"/>
          </a:graphicData>
        </a:graphic>
      </p:graphicFrame>
      <p:sp>
        <p:nvSpPr>
          <p:cNvPr id="8" name="Rectangle 7"/>
          <p:cNvSpPr/>
          <p:nvPr/>
        </p:nvSpPr>
        <p:spPr>
          <a:xfrm>
            <a:off x="7543800" y="1874519"/>
            <a:ext cx="3749039"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1874519"/>
            <a:ext cx="82296"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947672"/>
            <a:ext cx="3200400" cy="804672"/>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37%</a:t>
            </a:r>
          </a:p>
          <a:p>
            <a:pPr algn="l">
              <a:spcAft>
                <a:spcPts val="300"/>
              </a:spcAft>
            </a:pPr>
            <a:r>
              <a:rPr sz="1150" b="0">
                <a:solidFill>
                  <a:srgbClr val="161B26"/>
                </a:solidFill>
                <a:latin typeface="Arial"/>
              </a:rPr>
              <a:t>Explore and analyse receives the most teaching and practice time.</a:t>
            </a:r>
          </a:p>
        </p:txBody>
      </p:sp>
      <p:sp>
        <p:nvSpPr>
          <p:cNvPr id="11" name="Rectangle 10"/>
          <p:cNvSpPr/>
          <p:nvPr/>
        </p:nvSpPr>
        <p:spPr>
          <a:xfrm>
            <a:off x="7543800" y="3108960"/>
            <a:ext cx="3749039"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43800" y="3108960"/>
            <a:ext cx="82296"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3182112"/>
            <a:ext cx="3200400" cy="804672"/>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23% + 25%</a:t>
            </a:r>
          </a:p>
          <a:p>
            <a:pPr algn="l">
              <a:spcAft>
                <a:spcPts val="300"/>
              </a:spcAft>
            </a:pPr>
            <a:r>
              <a:rPr sz="1150" b="0">
                <a:solidFill>
                  <a:srgbClr val="161B26"/>
                </a:solidFill>
                <a:latin typeface="Arial"/>
              </a:rPr>
              <a:t>Data preparation and sharing each remain substantial.</a:t>
            </a:r>
          </a:p>
        </p:txBody>
      </p:sp>
      <p:sp>
        <p:nvSpPr>
          <p:cNvPr id="14" name="Rectangle 13"/>
          <p:cNvSpPr/>
          <p:nvPr/>
        </p:nvSpPr>
        <p:spPr>
          <a:xfrm>
            <a:off x="7543800" y="4343400"/>
            <a:ext cx="3749039"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4343400"/>
            <a:ext cx="82296"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4416552"/>
            <a:ext cx="3200400" cy="804672"/>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15%</a:t>
            </a:r>
          </a:p>
          <a:p>
            <a:pPr algn="l">
              <a:spcAft>
                <a:spcPts val="300"/>
              </a:spcAft>
            </a:pPr>
            <a:r>
              <a:rPr sz="1150" b="0">
                <a:solidFill>
                  <a:srgbClr val="161B26"/>
                </a:solidFill>
                <a:latin typeface="Arial"/>
              </a:rPr>
              <a:t>Concepts are compact but foundational to every scenario.</a:t>
            </a:r>
          </a:p>
        </p:txBody>
      </p:sp>
      <p:sp>
        <p:nvSpPr>
          <p:cNvPr id="17" name="TextBox 1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8" name="TextBox 1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9" name="TextBox 1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EXAM-ALIGNED JOURNEY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Course Outline by Official Domain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Domain</a:t>
            </a:r>
          </a:p>
        </p:txBody>
      </p:sp>
      <p:sp>
        <p:nvSpPr>
          <p:cNvPr id="9" name="Rectangle 8"/>
          <p:cNvSpPr/>
          <p:nvPr/>
        </p:nvSpPr>
        <p:spPr>
          <a:xfrm>
            <a:off x="4319016" y="1783080"/>
            <a:ext cx="355092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Weight</a:t>
            </a:r>
          </a:p>
        </p:txBody>
      </p:sp>
      <p:sp>
        <p:nvSpPr>
          <p:cNvPr id="11" name="Rectangle 10"/>
          <p:cNvSpPr/>
          <p:nvPr/>
        </p:nvSpPr>
        <p:spPr>
          <a:xfrm>
            <a:off x="7869936" y="1783080"/>
            <a:ext cx="355092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Labs</a:t>
            </a:r>
          </a:p>
        </p:txBody>
      </p:sp>
      <p:sp>
        <p:nvSpPr>
          <p:cNvPr id="13" name="Rectangle 12"/>
          <p:cNvSpPr/>
          <p:nvPr/>
        </p:nvSpPr>
        <p:spPr>
          <a:xfrm>
            <a:off x="76809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7004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1 · Connect and Prepare</a:t>
            </a:r>
          </a:p>
        </p:txBody>
      </p:sp>
      <p:sp>
        <p:nvSpPr>
          <p:cNvPr id="15" name="Rectangle 14"/>
          <p:cNvSpPr/>
          <p:nvPr/>
        </p:nvSpPr>
        <p:spPr>
          <a:xfrm>
            <a:off x="431901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23%</a:t>
            </a:r>
          </a:p>
        </p:txBody>
      </p:sp>
      <p:sp>
        <p:nvSpPr>
          <p:cNvPr id="17" name="Rectangle 16"/>
          <p:cNvSpPr/>
          <p:nvPr/>
        </p:nvSpPr>
        <p:spPr>
          <a:xfrm>
            <a:off x="786993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Labs 1–3</a:t>
            </a:r>
          </a:p>
        </p:txBody>
      </p:sp>
      <p:sp>
        <p:nvSpPr>
          <p:cNvPr id="19" name="Rectangle 18"/>
          <p:cNvSpPr/>
          <p:nvPr/>
        </p:nvSpPr>
        <p:spPr>
          <a:xfrm>
            <a:off x="76809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3872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2 · Explore and Analyse</a:t>
            </a:r>
          </a:p>
        </p:txBody>
      </p:sp>
      <p:sp>
        <p:nvSpPr>
          <p:cNvPr id="21" name="Rectangle 20"/>
          <p:cNvSpPr/>
          <p:nvPr/>
        </p:nvSpPr>
        <p:spPr>
          <a:xfrm>
            <a:off x="431901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37%</a:t>
            </a:r>
          </a:p>
        </p:txBody>
      </p:sp>
      <p:sp>
        <p:nvSpPr>
          <p:cNvPr id="23" name="Rectangle 22"/>
          <p:cNvSpPr/>
          <p:nvPr/>
        </p:nvSpPr>
        <p:spPr>
          <a:xfrm>
            <a:off x="786993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Labs 4–7</a:t>
            </a:r>
          </a:p>
        </p:txBody>
      </p:sp>
      <p:sp>
        <p:nvSpPr>
          <p:cNvPr id="25" name="Rectangle 24"/>
          <p:cNvSpPr/>
          <p:nvPr/>
        </p:nvSpPr>
        <p:spPr>
          <a:xfrm>
            <a:off x="76809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0740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3 · Share Insights</a:t>
            </a:r>
          </a:p>
        </p:txBody>
      </p:sp>
      <p:sp>
        <p:nvSpPr>
          <p:cNvPr id="27" name="Rectangle 26"/>
          <p:cNvSpPr/>
          <p:nvPr/>
        </p:nvSpPr>
        <p:spPr>
          <a:xfrm>
            <a:off x="431901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25%</a:t>
            </a:r>
          </a:p>
        </p:txBody>
      </p:sp>
      <p:sp>
        <p:nvSpPr>
          <p:cNvPr id="29" name="Rectangle 28"/>
          <p:cNvSpPr/>
          <p:nvPr/>
        </p:nvSpPr>
        <p:spPr>
          <a:xfrm>
            <a:off x="786993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Labs 8–9</a:t>
            </a:r>
          </a:p>
        </p:txBody>
      </p:sp>
      <p:sp>
        <p:nvSpPr>
          <p:cNvPr id="31" name="Rectangle 30"/>
          <p:cNvSpPr/>
          <p:nvPr/>
        </p:nvSpPr>
        <p:spPr>
          <a:xfrm>
            <a:off x="76809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7608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4 · Concepts and Preparation</a:t>
            </a:r>
          </a:p>
        </p:txBody>
      </p:sp>
      <p:sp>
        <p:nvSpPr>
          <p:cNvPr id="33" name="Rectangle 32"/>
          <p:cNvSpPr/>
          <p:nvPr/>
        </p:nvSpPr>
        <p:spPr>
          <a:xfrm>
            <a:off x="431901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73880"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15%</a:t>
            </a:r>
          </a:p>
        </p:txBody>
      </p:sp>
      <p:sp>
        <p:nvSpPr>
          <p:cNvPr id="35" name="Rectangle 34"/>
          <p:cNvSpPr/>
          <p:nvPr/>
        </p:nvSpPr>
        <p:spPr>
          <a:xfrm>
            <a:off x="786993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4799"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 10</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LMS/TMS · VISUAL ACCESS GUIDE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Download Course Material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069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84248"/>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1920240"/>
            <a:ext cx="4206240" cy="3108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920240"/>
            <a:ext cx="3931920" cy="310896"/>
          </a:xfrm>
          <a:prstGeom prst="rect">
            <a:avLst/>
          </a:prstGeom>
          <a:noFill/>
        </p:spPr>
        <p:txBody>
          <a:bodyPr wrap="square" anchor="ctr" lIns="54864" rIns="54864" tIns="54864" bIns="54864">
            <a:spAutoFit/>
          </a:bodyPr>
          <a:lstStyle/>
          <a:p>
            <a:pPr algn="l">
              <a:spcAft>
                <a:spcPts val="300"/>
              </a:spcAft>
            </a:pPr>
            <a:r>
              <a:rPr sz="1150" b="1">
                <a:solidFill>
                  <a:srgbClr val="1F6FEB"/>
                </a:solidFill>
                <a:latin typeface="Arial"/>
                <a:hlinkClick r:id="rId2"/>
              </a:rPr>
              <a:t>https://lms-tms.tertiaryinfotech.com/</a:t>
            </a:r>
          </a:p>
        </p:txBody>
      </p:sp>
      <p:sp>
        <p:nvSpPr>
          <p:cNvPr id="14" name="Rectangle 13"/>
          <p:cNvSpPr/>
          <p:nvPr/>
        </p:nvSpPr>
        <p:spPr>
          <a:xfrm>
            <a:off x="1005840" y="2542032"/>
            <a:ext cx="51206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578608"/>
            <a:ext cx="4754879" cy="566928"/>
          </a:xfrm>
          <a:prstGeom prst="rect">
            <a:avLst/>
          </a:prstGeom>
          <a:noFill/>
        </p:spPr>
        <p:txBody>
          <a:bodyPr wrap="square" anchor="ctr" lIns="54864" rIns="54864" tIns="54864" bIns="54864">
            <a:spAutoFit/>
          </a:bodyPr>
          <a:lstStyle/>
          <a:p>
            <a:pPr algn="l">
              <a:spcAft>
                <a:spcPts val="300"/>
              </a:spcAft>
            </a:pPr>
            <a:r>
              <a:rPr sz="1400" b="1">
                <a:solidFill>
                  <a:srgbClr val="FFFFFF"/>
                </a:solidFill>
                <a:latin typeface="Arial"/>
              </a:rPr>
              <a:t>Tertiary Infotech LMS/TMS</a:t>
            </a:r>
          </a:p>
          <a:p>
            <a:pPr algn="l">
              <a:spcAft>
                <a:spcPts val="300"/>
              </a:spcAft>
            </a:pPr>
            <a:r>
              <a:rPr sz="1000" b="0">
                <a:solidFill>
                  <a:srgbClr val="FFFFFF"/>
                </a:solidFill>
                <a:latin typeface="Arial"/>
              </a:rPr>
              <a:t>My Courses · Attendance · Assessment</a:t>
            </a:r>
          </a:p>
        </p:txBody>
      </p:sp>
      <p:sp>
        <p:nvSpPr>
          <p:cNvPr id="16" name="Rectangle 15"/>
          <p:cNvSpPr/>
          <p:nvPr/>
        </p:nvSpPr>
        <p:spPr>
          <a:xfrm>
            <a:off x="1005840" y="3383280"/>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3383280"/>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Learner Slides (PDF)</a:t>
            </a:r>
          </a:p>
        </p:txBody>
      </p:sp>
      <p:sp>
        <p:nvSpPr>
          <p:cNvPr id="18" name="Rectangle 17"/>
          <p:cNvSpPr/>
          <p:nvPr/>
        </p:nvSpPr>
        <p:spPr>
          <a:xfrm>
            <a:off x="1005840" y="3913632"/>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3913632"/>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Learner Guide (PDF)</a:t>
            </a:r>
          </a:p>
        </p:txBody>
      </p:sp>
      <p:sp>
        <p:nvSpPr>
          <p:cNvPr id="20" name="Rectangle 19"/>
          <p:cNvSpPr/>
          <p:nvPr/>
        </p:nvSpPr>
        <p:spPr>
          <a:xfrm>
            <a:off x="1005840" y="4443984"/>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4443984"/>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Individual Lab Folders</a:t>
            </a:r>
          </a:p>
        </p:txBody>
      </p:sp>
      <p:sp>
        <p:nvSpPr>
          <p:cNvPr id="22" name="Rectangle 21"/>
          <p:cNvSpPr/>
          <p:nvPr/>
        </p:nvSpPr>
        <p:spPr>
          <a:xfrm>
            <a:off x="1005840" y="4974336"/>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4974336"/>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Assessment Submission</a:t>
            </a:r>
          </a:p>
        </p:txBody>
      </p:sp>
      <p:sp>
        <p:nvSpPr>
          <p:cNvPr id="24" name="Rectangle 23"/>
          <p:cNvSpPr/>
          <p:nvPr/>
        </p:nvSpPr>
        <p:spPr>
          <a:xfrm>
            <a:off x="6675120" y="182880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1828800"/>
            <a:ext cx="82296" cy="8046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1883664"/>
            <a:ext cx="4114800" cy="694944"/>
          </a:xfrm>
          <a:prstGeom prst="rect">
            <a:avLst/>
          </a:prstGeom>
          <a:noFill/>
        </p:spPr>
        <p:txBody>
          <a:bodyPr wrap="square" anchor="ctr" lIns="54864" rIns="54864" tIns="54864" bIns="54864">
            <a:spAutoFit/>
          </a:bodyPr>
          <a:lstStyle/>
          <a:p>
            <a:pPr algn="l">
              <a:spcAft>
                <a:spcPts val="300"/>
              </a:spcAft>
            </a:pPr>
            <a:r>
              <a:rPr sz="1300" b="1">
                <a:solidFill>
                  <a:srgbClr val="1F6FEB"/>
                </a:solidFill>
                <a:latin typeface="Arial"/>
              </a:rPr>
              <a:t>1. Sign in</a:t>
            </a:r>
          </a:p>
          <a:p>
            <a:pPr algn="l">
              <a:spcAft>
                <a:spcPts val="300"/>
              </a:spcAft>
            </a:pPr>
            <a:r>
              <a:rPr sz="1150" b="0">
                <a:solidFill>
                  <a:srgbClr val="161B26"/>
                </a:solidFill>
                <a:latin typeface="Arial"/>
              </a:rPr>
              <a:t>Use the email registered for the class.</a:t>
            </a:r>
          </a:p>
        </p:txBody>
      </p:sp>
      <p:sp>
        <p:nvSpPr>
          <p:cNvPr id="27" name="Rectangle 26"/>
          <p:cNvSpPr/>
          <p:nvPr/>
        </p:nvSpPr>
        <p:spPr>
          <a:xfrm>
            <a:off x="6675120" y="283464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2834640"/>
            <a:ext cx="82296" cy="8046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95160" y="2889504"/>
            <a:ext cx="4114800" cy="694944"/>
          </a:xfrm>
          <a:prstGeom prst="rect">
            <a:avLst/>
          </a:prstGeom>
          <a:noFill/>
        </p:spPr>
        <p:txBody>
          <a:bodyPr wrap="square" anchor="ctr" lIns="54864" rIns="54864" tIns="54864" bIns="54864">
            <a:spAutoFit/>
          </a:bodyPr>
          <a:lstStyle/>
          <a:p>
            <a:pPr algn="l">
              <a:spcAft>
                <a:spcPts val="300"/>
              </a:spcAft>
            </a:pPr>
            <a:r>
              <a:rPr sz="1300" b="1">
                <a:solidFill>
                  <a:srgbClr val="10B981"/>
                </a:solidFill>
                <a:latin typeface="Arial"/>
              </a:rPr>
              <a:t>2. Open course</a:t>
            </a:r>
          </a:p>
          <a:p>
            <a:pPr algn="l">
              <a:spcAft>
                <a:spcPts val="300"/>
              </a:spcAft>
            </a:pPr>
            <a:r>
              <a:rPr sz="1150" b="0">
                <a:solidFill>
                  <a:srgbClr val="161B26"/>
                </a:solidFill>
                <a:latin typeface="Arial"/>
              </a:rPr>
              <a:t>Select this TGS code under My Courses.</a:t>
            </a:r>
          </a:p>
        </p:txBody>
      </p:sp>
      <p:sp>
        <p:nvSpPr>
          <p:cNvPr id="30" name="Rectangle 29"/>
          <p:cNvSpPr/>
          <p:nvPr/>
        </p:nvSpPr>
        <p:spPr>
          <a:xfrm>
            <a:off x="6675120" y="384048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3840480"/>
            <a:ext cx="82296" cy="8046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895344"/>
            <a:ext cx="4114800" cy="694944"/>
          </a:xfrm>
          <a:prstGeom prst="rect">
            <a:avLst/>
          </a:prstGeom>
          <a:noFill/>
        </p:spPr>
        <p:txBody>
          <a:bodyPr wrap="square" anchor="ctr" lIns="54864" rIns="54864" tIns="54864" bIns="54864">
            <a:spAutoFit/>
          </a:bodyPr>
          <a:lstStyle/>
          <a:p>
            <a:pPr algn="l">
              <a:spcAft>
                <a:spcPts val="300"/>
              </a:spcAft>
            </a:pPr>
            <a:r>
              <a:rPr sz="1300" b="1">
                <a:solidFill>
                  <a:srgbClr val="7C3AED"/>
                </a:solidFill>
                <a:latin typeface="Arial"/>
              </a:rPr>
              <a:t>3. Download</a:t>
            </a:r>
          </a:p>
          <a:p>
            <a:pPr algn="l">
              <a:spcAft>
                <a:spcPts val="300"/>
              </a:spcAft>
            </a:pPr>
            <a:r>
              <a:rPr sz="1150" b="0">
                <a:solidFill>
                  <a:srgbClr val="161B26"/>
                </a:solidFill>
                <a:latin typeface="Arial"/>
              </a:rPr>
              <a:t>Keep slides, LG and labs together.</a:t>
            </a:r>
          </a:p>
        </p:txBody>
      </p:sp>
      <p:sp>
        <p:nvSpPr>
          <p:cNvPr id="33" name="Rectangle 32"/>
          <p:cNvSpPr/>
          <p:nvPr/>
        </p:nvSpPr>
        <p:spPr>
          <a:xfrm>
            <a:off x="6675120" y="484632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75120" y="4846320"/>
            <a:ext cx="82296" cy="8046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95160" y="4901184"/>
            <a:ext cx="4114800" cy="694944"/>
          </a:xfrm>
          <a:prstGeom prst="rect">
            <a:avLst/>
          </a:prstGeom>
          <a:noFill/>
        </p:spPr>
        <p:txBody>
          <a:bodyPr wrap="square" anchor="ctr" lIns="54864" rIns="54864" tIns="54864" bIns="54864">
            <a:spAutoFit/>
          </a:bodyPr>
          <a:lstStyle/>
          <a:p>
            <a:pPr algn="l">
              <a:spcAft>
                <a:spcPts val="300"/>
              </a:spcAft>
            </a:pPr>
            <a:r>
              <a:rPr sz="1300" b="1">
                <a:solidFill>
                  <a:srgbClr val="F59E0B"/>
                </a:solidFill>
                <a:latin typeface="Arial"/>
              </a:rPr>
              <a:t>4. Assess</a:t>
            </a:r>
          </a:p>
          <a:p>
            <a:pPr algn="l">
              <a:spcAft>
                <a:spcPts val="300"/>
              </a:spcAft>
            </a:pPr>
            <a:r>
              <a:rPr sz="1150" b="0">
                <a:solidFill>
                  <a:srgbClr val="161B26"/>
                </a:solidFill>
                <a:latin typeface="Arial"/>
              </a:rPr>
              <a:t>Take attendance and submit on the LMS.</a:t>
            </a:r>
          </a:p>
        </p:txBody>
      </p:sp>
      <p:sp>
        <p:nvSpPr>
          <p:cNvPr id="36" name="TextBox 35"/>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7" name="TextBox 36"/>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8" name="TextBox 37"/>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GITHUB · TWO ACCESS OPTIONS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Access the Hands-On Labs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33832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F6FEB"/>
                </a:solidFill>
                <a:latin typeface="Arial"/>
              </a:rPr>
              <a:t>Clone repository</a:t>
            </a:r>
          </a:p>
        </p:txBody>
      </p:sp>
      <p:sp>
        <p:nvSpPr>
          <p:cNvPr id="10" name="TextBox 9"/>
          <p:cNvSpPr txBox="1"/>
          <p:nvPr/>
        </p:nvSpPr>
        <p:spPr>
          <a:xfrm>
            <a:off x="996695"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git clone the course repository</a:t>
            </a:r>
          </a:p>
        </p:txBody>
      </p:sp>
      <p:sp>
        <p:nvSpPr>
          <p:cNvPr id="11" name="TextBox 10"/>
          <p:cNvSpPr txBox="1"/>
          <p:nvPr/>
        </p:nvSpPr>
        <p:spPr>
          <a:xfrm>
            <a:off x="996695"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Keeps folder structure intact</a:t>
            </a:r>
          </a:p>
        </p:txBody>
      </p:sp>
      <p:sp>
        <p:nvSpPr>
          <p:cNvPr id="12" name="TextBox 11"/>
          <p:cNvSpPr txBox="1"/>
          <p:nvPr/>
        </p:nvSpPr>
        <p:spPr>
          <a:xfrm>
            <a:off x="996695"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Pull future corrections</a:t>
            </a:r>
          </a:p>
        </p:txBody>
      </p:sp>
      <p:sp>
        <p:nvSpPr>
          <p:cNvPr id="13" name="Rectangle 12"/>
          <p:cNvSpPr/>
          <p:nvPr/>
        </p:nvSpPr>
        <p:spPr>
          <a:xfrm>
            <a:off x="4553712"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3712" y="1783080"/>
            <a:ext cx="338328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0B981"/>
                </a:solidFill>
                <a:latin typeface="Arial"/>
              </a:rPr>
              <a:t>Download ZIP</a:t>
            </a:r>
          </a:p>
        </p:txBody>
      </p:sp>
      <p:sp>
        <p:nvSpPr>
          <p:cNvPr id="16" name="TextBox 15"/>
          <p:cNvSpPr txBox="1"/>
          <p:nvPr/>
        </p:nvSpPr>
        <p:spPr>
          <a:xfrm>
            <a:off x="4782312"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GitHub Code → Download ZIP</a:t>
            </a:r>
          </a:p>
        </p:txBody>
      </p:sp>
      <p:sp>
        <p:nvSpPr>
          <p:cNvPr id="17" name="TextBox 16"/>
          <p:cNvSpPr txBox="1"/>
          <p:nvPr/>
        </p:nvSpPr>
        <p:spPr>
          <a:xfrm>
            <a:off x="4782312"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Extract before opening Excel</a:t>
            </a:r>
          </a:p>
        </p:txBody>
      </p:sp>
      <p:sp>
        <p:nvSpPr>
          <p:cNvPr id="18" name="TextBox 17"/>
          <p:cNvSpPr txBox="1"/>
          <p:nvPr/>
        </p:nvSpPr>
        <p:spPr>
          <a:xfrm>
            <a:off x="4782312"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Use when Git is unavailable</a:t>
            </a:r>
          </a:p>
        </p:txBody>
      </p:sp>
      <p:sp>
        <p:nvSpPr>
          <p:cNvPr id="19" name="Rectangle 18"/>
          <p:cNvSpPr/>
          <p:nvPr/>
        </p:nvSpPr>
        <p:spPr>
          <a:xfrm>
            <a:off x="8339327"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7" y="1783080"/>
            <a:ext cx="338328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7C3AED"/>
                </a:solidFill>
                <a:latin typeface="Arial"/>
              </a:rPr>
              <a:t>Every lab folder</a:t>
            </a:r>
          </a:p>
        </p:txBody>
      </p:sp>
      <p:sp>
        <p:nvSpPr>
          <p:cNvPr id="22" name="TextBox 21"/>
          <p:cNvSpPr txBox="1"/>
          <p:nvPr/>
        </p:nvSpPr>
        <p:spPr>
          <a:xfrm>
            <a:off x="8567928"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README with procedure</a:t>
            </a:r>
          </a:p>
        </p:txBody>
      </p:sp>
      <p:sp>
        <p:nvSpPr>
          <p:cNvPr id="23" name="TextBox 22"/>
          <p:cNvSpPr txBox="1"/>
          <p:nvPr/>
        </p:nvSpPr>
        <p:spPr>
          <a:xfrm>
            <a:off x="8567928"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Mock Excel workbook</a:t>
            </a:r>
          </a:p>
        </p:txBody>
      </p:sp>
      <p:sp>
        <p:nvSpPr>
          <p:cNvPr id="24" name="TextBox 23"/>
          <p:cNvSpPr txBox="1"/>
          <p:nvPr/>
        </p:nvSpPr>
        <p:spPr>
          <a:xfrm>
            <a:off x="8567928"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starter.twb + checklist</a:t>
            </a:r>
          </a:p>
        </p:txBody>
      </p:sp>
      <p:sp>
        <p:nvSpPr>
          <p:cNvPr id="25" name="TextBox 24"/>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6" name="TextBox 25"/>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7" name="TextBox 26"/>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a:t>
            </a:r>
          </a:p>
        </p:txBody>
      </p:sp>
      <p:sp>
        <p:nvSpPr>
          <p:cNvPr id="28" name="TextBox 27"/>
          <p:cNvSpPr txBox="1"/>
          <p:nvPr/>
        </p:nvSpPr>
        <p:spPr>
          <a:xfrm>
            <a:off x="914400" y="5961888"/>
            <a:ext cx="10332720" cy="32004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hlinkClick r:id="rId2"/>
              </a:rPr>
              <a:t>https://github.com/tertiarycourses/TGS-2025053175---Tableau-Certified-Desktop-Specialist-Training</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BEFORE THE ASSESSMENT</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Briefing for Assessment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Place phones and unauthorised materials under the table.</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No photos, recordings or discussion during assessment.</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only slides, Learner Guide and approved open-book materials.</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Complete answers in your own words and submit on the LMS.</a:t>
            </a:r>
          </a:p>
        </p:txBody>
      </p:sp>
      <p:sp>
        <p:nvSpPr>
          <p:cNvPr id="19" name="Oval 18"/>
          <p:cNvSpPr/>
          <p:nvPr/>
        </p:nvSpPr>
        <p:spPr>
          <a:xfrm>
            <a:off x="822960" y="445312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53128"/>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5</a:t>
            </a:r>
          </a:p>
        </p:txBody>
      </p:sp>
      <p:sp>
        <p:nvSpPr>
          <p:cNvPr id="21" name="TextBox 20"/>
          <p:cNvSpPr txBox="1"/>
          <p:nvPr/>
        </p:nvSpPr>
        <p:spPr>
          <a:xfrm>
            <a:off x="1417320" y="4425696"/>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Ask the assessor about process, not the answer content.</a:t>
            </a:r>
          </a:p>
        </p:txBody>
      </p:sp>
      <p:sp>
        <p:nvSpPr>
          <p:cNvPr id="22" name="Oval 21"/>
          <p:cNvSpPr/>
          <p:nvPr/>
        </p:nvSpPr>
        <p:spPr>
          <a:xfrm>
            <a:off x="822960" y="512064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6</a:t>
            </a:r>
          </a:p>
        </p:txBody>
      </p:sp>
      <p:sp>
        <p:nvSpPr>
          <p:cNvPr id="24" name="TextBox 23"/>
          <p:cNvSpPr txBox="1"/>
          <p:nvPr/>
        </p:nvSpPr>
        <p:spPr>
          <a:xfrm>
            <a:off x="1417320" y="5093207"/>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Appeal and reassessment routes are stated in the candidate instructions.</a:t>
            </a:r>
          </a:p>
        </p:txBody>
      </p:sp>
      <p:sp>
        <p:nvSpPr>
          <p:cNvPr id="25" name="TextBox 24"/>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6" name="TextBox 25"/>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7" name="TextBox 26"/>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FINAL ASSESSMENT</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Assessment &amp; Funding</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51937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51937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1975104"/>
            <a:ext cx="4736592" cy="384048"/>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Written Assessment</a:t>
            </a:r>
          </a:p>
        </p:txBody>
      </p:sp>
      <p:sp>
        <p:nvSpPr>
          <p:cNvPr id="10" name="TextBox 9"/>
          <p:cNvSpPr txBox="1"/>
          <p:nvPr/>
        </p:nvSpPr>
        <p:spPr>
          <a:xfrm>
            <a:off x="1024128" y="2514600"/>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Written Assessment (WA/SAQ) — 4 open-ended questions, 1 hour, open book.</a:t>
            </a:r>
          </a:p>
        </p:txBody>
      </p:sp>
      <p:sp>
        <p:nvSpPr>
          <p:cNvPr id="11" name="TextBox 10"/>
          <p:cNvSpPr txBox="1"/>
          <p:nvPr/>
        </p:nvSpPr>
        <p:spPr>
          <a:xfrm>
            <a:off x="1024128" y="3136392"/>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Tests K1–K4 knowledge taught in the deck.</a:t>
            </a:r>
          </a:p>
        </p:txBody>
      </p:sp>
      <p:sp>
        <p:nvSpPr>
          <p:cNvPr id="12" name="TextBox 11"/>
          <p:cNvSpPr txBox="1"/>
          <p:nvPr/>
        </p:nvSpPr>
        <p:spPr>
          <a:xfrm>
            <a:off x="1024128" y="3758184"/>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a:t>
            </a:r>
            <a:r>
              <a:rPr sz="1350" b="0">
                <a:solidFill>
                  <a:srgbClr val="161B26"/>
                </a:solidFill>
                <a:latin typeface="Arial"/>
              </a:rPr>
              <a:t>Four open-ended SAQ items.</a:t>
            </a:r>
          </a:p>
        </p:txBody>
      </p:sp>
      <p:sp>
        <p:nvSpPr>
          <p:cNvPr id="13" name="Rectangle 12"/>
          <p:cNvSpPr/>
          <p:nvPr/>
        </p:nvSpPr>
        <p:spPr>
          <a:xfrm>
            <a:off x="6254496"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4496" y="1783080"/>
            <a:ext cx="5166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1975104"/>
            <a:ext cx="4709160" cy="38404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Practical Performance</a:t>
            </a:r>
          </a:p>
        </p:txBody>
      </p:sp>
      <p:sp>
        <p:nvSpPr>
          <p:cNvPr id="16" name="TextBox 15"/>
          <p:cNvSpPr txBox="1"/>
          <p:nvPr/>
        </p:nvSpPr>
        <p:spPr>
          <a:xfrm>
            <a:off x="6510528" y="2514600"/>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Practical Performance (PP) — 4 Tableau tasks, 1 hour, open book.</a:t>
            </a:r>
          </a:p>
        </p:txBody>
      </p:sp>
      <p:sp>
        <p:nvSpPr>
          <p:cNvPr id="17" name="TextBox 16"/>
          <p:cNvSpPr txBox="1"/>
          <p:nvPr/>
        </p:nvSpPr>
        <p:spPr>
          <a:xfrm>
            <a:off x="6510528" y="3136392"/>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Tests A1–A4 through Tableau evidence.</a:t>
            </a:r>
          </a:p>
        </p:txBody>
      </p:sp>
      <p:sp>
        <p:nvSpPr>
          <p:cNvPr id="18" name="TextBox 17"/>
          <p:cNvSpPr txBox="1"/>
          <p:nvPr/>
        </p:nvSpPr>
        <p:spPr>
          <a:xfrm>
            <a:off x="6510528" y="3758184"/>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a:t>
            </a:r>
            <a:r>
              <a:rPr sz="1350" b="0">
                <a:solidFill>
                  <a:srgbClr val="161B26"/>
                </a:solidFill>
                <a:latin typeface="Arial"/>
              </a:rPr>
              <a:t>Four practical tasks aligned to labs.</a:t>
            </a:r>
          </a:p>
        </p:txBody>
      </p:sp>
      <p:sp>
        <p:nvSpPr>
          <p:cNvPr id="19" name="TextBox 1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0" name="TextBox 1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1" name="TextBox 2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17</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ON ASSESSMENT DAY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Assessment Flow</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TRAQOM / digital attendance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Sit WA — 1 hour</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Sit PP — 1 hour</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Submit on LMS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Sign summary record</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Question papers go to learners; answer keys remain trainer-only.</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18</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01</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Connecting to and Preparing Data in Tableau Desktop</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23% · Connections · extracts · metadata · relationships · joins · unions · field properties · Tableau Prep cleansing</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01</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19</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EXAM WEIGHTING 23%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01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168652"/>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Connection strategy</a:t>
            </a:r>
          </a:p>
          <a:p>
            <a:pPr algn="l">
              <a:spcAft>
                <a:spcPts val="300"/>
              </a:spcAft>
            </a:pPr>
            <a:r>
              <a:rPr sz="1200" b="0">
                <a:solidFill>
                  <a:srgbClr val="5B6372"/>
                </a:solidFill>
                <a:latin typeface="Arial"/>
              </a:rPr>
              <a:t>Live prioritises source freshness; extracts prioritise speed, portability and predictable performance.</a:t>
            </a:r>
          </a:p>
        </p:txBody>
      </p:sp>
      <p:sp>
        <p:nvSpPr>
          <p:cNvPr id="12" name="Rectangle 11"/>
          <p:cNvSpPr/>
          <p:nvPr/>
        </p:nvSpPr>
        <p:spPr>
          <a:xfrm>
            <a:off x="6222492"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13014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16865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Model at the right layer</a:t>
            </a:r>
          </a:p>
          <a:p>
            <a:pPr algn="l">
              <a:spcAft>
                <a:spcPts val="300"/>
              </a:spcAft>
            </a:pPr>
            <a:r>
              <a:rPr sz="1200" b="0">
                <a:solidFill>
                  <a:srgbClr val="5B6372"/>
                </a:solidFill>
                <a:latin typeface="Arial"/>
              </a:rPr>
              <a:t>Relationships preserve table grain; joins create one physical row set; unions append rows.</a:t>
            </a:r>
          </a:p>
        </p:txBody>
      </p:sp>
      <p:sp>
        <p:nvSpPr>
          <p:cNvPr id="17" name="Rectangle 16"/>
          <p:cNvSpPr/>
          <p:nvPr/>
        </p:nvSpPr>
        <p:spPr>
          <a:xfrm>
            <a:off x="768096"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3285743"/>
            <a:ext cx="82296" cy="130149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3689604"/>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Metadata is quality</a:t>
            </a:r>
          </a:p>
          <a:p>
            <a:pPr algn="l">
              <a:spcAft>
                <a:spcPts val="300"/>
              </a:spcAft>
            </a:pPr>
            <a:r>
              <a:rPr sz="1200" b="0">
                <a:solidFill>
                  <a:srgbClr val="5B6372"/>
                </a:solidFill>
                <a:latin typeface="Arial"/>
              </a:rPr>
              <a:t>Names, aliases, types, roles, formats and defaults determine how fields behave.</a:t>
            </a:r>
          </a:p>
        </p:txBody>
      </p:sp>
      <p:sp>
        <p:nvSpPr>
          <p:cNvPr id="22" name="Rectangle 21"/>
          <p:cNvSpPr/>
          <p:nvPr/>
        </p:nvSpPr>
        <p:spPr>
          <a:xfrm>
            <a:off x="6222492"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285743"/>
            <a:ext cx="82296" cy="130149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3689604"/>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Clean before you model</a:t>
            </a:r>
          </a:p>
          <a:p>
            <a:pPr algn="l">
              <a:spcAft>
                <a:spcPts val="300"/>
              </a:spcAft>
            </a:pPr>
            <a:r>
              <a:rPr sz="1200" b="0">
                <a:solidFill>
                  <a:srgbClr val="5B6372"/>
                </a:solidFill>
                <a:latin typeface="Arial"/>
              </a:rPr>
              <a:t>Tableau Prep Builder repairs types, splits, nulls, duplicates and inconsistent members before analysis.</a:t>
            </a:r>
          </a:p>
        </p:txBody>
      </p:sp>
      <p:sp>
        <p:nvSpPr>
          <p:cNvPr id="27" name="Rectangle 26"/>
          <p:cNvSpPr/>
          <p:nvPr/>
        </p:nvSpPr>
        <p:spPr>
          <a:xfrm>
            <a:off x="768096" y="4806695"/>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4806695"/>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6695" y="521055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695" y="5210555"/>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664207" y="4898135"/>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Validate first</a:t>
            </a:r>
          </a:p>
          <a:p>
            <a:pPr algn="l">
              <a:spcAft>
                <a:spcPts val="300"/>
              </a:spcAft>
            </a:pPr>
            <a:r>
              <a:rPr sz="1200" b="0">
                <a:solidFill>
                  <a:srgbClr val="5B6372"/>
                </a:solidFill>
                <a:latin typeface="Arial"/>
              </a:rPr>
              <a:t>Check row counts, null keys, duplicated grain and unmatched records before trusting a view.</a:t>
            </a:r>
          </a:p>
        </p:txBody>
      </p:sp>
      <p:sp>
        <p:nvSpPr>
          <p:cNvPr id="32" name="TextBox 3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3" name="TextBox 3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4" name="TextBox 3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20</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01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7004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live connections and extracts</a:t>
            </a:r>
          </a:p>
        </p:txBody>
      </p:sp>
      <p:sp>
        <p:nvSpPr>
          <p:cNvPr id="15" name="Rectangle 14"/>
          <p:cNvSpPr/>
          <p:nvPr/>
        </p:nvSpPr>
        <p:spPr>
          <a:xfrm>
            <a:off x="431901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1.1.1–1.1.5</a:t>
            </a:r>
          </a:p>
        </p:txBody>
      </p:sp>
      <p:sp>
        <p:nvSpPr>
          <p:cNvPr id="17" name="Rectangle 16"/>
          <p:cNvSpPr/>
          <p:nvPr/>
        </p:nvSpPr>
        <p:spPr>
          <a:xfrm>
            <a:off x="786993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19" name="Rectangle 18"/>
          <p:cNvSpPr/>
          <p:nvPr/>
        </p:nvSpPr>
        <p:spPr>
          <a:xfrm>
            <a:off x="76809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3872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and manage the data model</a:t>
            </a:r>
          </a:p>
        </p:txBody>
      </p:sp>
      <p:sp>
        <p:nvSpPr>
          <p:cNvPr id="21" name="Rectangle 20"/>
          <p:cNvSpPr/>
          <p:nvPr/>
        </p:nvSpPr>
        <p:spPr>
          <a:xfrm>
            <a:off x="431901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1.2.1–1.2.3</a:t>
            </a:r>
          </a:p>
        </p:txBody>
      </p:sp>
      <p:sp>
        <p:nvSpPr>
          <p:cNvPr id="23" name="Rectangle 22"/>
          <p:cNvSpPr/>
          <p:nvPr/>
        </p:nvSpPr>
        <p:spPr>
          <a:xfrm>
            <a:off x="786993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a:t>
            </a:r>
          </a:p>
        </p:txBody>
      </p:sp>
      <p:sp>
        <p:nvSpPr>
          <p:cNvPr id="25" name="Rectangle 24"/>
          <p:cNvSpPr/>
          <p:nvPr/>
        </p:nvSpPr>
        <p:spPr>
          <a:xfrm>
            <a:off x="76809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0740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Manage data properties</a:t>
            </a:r>
          </a:p>
        </p:txBody>
      </p:sp>
      <p:sp>
        <p:nvSpPr>
          <p:cNvPr id="27" name="Rectangle 26"/>
          <p:cNvSpPr/>
          <p:nvPr/>
        </p:nvSpPr>
        <p:spPr>
          <a:xfrm>
            <a:off x="431901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1.3.1–1.3.5</a:t>
            </a:r>
          </a:p>
        </p:txBody>
      </p:sp>
      <p:sp>
        <p:nvSpPr>
          <p:cNvPr id="29" name="Rectangle 28"/>
          <p:cNvSpPr/>
          <p:nvPr/>
        </p:nvSpPr>
        <p:spPr>
          <a:xfrm>
            <a:off x="786993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31" name="Rectangle 30"/>
          <p:cNvSpPr/>
          <p:nvPr/>
        </p:nvSpPr>
        <p:spPr>
          <a:xfrm>
            <a:off x="76809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7608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Cleanse data with Tableau Prep Builder</a:t>
            </a:r>
          </a:p>
        </p:txBody>
      </p:sp>
      <p:sp>
        <p:nvSpPr>
          <p:cNvPr id="33" name="Rectangle 32"/>
          <p:cNvSpPr/>
          <p:nvPr/>
        </p:nvSpPr>
        <p:spPr>
          <a:xfrm>
            <a:off x="431901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73880"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1.4.1–1.4.10</a:t>
            </a:r>
          </a:p>
        </p:txBody>
      </p:sp>
      <p:sp>
        <p:nvSpPr>
          <p:cNvPr id="35" name="Rectangle 34"/>
          <p:cNvSpPr/>
          <p:nvPr/>
        </p:nvSpPr>
        <p:spPr>
          <a:xfrm>
            <a:off x="786993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4799"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10</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21</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 VISUAL · SYNTHETIC SECONDS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Illustrative Query Response: Live vs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Illustrative only: actual performance depends on source, network, filters, extract design and workload.</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22</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live connections and extracts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Live</a:t>
            </a:r>
          </a:p>
          <a:p>
            <a:pPr algn="l">
              <a:spcAft>
                <a:spcPts val="300"/>
              </a:spcAft>
            </a:pPr>
            <a:r>
              <a:rPr sz="1200" b="0">
                <a:solidFill>
                  <a:srgbClr val="5B6372"/>
                </a:solidFill>
                <a:latin typeface="Arial"/>
              </a:rPr>
              <a:t>Queries the source as the view runs; current but dependent on source performance and availability.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Extract</a:t>
            </a:r>
          </a:p>
          <a:p>
            <a:pPr algn="l">
              <a:spcAft>
                <a:spcPts val="300"/>
              </a:spcAft>
            </a:pPr>
            <a:r>
              <a:rPr sz="1200" b="0">
                <a:solidFill>
                  <a:srgbClr val="5B6372"/>
                </a:solidFill>
                <a:latin typeface="Arial"/>
              </a:rPr>
              <a:t>A local .hyper snapshot optimised for analytics, portability and offline work.</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.TDS metadata</a:t>
            </a:r>
          </a:p>
          <a:p>
            <a:pPr algn="l">
              <a:spcAft>
                <a:spcPts val="300"/>
              </a:spcAft>
            </a:pPr>
            <a:r>
              <a:rPr sz="1200" b="0">
                <a:solidFill>
                  <a:srgbClr val="5B6372"/>
                </a:solidFill>
                <a:latin typeface="Arial"/>
              </a:rPr>
              <a:t>Stores connection and field metadata; .TDSX can package local dependencies.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Multiple connections</a:t>
            </a:r>
          </a:p>
          <a:p>
            <a:pPr algn="l">
              <a:spcAft>
                <a:spcPts val="300"/>
              </a:spcAft>
            </a:pPr>
            <a:r>
              <a:rPr sz="1200" b="0">
                <a:solidFill>
                  <a:srgbClr val="5B6372"/>
                </a:solidFill>
                <a:latin typeface="Arial"/>
              </a:rPr>
              <a:t>One Tableau data source can contain several connections and logical tables.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23</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Reasoning Pattern — Create live connections and extracts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Live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Extract</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.TDS metadata</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Multiple connections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24</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1.1.1 · Create a live connection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live connection sends queries to the source during interaction.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source freshness and central governance matter.</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Current or real-time scenarios usually point to live.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Live is not automatically faster; network and query design still govern response time.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25</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1.1.2 · Live versus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The choice balances freshness, performance, portability and supported features.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an extract for offline analysis, acceleration or a stable reporting snapshot.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Select the mode that serves the scenario's priority.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An extract becomes stale until refreshed; a live connection may still cache results.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26</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1.1.3 · Create and refresh an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An extract materialises selected data in Tableau's columnar .hyper format.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Filter rows or columns when the complete source is unnecessary.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Full refresh rebuilds; incremental refresh adds rows using a reliable key.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Incremental refresh does not update changed historical rows by itself.</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27</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1.1.4 · Save metadata in a .TDS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Tableau Data Source file stores connection details and field metadata.</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it to standardise names, aliases, roles, folders and calculations.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TDS contains metadata; TDSX packages metadata with local files or extracts.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confuse a data source definition with a packaged workbook (.twbx).</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28</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1.1.5 · Use multiple connections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data source may combine file, database or published connections.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required tables do not reside in the same connection.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Connection is transport; data source is the analytical model exposed to sheets.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Cross-database joins can add query cost and connector limitations.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29</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and manage the data model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Relationships</a:t>
            </a:r>
          </a:p>
          <a:p>
            <a:pPr algn="l">
              <a:spcAft>
                <a:spcPts val="300"/>
              </a:spcAft>
            </a:pPr>
            <a:r>
              <a:rPr sz="1200" b="0">
                <a:solidFill>
                  <a:srgbClr val="5B6372"/>
                </a:solidFill>
                <a:latin typeface="Arial"/>
              </a:rPr>
              <a:t>Logical links evaluated at query time; preserve each table's level of detail.</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Joins</a:t>
            </a:r>
          </a:p>
          <a:p>
            <a:pPr algn="l">
              <a:spcAft>
                <a:spcPts val="300"/>
              </a:spcAft>
            </a:pPr>
            <a:r>
              <a:rPr sz="1200" b="0">
                <a:solidFill>
                  <a:srgbClr val="5B6372"/>
                </a:solidFill>
                <a:latin typeface="Arial"/>
              </a:rPr>
              <a:t>Physical row combination using matching clauses and a fixed join type.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Unions</a:t>
            </a:r>
          </a:p>
          <a:p>
            <a:pPr algn="l">
              <a:spcAft>
                <a:spcPts val="300"/>
              </a:spcAft>
            </a:pPr>
            <a:r>
              <a:rPr sz="1200" b="0">
                <a:solidFill>
                  <a:srgbClr val="5B6372"/>
                </a:solidFill>
                <a:latin typeface="Arial"/>
              </a:rPr>
              <a:t>Append rows from similarly structured tables; align fields by name and type.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Validation</a:t>
            </a:r>
          </a:p>
          <a:p>
            <a:pPr algn="l">
              <a:spcAft>
                <a:spcPts val="300"/>
              </a:spcAft>
            </a:pPr>
            <a:r>
              <a:rPr sz="1200" b="0">
                <a:solidFill>
                  <a:srgbClr val="5B6372"/>
                </a:solidFill>
                <a:latin typeface="Arial"/>
              </a:rPr>
              <a:t>Compare expected grain, row counts, unmatched keys and nulls before analysis.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30</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Create and manage the data model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Relationships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Joins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Unions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Validation</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31</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1.2.1 · Add relationships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Relationships describe how logical tables correspond without flattening first.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multi-fact models or tables at different grains.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Tableau chooses context-aware joins and aggregation from fields in the view.</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Incorrect cardinality assumptions can produce unexpected results.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32</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1.2.2a · Add joins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join combines physical tables using matching clauses.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row-level control and one flattened table are required.</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Inner keeps matches; left preserves all left rows; right/full follow preservation logic.</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Many-to-many joins can multiply rows and inflate measures.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33</a:t>
            </a:r>
          </a:p>
        </p:txBody>
      </p:sp>
    </p:spTree>
  </p:cSld>
  <p:clrMapOvr>
    <a:masterClrMapping/>
  </p:clrMapOvr>
  <p:transition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1.2.2b · Add unions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union stacks records vertically from compatible tables.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monthly or regional files with the same columns.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Wildcard unions can include similarly named tables or files.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Mismatched names create separate columns until they are merged.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34</a:t>
            </a:r>
          </a:p>
        </p:txBody>
      </p:sp>
    </p:spTree>
  </p:cSld>
  <p:clrMapOvr>
    <a:masterClrMapping/>
  </p:clrMapOvr>
  <p:transition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1.2.3 · Choose join or relationship</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Relationships preserve independent grains; joins establish one physical grain.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Prefer relationships for flexible analysis; use joins for deliberate shaping.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Different grains or duplicated measures usually favour relationships.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relationship line does not guarantee correct keys; validate it.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35</a:t>
            </a:r>
          </a:p>
        </p:txBody>
      </p:sp>
    </p:spTree>
  </p:cSld>
  <p:clrMapOvr>
    <a:masterClrMapping/>
  </p:clrMapOvr>
  <p:transition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Manage data properties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Semantic clarity</a:t>
            </a:r>
          </a:p>
          <a:p>
            <a:pPr algn="l">
              <a:spcAft>
                <a:spcPts val="300"/>
              </a:spcAft>
            </a:pPr>
            <a:r>
              <a:rPr sz="1200" b="0">
                <a:solidFill>
                  <a:srgbClr val="5B6372"/>
                </a:solidFill>
                <a:latin typeface="Arial"/>
              </a:rPr>
              <a:t>Rename columns and apply aliases so consumers understand the data.</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Correct type</a:t>
            </a:r>
          </a:p>
          <a:p>
            <a:pPr algn="l">
              <a:spcAft>
                <a:spcPts val="300"/>
              </a:spcAft>
            </a:pPr>
            <a:r>
              <a:rPr sz="1200" b="0">
                <a:solidFill>
                  <a:srgbClr val="5B6372"/>
                </a:solidFill>
                <a:latin typeface="Arial"/>
              </a:rPr>
              <a:t>Date, number, string and Boolean types determine available operations.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Geographic meaning</a:t>
            </a:r>
          </a:p>
          <a:p>
            <a:pPr algn="l">
              <a:spcAft>
                <a:spcPts val="300"/>
              </a:spcAft>
            </a:pPr>
            <a:r>
              <a:rPr sz="1200" b="0">
                <a:solidFill>
                  <a:srgbClr val="5B6372"/>
                </a:solidFill>
                <a:latin typeface="Arial"/>
              </a:rPr>
              <a:t>Roles such as Country and Postal Code enable generated coordinates.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Consistent defaults</a:t>
            </a:r>
          </a:p>
          <a:p>
            <a:pPr algn="l">
              <a:spcAft>
                <a:spcPts val="300"/>
              </a:spcAft>
            </a:pPr>
            <a:r>
              <a:rPr sz="1200" b="0">
                <a:solidFill>
                  <a:srgbClr val="5B6372"/>
                </a:solidFill>
                <a:latin typeface="Arial"/>
              </a:rPr>
              <a:t>Set aggregation, format, colour and date behaviour once for reuse.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36</a:t>
            </a:r>
          </a:p>
        </p:txBody>
      </p:sp>
    </p:spTree>
  </p:cSld>
  <p:clrMapOvr>
    <a:masterClrMapping/>
  </p:clrMapOvr>
  <p:transition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Manage data properties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Semantic clarity</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Correct type</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Geographic meaning</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Consistent defaults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37</a:t>
            </a:r>
          </a:p>
        </p:txBody>
      </p:sp>
    </p:spTree>
  </p:cSld>
  <p:clrMapOvr>
    <a:masterClrMapping/>
  </p:clrMapOvr>
  <p:transition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1.3.1 · Rename a field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caption can be business-friendly without changing the source column.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Replace codes or database naming conventions with clear language.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Renaming affects Tableau metadata, not the source system.</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create ambiguous duplicate captions.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38</a:t>
            </a:r>
          </a:p>
        </p:txBody>
      </p:sp>
    </p:spTree>
  </p:cSld>
  <p:clrMapOvr>
    <a:masterClrMapping/>
  </p:clrMapOvr>
  <p:transition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1.3.2 · Assign aliases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Aliases replace displayed member labels while retaining original values.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abbreviations or coded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Aliases apply to discrete dimension members.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Aliases do not cleanse the source value.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39</a:t>
            </a:r>
          </a:p>
        </p:txBody>
      </p:sp>
    </p:spTree>
  </p:cSld>
  <p:clrMapOvr>
    <a:masterClrMapping/>
  </p:clrMapOvr>
  <p:transition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1.3.3 · Assign geographic roles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geographic role tells Tableau how to geocode a field.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country, state, city, postal code or custom location analysis.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Generated Latitude and Longitude appear after a valid role.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Ambiguous places need country or state context.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40</a:t>
            </a:r>
          </a:p>
        </p:txBody>
      </p:sp>
    </p:spTree>
  </p:cSld>
  <p:clrMapOvr>
    <a:masterClrMapping/>
  </p:clrMapOvr>
  <p:transition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1.3.4 · Change a data type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The type defines valid operations, parsing and visual encodings.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Correct imported IDs, dates, decimals and Boolean indicators.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calendar-looking string is not a date until parsed correctly.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Conversion can create nulls where values are invalid.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41</a:t>
            </a:r>
          </a:p>
        </p:txBody>
      </p:sp>
    </p:spTree>
  </p:cSld>
  <p:clrMapOvr>
    <a:masterClrMapping/>
  </p:clrMapOvr>
  <p:transition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1.3.5 · Set default properties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Defaults control aggregation, number/date format, colour and sort.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a field should behave consistently on new sheets.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Default aggregation can still be changed in a view.</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Currency formatting does not convert currencies or units.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42</a:t>
            </a:r>
          </a:p>
        </p:txBody>
      </p:sp>
    </p:spTree>
  </p:cSld>
  <p:clrMapOvr>
    <a:masterClrMapping/>
  </p:clrMapOvr>
  <p:transition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Cleanse data with Tableau Prep Builder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Flow, not clicks</a:t>
            </a:r>
          </a:p>
          <a:p>
            <a:pPr algn="l">
              <a:spcAft>
                <a:spcPts val="300"/>
              </a:spcAft>
            </a:pPr>
            <a:r>
              <a:rPr sz="1200" b="0">
                <a:solidFill>
                  <a:srgbClr val="5B6372"/>
                </a:solidFill>
                <a:latin typeface="Arial"/>
              </a:rPr>
              <a:t>A Prep flow is a repeatable, auditable pipeline of Input, Clean, Pivot, Union, Join, Aggregate and Output steps.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Profile before you fix</a:t>
            </a:r>
          </a:p>
          <a:p>
            <a:pPr algn="l">
              <a:spcAft>
                <a:spcPts val="300"/>
              </a:spcAft>
            </a:pPr>
            <a:r>
              <a:rPr sz="1200" b="0">
                <a:solidFill>
                  <a:srgbClr val="5B6372"/>
                </a:solidFill>
                <a:latin typeface="Arial"/>
              </a:rPr>
              <a:t>The profile pane exposes dirty types, outliers, nulls, duplicates and inconsistent members before any change.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Change list is the audit trail</a:t>
            </a:r>
          </a:p>
          <a:p>
            <a:pPr algn="l">
              <a:spcAft>
                <a:spcPts val="300"/>
              </a:spcAft>
            </a:pPr>
            <a:r>
              <a:rPr sz="1200" b="0">
                <a:solidFill>
                  <a:srgbClr val="5B6372"/>
                </a:solidFill>
                <a:latin typeface="Arial"/>
              </a:rPr>
              <a:t>Every cleaning action is recorded, reorderable and removable, so the flow stays reproducible.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Reshape for analysis</a:t>
            </a:r>
          </a:p>
          <a:p>
            <a:pPr algn="l">
              <a:spcAft>
                <a:spcPts val="300"/>
              </a:spcAft>
            </a:pPr>
            <a:r>
              <a:rPr sz="1200" b="0">
                <a:solidFill>
                  <a:srgbClr val="5B6372"/>
                </a:solidFill>
                <a:latin typeface="Arial"/>
              </a:rPr>
              <a:t>Pivot columns to rows for tidy time series; union files and join lookups to build one analysis-ready table.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43</a:t>
            </a:r>
          </a:p>
        </p:txBody>
      </p:sp>
    </p:spTree>
  </p:cSld>
  <p:clrMapOvr>
    <a:masterClrMapping/>
  </p:clrMapOvr>
  <p:transition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Reasoning Pattern — Cleanse data with Tableau Prep Builder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Flow, not clicks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Profile before you fix</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Change list is the audit trail</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Reshape for analysis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44</a:t>
            </a:r>
          </a:p>
        </p:txBody>
      </p:sp>
    </p:spTree>
  </p:cSld>
  <p:clrMapOvr>
    <a:masterClrMapping/>
  </p:clrMapOvr>
  <p:transition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1.4.1 · Connect a Prep input and use the Data Interpreter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Input steps bring in Excel, CSV, database and published sources; the Data Interpreter strips titles, notes and blank banding.</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spreadsheets carry cosmetic headers or merged title rows above the real table.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The input step is where sampling, field removal and input-level filters are set.</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Interpreting an already-clean sheet can drop legitimate header rows; always review the result.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45</a:t>
            </a:r>
          </a:p>
        </p:txBody>
      </p:sp>
    </p:spTree>
  </p:cSld>
  <p:clrMapOvr>
    <a:masterClrMapping/>
  </p:clrMapOvr>
  <p:transition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1.4.2 · Add a Clean step and read the profile pane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The Clean step profiles each field, showing value distribution, nulls and outliers.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it first to see what is actually wrong before deciding on fixes.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Clicking a profile bar filters the data grid to those records.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Judging quality from the data grid alone hides the distribution problems the profile reveals.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46</a:t>
            </a:r>
          </a:p>
        </p:txBody>
      </p:sp>
    </p:spTree>
  </p:cSld>
  <p:clrMapOvr>
    <a:masterClrMapping/>
  </p:clrMapOvr>
  <p:transition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1.4.3 · Fix data types and repair non-numeric text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Currency, thousands separators and stray characters block numeric conversion.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a calculated field such as a REPLACE to strip commas before changing the type.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field that refuses to become a number usually contains punctuation or spaces.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Converting directly to a number silently produces nulls where parsing fails.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47</a:t>
            </a:r>
          </a:p>
        </p:txBody>
      </p:sp>
    </p:spTree>
  </p:cSld>
  <p:clrMapOvr>
    <a:masterClrMapping/>
  </p:clrMapOvr>
  <p:transition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1.4.4 · Apply cleaning operations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Prep offers Remove Letters, Remove Numbers, Remove Punctuation, Trim Spaces, Remove Extra Spaces and case conversion.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normalise names, codes and free-text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Remove Extra Spaces collapses repeats; Remove All Spaces deletes every space.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Removing all spaces destroys multi-word names that still need to be readable.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48</a:t>
            </a:r>
          </a:p>
        </p:txBody>
      </p:sp>
    </p:spTree>
  </p:cSld>
  <p:clrMapOvr>
    <a:masterClrMapping/>
  </p:clrMapOvr>
  <p:transition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1.4.5 · Split fields automatically and manually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Automatic split infers a separator; custom split specifies the delimiter and number of columns.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separate names, codes, dates or concatenated attributes.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Split creates new fields; the original is usually removed afterwards.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An inferred split breaks when the separator is inconsistent across rows.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49</a:t>
            </a:r>
          </a:p>
        </p:txBody>
      </p:sp>
    </p:spTree>
  </p:cSld>
  <p:clrMapOvr>
    <a:masterClrMapping/>
  </p:clrMapOvr>
  <p:transition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1.4.6 · Filter and handle nulls and duplicates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Filters can be by value, wildcard, range, calculation or null status; duplicates are found by profiling the row key.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exclude test rows, negative sales, out-of-scope regions and empty keys.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Keep Only and Exclude are the fastest filters directly from the profile.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Filtering away nulls can silently drop valid records that merely lack one attribute.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50</a:t>
            </a:r>
          </a:p>
        </p:txBody>
      </p:sp>
    </p:spTree>
  </p:cSld>
  <p:clrMapOvr>
    <a:masterClrMapping/>
  </p:clrMapOvr>
  <p:transition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1.4.7 · Group and Replace to standardise members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Group and Replace merges variants using manual selection, pronunciation, common characters or spelling similarity.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misspelt city, product or customer names that should be one member.</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Fuzzy matching proposes groups; the analyst confirms them.</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Aggressive fuzzy matching can merge genuinely different members.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51</a:t>
            </a:r>
          </a:p>
        </p:txBody>
      </p:sp>
    </p:spTree>
  </p:cSld>
  <p:clrMapOvr>
    <a:masterClrMapping/>
  </p:clrMapOvr>
  <p:transition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1.4.8 · Pivot columns to rows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Pivot step converts wide month or category columns into a tidy field-and-value pair.</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each period sits in its own column instead of its own row.</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Pivoted output creates one row per original column value.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Leaving data wide forces one calculation per column and breaks date logic.</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52</a:t>
            </a:r>
          </a:p>
        </p:txBody>
      </p:sp>
    </p:spTree>
  </p:cSld>
  <p:clrMapOvr>
    <a:masterClrMapping/>
  </p:clrMapOvr>
  <p:transition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1.4.9 · Union, join and aggregate in a flow</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Union appends compatible files; Join matches on keys; Aggregate rolls rows to a coarser grain.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combine monthly or country files and attach lookup attributes.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Mismatched field names appear in the union as separate columns until merged.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join in Prep multiplies rows the same way a join in Desktop does.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53</a:t>
            </a:r>
          </a:p>
        </p:txBody>
      </p:sp>
    </p:spTree>
  </p:cSld>
  <p:clrMapOvr>
    <a:masterClrMapping/>
  </p:clrMapOvr>
  <p:transition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1.4.10 · Create calculated fields and output the flow</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Prep calculations derive new columns; Output writes a CSV, Excel, .hyper extract or published data source.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compute derived measures and publish a governed, refreshable clean table.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Running the flow re-executes every step in order against current input.</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Outputting without re-running the flow ships stale results.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54</a:t>
            </a:r>
          </a:p>
        </p:txBody>
      </p:sp>
    </p:spTree>
  </p:cSld>
  <p:clrMapOvr>
    <a:masterClrMapping/>
  </p:clrMapOvr>
  <p:transition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01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Audit a Retail Sales Connection and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Northstar Retail needs a trustworthy weekly sales source before analysts build regional reporting.</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Connect workbook</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Audit types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Set roles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Create extract</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Validate refresh</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validated Tableau data source, field-role audit, live/extract decision and refreshed .hyper extract</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Excel · live connection · extract · metadata</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55</a:t>
            </a:r>
          </a:p>
        </p:txBody>
      </p:sp>
    </p:spTree>
  </p:cSld>
  <p:clrMapOvr>
    <a:masterClrMapping/>
  </p:clrMapOvr>
  <p:transition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01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source has the expected row count and date range, geographic fields are recognised, currency/percentage defaults are correct, and the extract refreshes without errors.</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56</a:t>
            </a:r>
          </a:p>
        </p:txBody>
      </p:sp>
    </p:spTree>
  </p:cSld>
  <p:clrMapOvr>
    <a:masterClrMapping/>
  </p:clrMapOvr>
  <p:transition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02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Model Orders, Returns, Products and Targets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GreenBasket Grocers wants sales, returns and monthly targets analysed without duplicating measures across different table grains.</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Inspect grains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Relate tables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Validate keys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Compare join</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Prove totals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four-table logical model with validated cardinality, unmatched-key checks and a join-risk comparison</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relationships · joins · referential integrity · grain validation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57</a:t>
            </a:r>
          </a:p>
        </p:txBody>
      </p:sp>
    </p:spTree>
  </p:cSld>
  <p:clrMapOvr>
    <a:masterClrMapping/>
  </p:clrMapOvr>
  <p:transition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02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Sales matches the control total, Return Count matches the Returns table, targets do not duplicate, and the learner can explain why relationships are safer for the mixed-grain model.</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58</a:t>
            </a:r>
          </a:p>
        </p:txBody>
      </p:sp>
    </p:spTree>
  </p:cSld>
  <p:clrMapOvr>
    <a:masterClrMapping/>
  </p:clrMapOvr>
  <p:transition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03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Union Monthly Files and Join Store Attributes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MetroMart receives separate monthly transaction tabs plus a store master and needs one analysis-ready source.</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Union months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Inspect mismatch</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Merge fields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Join stores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Save metadata</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three-month union with provenance fields, merged columns, a validated store join and saved data-source metadata</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unions · wildcard patterns · joins · aliases · .tds/.tdsx</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59</a:t>
            </a:r>
          </a:p>
        </p:txBody>
      </p:sp>
    </p:spTree>
  </p:cSld>
  <p:clrMapOvr>
    <a:masterClrMapping/>
  </p:clrMapOvr>
  <p:transition spd="fast">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03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All three months appear, merged sales has no avoidable nulls, record counts match Control, the left join preserves transactions, and the saved source opens with metadata intact.</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60</a:t>
            </a:r>
          </a:p>
        </p:txBody>
      </p:sp>
    </p:spTree>
  </p:cSld>
  <p:clrMapOvr>
    <a:masterClrMapping/>
  </p:clrMapOvr>
  <p:transition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11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Cleanse a Messy Sales Extract with Tableau Prep Builder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Harbourfront Trading exports raw transactions with currency text, inconsistent city spellings, split name fields, duplicate rows and wide monthly budget columns. Analysts need one governed, refreshable clean table before any Tableau Desktop analysis.</a:t>
            </a:r>
          </a:p>
        </p:txBody>
      </p:sp>
      <p:sp>
        <p:nvSpPr>
          <p:cNvPr id="9" name="Rectangle 8"/>
          <p:cNvSpPr/>
          <p:nvPr/>
        </p:nvSpPr>
        <p:spPr>
          <a:xfrm>
            <a:off x="777240"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6383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Profile input</a:t>
            </a:r>
          </a:p>
        </p:txBody>
      </p:sp>
      <p:sp>
        <p:nvSpPr>
          <p:cNvPr id="12" name="Rectangle 11"/>
          <p:cNvSpPr/>
          <p:nvPr/>
        </p:nvSpPr>
        <p:spPr>
          <a:xfrm>
            <a:off x="2580132"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80132" y="2788920"/>
            <a:ext cx="16383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71572"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Fix types</a:t>
            </a:r>
          </a:p>
        </p:txBody>
      </p:sp>
      <p:sp>
        <p:nvSpPr>
          <p:cNvPr id="15" name="Rectangle 14"/>
          <p:cNvSpPr/>
          <p:nvPr/>
        </p:nvSpPr>
        <p:spPr>
          <a:xfrm>
            <a:off x="4383024"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3024" y="2788920"/>
            <a:ext cx="16383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4463"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Clean and split</a:t>
            </a:r>
          </a:p>
        </p:txBody>
      </p:sp>
      <p:sp>
        <p:nvSpPr>
          <p:cNvPr id="18" name="Rectangle 17"/>
          <p:cNvSpPr/>
          <p:nvPr/>
        </p:nvSpPr>
        <p:spPr>
          <a:xfrm>
            <a:off x="6185916"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5916" y="2788920"/>
            <a:ext cx="163830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7355"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Group members</a:t>
            </a:r>
          </a:p>
        </p:txBody>
      </p:sp>
      <p:sp>
        <p:nvSpPr>
          <p:cNvPr id="21" name="Rectangle 20"/>
          <p:cNvSpPr/>
          <p:nvPr/>
        </p:nvSpPr>
        <p:spPr>
          <a:xfrm>
            <a:off x="7988808"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88808" y="2788920"/>
            <a:ext cx="16383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80247"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Pivot and join</a:t>
            </a:r>
          </a:p>
        </p:txBody>
      </p:sp>
      <p:sp>
        <p:nvSpPr>
          <p:cNvPr id="24" name="Rectangle 23"/>
          <p:cNvSpPr/>
          <p:nvPr/>
        </p:nvSpPr>
        <p:spPr>
          <a:xfrm>
            <a:off x="9791700"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91700" y="2788920"/>
            <a:ext cx="16383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3140"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6. Output flow</a:t>
            </a:r>
          </a:p>
        </p:txBody>
      </p:sp>
      <p:sp>
        <p:nvSpPr>
          <p:cNvPr id="27" name="Rectangle 26"/>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saved Tableau Prep flow (.tfl) with Input, Clean, Split, Group and Replace, Pivot, Union, Join and Output steps, plus a cleaned .hyper or CSV output and a documented change list</a:t>
            </a:r>
          </a:p>
        </p:txBody>
      </p:sp>
      <p:sp>
        <p:nvSpPr>
          <p:cNvPr id="29" name="TextBox 28"/>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Prep Builder · profile pane · clean step · split · group and replace · pivot · union · join · output</a:t>
            </a:r>
          </a:p>
        </p:txBody>
      </p:sp>
      <p:sp>
        <p:nvSpPr>
          <p:cNvPr id="30" name="TextBox 29"/>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1" name="TextBox 30"/>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2" name="TextBox 31"/>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61</a:t>
            </a:r>
          </a:p>
        </p:txBody>
      </p:sp>
    </p:spTree>
  </p:cSld>
  <p:clrMapOvr>
    <a:masterClrMapping/>
  </p:clrMapOvr>
  <p:transition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11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flow runs end to end without errors; Price Paid is numeric, duplicates and invalid rows are removed, city members are standardised, budgets are pivoted long, the union has no avoidable nulls, the join does not multiply rows, and the output reconciles to the Control sheet.</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62</a:t>
            </a:r>
          </a:p>
        </p:txBody>
      </p:sp>
    </p:spTree>
  </p:cSld>
  <p:clrMapOvr>
    <a:masterClrMapping/>
  </p:clrMapOvr>
  <p:transition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01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connecting to and preparing data in tableau desktop.</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63</a:t>
            </a:r>
          </a:p>
        </p:txBody>
      </p:sp>
    </p:spTree>
  </p:cSld>
  <p:clrMapOvr>
    <a:masterClrMapping/>
  </p:clrMapOvr>
  <p:transition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02</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Exploring and Analyzing Data in Tableau Desktop</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37% · Charts · groups · sets · hierarchies · filters · analytics · calculations</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02</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64</a:t>
            </a:r>
          </a:p>
        </p:txBody>
      </p:sp>
    </p:spTree>
  </p:cSld>
  <p:clrMapOvr>
    <a:masterClrMapping/>
  </p:clrMapOvr>
  <p:transition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EXAM WEIGHTING 37%</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02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Question before chart</a:t>
            </a:r>
          </a:p>
          <a:p>
            <a:pPr algn="l">
              <a:spcAft>
                <a:spcPts val="300"/>
              </a:spcAft>
            </a:pPr>
            <a:r>
              <a:rPr sz="1200" b="0">
                <a:solidFill>
                  <a:srgbClr val="5B6372"/>
                </a:solidFill>
                <a:latin typeface="Arial"/>
              </a:rPr>
              <a:t>Bars compare, lines show time, scatterplots show relationships and maps show location.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Structure narrows meaning</a:t>
            </a:r>
          </a:p>
          <a:p>
            <a:pPr algn="l">
              <a:spcAft>
                <a:spcPts val="300"/>
              </a:spcAft>
            </a:pPr>
            <a:r>
              <a:rPr sz="1200" b="0">
                <a:solidFill>
                  <a:srgbClr val="5B6372"/>
                </a:solidFill>
                <a:latin typeface="Arial"/>
              </a:rPr>
              <a:t>Groups, sets, hierarchies, sorts and filters determine the population compared.</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Analytics adds context</a:t>
            </a:r>
          </a:p>
          <a:p>
            <a:pPr algn="l">
              <a:spcAft>
                <a:spcPts val="300"/>
              </a:spcAft>
            </a:pPr>
            <a:r>
              <a:rPr sz="1200" b="0">
                <a:solidFill>
                  <a:srgbClr val="5B6372"/>
                </a:solidFill>
                <a:latin typeface="Arial"/>
              </a:rPr>
              <a:t>Lines, totals, bins, calculations and parameters turn marks into evidence.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Order matters</a:t>
            </a:r>
          </a:p>
          <a:p>
            <a:pPr algn="l">
              <a:spcAft>
                <a:spcPts val="300"/>
              </a:spcAft>
            </a:pPr>
            <a:r>
              <a:rPr sz="1200" b="0">
                <a:solidFill>
                  <a:srgbClr val="5B6372"/>
                </a:solidFill>
                <a:latin typeface="Arial"/>
              </a:rPr>
              <a:t>Context, dimension, measure and table-calculation filters execute at different stages.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65</a:t>
            </a:r>
          </a:p>
        </p:txBody>
      </p:sp>
    </p:spTree>
  </p:cSld>
  <p:clrMapOvr>
    <a:masterClrMapping/>
  </p:clrMapOvr>
  <p:transition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02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10858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10858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10858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72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basic charts</a:t>
            </a:r>
          </a:p>
        </p:txBody>
      </p:sp>
      <p:sp>
        <p:nvSpPr>
          <p:cNvPr id="15" name="Rectangle 14"/>
          <p:cNvSpPr/>
          <p:nvPr/>
        </p:nvSpPr>
        <p:spPr>
          <a:xfrm>
            <a:off x="431901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2.1.1–2.1.9</a:t>
            </a:r>
          </a:p>
        </p:txBody>
      </p:sp>
      <p:sp>
        <p:nvSpPr>
          <p:cNvPr id="17" name="Rectangle 16"/>
          <p:cNvSpPr/>
          <p:nvPr/>
        </p:nvSpPr>
        <p:spPr>
          <a:xfrm>
            <a:off x="786993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9</a:t>
            </a:r>
          </a:p>
        </p:txBody>
      </p:sp>
      <p:sp>
        <p:nvSpPr>
          <p:cNvPr id="19" name="Rectangle 18"/>
          <p:cNvSpPr/>
          <p:nvPr/>
        </p:nvSpPr>
        <p:spPr>
          <a:xfrm>
            <a:off x="76809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Organise data and apply filters</a:t>
            </a:r>
          </a:p>
        </p:txBody>
      </p:sp>
      <p:sp>
        <p:nvSpPr>
          <p:cNvPr id="21" name="Rectangle 20"/>
          <p:cNvSpPr/>
          <p:nvPr/>
        </p:nvSpPr>
        <p:spPr>
          <a:xfrm>
            <a:off x="431901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2.2.1–2.2.5</a:t>
            </a:r>
          </a:p>
        </p:txBody>
      </p:sp>
      <p:sp>
        <p:nvSpPr>
          <p:cNvPr id="23" name="Rectangle 22"/>
          <p:cNvSpPr/>
          <p:nvPr/>
        </p:nvSpPr>
        <p:spPr>
          <a:xfrm>
            <a:off x="786993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25" name="Rectangle 24"/>
          <p:cNvSpPr/>
          <p:nvPr/>
        </p:nvSpPr>
        <p:spPr>
          <a:xfrm>
            <a:off x="76809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589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Apply analytics to a worksheet</a:t>
            </a:r>
          </a:p>
        </p:txBody>
      </p:sp>
      <p:sp>
        <p:nvSpPr>
          <p:cNvPr id="27" name="Rectangle 26"/>
          <p:cNvSpPr/>
          <p:nvPr/>
        </p:nvSpPr>
        <p:spPr>
          <a:xfrm>
            <a:off x="431901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2.3.1–2.3.7</a:t>
            </a:r>
          </a:p>
        </p:txBody>
      </p:sp>
      <p:sp>
        <p:nvSpPr>
          <p:cNvPr id="29" name="Rectangle 28"/>
          <p:cNvSpPr/>
          <p:nvPr/>
        </p:nvSpPr>
        <p:spPr>
          <a:xfrm>
            <a:off x="786993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7</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66</a:t>
            </a:r>
          </a:p>
        </p:txBody>
      </p:sp>
    </p:spTree>
  </p:cSld>
  <p:clrMapOvr>
    <a:masterClrMapping/>
  </p:clrMapOvr>
  <p:transition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EDITABLE POWERPOINT CHART · LAB PATTERN</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Synthetic Monthly Sales and Profit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Synthetic SGD thousands — the chart demonstrates trend selection, not a real company result.</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67</a:t>
            </a:r>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DOMAIN 2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basic charts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Comparison</a:t>
            </a:r>
          </a:p>
          <a:p>
            <a:pPr algn="l">
              <a:spcAft>
                <a:spcPts val="300"/>
              </a:spcAft>
            </a:pPr>
            <a:r>
              <a:rPr sz="1200" b="0">
                <a:solidFill>
                  <a:srgbClr val="5B6372"/>
                </a:solidFill>
                <a:latin typeface="Arial"/>
              </a:rPr>
              <a:t>Bars and crosstabs expose magnitude and exact values.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Trend</a:t>
            </a:r>
          </a:p>
          <a:p>
            <a:pPr algn="l">
              <a:spcAft>
                <a:spcPts val="300"/>
              </a:spcAft>
            </a:pPr>
            <a:r>
              <a:rPr sz="1200" b="0">
                <a:solidFill>
                  <a:srgbClr val="5B6372"/>
                </a:solidFill>
                <a:latin typeface="Arial"/>
              </a:rPr>
              <a:t>Lines show change across ordered time; continuous dates create axes.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Relationship</a:t>
            </a:r>
          </a:p>
          <a:p>
            <a:pPr algn="l">
              <a:spcAft>
                <a:spcPts val="300"/>
              </a:spcAft>
            </a:pPr>
            <a:r>
              <a:rPr sz="1200" b="0">
                <a:solidFill>
                  <a:srgbClr val="5B6372"/>
                </a:solidFill>
                <a:latin typeface="Arial"/>
              </a:rPr>
              <a:t>Scatterplots reveal association, clusters and outliers.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Geography</a:t>
            </a:r>
          </a:p>
          <a:p>
            <a:pPr algn="l">
              <a:spcAft>
                <a:spcPts val="300"/>
              </a:spcAft>
            </a:pPr>
            <a:r>
              <a:rPr sz="1200" b="0">
                <a:solidFill>
                  <a:srgbClr val="5B6372"/>
                </a:solidFill>
                <a:latin typeface="Arial"/>
              </a:rPr>
              <a:t>Symbol, filled and density maps answer different spatial questions.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68</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Create basic charts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Comparison</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Trend</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Relationship</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Geography</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69</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2.1.1 · Create a bar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Bars encode magnitude by length along a common baseline.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ranking and comparing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One dimension plus one measure is the canonical pattern.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Avoid 3-D effects, too many categories and unsorted ranking views.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70</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2.1.2 · Create a line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Lines connect ordered points to emphasise change over time.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trends, seasonality and rate of change.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Continuous dates form axes; discrete date parts form headers.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connect unrelated categories as a sequence.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71</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2.1.3 · Create a scatterplot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Two quantitative axes show the relationship between measures.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assess correlation, clusters and outliers.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Add a dimension to Detail for one mark per entity.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Aggregation may collapse records into one mark.</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72</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2.1.4 · Create a map</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Geographic fields generate spatial marks using Tableau geocoding.</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location contributes to the question.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Symbols compare points; fills compare areas; density shows concentration.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bar chart is more accurate when geography adds no meaning.</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73</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2.1.5 · Create a combined-axis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Multiple measures share one axis and Marks card.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compatible units should be compared directly.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Measure Values and Measure Names are common building blocks.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Different units on one axis mislead.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74</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2.1.6 · Create a dual-axis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Two measures use independent axes with separate Marks cards.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layer related measures with different scales or mark types.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Synchronise axes when measures share units.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Unsynchronised axes can imply artificial relationships.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75</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2.1.7 · Create a stacked bar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Segments divide each bar into contributions to a total.</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composition plus total comparison.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Colour defines the stack.</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Middle segments lack a common baseline.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76</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2.1.8 · Create a density map</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Overlapping points become a smooth concentration surface.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where hotspots matter more than individual points.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Intensity reflects local concentration and optional weighting.</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Sparse data or smoothing can manufacture hotspots.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77</a:t>
            </a:r>
          </a:p>
        </p:txBody>
      </p:sp>
    </p:spTree>
  </p:cSld>
  <p:clrMapOvr>
    <a:masterClrMapping/>
  </p:clrMapOvr>
  <p:transition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2.1.9 · Crosstab and highlight table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Text tables show exact values; colour adds pattern detection.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lookup precision plus comparative scanning.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Measure Names and Measure Values can present several KPIs.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Too many cells overwhelm; filter and use meaningful scales.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78</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DOMAIN 2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Organise data and apply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Groups</a:t>
            </a:r>
          </a:p>
          <a:p>
            <a:pPr algn="l">
              <a:spcAft>
                <a:spcPts val="300"/>
              </a:spcAft>
            </a:pPr>
            <a:r>
              <a:rPr sz="1200" b="0">
                <a:solidFill>
                  <a:srgbClr val="5B6372"/>
                </a:solidFill>
                <a:latin typeface="Arial"/>
              </a:rPr>
              <a:t>Combine members into a new categorical field.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Sets</a:t>
            </a:r>
          </a:p>
          <a:p>
            <a:pPr algn="l">
              <a:spcAft>
                <a:spcPts val="300"/>
              </a:spcAft>
            </a:pPr>
            <a:r>
              <a:rPr sz="1200" b="0">
                <a:solidFill>
                  <a:srgbClr val="5B6372"/>
                </a:solidFill>
                <a:latin typeface="Arial"/>
              </a:rPr>
              <a:t>Define an IN/OUT subset that can be dynamic or combined.</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Hierarchies</a:t>
            </a:r>
          </a:p>
          <a:p>
            <a:pPr algn="l">
              <a:spcAft>
                <a:spcPts val="300"/>
              </a:spcAft>
            </a:pPr>
            <a:r>
              <a:rPr sz="1200" b="0">
                <a:solidFill>
                  <a:srgbClr val="5B6372"/>
                </a:solidFill>
                <a:latin typeface="Arial"/>
              </a:rPr>
              <a:t>Provide a drill path from broad to detailed dimensions.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Filters</a:t>
            </a:r>
          </a:p>
          <a:p>
            <a:pPr algn="l">
              <a:spcAft>
                <a:spcPts val="300"/>
              </a:spcAft>
            </a:pPr>
            <a:r>
              <a:rPr sz="1200" b="0">
                <a:solidFill>
                  <a:srgbClr val="5B6372"/>
                </a:solidFill>
                <a:latin typeface="Arial"/>
              </a:rPr>
              <a:t>Control which records or aggregated marks remain.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79</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Organise data and apply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Groups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Sets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Hierarchies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Filters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80</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2.2.1 · Create groups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Groups combine members into higher-level categories.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correct labels, merge small categories or define business groupings.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Create from marks, headers or the Data pane.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manual group does not absorb new members automatically.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81</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2.2.2 · Create sets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set divides members into IN and OUT using rules or selection.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Top N, threshold cohorts and set actions.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Sets can be fixed, conditional, Top N or combined.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set is not just a filter; it can remain visible as a category.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82</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2.2.3 · Create hierarchies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Hierarchies organise dimensions into a drill path.</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Country &gt; Region &gt; City or Category &gt; Product.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Plus/minus controls expand or collapse levels.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hierarchy does not define data-model integrity.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83</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2.2.4 · Add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Filters restrict data or marks at specific order-of-operations stages.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focus scope or support interaction.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Dimension, measure, context and table-calculation filters differ.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Filtering after aggregation is not filtering source rows.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84</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2.2.5 · Add date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Dates can be filtered by part, range, relative period or starting date.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rolling windows and time scope controls.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Relative date filters move with the current date.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Discrete Month alone mixes the same month across years.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85</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DOMAIN 2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Apply analytics to a worksheet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Sort and rank</a:t>
            </a:r>
          </a:p>
          <a:p>
            <a:pPr algn="l">
              <a:spcAft>
                <a:spcPts val="300"/>
              </a:spcAft>
            </a:pPr>
            <a:r>
              <a:rPr sz="1200" b="0">
                <a:solidFill>
                  <a:srgbClr val="5B6372"/>
                </a:solidFill>
                <a:latin typeface="Arial"/>
              </a:rPr>
              <a:t>Make comparisons intentional and surface priority.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Reference and totals</a:t>
            </a:r>
          </a:p>
          <a:p>
            <a:pPr algn="l">
              <a:spcAft>
                <a:spcPts val="300"/>
              </a:spcAft>
            </a:pPr>
            <a:r>
              <a:rPr sz="1200" b="0">
                <a:solidFill>
                  <a:srgbClr val="5B6372"/>
                </a:solidFill>
                <a:latin typeface="Arial"/>
              </a:rPr>
              <a:t>Add baselines, bands, subtotals and grand totals.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Calculations</a:t>
            </a:r>
          </a:p>
          <a:p>
            <a:pPr algn="l">
              <a:spcAft>
                <a:spcPts val="300"/>
              </a:spcAft>
            </a:pPr>
            <a:r>
              <a:rPr sz="1200" b="0">
                <a:solidFill>
                  <a:srgbClr val="5B6372"/>
                </a:solidFill>
                <a:latin typeface="Arial"/>
              </a:rPr>
              <a:t>Use row-level, aggregate and table logic at the right grain.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Parameters</a:t>
            </a:r>
          </a:p>
          <a:p>
            <a:pPr algn="l">
              <a:spcAft>
                <a:spcPts val="300"/>
              </a:spcAft>
            </a:pPr>
            <a:r>
              <a:rPr sz="1200" b="0">
                <a:solidFill>
                  <a:srgbClr val="5B6372"/>
                </a:solidFill>
                <a:latin typeface="Arial"/>
              </a:rPr>
              <a:t>Let one value steer calculations, filters or reference lines.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86</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Apply analytics to a worksheet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Sort and rank</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Reference and totals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Calculations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Parameters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87</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2.3.1 · Manual and computed sorts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Sorting controls the order of headers and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manual order for business logic and computed order for ranking.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Nested sorts order members within panes.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Manual order can become stale as data changes.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88</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2.3.2 · Add a reference line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line or band provides a benchmark for a scope.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targets, averages, medians and ranges.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Scope can be table, pane or cell.</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table average can hide pane-level differences.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89</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2.3.3 · Use quick table calculations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Table calculations operate on marks already returned to the view.</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running total, percent of total, difference, rank or moving average.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Compute Using defines addressing and partitioning.</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Changing layout can change the calculation.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90</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2.3.4 · Create bins and histograms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Bins partition a measure into equal-width intervals.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a histogram for distribution shape and unusual ranges.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Bin size controls resolution.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Poor bin width can hide or invent patterns.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91</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2.3.5 · Create calculated fields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Calculated fields derive row-level, aggregate or table values.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arithmetic, strings, dates and business rules.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Aggregate and non-aggregate expressions cannot be mixed directly.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Nulls propagate unless handled.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92</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2.3.6 · Use parameters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parameter is a workbook value controlled by the user.</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swap measures, set thresholds or run what-if analysis.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parameter acts only when referenced.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Parameters are not automatically row filters.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93</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2.3.7 · Display totals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Subtotals and grand totals summarise selected levels.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audiences need components and overall results.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Total All Using can change aggregation.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Summed ratios and percentages often create invalid totals.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94</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04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Build the Core Tableau Chart Portfolio</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 consumer-electronics team needs views for ranking, trend, relationship, geography, composition and precise lookup.</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Frame question</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Choose chart</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marks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Format honestly</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Explain insight</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Nine named worksheets: bar, line, scatterplot, symbol map, combined axis, dual axis, stacked bar, density map and highlight table</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Show Me · Rows/Columns · Marks · Measure Names/Values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95</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04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All nine chart types are present, each matches its stated question, axes and units are honest, maps resolve locations, and each view has a concise evidence-based insight.</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96</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05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Groups, Sets, Hierarchies and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HarbourLife Insurance needs a reusable segmentation view for advisers and portfolio managers.</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Group tiers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Define sets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hierarchy</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Scope filters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Test order</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Customer tier groups, Top-N and threshold sets, drill hierarchy, context filter and relative date controls</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groups · sets · hierarchy · context · date filters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97</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05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two hierarchies drill correctly, sets produce expected membership, relative dates use the reporting date, and the learner can explain how context changes Top-N evaluation.</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98</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06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Apply Calculations, Table Calculations and Parameters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Crescent Hospitality wants profitability, occupancy and performance trends with user-controlled thresholds.</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Define grain</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Write calc</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Set compute</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Add parameter</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Validate totals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Calculated KPIs, running totals, percent-of-total, moving average, reference line and parameter-driven measure swap</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calculated fields · table calculations · parameters · reference lines · totals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99</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06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Calculations match the Control sheet, table calculations keep intended addressing/partitioning, parameters affect the view, and totals use mathematically valid logic.</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100</a:t>
            </a:r>
          </a:p>
        </p:txBody>
      </p:sp>
    </p:spTree>
  </p:cSld>
  <p:clrMapOvr>
    <a:masterClrMapping/>
  </p:clrMapOvr>
  <p:transition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07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Analyse Southeast Asia Logistics Geographically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Meridian Logistics wants to compare shipment volume, delay rates and port congestion across Southeast Asia.</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Resolve places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Map points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Encode metrics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Show density</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Challenge map</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Resolved geographic roles, three map types, tooltip context and a map-vs-bar decision note</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geographic roles · generated coordinates · density · tooltips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101</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07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Locations resolve correctly, map types match the questions, tooltips carry operational context, colour scales are meaningful, and the learner can state when the bar chart is preferable.</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102</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02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exploring and analyzing data in tableau desktop.</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103</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03</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Sharing Insights with Dashboards and Workbooks</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25% · Formatting · dashboards · actions · device layouts · stories · export · publish</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03</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104</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EXAM WEIGHTING 25%</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03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Format for meaning</a:t>
            </a:r>
          </a:p>
          <a:p>
            <a:pPr algn="l">
              <a:spcAft>
                <a:spcPts val="300"/>
              </a:spcAft>
            </a:pPr>
            <a:r>
              <a:rPr sz="1200" b="0">
                <a:solidFill>
                  <a:srgbClr val="5B6372"/>
                </a:solidFill>
                <a:latin typeface="Arial"/>
              </a:rPr>
              <a:t>Colour, type, shape, size and animation communicate data, not decoration.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Design interaction</a:t>
            </a:r>
          </a:p>
          <a:p>
            <a:pPr algn="l">
              <a:spcAft>
                <a:spcPts val="300"/>
              </a:spcAft>
            </a:pPr>
            <a:r>
              <a:rPr sz="1200" b="0">
                <a:solidFill>
                  <a:srgbClr val="5B6372"/>
                </a:solidFill>
                <a:latin typeface="Arial"/>
              </a:rPr>
              <a:t>Filters, highlighters, tooltips and actions answer predictable questions.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Layout is a system</a:t>
            </a:r>
          </a:p>
          <a:p>
            <a:pPr algn="l">
              <a:spcAft>
                <a:spcPts val="300"/>
              </a:spcAft>
            </a:pPr>
            <a:r>
              <a:rPr sz="1200" b="0">
                <a:solidFill>
                  <a:srgbClr val="5B6372"/>
                </a:solidFill>
                <a:latin typeface="Arial"/>
              </a:rPr>
              <a:t>Containers, hierarchy and device layouts govern alignment and reading order.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Share with intent</a:t>
            </a:r>
          </a:p>
          <a:p>
            <a:pPr algn="l">
              <a:spcAft>
                <a:spcPts val="300"/>
              </a:spcAft>
            </a:pPr>
            <a:r>
              <a:rPr sz="1200" b="0">
                <a:solidFill>
                  <a:srgbClr val="5B6372"/>
                </a:solidFill>
                <a:latin typeface="Arial"/>
              </a:rPr>
              <a:t>Package, publish or export while protecting sensitive detail.</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105</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03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10858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10858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10858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72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Format views for presentation</a:t>
            </a:r>
          </a:p>
        </p:txBody>
      </p:sp>
      <p:sp>
        <p:nvSpPr>
          <p:cNvPr id="15" name="Rectangle 14"/>
          <p:cNvSpPr/>
          <p:nvPr/>
        </p:nvSpPr>
        <p:spPr>
          <a:xfrm>
            <a:off x="431901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3.1.1–3.1.6</a:t>
            </a:r>
          </a:p>
        </p:txBody>
      </p:sp>
      <p:sp>
        <p:nvSpPr>
          <p:cNvPr id="17" name="Rectangle 16"/>
          <p:cNvSpPr/>
          <p:nvPr/>
        </p:nvSpPr>
        <p:spPr>
          <a:xfrm>
            <a:off x="786993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6</a:t>
            </a:r>
          </a:p>
        </p:txBody>
      </p:sp>
      <p:sp>
        <p:nvSpPr>
          <p:cNvPr id="19" name="Rectangle 18"/>
          <p:cNvSpPr/>
          <p:nvPr/>
        </p:nvSpPr>
        <p:spPr>
          <a:xfrm>
            <a:off x="76809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and modify a dashboard</a:t>
            </a:r>
          </a:p>
        </p:txBody>
      </p:sp>
      <p:sp>
        <p:nvSpPr>
          <p:cNvPr id="21" name="Rectangle 20"/>
          <p:cNvSpPr/>
          <p:nvPr/>
        </p:nvSpPr>
        <p:spPr>
          <a:xfrm>
            <a:off x="431901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3.2.1–3.2.5</a:t>
            </a:r>
          </a:p>
        </p:txBody>
      </p:sp>
      <p:sp>
        <p:nvSpPr>
          <p:cNvPr id="23" name="Rectangle 22"/>
          <p:cNvSpPr/>
          <p:nvPr/>
        </p:nvSpPr>
        <p:spPr>
          <a:xfrm>
            <a:off x="786993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25" name="Rectangle 24"/>
          <p:cNvSpPr/>
          <p:nvPr/>
        </p:nvSpPr>
        <p:spPr>
          <a:xfrm>
            <a:off x="76809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589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View and share workbook data</a:t>
            </a:r>
          </a:p>
        </p:txBody>
      </p:sp>
      <p:sp>
        <p:nvSpPr>
          <p:cNvPr id="27" name="Rectangle 26"/>
          <p:cNvSpPr/>
          <p:nvPr/>
        </p:nvSpPr>
        <p:spPr>
          <a:xfrm>
            <a:off x="431901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3.3.1–3.3.3</a:t>
            </a:r>
          </a:p>
        </p:txBody>
      </p:sp>
      <p:sp>
        <p:nvSpPr>
          <p:cNvPr id="29" name="Rectangle 28"/>
          <p:cNvSpPr/>
          <p:nvPr/>
        </p:nvSpPr>
        <p:spPr>
          <a:xfrm>
            <a:off x="786993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106</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EDITABLE POWERPOINT CHART · SYNTHETIC DATA</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Dashboard Attention Should Follow Risk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A dashboard should prioritise decisions, not give equal visual weight to every metric.</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107</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DOMAIN 3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Format views for presentation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Colour</a:t>
            </a:r>
          </a:p>
          <a:p>
            <a:pPr algn="l">
              <a:spcAft>
                <a:spcPts val="300"/>
              </a:spcAft>
            </a:pPr>
            <a:r>
              <a:rPr sz="1200" b="0">
                <a:solidFill>
                  <a:srgbClr val="5B6372"/>
                </a:solidFill>
                <a:latin typeface="Arial"/>
              </a:rPr>
              <a:t>Categorical hues show identity; ordered palettes show magnitude.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Typography</a:t>
            </a:r>
          </a:p>
          <a:p>
            <a:pPr algn="l">
              <a:spcAft>
                <a:spcPts val="300"/>
              </a:spcAft>
            </a:pPr>
            <a:r>
              <a:rPr sz="1200" b="0">
                <a:solidFill>
                  <a:srgbClr val="5B6372"/>
                </a:solidFill>
                <a:latin typeface="Arial"/>
              </a:rPr>
              <a:t>Create a readable hierarchy and concise labels.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Marks</a:t>
            </a:r>
          </a:p>
          <a:p>
            <a:pPr algn="l">
              <a:spcAft>
                <a:spcPts val="300"/>
              </a:spcAft>
            </a:pPr>
            <a:r>
              <a:rPr sz="1200" b="0">
                <a:solidFill>
                  <a:srgbClr val="5B6372"/>
                </a:solidFill>
                <a:latin typeface="Arial"/>
              </a:rPr>
              <a:t>Shape and size encode defined variables and remain distinguishable.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Motion</a:t>
            </a:r>
          </a:p>
          <a:p>
            <a:pPr algn="l">
              <a:spcAft>
                <a:spcPts val="300"/>
              </a:spcAft>
            </a:pPr>
            <a:r>
              <a:rPr sz="1200" b="0">
                <a:solidFill>
                  <a:srgbClr val="5B6372"/>
                </a:solidFill>
                <a:latin typeface="Arial"/>
              </a:rPr>
              <a:t>Animation explains change but must not conceal the final state.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108</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Format views for presentation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Colour</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Typography</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Marks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Motion</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109</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3.1.1 · Use colour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Colour can encode category, magnitude or emphasis.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hues for categories and ordered palettes for measures.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Legend type reveals discrete or continuous encoding.</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Rainbow palettes and low contrast impair interpretation.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110</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3.1.2 · Configure fonts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Typography establishes hierarchy across titles, labels and tooltips.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consistent families and display-appropriate sizes.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Formatting applies at workbook, sheet, pane or element scope.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Tiny labels and excessive bolding reduce scanability.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111</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3.1.3 · Format marks as shapes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Shape is a categorical channel for point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a small number of distinguishable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Custom shapes can be loaded and assigned.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Shape alone is weak for order and accessibility.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112</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3.1.4 · Configure viz animations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Animations interpolate filter, sort and data changes.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help audiences track moving marks.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Workbook formatting controls duration and style.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Motion should not be required for understanding.</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113</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3.1.5 · Change mark size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Size can encode magnitude or improve legibility.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measure-driven size for proportional symbols.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Area, not radius, is perceived in circles.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Large marks overlap and small marks disappear.</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114</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3.1.6 · Show and hide legends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Legends decode visual channels and can highlight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Show when encoding is not self-evident; hide redundant cards.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Use the card menu or Analysis &gt; Legends.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Removing a necessary legend makes marks ambiguous.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115</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DOMAIN 3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and modify a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Worksheets</a:t>
            </a:r>
          </a:p>
          <a:p>
            <a:pPr algn="l">
              <a:spcAft>
                <a:spcPts val="300"/>
              </a:spcAft>
            </a:pPr>
            <a:r>
              <a:rPr sz="1200" b="0">
                <a:solidFill>
                  <a:srgbClr val="5B6372"/>
                </a:solidFill>
                <a:latin typeface="Arial"/>
              </a:rPr>
              <a:t>Place views that support one decision purpose.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Objects</a:t>
            </a:r>
          </a:p>
          <a:p>
            <a:pPr algn="l">
              <a:spcAft>
                <a:spcPts val="300"/>
              </a:spcAft>
            </a:pPr>
            <a:r>
              <a:rPr sz="1200" b="0">
                <a:solidFill>
                  <a:srgbClr val="5B6372"/>
                </a:solidFill>
                <a:latin typeface="Arial"/>
              </a:rPr>
              <a:t>Use tiled/floating containers and navigation deliberately.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Actions</a:t>
            </a:r>
          </a:p>
          <a:p>
            <a:pPr algn="l">
              <a:spcAft>
                <a:spcPts val="300"/>
              </a:spcAft>
            </a:pPr>
            <a:r>
              <a:rPr sz="1200" b="0">
                <a:solidFill>
                  <a:srgbClr val="5B6372"/>
                </a:solidFill>
                <a:latin typeface="Arial"/>
              </a:rPr>
              <a:t>Filter, highlight, parameter, set and URL actions define experience.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Devices and stories</a:t>
            </a:r>
          </a:p>
          <a:p>
            <a:pPr algn="l">
              <a:spcAft>
                <a:spcPts val="300"/>
              </a:spcAft>
            </a:pPr>
            <a:r>
              <a:rPr sz="1200" b="0">
                <a:solidFill>
                  <a:srgbClr val="5B6372"/>
                </a:solidFill>
                <a:latin typeface="Arial"/>
              </a:rPr>
              <a:t>Adapt layouts for screens; sequence a guided narrative.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116</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Create and modify a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Worksheets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Objects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Actions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Devices and stories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117</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3.2.1 · Add worksheets to a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dashboard composes sheets and objects into one canvas.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Create a clear hierarchy with the key view first.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Tiled items join containers; floating items use absolute position.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Adding every sheet creates noise.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118</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3.2.2 · Add consumer interactions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Filters, highlighters, tooltips and navigation support exploration.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controls that match likely questions and correct scope.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Apply to Worksheets defines controlled sheets.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Too many controls create contradictory states.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119</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3.2.3 · Add dashboard actions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Actions respond to select, hover or menu events.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filter, highlight, parameter, set and URL actions.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Define source, target, event and clearing behaviour.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Wrong clearing behaviour can leave blank dashboards.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120</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3.2.4 · Configure layouts and devices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Containers and item hierarchy govern responsive alignment.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fixed/range/automatic sizes and device layouts.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Phone layouts can rearrange or omit objects.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Automatic sizing alone does not ensure mobile usability.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121</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3.2.5 · Create a story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story sequences sheets or dashboards as annotated points.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guided explanation rather than open exploration.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Each point stores a view state and caption.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Stories do not replace a coherent dashboard.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122</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DOMAIN 3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View and share workbook data</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.twb and .twbx</a:t>
            </a:r>
          </a:p>
          <a:p>
            <a:pPr algn="l">
              <a:spcAft>
                <a:spcPts val="300"/>
              </a:spcAft>
            </a:pPr>
            <a:r>
              <a:rPr sz="1200" b="0">
                <a:solidFill>
                  <a:srgbClr val="5B6372"/>
                </a:solidFill>
                <a:latin typeface="Arial"/>
              </a:rPr>
              <a:t>TWB stores XML metadata; TWBX packages local dependencies.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Publish</a:t>
            </a:r>
          </a:p>
          <a:p>
            <a:pPr algn="l">
              <a:spcAft>
                <a:spcPts val="300"/>
              </a:spcAft>
            </a:pPr>
            <a:r>
              <a:rPr sz="1200" b="0">
                <a:solidFill>
                  <a:srgbClr val="5B6372"/>
                </a:solidFill>
                <a:latin typeface="Arial"/>
              </a:rPr>
              <a:t>Server/Cloud adds permissions, refresh, governance and browser use.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Export</a:t>
            </a:r>
          </a:p>
          <a:p>
            <a:pPr algn="l">
              <a:spcAft>
                <a:spcPts val="300"/>
              </a:spcAft>
            </a:pPr>
            <a:r>
              <a:rPr sz="1200" b="0">
                <a:solidFill>
                  <a:srgbClr val="5B6372"/>
                </a:solidFill>
                <a:latin typeface="Arial"/>
              </a:rPr>
              <a:t>PDF, image and PowerPoint are static communication formats.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Underlying data</a:t>
            </a:r>
          </a:p>
          <a:p>
            <a:pPr algn="l">
              <a:spcAft>
                <a:spcPts val="300"/>
              </a:spcAft>
            </a:pPr>
            <a:r>
              <a:rPr sz="1200" b="0">
                <a:solidFill>
                  <a:srgbClr val="5B6372"/>
                </a:solidFill>
                <a:latin typeface="Arial"/>
              </a:rPr>
              <a:t>Summary/full-data export can expose detail; verify privacy.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123</a:t>
            </a:r>
          </a:p>
        </p:txBody>
      </p:sp>
    </p:spTree>
  </p:cSld>
  <p:clrMapOvr>
    <a:masterClrMapping/>
  </p:clrMapOvr>
  <p:transition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View and share workbook data</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.twb and .twbx</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Publish</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Export</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Underlying data</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124</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3.3.1 · Share a workbook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Workbooks can be saved, packaged, exported or published.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TWBX for portability and Server/Cloud for governed collaboration.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TWB may break if recipients cannot reach dependencies.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Publishing does not automatically make content public.</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125</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3.3.2 · View and export underlying data</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View Data exposes summary and permitted underlying rows.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audit marks or export support records.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Selected marks and permissions define available data.</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Exports can leak sensitive detail.</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126</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3.3.3 · Export to PowerPoint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Tableau exports views as static PowerPoint images.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offline briefings without interactivity.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Appearance is preserved, not filters or actions.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Label snapshots with a data-as-of date.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127</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08 · TOPIC 03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Build an Interactive Service Operations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ApexCare's service director needs a daily dashboard for backlog, SLA risk, channel demand and team performance.</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Frame decision</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Compose views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Arrange layout</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Add actions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Test consumers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1366×768 operational dashboard with KPIs, four views, scoped filters, highlight/filter actions and accessible tooltips</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dashboards · layout containers · filters · actions · tooltips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128</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08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dashboard loads in the target size, KPIs match Control, filters are scoped, actions clear correctly, no object overlaps, and a manager can answer the three stated operational questions.</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129</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09 · TOPIC 03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Optimise, Package and Share an Executive Workbook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Sentinel Energy must brief executives while giving analysts a governed interactive workbook.</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Format view</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Design devices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story</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Package files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Govern sharing</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Desktop and phone layouts, three story points, TWB/TWBX comparison, PDF/PNG/PPT exports and a publishing checklist</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Device Designer · stories · TWBX · PDF/PNG/PPT · Server/Cloud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130</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09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Desktop and phone layouts are usable, the story has three coherent points, TWBX is portable, static exports are labelled with data-as-of context, and the publish plan protects underlying data.</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131</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03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sharing insights with dashboards and workbooks.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132</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04</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000" b="1">
                <a:solidFill>
                  <a:srgbClr val="161B26"/>
                </a:solidFill>
                <a:latin typeface="Arial"/>
              </a:rPr>
              <a:t>Understanding Tableau Concepts and Certification Preparation</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15% · Dimensions · measures · discrete · continuous · aggregation · exam strategy</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04</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133</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EXAM WEIGHTING 15%</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04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Role and type differ</a:t>
            </a:r>
          </a:p>
          <a:p>
            <a:pPr algn="l">
              <a:spcAft>
                <a:spcPts val="300"/>
              </a:spcAft>
            </a:pPr>
            <a:r>
              <a:rPr sz="1200" b="0">
                <a:solidFill>
                  <a:srgbClr val="5B6372"/>
                </a:solidFill>
                <a:latin typeface="Arial"/>
              </a:rPr>
              <a:t>Dimension/measure is analytical role; discrete/continuous is display behaviour.</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Blue and green</a:t>
            </a:r>
          </a:p>
          <a:p>
            <a:pPr algn="l">
              <a:spcAft>
                <a:spcPts val="300"/>
              </a:spcAft>
            </a:pPr>
            <a:r>
              <a:rPr sz="1200" b="0">
                <a:solidFill>
                  <a:srgbClr val="5B6372"/>
                </a:solidFill>
                <a:latin typeface="Arial"/>
              </a:rPr>
              <a:t>Blue discrete pills make headers; green continuous pills make axes.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Aggregation follows grain</a:t>
            </a:r>
          </a:p>
          <a:p>
            <a:pPr algn="l">
              <a:spcAft>
                <a:spcPts val="300"/>
              </a:spcAft>
            </a:pPr>
            <a:r>
              <a:rPr sz="1200" b="0">
                <a:solidFill>
                  <a:srgbClr val="5B6372"/>
                </a:solidFill>
                <a:latin typeface="Arial"/>
              </a:rPr>
              <a:t>Measures aggregate at the level defined by dimensions.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Reason from consequences</a:t>
            </a:r>
          </a:p>
          <a:p>
            <a:pPr algn="l">
              <a:spcAft>
                <a:spcPts val="300"/>
              </a:spcAft>
            </a:pPr>
            <a:r>
              <a:rPr sz="1200" b="0">
                <a:solidFill>
                  <a:srgbClr val="5B6372"/>
                </a:solidFill>
                <a:latin typeface="Arial"/>
              </a:rPr>
              <a:t>Use pill colour, shelf placement, grain and order of operations.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134</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04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10858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10858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10858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72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Understand dimensions and measures</a:t>
            </a:r>
          </a:p>
        </p:txBody>
      </p:sp>
      <p:sp>
        <p:nvSpPr>
          <p:cNvPr id="15" name="Rectangle 14"/>
          <p:cNvSpPr/>
          <p:nvPr/>
        </p:nvSpPr>
        <p:spPr>
          <a:xfrm>
            <a:off x="431901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4.1.1–4.1.3</a:t>
            </a:r>
          </a:p>
        </p:txBody>
      </p:sp>
      <p:sp>
        <p:nvSpPr>
          <p:cNvPr id="17" name="Rectangle 16"/>
          <p:cNvSpPr/>
          <p:nvPr/>
        </p:nvSpPr>
        <p:spPr>
          <a:xfrm>
            <a:off x="786993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a:t>
            </a:r>
          </a:p>
        </p:txBody>
      </p:sp>
      <p:sp>
        <p:nvSpPr>
          <p:cNvPr id="19" name="Rectangle 18"/>
          <p:cNvSpPr/>
          <p:nvPr/>
        </p:nvSpPr>
        <p:spPr>
          <a:xfrm>
            <a:off x="76809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Understand discrete and continuous fields</a:t>
            </a:r>
          </a:p>
        </p:txBody>
      </p:sp>
      <p:sp>
        <p:nvSpPr>
          <p:cNvPr id="21" name="Rectangle 20"/>
          <p:cNvSpPr/>
          <p:nvPr/>
        </p:nvSpPr>
        <p:spPr>
          <a:xfrm>
            <a:off x="431901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4.2.1–4.2.3</a:t>
            </a:r>
          </a:p>
        </p:txBody>
      </p:sp>
      <p:sp>
        <p:nvSpPr>
          <p:cNvPr id="23" name="Rectangle 22"/>
          <p:cNvSpPr/>
          <p:nvPr/>
        </p:nvSpPr>
        <p:spPr>
          <a:xfrm>
            <a:off x="786993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a:t>
            </a:r>
          </a:p>
        </p:txBody>
      </p:sp>
      <p:sp>
        <p:nvSpPr>
          <p:cNvPr id="25" name="Rectangle 24"/>
          <p:cNvSpPr/>
          <p:nvPr/>
        </p:nvSpPr>
        <p:spPr>
          <a:xfrm>
            <a:off x="76809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589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Understand aggregations</a:t>
            </a:r>
          </a:p>
        </p:txBody>
      </p:sp>
      <p:sp>
        <p:nvSpPr>
          <p:cNvPr id="27" name="Rectangle 26"/>
          <p:cNvSpPr/>
          <p:nvPr/>
        </p:nvSpPr>
        <p:spPr>
          <a:xfrm>
            <a:off x="431901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4.3.1–4.3.2</a:t>
            </a:r>
          </a:p>
        </p:txBody>
      </p:sp>
      <p:sp>
        <p:nvSpPr>
          <p:cNvPr id="29" name="Rectangle 28"/>
          <p:cNvSpPr/>
          <p:nvPr/>
        </p:nvSpPr>
        <p:spPr>
          <a:xfrm>
            <a:off x="786993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135</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EDITABLE POWERPOINT CHART · CONCEPT VISUAL</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Dimensions Change the Level of Detail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Adding dimensions partitions records into finer marks; it does not create new source rows.</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136</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DOMAIN 4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Understand dimensions and measures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Dimension</a:t>
            </a:r>
          </a:p>
          <a:p>
            <a:pPr algn="l">
              <a:spcAft>
                <a:spcPts val="300"/>
              </a:spcAft>
            </a:pPr>
            <a:r>
              <a:rPr sz="1200" b="0">
                <a:solidFill>
                  <a:srgbClr val="5B6372"/>
                </a:solidFill>
                <a:latin typeface="Arial"/>
              </a:rPr>
              <a:t>Qualitative field that slices, groups or labels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Measure</a:t>
            </a:r>
          </a:p>
          <a:p>
            <a:pPr algn="l">
              <a:spcAft>
                <a:spcPts val="300"/>
              </a:spcAft>
            </a:pPr>
            <a:r>
              <a:rPr sz="1200" b="0">
                <a:solidFill>
                  <a:srgbClr val="5B6372"/>
                </a:solidFill>
                <a:latin typeface="Arial"/>
              </a:rPr>
              <a:t>Quantitative field usually aggregated across dimensions.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Convertible role</a:t>
            </a:r>
          </a:p>
          <a:p>
            <a:pPr algn="l">
              <a:spcAft>
                <a:spcPts val="300"/>
              </a:spcAft>
            </a:pPr>
            <a:r>
              <a:rPr sz="1200" b="0">
                <a:solidFill>
                  <a:srgbClr val="5B6372"/>
                </a:solidFill>
                <a:latin typeface="Arial"/>
              </a:rPr>
              <a:t>A numeric ID may be a dimension; categories can be counted.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Level of detail</a:t>
            </a:r>
          </a:p>
          <a:p>
            <a:pPr algn="l">
              <a:spcAft>
                <a:spcPts val="300"/>
              </a:spcAft>
            </a:pPr>
            <a:r>
              <a:rPr sz="1200" b="0">
                <a:solidFill>
                  <a:srgbClr val="5B6372"/>
                </a:solidFill>
                <a:latin typeface="Arial"/>
              </a:rPr>
              <a:t>Every dimension changes the granularity of marks.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137</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Understand dimensions and measures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Dimension</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Measure</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Convertible role</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Level of detail</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138</a:t>
            </a:r>
          </a:p>
        </p:txBody>
      </p:sp>
    </p:spTree>
  </p:cSld>
  <p:clrMapOvr>
    <a:masterClrMapping/>
  </p:clrMapOvr>
  <p:transition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4.1.1 · What dimensions contain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Dimensions usually contain names, categories, dates and locations.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them to segment, label, filter and define detail.</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They often create headers and partitions.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numeric code is not automatically a measure.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139</a:t>
            </a:r>
          </a:p>
        </p:txBody>
      </p:sp>
    </p:spTree>
  </p:cSld>
  <p:clrMapOvr>
    <a:masterClrMapping/>
  </p:clrMapOvr>
  <p:transition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4.1.2 · What measures contain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Measures usually contain quantitative values for aggregation.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totals, averages, counts, ratios and axes.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Green measures create axes; blue measures can create headers.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Percentages and prices are not always additive.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140</a:t>
            </a:r>
          </a:p>
        </p:txBody>
      </p:sp>
    </p:spTree>
  </p:cSld>
  <p:clrMapOvr>
    <a:masterClrMapping/>
  </p:clrMapOvr>
  <p:transition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4.1.3 · Dimensions versus measures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Dimensions answer who/what/where/when; measures answer how much/how many.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both to define grain and numerical result.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Converting role changes partitioning and aggregation.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confuse role with data type.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141</a:t>
            </a:r>
          </a:p>
        </p:txBody>
      </p:sp>
    </p:spTree>
  </p:cSld>
  <p:clrMapOvr>
    <a:masterClrMapping/>
  </p:clrMapOvr>
  <p:transition spd="fast">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DOMAIN 4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Understand discrete and continuous fields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Discrete</a:t>
            </a:r>
          </a:p>
          <a:p>
            <a:pPr algn="l">
              <a:spcAft>
                <a:spcPts val="300"/>
              </a:spcAft>
            </a:pPr>
            <a:r>
              <a:rPr sz="1200" b="0">
                <a:solidFill>
                  <a:srgbClr val="5B6372"/>
                </a:solidFill>
                <a:latin typeface="Arial"/>
              </a:rPr>
              <a:t>Finite headers that partition the view; blue pills.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Continuous</a:t>
            </a:r>
          </a:p>
          <a:p>
            <a:pPr algn="l">
              <a:spcAft>
                <a:spcPts val="300"/>
              </a:spcAft>
            </a:pPr>
            <a:r>
              <a:rPr sz="1200" b="0">
                <a:solidFill>
                  <a:srgbClr val="5B6372"/>
                </a:solidFill>
                <a:latin typeface="Arial"/>
              </a:rPr>
              <a:t>Numeric or temporal range on an axis; green pills.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Independent of role</a:t>
            </a:r>
          </a:p>
          <a:p>
            <a:pPr algn="l">
              <a:spcAft>
                <a:spcPts val="300"/>
              </a:spcAft>
            </a:pPr>
            <a:r>
              <a:rPr sz="1200" b="0">
                <a:solidFill>
                  <a:srgbClr val="5B6372"/>
                </a:solidFill>
                <a:latin typeface="Arial"/>
              </a:rPr>
              <a:t>Dimensions and measures can each be discrete or continuous.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Dates reveal it</a:t>
            </a:r>
          </a:p>
          <a:p>
            <a:pPr algn="l">
              <a:spcAft>
                <a:spcPts val="300"/>
              </a:spcAft>
            </a:pPr>
            <a:r>
              <a:rPr sz="1200" b="0">
                <a:solidFill>
                  <a:srgbClr val="5B6372"/>
                </a:solidFill>
                <a:latin typeface="Arial"/>
              </a:rPr>
              <a:t>Date parts are commonly discrete; date values commonly continuous.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142</a:t>
            </a:r>
          </a:p>
        </p:txBody>
      </p:sp>
    </p:spTree>
  </p:cSld>
  <p:clrMapOvr>
    <a:masterClrMapping/>
  </p:clrMapOvr>
  <p:transition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Reasoning Pattern — Understand discrete and continuous fields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Discrete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Continuous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Independent of role</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Dates reveal it</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143</a:t>
            </a:r>
          </a:p>
        </p:txBody>
      </p:sp>
    </p:spTree>
  </p:cSld>
  <p:clrMapOvr>
    <a:masterClrMapping/>
  </p:clrMapOvr>
  <p:transition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4.2.1 · How discrete fields display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Discrete fields create headers and partitions.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named groups, panes and exact date parts.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Blue pills mean discrete behaviour.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Discrete does not mean text.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144</a:t>
            </a:r>
          </a:p>
        </p:txBody>
      </p:sp>
    </p:spTree>
  </p:cSld>
  <p:clrMapOvr>
    <a:masterClrMapping/>
  </p:clrMapOvr>
  <p:transition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4.2.2 · How continuous fields display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Continuous fields create axes over an unbroken range.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quantitative scales and temporal trends.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Green pills mean continuous behaviour.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Continuous does not mean measure.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145</a:t>
            </a:r>
          </a:p>
        </p:txBody>
      </p:sp>
    </p:spTree>
  </p:cSld>
  <p:clrMapOvr>
    <a:masterClrMapping/>
  </p:clrMapOvr>
  <p:transition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4.2.3 · Discrete date parts vs values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Date parts classify recurring members; date values preserve chronology.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continuous dates for timelines and parts for seasonal grouping.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Blue MONTH shows Jan-Dec; green MONTH spans time.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Month-only can aggregate multiple years together.</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146</a:t>
            </a:r>
          </a:p>
        </p:txBody>
      </p:sp>
    </p:spTree>
  </p:cSld>
  <p:clrMapOvr>
    <a:masterClrMapping/>
  </p:clrMapOvr>
  <p:transition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DOMAIN 4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Understand aggregations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Default behaviour</a:t>
            </a:r>
          </a:p>
          <a:p>
            <a:pPr algn="l">
              <a:spcAft>
                <a:spcPts val="300"/>
              </a:spcAft>
            </a:pPr>
            <a:r>
              <a:rPr sz="1200" b="0">
                <a:solidFill>
                  <a:srgbClr val="5B6372"/>
                </a:solidFill>
                <a:latin typeface="Arial"/>
              </a:rPr>
              <a:t>Numeric measures usually aggregate as SUM.</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Grain changes result</a:t>
            </a:r>
          </a:p>
          <a:p>
            <a:pPr algn="l">
              <a:spcAft>
                <a:spcPts val="300"/>
              </a:spcAft>
            </a:pPr>
            <a:r>
              <a:rPr sz="1200" b="0">
                <a:solidFill>
                  <a:srgbClr val="5B6372"/>
                </a:solidFill>
                <a:latin typeface="Arial"/>
              </a:rPr>
              <a:t>Adding a dimension partitions rows into more marks.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Aggregation is contextual</a:t>
            </a:r>
          </a:p>
          <a:p>
            <a:pPr algn="l">
              <a:spcAft>
                <a:spcPts val="300"/>
              </a:spcAft>
            </a:pPr>
            <a:r>
              <a:rPr sz="1200" b="0">
                <a:solidFill>
                  <a:srgbClr val="5B6372"/>
                </a:solidFill>
                <a:latin typeface="Arial"/>
              </a:rPr>
              <a:t>The same measure differs at table, pane and cell levels.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Validate totals</a:t>
            </a:r>
          </a:p>
          <a:p>
            <a:pPr algn="l">
              <a:spcAft>
                <a:spcPts val="300"/>
              </a:spcAft>
            </a:pPr>
            <a:r>
              <a:rPr sz="1200" b="0">
                <a:solidFill>
                  <a:srgbClr val="5B6372"/>
                </a:solidFill>
                <a:latin typeface="Arial"/>
              </a:rPr>
              <a:t>Ratios and distinct counts require suitable total logic.</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147</a:t>
            </a:r>
          </a:p>
        </p:txBody>
      </p:sp>
    </p:spTree>
  </p:cSld>
  <p:clrMapOvr>
    <a:masterClrMapping/>
  </p:clrMapOvr>
  <p:transition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Understand aggregations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Default behaviour</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Grain changes result</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Aggregation is contextual</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totals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148</a:t>
            </a:r>
          </a:p>
        </p:txBody>
      </p:sp>
    </p:spTree>
  </p:cSld>
  <p:clrMapOvr>
    <a:masterClrMapping/>
  </p:clrMapOvr>
  <p:transition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4.3.1 · Default aggregation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Measures aggregate to the current grain, commonly using SUM.</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Change to AVG, MIN, MAX, COUNT or another appropriate operation.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The pill shows the active aggregation, such as SUM(Sales).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Number format and aggregation are separate.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149</a:t>
            </a:r>
          </a:p>
        </p:txBody>
      </p:sp>
    </p:spTree>
  </p:cSld>
  <p:clrMapOvr>
    <a:masterClrMapping/>
  </p:clrMapOvr>
  <p:transition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4.3.2 · How dimensions change aggregation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Each dimension partitions data into a finer detail.</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dimensions deliberately to answer the required breakdown.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SUM(Sales) by Region differs from Region and Customer.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Unexpected totals may signal duplicated model rows or unintended dimensions.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150</a:t>
            </a:r>
          </a:p>
        </p:txBody>
      </p:sp>
    </p:spTree>
  </p:cSld>
  <p:clrMapOvr>
    <a:masterClrMapping/>
  </p:clrMapOvr>
  <p:transition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10 · TOPIC 04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Capstone: Northstar Retail Executive Workbook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Northstar Retail's COO needs an executive workbook that reconciles sales, returns, inventory and regional targets, then communicates actions across desktop and mobile.</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Model trusted data</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Analyse questions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dashboard</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Package insight</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Review domains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validated multi-table model, eight analytical worksheets, executive dashboard, phone layout, story, packaged workbook and exam-domain checklist</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relationships · calculations · charts · dashboards · stories · TWBX</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151</a:t>
            </a:r>
          </a:p>
        </p:txBody>
      </p:sp>
    </p:spTree>
  </p:cSld>
  <p:clrMapOvr>
    <a:masterClrMapping/>
  </p:clrMapOvr>
  <p:transition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10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Control totals reconcile, the model avoids duplicated measures, all eight worksheets and required analytics exist, dashboard/actions work on desktop and phone, exports are current, and every official objective has evidence.</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152</a:t>
            </a:r>
          </a:p>
        </p:txBody>
      </p:sp>
    </p:spTree>
  </p:cSld>
  <p:clrMapOvr>
    <a:masterClrMapping/>
  </p:clrMapOvr>
  <p:transition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04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understanding tableau concepts and certification preparation.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153</a:t>
            </a:r>
          </a:p>
        </p:txBody>
      </p:sp>
    </p:spTree>
  </p:cSld>
  <p:clrMapOvr>
    <a:masterClrMapping/>
  </p:clrMapOvr>
  <p:transition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WRAP-UP</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Certification Preparation &amp; Assessment</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Review the official blueprint, practise with the ten workbooks, then demonstrate evidence</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99</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154</a:t>
            </a:r>
          </a:p>
        </p:txBody>
      </p:sp>
    </p:spTree>
  </p:cSld>
  <p:clrMapOvr>
    <a:masterClrMapping/>
  </p:clrMapOvr>
  <p:transition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COURSE SUMMARY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What You Achieved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Connect and prepare</a:t>
            </a:r>
          </a:p>
          <a:p>
            <a:pPr algn="l">
              <a:spcAft>
                <a:spcPts val="300"/>
              </a:spcAft>
            </a:pPr>
            <a:r>
              <a:rPr sz="1200" b="0">
                <a:solidFill>
                  <a:srgbClr val="5B6372"/>
                </a:solidFill>
                <a:latin typeface="Arial"/>
              </a:rPr>
              <a:t>Built trusted connections, extracts, models and metadata.</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Explore and analyse</a:t>
            </a:r>
          </a:p>
          <a:p>
            <a:pPr algn="l">
              <a:spcAft>
                <a:spcPts val="300"/>
              </a:spcAft>
            </a:pPr>
            <a:r>
              <a:rPr sz="1200" b="0">
                <a:solidFill>
                  <a:srgbClr val="5B6372"/>
                </a:solidFill>
                <a:latin typeface="Arial"/>
              </a:rPr>
              <a:t>Created chart patterns, organisation structures and analytics.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Share insights</a:t>
            </a:r>
          </a:p>
          <a:p>
            <a:pPr algn="l">
              <a:spcAft>
                <a:spcPts val="300"/>
              </a:spcAft>
            </a:pPr>
            <a:r>
              <a:rPr sz="1200" b="0">
                <a:solidFill>
                  <a:srgbClr val="5B6372"/>
                </a:solidFill>
                <a:latin typeface="Arial"/>
              </a:rPr>
              <a:t>Built dashboards, actions, device layouts and sharing plans.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Understand concepts</a:t>
            </a:r>
          </a:p>
          <a:p>
            <a:pPr algn="l">
              <a:spcAft>
                <a:spcPts val="300"/>
              </a:spcAft>
            </a:pPr>
            <a:r>
              <a:rPr sz="1200" b="0">
                <a:solidFill>
                  <a:srgbClr val="5B6372"/>
                </a:solidFill>
                <a:latin typeface="Arial"/>
              </a:rPr>
              <a:t>Reasoned from field role, pill behaviour, grain and aggregation.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155</a:t>
            </a:r>
          </a:p>
        </p:txBody>
      </p:sp>
    </p:spTree>
  </p:cSld>
  <p:clrMapOvr>
    <a:masterClrMapping/>
  </p:clrMapOvr>
  <p:transition spd="fast">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THREE LAYERS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Certification Readiness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33832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F6FEB"/>
                </a:solidFill>
                <a:latin typeface="Arial"/>
              </a:rPr>
              <a:t>Know</a:t>
            </a:r>
          </a:p>
        </p:txBody>
      </p:sp>
      <p:sp>
        <p:nvSpPr>
          <p:cNvPr id="10" name="TextBox 9"/>
          <p:cNvSpPr txBox="1"/>
          <p:nvPr/>
        </p:nvSpPr>
        <p:spPr>
          <a:xfrm>
            <a:off x="996695"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Explain every official objective</a:t>
            </a:r>
          </a:p>
        </p:txBody>
      </p:sp>
      <p:sp>
        <p:nvSpPr>
          <p:cNvPr id="11" name="TextBox 10"/>
          <p:cNvSpPr txBox="1"/>
          <p:nvPr/>
        </p:nvSpPr>
        <p:spPr>
          <a:xfrm>
            <a:off x="996695"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Distinguish similar features</a:t>
            </a:r>
          </a:p>
        </p:txBody>
      </p:sp>
      <p:sp>
        <p:nvSpPr>
          <p:cNvPr id="12" name="TextBox 11"/>
          <p:cNvSpPr txBox="1"/>
          <p:nvPr/>
        </p:nvSpPr>
        <p:spPr>
          <a:xfrm>
            <a:off x="996695"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Recognise common pitfalls</a:t>
            </a:r>
          </a:p>
        </p:txBody>
      </p:sp>
      <p:sp>
        <p:nvSpPr>
          <p:cNvPr id="13" name="Rectangle 12"/>
          <p:cNvSpPr/>
          <p:nvPr/>
        </p:nvSpPr>
        <p:spPr>
          <a:xfrm>
            <a:off x="4553712"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3712" y="1783080"/>
            <a:ext cx="338328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0B981"/>
                </a:solidFill>
                <a:latin typeface="Arial"/>
              </a:rPr>
              <a:t>Do</a:t>
            </a:r>
          </a:p>
        </p:txBody>
      </p:sp>
      <p:sp>
        <p:nvSpPr>
          <p:cNvPr id="16" name="TextBox 15"/>
          <p:cNvSpPr txBox="1"/>
          <p:nvPr/>
        </p:nvSpPr>
        <p:spPr>
          <a:xfrm>
            <a:off x="4782312"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Complete all ten workbooks</a:t>
            </a:r>
          </a:p>
        </p:txBody>
      </p:sp>
      <p:sp>
        <p:nvSpPr>
          <p:cNvPr id="17" name="TextBox 16"/>
          <p:cNvSpPr txBox="1"/>
          <p:nvPr/>
        </p:nvSpPr>
        <p:spPr>
          <a:xfrm>
            <a:off x="4782312"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Rebuild without instructions</a:t>
            </a:r>
          </a:p>
        </p:txBody>
      </p:sp>
      <p:sp>
        <p:nvSpPr>
          <p:cNvPr id="18" name="TextBox 17"/>
          <p:cNvSpPr txBox="1"/>
          <p:nvPr/>
        </p:nvSpPr>
        <p:spPr>
          <a:xfrm>
            <a:off x="4782312"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Validate totals and evidence</a:t>
            </a:r>
          </a:p>
        </p:txBody>
      </p:sp>
      <p:sp>
        <p:nvSpPr>
          <p:cNvPr id="19" name="Rectangle 18"/>
          <p:cNvSpPr/>
          <p:nvPr/>
        </p:nvSpPr>
        <p:spPr>
          <a:xfrm>
            <a:off x="8339327"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7" y="1783080"/>
            <a:ext cx="338328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7C3AED"/>
                </a:solidFill>
                <a:latin typeface="Arial"/>
              </a:rPr>
              <a:t>Perform</a:t>
            </a:r>
          </a:p>
        </p:txBody>
      </p:sp>
      <p:sp>
        <p:nvSpPr>
          <p:cNvPr id="22" name="TextBox 21"/>
          <p:cNvSpPr txBox="1"/>
          <p:nvPr/>
        </p:nvSpPr>
        <p:spPr>
          <a:xfrm>
            <a:off x="8567928"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Read the full scenario</a:t>
            </a:r>
          </a:p>
        </p:txBody>
      </p:sp>
      <p:sp>
        <p:nvSpPr>
          <p:cNvPr id="23" name="TextBox 22"/>
          <p:cNvSpPr txBox="1"/>
          <p:nvPr/>
        </p:nvSpPr>
        <p:spPr>
          <a:xfrm>
            <a:off x="8567928"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Eliminate answers by consequence</a:t>
            </a:r>
          </a:p>
        </p:txBody>
      </p:sp>
      <p:sp>
        <p:nvSpPr>
          <p:cNvPr id="24" name="TextBox 23"/>
          <p:cNvSpPr txBox="1"/>
          <p:nvPr/>
        </p:nvSpPr>
        <p:spPr>
          <a:xfrm>
            <a:off x="8567928"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Manage time across 40 items</a:t>
            </a:r>
          </a:p>
        </p:txBody>
      </p:sp>
      <p:sp>
        <p:nvSpPr>
          <p:cNvPr id="25" name="TextBox 24"/>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6" name="TextBox 25"/>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7" name="TextBox 26"/>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156</a:t>
            </a:r>
          </a:p>
        </p:txBody>
      </p:sp>
    </p:spTree>
  </p:cSld>
  <p:clrMapOvr>
    <a:masterClrMapping/>
  </p:clrMapOvr>
  <p:transition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60-MINUTE EXAM DISCIPLINE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Exam-Day Reasoning</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Identify the requested outcome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Name the Tableau layer</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Predict the pill / grain / filter effect</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Eliminate unsafe choices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Answer and move on</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Official guide states 40 multiple-choice/multiple-select items and no outside materials.</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157</a:t>
            </a:r>
          </a:p>
        </p:txBody>
      </p:sp>
    </p:spTree>
  </p:cSld>
  <p:clrMapOvr>
    <a:masterClrMapping/>
  </p:clrMapOvr>
  <p:transition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CERTIFICATION PREPARATION</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Official Preparation Resources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Read the complete Salesforce Certified Tableau Desktop Specialist exam guide and objective list.</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Tableau's free Desktop training videos for connection, workspace, concepts, dashboards, mapping and calculations.</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Repeat each lab with a clean workbook until the objective is automatic.</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the Exam Domain Matrix in Lab 10 to locate weak areas.</a:t>
            </a:r>
          </a:p>
        </p:txBody>
      </p:sp>
      <p:sp>
        <p:nvSpPr>
          <p:cNvPr id="19" name="Oval 18"/>
          <p:cNvSpPr/>
          <p:nvPr/>
        </p:nvSpPr>
        <p:spPr>
          <a:xfrm>
            <a:off x="822960" y="445312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53128"/>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5</a:t>
            </a:r>
          </a:p>
        </p:txBody>
      </p:sp>
      <p:sp>
        <p:nvSpPr>
          <p:cNvPr id="21" name="TextBox 20"/>
          <p:cNvSpPr txBox="1"/>
          <p:nvPr/>
        </p:nvSpPr>
        <p:spPr>
          <a:xfrm>
            <a:off x="1417320" y="4425696"/>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Finish with the exact Tableau Desktop Specialist practice-exam link on the final slide.</a:t>
            </a:r>
          </a:p>
        </p:txBody>
      </p:sp>
      <p:sp>
        <p:nvSpPr>
          <p:cNvPr id="22" name="TextBox 2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3" name="TextBox 2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4" name="TextBox 2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158</a:t>
            </a:r>
          </a:p>
        </p:txBody>
      </p:sp>
    </p:spTree>
  </p:cSld>
  <p:clrMapOvr>
    <a:masterClrMapping/>
  </p:clrMapOvr>
  <p:transition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SALESFORCE CERTIFIED TABLEAU DESKTOP FOUNDATIONS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Official Certification Exam Details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73152"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1F6FEB"/>
                </a:solidFill>
                <a:latin typeface="Arial"/>
              </a:rPr>
              <a:t>40 + up to 5</a:t>
            </a:r>
          </a:p>
        </p:txBody>
      </p:sp>
      <p:sp>
        <p:nvSpPr>
          <p:cNvPr id="10" name="TextBox 9"/>
          <p:cNvSpPr txBox="1"/>
          <p:nvPr/>
        </p:nvSpPr>
        <p:spPr>
          <a:xfrm>
            <a:off x="1005840"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MC / MS items</a:t>
            </a:r>
          </a:p>
        </p:txBody>
      </p:sp>
      <p:sp>
        <p:nvSpPr>
          <p:cNvPr id="11" name="Rectangle 10"/>
          <p:cNvSpPr/>
          <p:nvPr/>
        </p:nvSpPr>
        <p:spPr>
          <a:xfrm>
            <a:off x="3566160"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1783080"/>
            <a:ext cx="73152"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2191"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10B981"/>
                </a:solidFill>
                <a:latin typeface="Arial"/>
              </a:rPr>
              <a:t>70 min</a:t>
            </a:r>
          </a:p>
        </p:txBody>
      </p:sp>
      <p:sp>
        <p:nvSpPr>
          <p:cNvPr id="14" name="TextBox 13"/>
          <p:cNvSpPr txBox="1"/>
          <p:nvPr/>
        </p:nvSpPr>
        <p:spPr>
          <a:xfrm>
            <a:off x="3822191"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Time limit</a:t>
            </a:r>
          </a:p>
        </p:txBody>
      </p:sp>
      <p:sp>
        <p:nvSpPr>
          <p:cNvPr id="15" name="Rectangle 14"/>
          <p:cNvSpPr/>
          <p:nvPr/>
        </p:nvSpPr>
        <p:spPr>
          <a:xfrm>
            <a:off x="6382512"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82512" y="1783080"/>
            <a:ext cx="73152"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38544"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7C3AED"/>
                </a:solidFill>
                <a:latin typeface="Arial"/>
              </a:rPr>
              <a:t>48%</a:t>
            </a:r>
          </a:p>
        </p:txBody>
      </p:sp>
      <p:sp>
        <p:nvSpPr>
          <p:cNvPr id="18" name="TextBox 17"/>
          <p:cNvSpPr txBox="1"/>
          <p:nvPr/>
        </p:nvSpPr>
        <p:spPr>
          <a:xfrm>
            <a:off x="6638544"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English pass score</a:t>
            </a:r>
          </a:p>
        </p:txBody>
      </p:sp>
      <p:sp>
        <p:nvSpPr>
          <p:cNvPr id="19" name="Rectangle 18"/>
          <p:cNvSpPr/>
          <p:nvPr/>
        </p:nvSpPr>
        <p:spPr>
          <a:xfrm>
            <a:off x="9198864"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98864" y="1783080"/>
            <a:ext cx="73152"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54896"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F59E0B"/>
                </a:solidFill>
                <a:latin typeface="Arial"/>
              </a:rPr>
              <a:t>USD 75</a:t>
            </a:r>
          </a:p>
        </p:txBody>
      </p:sp>
      <p:sp>
        <p:nvSpPr>
          <p:cNvPr id="22" name="TextBox 21"/>
          <p:cNvSpPr txBox="1"/>
          <p:nvPr/>
        </p:nvSpPr>
        <p:spPr>
          <a:xfrm>
            <a:off x="9454896"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Registration fee</a:t>
            </a:r>
          </a:p>
        </p:txBody>
      </p:sp>
      <p:sp>
        <p:nvSpPr>
          <p:cNvPr id="23" name="Oval 22"/>
          <p:cNvSpPr/>
          <p:nvPr/>
        </p:nvSpPr>
        <p:spPr>
          <a:xfrm>
            <a:off x="777240" y="3246120"/>
            <a:ext cx="1078992" cy="10789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23%</a:t>
            </a:r>
          </a:p>
        </p:txBody>
      </p:sp>
      <p:sp>
        <p:nvSpPr>
          <p:cNvPr id="25" name="TextBox 24"/>
          <p:cNvSpPr txBox="1"/>
          <p:nvPr/>
        </p:nvSpPr>
        <p:spPr>
          <a:xfrm>
            <a:off x="2002536"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Connect &amp; prepare</a:t>
            </a:r>
          </a:p>
        </p:txBody>
      </p:sp>
      <p:sp>
        <p:nvSpPr>
          <p:cNvPr id="26" name="Oval 25"/>
          <p:cNvSpPr/>
          <p:nvPr/>
        </p:nvSpPr>
        <p:spPr>
          <a:xfrm>
            <a:off x="3593592" y="3246120"/>
            <a:ext cx="1078992" cy="10789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3592"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37%</a:t>
            </a:r>
          </a:p>
        </p:txBody>
      </p:sp>
      <p:sp>
        <p:nvSpPr>
          <p:cNvPr id="28" name="TextBox 27"/>
          <p:cNvSpPr txBox="1"/>
          <p:nvPr/>
        </p:nvSpPr>
        <p:spPr>
          <a:xfrm>
            <a:off x="4818888"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Explore &amp; analyse</a:t>
            </a:r>
          </a:p>
        </p:txBody>
      </p:sp>
      <p:sp>
        <p:nvSpPr>
          <p:cNvPr id="29" name="Oval 28"/>
          <p:cNvSpPr/>
          <p:nvPr/>
        </p:nvSpPr>
        <p:spPr>
          <a:xfrm>
            <a:off x="6409944" y="3246120"/>
            <a:ext cx="1078992" cy="10789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9944"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25%</a:t>
            </a:r>
          </a:p>
        </p:txBody>
      </p:sp>
      <p:sp>
        <p:nvSpPr>
          <p:cNvPr id="31" name="TextBox 30"/>
          <p:cNvSpPr txBox="1"/>
          <p:nvPr/>
        </p:nvSpPr>
        <p:spPr>
          <a:xfrm>
            <a:off x="7635240"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Share insights</a:t>
            </a:r>
          </a:p>
        </p:txBody>
      </p:sp>
      <p:sp>
        <p:nvSpPr>
          <p:cNvPr id="32" name="Oval 31"/>
          <p:cNvSpPr/>
          <p:nvPr/>
        </p:nvSpPr>
        <p:spPr>
          <a:xfrm>
            <a:off x="9226296" y="3246120"/>
            <a:ext cx="1078992" cy="10789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26296"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15%</a:t>
            </a:r>
          </a:p>
        </p:txBody>
      </p:sp>
      <p:sp>
        <p:nvSpPr>
          <p:cNvPr id="34" name="TextBox 33"/>
          <p:cNvSpPr txBox="1"/>
          <p:nvPr/>
        </p:nvSpPr>
        <p:spPr>
          <a:xfrm>
            <a:off x="10451592"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Tableau concepts</a:t>
            </a:r>
          </a:p>
        </p:txBody>
      </p:sp>
      <p:sp>
        <p:nvSpPr>
          <p:cNvPr id="35" name="TextBox 34"/>
          <p:cNvSpPr txBox="1"/>
          <p:nvPr/>
        </p:nvSpPr>
        <p:spPr>
          <a:xfrm>
            <a:off x="868680" y="4709160"/>
            <a:ext cx="10332720" cy="658368"/>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No prerequisite · Product version 2022.3 · No hard-copy or online references · Retake fee: free</a:t>
            </a:r>
          </a:p>
        </p:txBody>
      </p:sp>
      <p:sp>
        <p:nvSpPr>
          <p:cNvPr id="36" name="TextBox 35"/>
          <p:cNvSpPr txBox="1"/>
          <p:nvPr/>
        </p:nvSpPr>
        <p:spPr>
          <a:xfrm>
            <a:off x="868680" y="5596128"/>
            <a:ext cx="10332720" cy="384048"/>
          </a:xfrm>
          <a:prstGeom prst="rect">
            <a:avLst/>
          </a:prstGeom>
          <a:noFill/>
        </p:spPr>
        <p:txBody>
          <a:bodyPr wrap="square" anchor="t" lIns="54864" rIns="54864" tIns="54864" bIns="54864">
            <a:spAutoFit/>
          </a:bodyPr>
          <a:lstStyle/>
          <a:p>
            <a:pPr algn="ctr">
              <a:spcAft>
                <a:spcPts val="300"/>
              </a:spcAft>
            </a:pPr>
            <a:r>
              <a:rPr sz="1050" b="0">
                <a:solidFill>
                  <a:srgbClr val="5B6372"/>
                </a:solidFill>
                <a:latin typeface="Arial"/>
              </a:rPr>
              <a:t>Always confirm registration details on Salesforce before booking; fees and policies can change.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159</a:t>
            </a:r>
          </a:p>
        </p:txBody>
      </p:sp>
    </p:spTree>
  </p:cSld>
  <p:clrMapOvr>
    <a:masterClrMapping/>
  </p:clrMapOvr>
  <p:transition spd="fast">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LMS/TMS · VISUAL ACCESS GUIDE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Download Course Material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069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84248"/>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1920240"/>
            <a:ext cx="4206240" cy="3108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920240"/>
            <a:ext cx="3931920" cy="310896"/>
          </a:xfrm>
          <a:prstGeom prst="rect">
            <a:avLst/>
          </a:prstGeom>
          <a:noFill/>
        </p:spPr>
        <p:txBody>
          <a:bodyPr wrap="square" anchor="ctr" lIns="54864" rIns="54864" tIns="54864" bIns="54864">
            <a:spAutoFit/>
          </a:bodyPr>
          <a:lstStyle/>
          <a:p>
            <a:pPr algn="l">
              <a:spcAft>
                <a:spcPts val="300"/>
              </a:spcAft>
            </a:pPr>
            <a:r>
              <a:rPr sz="1150" b="1">
                <a:solidFill>
                  <a:srgbClr val="1F6FEB"/>
                </a:solidFill>
                <a:latin typeface="Arial"/>
                <a:hlinkClick r:id="rId2"/>
              </a:rPr>
              <a:t>https://lms-tms.tertiaryinfotech.com/</a:t>
            </a:r>
          </a:p>
        </p:txBody>
      </p:sp>
      <p:sp>
        <p:nvSpPr>
          <p:cNvPr id="14" name="Rectangle 13"/>
          <p:cNvSpPr/>
          <p:nvPr/>
        </p:nvSpPr>
        <p:spPr>
          <a:xfrm>
            <a:off x="1005840" y="2542032"/>
            <a:ext cx="51206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578608"/>
            <a:ext cx="4754879" cy="566928"/>
          </a:xfrm>
          <a:prstGeom prst="rect">
            <a:avLst/>
          </a:prstGeom>
          <a:noFill/>
        </p:spPr>
        <p:txBody>
          <a:bodyPr wrap="square" anchor="ctr" lIns="54864" rIns="54864" tIns="54864" bIns="54864">
            <a:spAutoFit/>
          </a:bodyPr>
          <a:lstStyle/>
          <a:p>
            <a:pPr algn="l">
              <a:spcAft>
                <a:spcPts val="300"/>
              </a:spcAft>
            </a:pPr>
            <a:r>
              <a:rPr sz="1400" b="1">
                <a:solidFill>
                  <a:srgbClr val="FFFFFF"/>
                </a:solidFill>
                <a:latin typeface="Arial"/>
              </a:rPr>
              <a:t>Tertiary Infotech LMS/TMS</a:t>
            </a:r>
          </a:p>
          <a:p>
            <a:pPr algn="l">
              <a:spcAft>
                <a:spcPts val="300"/>
              </a:spcAft>
            </a:pPr>
            <a:r>
              <a:rPr sz="1000" b="0">
                <a:solidFill>
                  <a:srgbClr val="FFFFFF"/>
                </a:solidFill>
                <a:latin typeface="Arial"/>
              </a:rPr>
              <a:t>My Courses · Attendance · Assessment</a:t>
            </a:r>
          </a:p>
        </p:txBody>
      </p:sp>
      <p:sp>
        <p:nvSpPr>
          <p:cNvPr id="16" name="Rectangle 15"/>
          <p:cNvSpPr/>
          <p:nvPr/>
        </p:nvSpPr>
        <p:spPr>
          <a:xfrm>
            <a:off x="1005840" y="3383280"/>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3383280"/>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Learner Slides (PDF)</a:t>
            </a:r>
          </a:p>
        </p:txBody>
      </p:sp>
      <p:sp>
        <p:nvSpPr>
          <p:cNvPr id="18" name="Rectangle 17"/>
          <p:cNvSpPr/>
          <p:nvPr/>
        </p:nvSpPr>
        <p:spPr>
          <a:xfrm>
            <a:off x="1005840" y="3913632"/>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3913632"/>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Learner Guide (PDF)</a:t>
            </a:r>
          </a:p>
        </p:txBody>
      </p:sp>
      <p:sp>
        <p:nvSpPr>
          <p:cNvPr id="20" name="Rectangle 19"/>
          <p:cNvSpPr/>
          <p:nvPr/>
        </p:nvSpPr>
        <p:spPr>
          <a:xfrm>
            <a:off x="1005840" y="4443984"/>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4443984"/>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Individual Lab Folders</a:t>
            </a:r>
          </a:p>
        </p:txBody>
      </p:sp>
      <p:sp>
        <p:nvSpPr>
          <p:cNvPr id="22" name="Rectangle 21"/>
          <p:cNvSpPr/>
          <p:nvPr/>
        </p:nvSpPr>
        <p:spPr>
          <a:xfrm>
            <a:off x="1005840" y="4974336"/>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4974336"/>
            <a:ext cx="4663440" cy="420624"/>
          </a:xfrm>
          <a:prstGeom prst="rect">
            <a:avLst/>
          </a:prstGeom>
          <a:noFill/>
        </p:spPr>
        <p:txBody>
          <a:bodyPr wrap="square" anchor="ctr" lIns="54864" rIns="54864" tIns="54864" bIns="54864">
            <a:spAutoFit/>
          </a:bodyPr>
          <a:lstStyle/>
          <a:p>
            <a:pPr algn="l">
              <a:spcAft>
                <a:spcPts val="300"/>
              </a:spcAft>
            </a:pPr>
            <a:r>
              <a:rPr sz="1150" b="0">
                <a:solidFill>
                  <a:srgbClr val="161B26"/>
                </a:solidFill>
                <a:latin typeface="Arial"/>
              </a:rPr>
              <a:t>Assessment Submission</a:t>
            </a:r>
          </a:p>
        </p:txBody>
      </p:sp>
      <p:sp>
        <p:nvSpPr>
          <p:cNvPr id="24" name="Rectangle 23"/>
          <p:cNvSpPr/>
          <p:nvPr/>
        </p:nvSpPr>
        <p:spPr>
          <a:xfrm>
            <a:off x="6675120" y="182880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1828800"/>
            <a:ext cx="82296" cy="8046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1883664"/>
            <a:ext cx="4114800" cy="694944"/>
          </a:xfrm>
          <a:prstGeom prst="rect">
            <a:avLst/>
          </a:prstGeom>
          <a:noFill/>
        </p:spPr>
        <p:txBody>
          <a:bodyPr wrap="square" anchor="ctr" lIns="54864" rIns="54864" tIns="54864" bIns="54864">
            <a:spAutoFit/>
          </a:bodyPr>
          <a:lstStyle/>
          <a:p>
            <a:pPr algn="l">
              <a:spcAft>
                <a:spcPts val="300"/>
              </a:spcAft>
            </a:pPr>
            <a:r>
              <a:rPr sz="1300" b="1">
                <a:solidFill>
                  <a:srgbClr val="1F6FEB"/>
                </a:solidFill>
                <a:latin typeface="Arial"/>
              </a:rPr>
              <a:t>1. Sign in</a:t>
            </a:r>
          </a:p>
          <a:p>
            <a:pPr algn="l">
              <a:spcAft>
                <a:spcPts val="300"/>
              </a:spcAft>
            </a:pPr>
            <a:r>
              <a:rPr sz="1150" b="0">
                <a:solidFill>
                  <a:srgbClr val="161B26"/>
                </a:solidFill>
                <a:latin typeface="Arial"/>
              </a:rPr>
              <a:t>Use the email registered for the class.</a:t>
            </a:r>
          </a:p>
        </p:txBody>
      </p:sp>
      <p:sp>
        <p:nvSpPr>
          <p:cNvPr id="27" name="Rectangle 26"/>
          <p:cNvSpPr/>
          <p:nvPr/>
        </p:nvSpPr>
        <p:spPr>
          <a:xfrm>
            <a:off x="6675120" y="283464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2834640"/>
            <a:ext cx="82296" cy="8046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95160" y="2889504"/>
            <a:ext cx="4114800" cy="694944"/>
          </a:xfrm>
          <a:prstGeom prst="rect">
            <a:avLst/>
          </a:prstGeom>
          <a:noFill/>
        </p:spPr>
        <p:txBody>
          <a:bodyPr wrap="square" anchor="ctr" lIns="54864" rIns="54864" tIns="54864" bIns="54864">
            <a:spAutoFit/>
          </a:bodyPr>
          <a:lstStyle/>
          <a:p>
            <a:pPr algn="l">
              <a:spcAft>
                <a:spcPts val="300"/>
              </a:spcAft>
            </a:pPr>
            <a:r>
              <a:rPr sz="1300" b="1">
                <a:solidFill>
                  <a:srgbClr val="10B981"/>
                </a:solidFill>
                <a:latin typeface="Arial"/>
              </a:rPr>
              <a:t>2. Open course</a:t>
            </a:r>
          </a:p>
          <a:p>
            <a:pPr algn="l">
              <a:spcAft>
                <a:spcPts val="300"/>
              </a:spcAft>
            </a:pPr>
            <a:r>
              <a:rPr sz="1150" b="0">
                <a:solidFill>
                  <a:srgbClr val="161B26"/>
                </a:solidFill>
                <a:latin typeface="Arial"/>
              </a:rPr>
              <a:t>Select this TGS code under My Courses.</a:t>
            </a:r>
          </a:p>
        </p:txBody>
      </p:sp>
      <p:sp>
        <p:nvSpPr>
          <p:cNvPr id="30" name="Rectangle 29"/>
          <p:cNvSpPr/>
          <p:nvPr/>
        </p:nvSpPr>
        <p:spPr>
          <a:xfrm>
            <a:off x="6675120" y="384048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3840480"/>
            <a:ext cx="82296" cy="8046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895344"/>
            <a:ext cx="4114800" cy="694944"/>
          </a:xfrm>
          <a:prstGeom prst="rect">
            <a:avLst/>
          </a:prstGeom>
          <a:noFill/>
        </p:spPr>
        <p:txBody>
          <a:bodyPr wrap="square" anchor="ctr" lIns="54864" rIns="54864" tIns="54864" bIns="54864">
            <a:spAutoFit/>
          </a:bodyPr>
          <a:lstStyle/>
          <a:p>
            <a:pPr algn="l">
              <a:spcAft>
                <a:spcPts val="300"/>
              </a:spcAft>
            </a:pPr>
            <a:r>
              <a:rPr sz="1300" b="1">
                <a:solidFill>
                  <a:srgbClr val="7C3AED"/>
                </a:solidFill>
                <a:latin typeface="Arial"/>
              </a:rPr>
              <a:t>3. Download</a:t>
            </a:r>
          </a:p>
          <a:p>
            <a:pPr algn="l">
              <a:spcAft>
                <a:spcPts val="300"/>
              </a:spcAft>
            </a:pPr>
            <a:r>
              <a:rPr sz="1150" b="0">
                <a:solidFill>
                  <a:srgbClr val="161B26"/>
                </a:solidFill>
                <a:latin typeface="Arial"/>
              </a:rPr>
              <a:t>Keep slides, LG and labs together.</a:t>
            </a:r>
          </a:p>
        </p:txBody>
      </p:sp>
      <p:sp>
        <p:nvSpPr>
          <p:cNvPr id="33" name="Rectangle 32"/>
          <p:cNvSpPr/>
          <p:nvPr/>
        </p:nvSpPr>
        <p:spPr>
          <a:xfrm>
            <a:off x="6675120" y="4846320"/>
            <a:ext cx="4709160" cy="8046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75120" y="4846320"/>
            <a:ext cx="82296" cy="8046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95160" y="4901184"/>
            <a:ext cx="4114800" cy="694944"/>
          </a:xfrm>
          <a:prstGeom prst="rect">
            <a:avLst/>
          </a:prstGeom>
          <a:noFill/>
        </p:spPr>
        <p:txBody>
          <a:bodyPr wrap="square" anchor="ctr" lIns="54864" rIns="54864" tIns="54864" bIns="54864">
            <a:spAutoFit/>
          </a:bodyPr>
          <a:lstStyle/>
          <a:p>
            <a:pPr algn="l">
              <a:spcAft>
                <a:spcPts val="300"/>
              </a:spcAft>
            </a:pPr>
            <a:r>
              <a:rPr sz="1300" b="1">
                <a:solidFill>
                  <a:srgbClr val="F59E0B"/>
                </a:solidFill>
                <a:latin typeface="Arial"/>
              </a:rPr>
              <a:t>4. Assess</a:t>
            </a:r>
          </a:p>
          <a:p>
            <a:pPr algn="l">
              <a:spcAft>
                <a:spcPts val="300"/>
              </a:spcAft>
            </a:pPr>
            <a:r>
              <a:rPr sz="1150" b="0">
                <a:solidFill>
                  <a:srgbClr val="161B26"/>
                </a:solidFill>
                <a:latin typeface="Arial"/>
              </a:rPr>
              <a:t>Take attendance and submit on the LMS.</a:t>
            </a:r>
          </a:p>
        </p:txBody>
      </p:sp>
      <p:sp>
        <p:nvSpPr>
          <p:cNvPr id="36" name="TextBox 35"/>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7" name="TextBox 36"/>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8" name="TextBox 37"/>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160</a:t>
            </a:r>
          </a:p>
        </p:txBody>
      </p:sp>
    </p:spTree>
  </p:cSld>
  <p:clrMapOvr>
    <a:masterClrMapping/>
  </p:clrMapOvr>
  <p:transition spd="fast">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END-OF-COURSE REMINDER</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Assessment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Written Assessment (WA/SAQ) — 4 open-ended questions, 1 hour, open book.</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Practical Performance (PP) — 4 Tableau tasks, 1 hour, open book.</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Take Assessment digital attendance before starting.</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Submit question-paper answers on the LMS.</a:t>
            </a:r>
          </a:p>
        </p:txBody>
      </p:sp>
      <p:sp>
        <p:nvSpPr>
          <p:cNvPr id="19" name="Oval 18"/>
          <p:cNvSpPr/>
          <p:nvPr/>
        </p:nvSpPr>
        <p:spPr>
          <a:xfrm>
            <a:off x="822960" y="445312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53128"/>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5</a:t>
            </a:r>
          </a:p>
        </p:txBody>
      </p:sp>
      <p:sp>
        <p:nvSpPr>
          <p:cNvPr id="21" name="TextBox 20"/>
          <p:cNvSpPr txBox="1"/>
          <p:nvPr/>
        </p:nvSpPr>
        <p:spPr>
          <a:xfrm>
            <a:off x="1417320" y="4425696"/>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Answer keys are trainer-only and are never attached to learner fields.</a:t>
            </a:r>
          </a:p>
        </p:txBody>
      </p:sp>
      <p:sp>
        <p:nvSpPr>
          <p:cNvPr id="22" name="TextBox 2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3" name="TextBox 2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4" name="TextBox 2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161</a:t>
            </a:r>
          </a:p>
        </p:txBody>
      </p:sp>
    </p:spTree>
  </p:cSld>
  <p:clrMapOvr>
    <a:masterClrMapping/>
  </p:clrMapOvr>
  <p:transition spd="fast">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ON ASSESSMENT DAY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Assessment Flow</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TRAQOM / digital attendance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Sit WA — 1 hour</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Sit PP — 1 hour</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Submit on LMS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Sign summary record</a:t>
            </a:r>
          </a:p>
        </p:txBody>
      </p:sp>
      <p:sp>
        <p:nvSpPr>
          <p:cNvPr id="36" name="TextBox 35"/>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7" name="TextBox 36"/>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8" name="TextBox 37"/>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162</a:t>
            </a:r>
          </a:p>
        </p:txBody>
      </p:sp>
    </p:spTree>
  </p:cSld>
  <p:clrMapOvr>
    <a:masterClrMapping/>
  </p:clrMapOvr>
  <p:transition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TRAQOM · SSG</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Digital Attendance (Mandatory)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Complete Assessment digital attendance before the papers begin.</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the QR code displayed by the trainer or administrator.</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Verify your submission and keep the device away during assessment.</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Attendance and Competent outcome support funding eligibility.</a:t>
            </a:r>
          </a:p>
        </p:txBody>
      </p:sp>
      <p:sp>
        <p:nvSpPr>
          <p:cNvPr id="19" name="TextBox 1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20" name="TextBox 1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1" name="TextBox 2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163</a:t>
            </a:r>
          </a:p>
        </p:txBody>
      </p:sp>
    </p:spTree>
  </p:cSld>
  <p:clrMapOvr>
    <a:masterClrMapping/>
  </p:clrMapOvr>
  <p:transition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920240"/>
            <a:ext cx="10058400" cy="365760"/>
          </a:xfrm>
          <a:prstGeom prst="rect">
            <a:avLst/>
          </a:prstGeom>
          <a:noFill/>
        </p:spPr>
        <p:txBody>
          <a:bodyPr wrap="square" anchor="t" lIns="54864" rIns="54864" tIns="54864" bIns="54864">
            <a:spAutoFit/>
          </a:bodyPr>
          <a:lstStyle/>
          <a:p>
            <a:pPr algn="l">
              <a:spcAft>
                <a:spcPts val="300"/>
              </a:spcAft>
            </a:pPr>
            <a:r>
              <a:rPr sz="1400" b="1">
                <a:solidFill>
                  <a:srgbClr val="10B981"/>
                </a:solidFill>
                <a:latin typeface="Arial"/>
              </a:rPr>
              <a:t>TABLEAU DESKTOP SPECIALIST</a:t>
            </a:r>
          </a:p>
        </p:txBody>
      </p:sp>
      <p:sp>
        <p:nvSpPr>
          <p:cNvPr id="5" name="TextBox 4"/>
          <p:cNvSpPr txBox="1"/>
          <p:nvPr/>
        </p:nvSpPr>
        <p:spPr>
          <a:xfrm>
            <a:off x="960120" y="2423160"/>
            <a:ext cx="10241280" cy="1645920"/>
          </a:xfrm>
          <a:prstGeom prst="rect">
            <a:avLst/>
          </a:prstGeom>
          <a:noFill/>
        </p:spPr>
        <p:txBody>
          <a:bodyPr wrap="square" anchor="ctr" lIns="54864" rIns="54864" tIns="54864" bIns="54864">
            <a:spAutoFit/>
          </a:bodyPr>
          <a:lstStyle/>
          <a:p>
            <a:pPr algn="l">
              <a:spcAft>
                <a:spcPts val="300"/>
              </a:spcAft>
            </a:pPr>
            <a:r>
              <a:rPr sz="3200" b="1">
                <a:solidFill>
                  <a:srgbClr val="161B26"/>
                </a:solidFill>
                <a:latin typeface="Arial"/>
              </a:rPr>
              <a:t>Thank you — build the evidence, not just the view.</a:t>
            </a:r>
          </a:p>
        </p:txBody>
      </p:sp>
      <p:sp>
        <p:nvSpPr>
          <p:cNvPr id="6" name="TextBox 5"/>
          <p:cNvSpPr txBox="1"/>
          <p:nvPr/>
        </p:nvSpPr>
        <p:spPr>
          <a:xfrm>
            <a:off x="987552" y="4251960"/>
            <a:ext cx="10058400" cy="914400"/>
          </a:xfrm>
          <a:prstGeom prst="rect">
            <a:avLst/>
          </a:prstGeom>
          <a:noFill/>
        </p:spPr>
        <p:txBody>
          <a:bodyPr wrap="square" anchor="t" lIns="54864" rIns="54864" tIns="54864" bIns="54864">
            <a:spAutoFit/>
          </a:bodyPr>
          <a:lstStyle/>
          <a:p>
            <a:pPr algn="l">
              <a:spcAft>
                <a:spcPts val="300"/>
              </a:spcAft>
            </a:pPr>
            <a:r>
              <a:rPr sz="1700" b="0">
                <a:solidFill>
                  <a:srgbClr val="5B6372"/>
                </a:solidFill>
                <a:latin typeface="Arial"/>
              </a:rPr>
              <a:t>A trusted Tableau insight connects the right data, uses the right grain, communicates clearly and survives validation.</a:t>
            </a:r>
          </a:p>
        </p:txBody>
      </p:sp>
      <p:sp>
        <p:nvSpPr>
          <p:cNvPr id="7" name="TextBox 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8" name="TextBox 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9" name="TextBox 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164</a:t>
            </a:r>
          </a:p>
        </p:txBody>
      </p:sp>
    </p:spTree>
  </p:cSld>
  <p:clrMapOvr>
    <a:masterClrMapping/>
  </p:clrMapOvr>
  <p:transition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EXAMNOVA · ORIGINAL BLUEPRINT-ALIGNED PRACTICE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Tableau Desktop Specialist Practice Exam</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bleau-practice-exam-qr.png"/>
          <p:cNvPicPr>
            <a:picLocks noChangeAspect="1"/>
          </p:cNvPicPr>
          <p:nvPr/>
        </p:nvPicPr>
        <p:blipFill>
          <a:blip r:embed="rId2"/>
          <a:stretch>
            <a:fillRect/>
          </a:stretch>
        </p:blipFill>
        <p:spPr>
          <a:xfrm>
            <a:off x="841248" y="1828800"/>
            <a:ext cx="2423160" cy="2423160"/>
          </a:xfrm>
          <a:prstGeom prst="rect">
            <a:avLst/>
          </a:prstGeom>
        </p:spPr>
      </p:pic>
      <p:sp>
        <p:nvSpPr>
          <p:cNvPr id="8" name="TextBox 7"/>
          <p:cNvSpPr txBox="1"/>
          <p:nvPr/>
        </p:nvSpPr>
        <p:spPr>
          <a:xfrm>
            <a:off x="841248" y="4434840"/>
            <a:ext cx="2423160" cy="566928"/>
          </a:xfrm>
          <a:prstGeom prst="rect">
            <a:avLst/>
          </a:prstGeom>
          <a:noFill/>
        </p:spPr>
        <p:txBody>
          <a:bodyPr wrap="square" anchor="t" lIns="54864" rIns="54864" tIns="54864" bIns="54864">
            <a:spAutoFit/>
          </a:bodyPr>
          <a:lstStyle/>
          <a:p>
            <a:pPr algn="ctr">
              <a:spcAft>
                <a:spcPts val="300"/>
              </a:spcAft>
            </a:pPr>
            <a:r>
              <a:rPr sz="1400" b="1">
                <a:solidFill>
                  <a:srgbClr val="10B981"/>
                </a:solidFill>
                <a:latin typeface="Arial"/>
              </a:rPr>
              <a:t>SCAN TO START</a:t>
            </a:r>
          </a:p>
        </p:txBody>
      </p:sp>
      <p:sp>
        <p:nvSpPr>
          <p:cNvPr id="9" name="Rectangle 8"/>
          <p:cNvSpPr/>
          <p:nvPr/>
        </p:nvSpPr>
        <p:spPr>
          <a:xfrm>
            <a:off x="3675887" y="178308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75887" y="1783080"/>
            <a:ext cx="64008"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86200" y="1892807"/>
            <a:ext cx="1828800" cy="347472"/>
          </a:xfrm>
          <a:prstGeom prst="rect">
            <a:avLst/>
          </a:prstGeom>
          <a:noFill/>
        </p:spPr>
        <p:txBody>
          <a:bodyPr wrap="square" anchor="t" lIns="54864" rIns="54864" tIns="54864" bIns="54864">
            <a:spAutoFit/>
          </a:bodyPr>
          <a:lstStyle/>
          <a:p>
            <a:pPr algn="l">
              <a:spcAft>
                <a:spcPts val="300"/>
              </a:spcAft>
            </a:pPr>
            <a:r>
              <a:rPr sz="1800" b="1">
                <a:solidFill>
                  <a:srgbClr val="1F6FEB"/>
                </a:solidFill>
                <a:latin typeface="Arial"/>
              </a:rPr>
              <a:t>3 × 65</a:t>
            </a:r>
          </a:p>
        </p:txBody>
      </p:sp>
      <p:sp>
        <p:nvSpPr>
          <p:cNvPr id="12" name="TextBox 11"/>
          <p:cNvSpPr txBox="1"/>
          <p:nvPr/>
        </p:nvSpPr>
        <p:spPr>
          <a:xfrm>
            <a:off x="3886200" y="228600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questions</a:t>
            </a:r>
          </a:p>
        </p:txBody>
      </p:sp>
      <p:sp>
        <p:nvSpPr>
          <p:cNvPr id="13" name="Rectangle 12"/>
          <p:cNvSpPr/>
          <p:nvPr/>
        </p:nvSpPr>
        <p:spPr>
          <a:xfrm>
            <a:off x="6190488" y="178308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1783080"/>
            <a:ext cx="64008"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92807"/>
            <a:ext cx="1828800" cy="347472"/>
          </a:xfrm>
          <a:prstGeom prst="rect">
            <a:avLst/>
          </a:prstGeom>
          <a:noFill/>
        </p:spPr>
        <p:txBody>
          <a:bodyPr wrap="square" anchor="t" lIns="54864" rIns="54864" tIns="54864" bIns="54864">
            <a:spAutoFit/>
          </a:bodyPr>
          <a:lstStyle/>
          <a:p>
            <a:pPr algn="l">
              <a:spcAft>
                <a:spcPts val="300"/>
              </a:spcAft>
            </a:pPr>
            <a:r>
              <a:rPr sz="1800" b="1">
                <a:solidFill>
                  <a:srgbClr val="10B981"/>
                </a:solidFill>
                <a:latin typeface="Arial"/>
              </a:rPr>
              <a:t>60 min</a:t>
            </a:r>
          </a:p>
        </p:txBody>
      </p:sp>
      <p:sp>
        <p:nvSpPr>
          <p:cNvPr id="16" name="TextBox 15"/>
          <p:cNvSpPr txBox="1"/>
          <p:nvPr/>
        </p:nvSpPr>
        <p:spPr>
          <a:xfrm>
            <a:off x="6400800" y="228600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per set</a:t>
            </a:r>
          </a:p>
        </p:txBody>
      </p:sp>
      <p:sp>
        <p:nvSpPr>
          <p:cNvPr id="17" name="Rectangle 16"/>
          <p:cNvSpPr/>
          <p:nvPr/>
        </p:nvSpPr>
        <p:spPr>
          <a:xfrm>
            <a:off x="8705088" y="178308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05088" y="1783080"/>
            <a:ext cx="64008"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892807"/>
            <a:ext cx="1828800" cy="347472"/>
          </a:xfrm>
          <a:prstGeom prst="rect">
            <a:avLst/>
          </a:prstGeom>
          <a:noFill/>
        </p:spPr>
        <p:txBody>
          <a:bodyPr wrap="square" anchor="t" lIns="54864" rIns="54864" tIns="54864" bIns="54864">
            <a:spAutoFit/>
          </a:bodyPr>
          <a:lstStyle/>
          <a:p>
            <a:pPr algn="l">
              <a:spcAft>
                <a:spcPts val="300"/>
              </a:spcAft>
            </a:pPr>
            <a:r>
              <a:rPr sz="1800" b="1">
                <a:solidFill>
                  <a:srgbClr val="7C3AED"/>
                </a:solidFill>
                <a:latin typeface="Arial"/>
              </a:rPr>
              <a:t>70%</a:t>
            </a:r>
          </a:p>
        </p:txBody>
      </p:sp>
      <p:sp>
        <p:nvSpPr>
          <p:cNvPr id="20" name="TextBox 19"/>
          <p:cNvSpPr txBox="1"/>
          <p:nvPr/>
        </p:nvSpPr>
        <p:spPr>
          <a:xfrm>
            <a:off x="8915400" y="228600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practice target</a:t>
            </a:r>
          </a:p>
        </p:txBody>
      </p:sp>
      <p:sp>
        <p:nvSpPr>
          <p:cNvPr id="21" name="Rectangle 20"/>
          <p:cNvSpPr/>
          <p:nvPr/>
        </p:nvSpPr>
        <p:spPr>
          <a:xfrm>
            <a:off x="3675887" y="297180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5887" y="2971800"/>
            <a:ext cx="64008"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3081528"/>
            <a:ext cx="1828800" cy="347472"/>
          </a:xfrm>
          <a:prstGeom prst="rect">
            <a:avLst/>
          </a:prstGeom>
          <a:noFill/>
        </p:spPr>
        <p:txBody>
          <a:bodyPr wrap="square" anchor="t" lIns="54864" rIns="54864" tIns="54864" bIns="54864">
            <a:spAutoFit/>
          </a:bodyPr>
          <a:lstStyle/>
          <a:p>
            <a:pPr algn="l">
              <a:spcAft>
                <a:spcPts val="300"/>
              </a:spcAft>
            </a:pPr>
            <a:r>
              <a:rPr sz="1800" b="1">
                <a:solidFill>
                  <a:srgbClr val="F59E0B"/>
                </a:solidFill>
                <a:latin typeface="Arial"/>
              </a:rPr>
              <a:t>USD 20</a:t>
            </a:r>
          </a:p>
        </p:txBody>
      </p:sp>
      <p:sp>
        <p:nvSpPr>
          <p:cNvPr id="24" name="TextBox 23"/>
          <p:cNvSpPr txBox="1"/>
          <p:nvPr/>
        </p:nvSpPr>
        <p:spPr>
          <a:xfrm>
            <a:off x="3886200" y="347472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practice tier</a:t>
            </a:r>
          </a:p>
        </p:txBody>
      </p:sp>
      <p:sp>
        <p:nvSpPr>
          <p:cNvPr id="25" name="Rectangle 24"/>
          <p:cNvSpPr/>
          <p:nvPr/>
        </p:nvSpPr>
        <p:spPr>
          <a:xfrm>
            <a:off x="6190488" y="297180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0488" y="2971800"/>
            <a:ext cx="64008"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081528"/>
            <a:ext cx="1828800" cy="347472"/>
          </a:xfrm>
          <a:prstGeom prst="rect">
            <a:avLst/>
          </a:prstGeom>
          <a:noFill/>
        </p:spPr>
        <p:txBody>
          <a:bodyPr wrap="square" anchor="t" lIns="54864" rIns="54864" tIns="54864" bIns="54864">
            <a:spAutoFit/>
          </a:bodyPr>
          <a:lstStyle/>
          <a:p>
            <a:pPr algn="l">
              <a:spcAft>
                <a:spcPts val="300"/>
              </a:spcAft>
            </a:pPr>
            <a:r>
              <a:rPr sz="1800" b="1">
                <a:solidFill>
                  <a:srgbClr val="1F6FEB"/>
                </a:solidFill>
                <a:latin typeface="Arial"/>
              </a:rPr>
              <a:t>USD 100</a:t>
            </a:r>
          </a:p>
        </p:txBody>
      </p:sp>
      <p:sp>
        <p:nvSpPr>
          <p:cNvPr id="28" name="TextBox 27"/>
          <p:cNvSpPr txBox="1"/>
          <p:nvPr/>
        </p:nvSpPr>
        <p:spPr>
          <a:xfrm>
            <a:off x="6400800" y="347472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voucher tier</a:t>
            </a:r>
          </a:p>
        </p:txBody>
      </p:sp>
      <p:sp>
        <p:nvSpPr>
          <p:cNvPr id="29" name="TextBox 28"/>
          <p:cNvSpPr txBox="1"/>
          <p:nvPr/>
        </p:nvSpPr>
        <p:spPr>
          <a:xfrm>
            <a:off x="3694176" y="4315968"/>
            <a:ext cx="7360920" cy="347472"/>
          </a:xfrm>
          <a:prstGeom prst="rect">
            <a:avLst/>
          </a:prstGeom>
          <a:noFill/>
        </p:spPr>
        <p:txBody>
          <a:bodyPr wrap="square" anchor="t" lIns="54864" rIns="54864" tIns="54864" bIns="54864">
            <a:spAutoFit/>
          </a:bodyPr>
          <a:lstStyle/>
          <a:p>
            <a:pPr algn="l">
              <a:spcAft>
                <a:spcPts val="300"/>
              </a:spcAft>
            </a:pPr>
            <a:r>
              <a:rPr sz="1200" b="1">
                <a:solidFill>
                  <a:srgbClr val="161B26"/>
                </a:solidFill>
                <a:latin typeface="Arial"/>
              </a:rPr>
              <a:t>Practice bundle domain mix</a:t>
            </a:r>
          </a:p>
        </p:txBody>
      </p:sp>
      <p:sp>
        <p:nvSpPr>
          <p:cNvPr id="30" name="TextBox 29"/>
          <p:cNvSpPr txBox="1"/>
          <p:nvPr/>
        </p:nvSpPr>
        <p:spPr>
          <a:xfrm>
            <a:off x="3694176" y="4700016"/>
            <a:ext cx="7360920" cy="694944"/>
          </a:xfrm>
          <a:prstGeom prst="rect">
            <a:avLst/>
          </a:prstGeom>
          <a:noFill/>
        </p:spPr>
        <p:txBody>
          <a:bodyPr wrap="square" anchor="ctr" lIns="54864" rIns="54864" tIns="54864" bIns="54864">
            <a:spAutoFit/>
          </a:bodyPr>
          <a:lstStyle/>
          <a:p>
            <a:pPr algn="l">
              <a:spcAft>
                <a:spcPts val="300"/>
              </a:spcAft>
            </a:pPr>
            <a:r>
              <a:rPr sz="1150" b="0">
                <a:solidFill>
                  <a:srgbClr val="5B6372"/>
                </a:solidFill>
                <a:latin typeface="Arial"/>
              </a:rPr>
              <a:t>25% Connect &amp; Prepare  ·  35% Explore &amp; Analyse  ·  20% Share Insights  ·  20% Concepts</a:t>
            </a:r>
          </a:p>
        </p:txBody>
      </p:sp>
      <p:sp>
        <p:nvSpPr>
          <p:cNvPr id="31" name="TextBox 30"/>
          <p:cNvSpPr txBox="1"/>
          <p:nvPr/>
        </p:nvSpPr>
        <p:spPr>
          <a:xfrm>
            <a:off x="731520" y="5650992"/>
            <a:ext cx="10744200" cy="438912"/>
          </a:xfrm>
          <a:prstGeom prst="rect">
            <a:avLst/>
          </a:prstGeom>
          <a:noFill/>
        </p:spPr>
        <p:txBody>
          <a:bodyPr wrap="square" anchor="t" lIns="54864" rIns="54864" tIns="54864" bIns="54864">
            <a:spAutoFit/>
          </a:bodyPr>
          <a:lstStyle/>
          <a:p>
            <a:pPr algn="ctr">
              <a:spcAft>
                <a:spcPts val="300"/>
              </a:spcAft>
            </a:pPr>
            <a:r>
              <a:rPr sz="1150" b="1">
                <a:solidFill>
                  <a:srgbClr val="1F6FEB"/>
                </a:solidFill>
                <a:latin typeface="Arial"/>
                <a:hlinkClick r:id="rId3"/>
              </a:rPr>
              <a:t>https://exams.tertiaryinfotech.com/practice-exams/tableau/tableau-desktop-specialist</a:t>
            </a:r>
          </a:p>
        </p:txBody>
      </p:sp>
      <p:sp>
        <p:nvSpPr>
          <p:cNvPr id="32" name="TextBox 3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Desktop Foundations · TGS-2025053175</a:t>
            </a:r>
          </a:p>
        </p:txBody>
      </p:sp>
      <p:sp>
        <p:nvSpPr>
          <p:cNvPr id="33" name="TextBox 3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4" name="TextBox 3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165</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